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35"/>
  </p:notesMasterIdLst>
  <p:handoutMasterIdLst>
    <p:handoutMasterId r:id="rId36"/>
  </p:handoutMasterIdLst>
  <p:sldIdLst>
    <p:sldId id="257" r:id="rId2"/>
    <p:sldId id="262" r:id="rId3"/>
    <p:sldId id="259" r:id="rId4"/>
    <p:sldId id="258" r:id="rId5"/>
    <p:sldId id="260" r:id="rId6"/>
    <p:sldId id="261" r:id="rId7"/>
    <p:sldId id="263" r:id="rId8"/>
    <p:sldId id="264" r:id="rId9"/>
    <p:sldId id="289" r:id="rId10"/>
    <p:sldId id="265" r:id="rId11"/>
    <p:sldId id="286" r:id="rId12"/>
    <p:sldId id="290" r:id="rId13"/>
    <p:sldId id="266" r:id="rId14"/>
    <p:sldId id="277" r:id="rId15"/>
    <p:sldId id="288" r:id="rId16"/>
    <p:sldId id="267" r:id="rId17"/>
    <p:sldId id="268" r:id="rId18"/>
    <p:sldId id="269" r:id="rId19"/>
    <p:sldId id="270" r:id="rId20"/>
    <p:sldId id="276" r:id="rId21"/>
    <p:sldId id="271" r:id="rId22"/>
    <p:sldId id="287" r:id="rId23"/>
    <p:sldId id="273" r:id="rId24"/>
    <p:sldId id="274" r:id="rId25"/>
    <p:sldId id="275" r:id="rId26"/>
    <p:sldId id="278" r:id="rId27"/>
    <p:sldId id="279" r:id="rId28"/>
    <p:sldId id="282" r:id="rId29"/>
    <p:sldId id="283" r:id="rId30"/>
    <p:sldId id="284" r:id="rId31"/>
    <p:sldId id="285" r:id="rId32"/>
    <p:sldId id="280" r:id="rId33"/>
    <p:sldId id="281" r:id="rId3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33" autoAdjust="0"/>
  </p:normalViewPr>
  <p:slideViewPr>
    <p:cSldViewPr>
      <p:cViewPr varScale="1">
        <p:scale>
          <a:sx n="58" d="100"/>
          <a:sy n="58" d="100"/>
        </p:scale>
        <p:origin x="152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40299-6265-463F-8878-A1F589F2D72D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875F-D5CD-4E4D-A037-745CF545D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9636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14FA9BF-744E-42B1-81A1-C4EBDC51828D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B2E8F35-3CAF-494D-BFF8-A0E89D4820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06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2E8F35-3CAF-494D-BFF8-A0E89D4820F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72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2E8F35-3CAF-494D-BFF8-A0E89D4820F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20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2E8F35-3CAF-494D-BFF8-A0E89D4820F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59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D98F0D9-9FE2-47AD-9AAE-BAC40BB7393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9CEF8B9-748C-49BB-AE5E-19CC2DDDB6A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6CEB411-9ED6-4118-9998-735667D92F4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D8DC5294-3919-4515-9515-913117583F6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21159F41-F20D-488D-9CEF-33843BD0539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0CF5467-6992-438D-80DD-02C764782BE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EC17CD0-762A-48C9-8E07-D195E6142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3563686-1701-443C-811C-C1AC329C859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>
              <a:defRPr/>
            </a:pPr>
            <a:endParaRPr lang="en-US" alt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5DE585BB-E5A2-40FF-BE6D-A3611E23AEF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2FAA4D-F275-4E80-9A1A-BAE95F68BB1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pPr>
              <a:defRPr/>
            </a:pPr>
            <a:fld id="{B4F8AA71-A74D-4D53-A1C9-C1F5D807606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E3BB00-C811-473E-9711-8C0D9DA343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B07C08D-1D93-4076-9C5E-AF89CAD8A72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62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6900" b="1" dirty="0">
                <a:solidFill>
                  <a:schemeClr val="accent1">
                    <a:lumMod val="75000"/>
                  </a:schemeClr>
                </a:solidFill>
              </a:rPr>
              <a:t>Organization 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Why Organizational Structure?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1752600"/>
            <a:ext cx="42672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Organizational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Structure helps to control and coordinate the activities to optimize value addition.</a:t>
            </a:r>
          </a:p>
          <a:p>
            <a:r>
              <a:rPr lang="en-US" dirty="0"/>
              <a:t>Organizational structure has a strong influence on people.</a:t>
            </a:r>
          </a:p>
          <a:p>
            <a:r>
              <a:rPr lang="en-US" dirty="0"/>
              <a:t>There is no “right way” to design an organization.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1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Dimensions of Structure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524000"/>
            <a:ext cx="8610600" cy="57150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1900" b="1" dirty="0"/>
              <a:t>Administrative component</a:t>
            </a:r>
            <a:r>
              <a:rPr lang="en-US" sz="1900" dirty="0"/>
              <a:t> – </a:t>
            </a:r>
            <a:r>
              <a:rPr lang="en-US" sz="1900" b="1" i="1" dirty="0"/>
              <a:t>no. of line supervisors, managers, and staff personnel relative to total number of employees</a:t>
            </a:r>
            <a:r>
              <a:rPr lang="en-US" sz="1900" i="1" dirty="0"/>
              <a:t> </a:t>
            </a:r>
            <a:endParaRPr lang="en-US" sz="1900" dirty="0"/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1900" b="1" dirty="0"/>
              <a:t>Autonomy</a:t>
            </a:r>
            <a:r>
              <a:rPr lang="en-US" sz="1900" dirty="0"/>
              <a:t>  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1900" b="1" dirty="0"/>
              <a:t>Centralization</a:t>
            </a:r>
            <a:r>
              <a:rPr lang="en-US" sz="1900" dirty="0"/>
              <a:t> – </a:t>
            </a:r>
            <a:r>
              <a:rPr lang="en-US" sz="1900" b="1" i="1" dirty="0"/>
              <a:t>concentration of power arrangements, locus of decision-making</a:t>
            </a:r>
            <a:r>
              <a:rPr lang="en-US" sz="1900" b="1" dirty="0"/>
              <a:t> 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1900" b="1" dirty="0"/>
              <a:t>Complexity</a:t>
            </a:r>
            <a:r>
              <a:rPr lang="en-US" sz="1900" dirty="0"/>
              <a:t> – </a:t>
            </a:r>
            <a:r>
              <a:rPr lang="en-US" sz="1900" b="1" i="1" dirty="0"/>
              <a:t>no. of occupational specialties, professional activity, professional training of employees</a:t>
            </a:r>
            <a:r>
              <a:rPr lang="en-US" sz="1900" i="1" dirty="0"/>
              <a:t> </a:t>
            </a:r>
            <a:endParaRPr lang="en-US" sz="1900" dirty="0"/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1900" b="1" dirty="0"/>
              <a:t>Delegation of authority</a:t>
            </a:r>
            <a:endParaRPr lang="en-US" sz="1900" dirty="0"/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1900" b="1" dirty="0"/>
              <a:t>Differentiation</a:t>
            </a:r>
            <a:r>
              <a:rPr lang="en-US" sz="1900" dirty="0"/>
              <a:t> – </a:t>
            </a:r>
            <a:r>
              <a:rPr lang="en-US" sz="1900" b="1" i="1" dirty="0"/>
              <a:t>no. of specialty functions</a:t>
            </a:r>
            <a:endParaRPr lang="en-US" sz="1900" b="1" dirty="0"/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1900" b="1" dirty="0"/>
              <a:t>Formalization </a:t>
            </a:r>
            <a:r>
              <a:rPr lang="en-US" sz="1900" dirty="0"/>
              <a:t>– </a:t>
            </a:r>
            <a:r>
              <a:rPr lang="en-US" sz="1900" b="1" i="1" dirty="0"/>
              <a:t>defining employees’ roles through formal documentation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1900" b="1" dirty="0"/>
              <a:t>Integration</a:t>
            </a:r>
            <a:r>
              <a:rPr lang="en-US" sz="1900" dirty="0"/>
              <a:t> – </a:t>
            </a:r>
            <a:r>
              <a:rPr lang="en-US" sz="1900" b="1" i="1" dirty="0"/>
              <a:t>extent of</a:t>
            </a:r>
            <a:r>
              <a:rPr lang="en-US" sz="1900" b="1" dirty="0"/>
              <a:t> </a:t>
            </a:r>
            <a:r>
              <a:rPr lang="en-US" sz="1900" b="1" i="1" dirty="0"/>
              <a:t>collaboration among departments, feedback and coordination mechanisms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1900" b="1" dirty="0"/>
              <a:t>Span of control</a:t>
            </a:r>
            <a:r>
              <a:rPr lang="en-US" sz="1900" dirty="0"/>
              <a:t> – </a:t>
            </a:r>
            <a:r>
              <a:rPr lang="en-US" sz="1900" b="1" i="1" dirty="0"/>
              <a:t>no. of subordinates that an individual manager can and should supervise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1900" b="1" dirty="0"/>
              <a:t>Standardization</a:t>
            </a:r>
            <a:r>
              <a:rPr lang="en-US" sz="1900" dirty="0"/>
              <a:t> – </a:t>
            </a:r>
            <a:r>
              <a:rPr lang="en-US" sz="1900" b="1" i="1" dirty="0"/>
              <a:t>range of variation tolerated within rules defining the jobs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1900" b="1" dirty="0"/>
              <a:t>Vertical span</a:t>
            </a:r>
            <a:r>
              <a:rPr lang="en-US" sz="1900" dirty="0"/>
              <a:t> – </a:t>
            </a:r>
            <a:r>
              <a:rPr lang="en-US" sz="1900" b="1" i="1" dirty="0"/>
              <a:t>no. of levels in the authority hierarchy from the top to the bottom </a:t>
            </a:r>
            <a:endParaRPr lang="en-US" sz="19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Complexity 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1524000"/>
            <a:ext cx="51054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Complexity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524000"/>
            <a:ext cx="8686800" cy="5029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100" b="1" i="1" dirty="0">
                <a:latin typeface="Arial" pitchFamily="34" charset="0"/>
                <a:cs typeface="Arial" pitchFamily="34" charset="0"/>
              </a:rPr>
              <a:t>Refers to the degree of differentiation that exists within an organization.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100" b="1" i="1" dirty="0">
              <a:latin typeface="Arial" pitchFamily="34" charset="0"/>
              <a:cs typeface="Arial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Horizontal differentiation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– </a:t>
            </a:r>
            <a:r>
              <a:rPr lang="en-US" sz="1800" b="1" i="1" dirty="0">
                <a:latin typeface="Arial" pitchFamily="34" charset="0"/>
                <a:cs typeface="Arial" pitchFamily="34" charset="0"/>
              </a:rPr>
              <a:t>degree of differentiation between units based on orientation of members, nature of tasks, education and training</a:t>
            </a:r>
          </a:p>
          <a:p>
            <a:pPr lvl="1" eaLnBrk="1" hangingPunct="1">
              <a:lnSpc>
                <a:spcPct val="90000"/>
              </a:lnSpc>
            </a:pPr>
            <a:endParaRPr lang="en-US" sz="1800" b="1" i="1" dirty="0">
              <a:latin typeface="Arial" pitchFamily="34" charset="0"/>
              <a:cs typeface="Arial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Vertical differentiation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– </a:t>
            </a:r>
            <a:r>
              <a:rPr lang="en-US" sz="1800" b="1" i="1" dirty="0">
                <a:latin typeface="Arial" pitchFamily="34" charset="0"/>
                <a:cs typeface="Arial" pitchFamily="34" charset="0"/>
              </a:rPr>
              <a:t>depth in structure, number in hierarchical levels</a:t>
            </a:r>
          </a:p>
          <a:p>
            <a:pPr lvl="1" eaLnBrk="1" hangingPunct="1">
              <a:lnSpc>
                <a:spcPct val="90000"/>
              </a:lnSpc>
            </a:pPr>
            <a:endParaRPr lang="en-US" sz="1800" b="1" i="1" dirty="0">
              <a:latin typeface="Arial" pitchFamily="34" charset="0"/>
              <a:cs typeface="Arial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Spatial differentiation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– </a:t>
            </a:r>
            <a:r>
              <a:rPr lang="en-US" sz="1800" b="1" i="1" dirty="0">
                <a:latin typeface="Arial" pitchFamily="34" charset="0"/>
                <a:cs typeface="Arial" pitchFamily="34" charset="0"/>
              </a:rPr>
              <a:t>geographical dispersion of organization’s offices, plants, personnel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i="1" dirty="0">
                <a:latin typeface="Arial" pitchFamily="34" charset="0"/>
                <a:cs typeface="Arial" pitchFamily="34" charset="0"/>
              </a:rPr>
              <a:t>  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   </a:t>
            </a:r>
            <a:r>
              <a:rPr lang="en-US" sz="2100" b="1" dirty="0">
                <a:latin typeface="Arial" pitchFamily="34" charset="0"/>
                <a:cs typeface="Arial" pitchFamily="34" charset="0"/>
              </a:rPr>
              <a:t>Greater the differentiation, greater the complexity within the organization.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b="1" i="1" dirty="0">
                <a:latin typeface="Arial" pitchFamily="34" charset="0"/>
                <a:cs typeface="Arial" pitchFamily="34" charset="0"/>
              </a:rPr>
              <a:t>Greater need and difficulty of coordinating activities of diverse groups of employees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1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Horizontal Differentiation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534400" cy="4724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Specialization: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particular grouping of activities performed by an individual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2200" u="sng" dirty="0">
                <a:latin typeface="Arial" pitchFamily="34" charset="0"/>
                <a:cs typeface="Arial" pitchFamily="34" charset="0"/>
              </a:rPr>
              <a:t>Functional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 : </a:t>
            </a:r>
            <a:r>
              <a:rPr lang="en-US" sz="2200" i="1" dirty="0">
                <a:latin typeface="Arial" pitchFamily="34" charset="0"/>
                <a:cs typeface="Arial" pitchFamily="34" charset="0"/>
              </a:rPr>
              <a:t>jobs broken down into simple and repetitive tasks (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division of </a:t>
            </a:r>
            <a:r>
              <a:rPr lang="en-US" sz="2200" dirty="0" err="1">
                <a:latin typeface="Arial" pitchFamily="34" charset="0"/>
                <a:cs typeface="Arial" pitchFamily="34" charset="0"/>
              </a:rPr>
              <a:t>labour</a:t>
            </a:r>
            <a:r>
              <a:rPr lang="en-US" sz="2200" i="1" dirty="0">
                <a:latin typeface="Arial" pitchFamily="34" charset="0"/>
                <a:cs typeface="Arial" pitchFamily="34" charset="0"/>
              </a:rPr>
              <a:t>)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200" i="1" dirty="0">
              <a:latin typeface="Arial" pitchFamily="34" charset="0"/>
              <a:cs typeface="Arial" pitchFamily="34" charset="0"/>
            </a:endParaRP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2200" u="sng" dirty="0">
                <a:latin typeface="Arial" pitchFamily="34" charset="0"/>
                <a:cs typeface="Arial" pitchFamily="34" charset="0"/>
              </a:rPr>
              <a:t>Social</a:t>
            </a:r>
            <a:r>
              <a:rPr lang="en-US" sz="2200" i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2200" i="1" dirty="0">
                <a:latin typeface="Arial" pitchFamily="34" charset="0"/>
                <a:cs typeface="Arial" pitchFamily="34" charset="0"/>
              </a:rPr>
              <a:t>individuals, rather than their work, are specialized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200" i="1" dirty="0">
                <a:latin typeface="Arial" pitchFamily="34" charset="0"/>
                <a:cs typeface="Arial" pitchFamily="34" charset="0"/>
              </a:rPr>
              <a:t>Possess professional skills that cannot be </a:t>
            </a:r>
            <a:r>
              <a:rPr lang="en-US" sz="2200" i="1" dirty="0" err="1">
                <a:latin typeface="Arial" pitchFamily="34" charset="0"/>
                <a:cs typeface="Arial" pitchFamily="34" charset="0"/>
              </a:rPr>
              <a:t>routinized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2200" b="1" i="1" dirty="0">
              <a:latin typeface="Arial" pitchFamily="34" charset="0"/>
              <a:cs typeface="Arial" pitchFamily="34" charset="0"/>
            </a:endParaRP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200" b="1" dirty="0">
                <a:latin typeface="Arial" pitchFamily="34" charset="0"/>
                <a:cs typeface="Arial" pitchFamily="34" charset="0"/>
              </a:rPr>
              <a:t>Greater the specialization, greater the complexity</a:t>
            </a:r>
          </a:p>
          <a:p>
            <a:pPr lvl="2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i="1" dirty="0">
                <a:latin typeface="Arial" pitchFamily="34" charset="0"/>
                <a:cs typeface="Arial" pitchFamily="34" charset="0"/>
              </a:rPr>
              <a:t> Requires more sophisticated and expensive methods   for co-ordination and control</a:t>
            </a:r>
          </a:p>
          <a:p>
            <a:pPr lvl="2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1800" b="1" i="1" dirty="0"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Horizontal Differentiation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>
              <a:lnSpc>
                <a:spcPct val="80000"/>
              </a:lnSpc>
              <a:buClr>
                <a:srgbClr val="9F2936"/>
              </a:buClr>
            </a:pPr>
            <a:r>
              <a:rPr lang="en-US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Departmentation</a:t>
            </a: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2000" b="1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grouping of specialists; may be based on simple numbers, function, product or service, client, geography, or process.</a:t>
            </a:r>
          </a:p>
          <a:p>
            <a:pPr lvl="0">
              <a:lnSpc>
                <a:spcPct val="80000"/>
              </a:lnSpc>
              <a:buClr>
                <a:srgbClr val="9F2936"/>
              </a:buClr>
            </a:pPr>
            <a:endParaRPr lang="en-US" sz="2000" b="1" i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80000"/>
              </a:lnSpc>
              <a:buClr>
                <a:srgbClr val="9F2936"/>
              </a:buClr>
              <a:buNone/>
            </a:pPr>
            <a:endParaRPr lang="en-US" sz="2000" b="1" i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80000"/>
              </a:lnSpc>
              <a:buClr>
                <a:srgbClr val="9F2936"/>
              </a:buClr>
              <a:buNone/>
            </a:pPr>
            <a:r>
              <a:rPr lang="en-US" sz="2000" b="1" dirty="0">
                <a:solidFill>
                  <a:prstClr val="black"/>
                </a:solidFill>
                <a:latin typeface="Verdana" pitchFamily="34" charset="0"/>
              </a:rPr>
              <a:t>    </a:t>
            </a:r>
            <a:r>
              <a:rPr lang="en-US" sz="1800" b="1" dirty="0">
                <a:solidFill>
                  <a:prstClr val="black"/>
                </a:solidFill>
                <a:latin typeface="Verdana" pitchFamily="34" charset="0"/>
              </a:rPr>
              <a:t>Greater the </a:t>
            </a:r>
            <a:r>
              <a:rPr lang="en-US" sz="1800" b="1" dirty="0" err="1">
                <a:solidFill>
                  <a:prstClr val="black"/>
                </a:solidFill>
                <a:latin typeface="Verdana" pitchFamily="34" charset="0"/>
              </a:rPr>
              <a:t>departmentation</a:t>
            </a:r>
            <a:r>
              <a:rPr lang="en-US" sz="1800" b="1" dirty="0">
                <a:solidFill>
                  <a:prstClr val="black"/>
                </a:solidFill>
                <a:latin typeface="Verdana" pitchFamily="34" charset="0"/>
              </a:rPr>
              <a:t>, greater the complexity</a:t>
            </a:r>
            <a:r>
              <a:rPr lang="en-US" sz="2000" b="1" dirty="0">
                <a:solidFill>
                  <a:prstClr val="black"/>
                </a:solidFill>
                <a:latin typeface="Verdana" pitchFamily="34" charset="0"/>
              </a:rPr>
              <a:t>	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Horizontal Coordination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Linking of activities across departments at similar levels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Methods: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Common resources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Information systems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Lateral relations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Direct contact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Liaison roles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Task forces and teams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Managerial integrators</a:t>
            </a:r>
          </a:p>
          <a:p>
            <a:pPr lvl="1" eaLnBrk="1" hangingPunct="1"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pPr eaLnBrk="1" hangingPunct="1"/>
            <a:r>
              <a:rPr lang="en-US" sz="3100" b="1" dirty="0">
                <a:solidFill>
                  <a:schemeClr val="accent1">
                    <a:lumMod val="75000"/>
                  </a:schemeClr>
                </a:solidFill>
              </a:rPr>
              <a:t>Vertical Differentiation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534400" cy="5257800"/>
          </a:xfrm>
        </p:spPr>
        <p:txBody>
          <a:bodyPr/>
          <a:lstStyle/>
          <a:p>
            <a:pPr eaLnBrk="1" hangingPunct="1"/>
            <a:r>
              <a:rPr lang="en-US" sz="2800" b="1" dirty="0"/>
              <a:t>A response to an increase in horizontal differentiation</a:t>
            </a:r>
          </a:p>
          <a:p>
            <a:pPr eaLnBrk="1" hangingPunct="1">
              <a:buFont typeface="Wingdings" pitchFamily="2" charset="2"/>
              <a:buNone/>
            </a:pPr>
            <a:endParaRPr lang="en-US" sz="600" b="1" dirty="0"/>
          </a:p>
          <a:p>
            <a:pPr eaLnBrk="1" hangingPunct="1"/>
            <a:r>
              <a:rPr lang="en-US" b="1" dirty="0"/>
              <a:t>Span of control:</a:t>
            </a:r>
            <a:r>
              <a:rPr lang="en-US" dirty="0"/>
              <a:t> </a:t>
            </a:r>
            <a:r>
              <a:rPr lang="en-US" sz="2400" i="1" dirty="0"/>
              <a:t>number of subordinates that a manager can effectively direct</a:t>
            </a:r>
          </a:p>
          <a:p>
            <a:pPr lvl="1" eaLnBrk="1" hangingPunct="1"/>
            <a:r>
              <a:rPr lang="en-US" sz="2300" dirty="0">
                <a:latin typeface="Tahoma" pitchFamily="34" charset="0"/>
              </a:rPr>
              <a:t>Smaller the span, taller the organization</a:t>
            </a:r>
          </a:p>
        </p:txBody>
      </p:sp>
      <p:sp>
        <p:nvSpPr>
          <p:cNvPr id="6148" name="AutoShape 4"/>
          <p:cNvSpPr>
            <a:spLocks noChangeArrowheads="1"/>
          </p:cNvSpPr>
          <p:nvPr/>
        </p:nvSpPr>
        <p:spPr bwMode="auto">
          <a:xfrm>
            <a:off x="1447800" y="3733800"/>
            <a:ext cx="1676400" cy="2743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000" b="1" dirty="0">
                <a:latin typeface="Tahoma" pitchFamily="34" charset="0"/>
              </a:rPr>
              <a:t>1</a:t>
            </a:r>
          </a:p>
          <a:p>
            <a:pPr algn="ctr">
              <a:defRPr/>
            </a:pPr>
            <a:endParaRPr lang="en-US" sz="1000" b="1" dirty="0">
              <a:latin typeface="Tahoma" pitchFamily="34" charset="0"/>
            </a:endParaRPr>
          </a:p>
          <a:p>
            <a:pPr algn="ctr">
              <a:defRPr/>
            </a:pPr>
            <a:r>
              <a:rPr lang="en-US" sz="1000" b="1" dirty="0">
                <a:latin typeface="Tahoma" pitchFamily="34" charset="0"/>
              </a:rPr>
              <a:t>4</a:t>
            </a:r>
          </a:p>
          <a:p>
            <a:pPr algn="ctr">
              <a:defRPr/>
            </a:pPr>
            <a:endParaRPr lang="en-US" sz="1000" b="1" dirty="0">
              <a:latin typeface="Tahoma" pitchFamily="34" charset="0"/>
            </a:endParaRPr>
          </a:p>
          <a:p>
            <a:pPr algn="ctr">
              <a:defRPr/>
            </a:pPr>
            <a:r>
              <a:rPr lang="en-US" sz="1000" b="1" dirty="0">
                <a:latin typeface="Tahoma" pitchFamily="34" charset="0"/>
              </a:rPr>
              <a:t>16</a:t>
            </a:r>
          </a:p>
          <a:p>
            <a:pPr algn="ctr">
              <a:defRPr/>
            </a:pPr>
            <a:endParaRPr lang="en-US" sz="1000" b="1" dirty="0">
              <a:latin typeface="Tahoma" pitchFamily="34" charset="0"/>
            </a:endParaRPr>
          </a:p>
          <a:p>
            <a:pPr algn="ctr">
              <a:defRPr/>
            </a:pPr>
            <a:r>
              <a:rPr lang="en-US" sz="1000" b="1" dirty="0">
                <a:latin typeface="Tahoma" pitchFamily="34" charset="0"/>
              </a:rPr>
              <a:t>64</a:t>
            </a:r>
          </a:p>
          <a:p>
            <a:pPr algn="ctr">
              <a:defRPr/>
            </a:pPr>
            <a:endParaRPr lang="en-US" sz="1000" b="1" dirty="0">
              <a:latin typeface="Tahoma" pitchFamily="34" charset="0"/>
            </a:endParaRPr>
          </a:p>
          <a:p>
            <a:pPr algn="ctr">
              <a:defRPr/>
            </a:pPr>
            <a:r>
              <a:rPr lang="en-US" sz="1000" b="1" dirty="0">
                <a:latin typeface="Tahoma" pitchFamily="34" charset="0"/>
              </a:rPr>
              <a:t>256</a:t>
            </a:r>
          </a:p>
          <a:p>
            <a:pPr algn="ctr">
              <a:defRPr/>
            </a:pPr>
            <a:endParaRPr lang="en-US" sz="1000" b="1" dirty="0">
              <a:latin typeface="Tahoma" pitchFamily="34" charset="0"/>
            </a:endParaRPr>
          </a:p>
          <a:p>
            <a:pPr algn="ctr">
              <a:defRPr/>
            </a:pPr>
            <a:r>
              <a:rPr lang="en-US" sz="1000" b="1" dirty="0">
                <a:latin typeface="Tahoma" pitchFamily="34" charset="0"/>
              </a:rPr>
              <a:t>1024</a:t>
            </a:r>
          </a:p>
          <a:p>
            <a:pPr algn="ctr">
              <a:defRPr/>
            </a:pPr>
            <a:endParaRPr lang="en-US" sz="1000" b="1" dirty="0">
              <a:latin typeface="Tahoma" pitchFamily="34" charset="0"/>
            </a:endParaRPr>
          </a:p>
          <a:p>
            <a:pPr algn="ctr">
              <a:defRPr/>
            </a:pPr>
            <a:r>
              <a:rPr lang="en-US" sz="1000" b="1" dirty="0">
                <a:latin typeface="Tahoma" pitchFamily="34" charset="0"/>
              </a:rPr>
              <a:t>4096</a:t>
            </a:r>
          </a:p>
          <a:p>
            <a:pPr algn="ctr">
              <a:defRPr/>
            </a:pPr>
            <a:endParaRPr lang="en-US" sz="1000" b="1" dirty="0">
              <a:latin typeface="Tahoma" pitchFamily="34" charset="0"/>
            </a:endParaRPr>
          </a:p>
        </p:txBody>
      </p:sp>
      <p:sp>
        <p:nvSpPr>
          <p:cNvPr id="6150" name="AutoShape 6"/>
          <p:cNvSpPr>
            <a:spLocks noChangeArrowheads="1"/>
          </p:cNvSpPr>
          <p:nvPr/>
        </p:nvSpPr>
        <p:spPr bwMode="auto">
          <a:xfrm>
            <a:off x="3962400" y="4495800"/>
            <a:ext cx="4267200" cy="1981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000" b="1">
                <a:latin typeface="Tahoma" pitchFamily="34" charset="0"/>
              </a:rPr>
              <a:t>1</a:t>
            </a:r>
          </a:p>
          <a:p>
            <a:pPr algn="ctr">
              <a:defRPr/>
            </a:pPr>
            <a:endParaRPr lang="en-US" sz="1000" b="1">
              <a:latin typeface="Tahoma" pitchFamily="34" charset="0"/>
            </a:endParaRPr>
          </a:p>
          <a:p>
            <a:pPr algn="ctr">
              <a:defRPr/>
            </a:pPr>
            <a:r>
              <a:rPr lang="en-US" sz="1000" b="1">
                <a:latin typeface="Tahoma" pitchFamily="34" charset="0"/>
              </a:rPr>
              <a:t>8</a:t>
            </a:r>
          </a:p>
          <a:p>
            <a:pPr algn="ctr">
              <a:defRPr/>
            </a:pPr>
            <a:endParaRPr lang="en-US" sz="1000" b="1">
              <a:latin typeface="Tahoma" pitchFamily="34" charset="0"/>
            </a:endParaRPr>
          </a:p>
          <a:p>
            <a:pPr algn="ctr">
              <a:defRPr/>
            </a:pPr>
            <a:r>
              <a:rPr lang="en-US" sz="1000" b="1">
                <a:latin typeface="Tahoma" pitchFamily="34" charset="0"/>
              </a:rPr>
              <a:t>64</a:t>
            </a:r>
          </a:p>
          <a:p>
            <a:pPr algn="ctr">
              <a:defRPr/>
            </a:pPr>
            <a:endParaRPr lang="en-US" sz="1000" b="1">
              <a:latin typeface="Tahoma" pitchFamily="34" charset="0"/>
            </a:endParaRPr>
          </a:p>
          <a:p>
            <a:pPr algn="ctr">
              <a:defRPr/>
            </a:pPr>
            <a:r>
              <a:rPr lang="en-US" sz="1000" b="1">
                <a:latin typeface="Tahoma" pitchFamily="34" charset="0"/>
              </a:rPr>
              <a:t>512</a:t>
            </a:r>
          </a:p>
          <a:p>
            <a:pPr algn="ctr">
              <a:defRPr/>
            </a:pPr>
            <a:endParaRPr lang="en-US" sz="1000" b="1">
              <a:latin typeface="Tahoma" pitchFamily="34" charset="0"/>
            </a:endParaRPr>
          </a:p>
          <a:p>
            <a:pPr algn="ctr">
              <a:defRPr/>
            </a:pPr>
            <a:r>
              <a:rPr lang="en-US" sz="1000" b="1">
                <a:latin typeface="Tahoma" pitchFamily="34" charset="0"/>
              </a:rPr>
              <a:t>4096</a:t>
            </a:r>
          </a:p>
        </p:txBody>
      </p:sp>
      <p:sp>
        <p:nvSpPr>
          <p:cNvPr id="7174" name="Text Box 7"/>
          <p:cNvSpPr txBox="1">
            <a:spLocks noChangeArrowheads="1"/>
          </p:cNvSpPr>
          <p:nvPr/>
        </p:nvSpPr>
        <p:spPr bwMode="auto">
          <a:xfrm>
            <a:off x="228600" y="5486400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latin typeface="Times New Roman" pitchFamily="18" charset="0"/>
              </a:rPr>
              <a:t>Span : 4</a:t>
            </a:r>
            <a:r>
              <a:rPr lang="en-US" sz="2400" dirty="0">
                <a:latin typeface="Times New Roman" pitchFamily="18" charset="0"/>
              </a:rPr>
              <a:t>  </a:t>
            </a:r>
          </a:p>
        </p:txBody>
      </p:sp>
      <p:sp>
        <p:nvSpPr>
          <p:cNvPr id="7175" name="Text Box 8"/>
          <p:cNvSpPr txBox="1">
            <a:spLocks noChangeArrowheads="1"/>
          </p:cNvSpPr>
          <p:nvPr/>
        </p:nvSpPr>
        <p:spPr bwMode="auto">
          <a:xfrm>
            <a:off x="7391400" y="51816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latin typeface="Times New Roman" pitchFamily="18" charset="0"/>
              </a:rPr>
              <a:t>Span : 8</a:t>
            </a:r>
            <a:r>
              <a:rPr lang="en-US" sz="2400" dirty="0">
                <a:latin typeface="Times New Roman" pitchFamily="18" charset="0"/>
              </a:rPr>
              <a:t>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Span of Control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/>
              <a:t>Number of subordinates who report directly to a specific manager.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Factors influencing span of control: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Low interaction requirements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High competence levels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Work similarity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Low problem frequency and seriousness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Physical proximity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Few non-supervisory duties of manager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Available assistance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High motivational possibilities of work</a:t>
            </a:r>
          </a:p>
          <a:p>
            <a:pPr lvl="2"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Vertical Coordination	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The linking of activities at the top level to middle and lower levels</a:t>
            </a:r>
          </a:p>
          <a:p>
            <a:pPr eaLnBrk="1" hangingPunct="1"/>
            <a:r>
              <a:rPr lang="en-US"/>
              <a:t>Methods:</a:t>
            </a:r>
          </a:p>
          <a:p>
            <a:pPr lvl="1" eaLnBrk="1" hangingPunct="1"/>
            <a:r>
              <a:rPr lang="en-US"/>
              <a:t>Formalization</a:t>
            </a:r>
          </a:p>
          <a:p>
            <a:pPr lvl="1" eaLnBrk="1" hangingPunct="1"/>
            <a:r>
              <a:rPr lang="en-US"/>
              <a:t>Span of control</a:t>
            </a:r>
          </a:p>
          <a:p>
            <a:pPr lvl="1" eaLnBrk="1" hangingPunct="1"/>
            <a:r>
              <a:rPr lang="en-US"/>
              <a:t>Centralization of power</a:t>
            </a:r>
          </a:p>
          <a:p>
            <a:pPr lvl="1" eaLnBrk="1" hangingPunct="1"/>
            <a:r>
              <a:rPr lang="en-US"/>
              <a:t>Delegation </a:t>
            </a:r>
          </a:p>
          <a:p>
            <a:pPr lvl="1" eaLnBrk="1" hangingPunct="1"/>
            <a:r>
              <a:rPr lang="en-US"/>
              <a:t>Line and staff positions	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Importance of complexity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534400" cy="4953000"/>
          </a:xfrm>
        </p:spPr>
        <p:txBody>
          <a:bodyPr/>
          <a:lstStyle/>
          <a:p>
            <a:pPr eaLnBrk="1" hangingPunct="1"/>
            <a:r>
              <a:rPr lang="en-US" sz="2900" b="1" dirty="0"/>
              <a:t>Greater the complexity, greater the need for effective communication, coordination and control devices.</a:t>
            </a:r>
          </a:p>
          <a:p>
            <a:pPr eaLnBrk="1" hangingPunct="1">
              <a:buFont typeface="Wingdings" pitchFamily="2" charset="2"/>
              <a:buNone/>
            </a:pPr>
            <a:endParaRPr lang="en-US" sz="2900" b="1" dirty="0"/>
          </a:p>
          <a:p>
            <a:pPr eaLnBrk="1" hangingPunct="1"/>
            <a:r>
              <a:rPr lang="en-US" sz="2900" b="1" dirty="0"/>
              <a:t>Hence, creates different demands and requirements on managers’ time.</a:t>
            </a:r>
          </a:p>
          <a:p>
            <a:pPr eaLnBrk="1" hangingPunct="1">
              <a:buFont typeface="Wingdings" pitchFamily="2" charset="2"/>
              <a:buNone/>
            </a:pPr>
            <a:endParaRPr lang="en-US" sz="2900" b="1" dirty="0"/>
          </a:p>
          <a:p>
            <a:pPr eaLnBrk="1" hangingPunct="1"/>
            <a:r>
              <a:rPr lang="en-US" sz="3200" b="1" dirty="0">
                <a:solidFill>
                  <a:schemeClr val="accent2"/>
                </a:solidFill>
              </a:rPr>
              <a:t>Paradox</a:t>
            </a:r>
            <a:r>
              <a:rPr lang="en-US" sz="3200" b="1" dirty="0"/>
              <a:t> :</a:t>
            </a:r>
            <a:r>
              <a:rPr lang="en-US" sz="3200" dirty="0"/>
              <a:t> </a:t>
            </a:r>
            <a:r>
              <a:rPr lang="en-US" sz="2900" b="1" i="1" dirty="0">
                <a:solidFill>
                  <a:srgbClr val="993300"/>
                </a:solidFill>
              </a:rPr>
              <a:t>economies created by complexity counterbalanced by the increased burden of keeping organization together</a:t>
            </a:r>
          </a:p>
          <a:p>
            <a:pPr eaLnBrk="1" hangingPunct="1">
              <a:buFont typeface="Wingdings" pitchFamily="2" charset="2"/>
              <a:buNone/>
            </a:pPr>
            <a:endParaRPr lang="en-US" sz="2900" b="1" i="1" dirty="0">
              <a:solidFill>
                <a:srgbClr val="9933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Formalization 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590675"/>
            <a:ext cx="6705600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Formalization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Written policies, rules, procedures, job descriptions and other process documents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7724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Formalization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610600" cy="51816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200" b="1" dirty="0">
                <a:latin typeface="Arial" pitchFamily="34" charset="0"/>
                <a:cs typeface="Arial" pitchFamily="34" charset="0"/>
              </a:rPr>
              <a:t>Refers to the degree to which jobs within the organization are standardized.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b="1" dirty="0">
                <a:latin typeface="Arial" pitchFamily="34" charset="0"/>
                <a:cs typeface="Arial" pitchFamily="34" charset="0"/>
              </a:rPr>
              <a:t>Individual discretion on job </a:t>
            </a:r>
            <a:r>
              <a:rPr lang="en-US" sz="2200" b="1" i="1" dirty="0">
                <a:latin typeface="Arial" pitchFamily="34" charset="0"/>
                <a:cs typeface="Arial" pitchFamily="34" charset="0"/>
              </a:rPr>
              <a:t>inversely proportional</a:t>
            </a:r>
            <a:r>
              <a:rPr lang="en-US" sz="2200" b="1" dirty="0">
                <a:latin typeface="Arial" pitchFamily="34" charset="0"/>
                <a:cs typeface="Arial" pitchFamily="34" charset="0"/>
              </a:rPr>
              <a:t> to extent of formalization.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b="1" dirty="0">
                <a:latin typeface="Arial" pitchFamily="34" charset="0"/>
                <a:cs typeface="Arial" pitchFamily="34" charset="0"/>
              </a:rPr>
              <a:t>Formalization can be explicit (</a:t>
            </a:r>
            <a:r>
              <a:rPr lang="en-US" sz="2200" b="1" i="1" dirty="0">
                <a:latin typeface="Arial" pitchFamily="34" charset="0"/>
                <a:cs typeface="Arial" pitchFamily="34" charset="0"/>
              </a:rPr>
              <a:t>written</a:t>
            </a:r>
            <a:r>
              <a:rPr lang="en-US" sz="2200" b="1" dirty="0">
                <a:latin typeface="Arial" pitchFamily="34" charset="0"/>
                <a:cs typeface="Arial" pitchFamily="34" charset="0"/>
              </a:rPr>
              <a:t>), or implicit (</a:t>
            </a:r>
            <a:r>
              <a:rPr lang="en-US" sz="2200" b="1" i="1" dirty="0">
                <a:latin typeface="Arial" pitchFamily="34" charset="0"/>
                <a:cs typeface="Arial" pitchFamily="34" charset="0"/>
              </a:rPr>
              <a:t>unwritten…perceived</a:t>
            </a:r>
            <a:r>
              <a:rPr lang="en-US" sz="2200" b="1" dirty="0">
                <a:latin typeface="Arial" pitchFamily="34" charset="0"/>
                <a:cs typeface="Arial" pitchFamily="34" charset="0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b="1" dirty="0">
                <a:latin typeface="Arial" pitchFamily="34" charset="0"/>
                <a:cs typeface="Arial" pitchFamily="34" charset="0"/>
              </a:rPr>
              <a:t>Degree of formalization can vary among and within organizations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b="1" dirty="0">
                <a:latin typeface="Arial" pitchFamily="34" charset="0"/>
                <a:cs typeface="Arial" pitchFamily="34" charset="0"/>
              </a:rPr>
              <a:t>Greater the professionalization of the job, lesser the likelihood of it being highly formalized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b="1" dirty="0">
                <a:latin typeface="Arial" pitchFamily="34" charset="0"/>
                <a:cs typeface="Arial" pitchFamily="34" charset="0"/>
              </a:rPr>
              <a:t>Formalization inversely related to level in hierarchy. 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b="1" dirty="0">
                <a:latin typeface="Arial" pitchFamily="34" charset="0"/>
                <a:cs typeface="Arial" pitchFamily="34" charset="0"/>
              </a:rPr>
              <a:t>Extent of formalization differs with type of job (</a:t>
            </a:r>
            <a:r>
              <a:rPr lang="en-US" sz="2200" b="1" i="1" dirty="0">
                <a:latin typeface="Arial" pitchFamily="34" charset="0"/>
                <a:cs typeface="Arial" pitchFamily="34" charset="0"/>
              </a:rPr>
              <a:t>e.g.</a:t>
            </a:r>
            <a:r>
              <a:rPr lang="en-US" sz="22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i="1" dirty="0">
                <a:latin typeface="Arial" pitchFamily="34" charset="0"/>
                <a:cs typeface="Arial" pitchFamily="34" charset="0"/>
              </a:rPr>
              <a:t>production jobs more formalized than research, in same organization</a:t>
            </a:r>
            <a:r>
              <a:rPr lang="en-US" sz="2200" b="1" dirty="0">
                <a:latin typeface="Arial" pitchFamily="34" charset="0"/>
                <a:cs typeface="Arial" pitchFamily="34" charset="0"/>
              </a:rPr>
              <a:t>)</a:t>
            </a:r>
            <a:endParaRPr lang="en-US" sz="2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Importance of Formalization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600" b="1" dirty="0"/>
              <a:t>Standardization reduces variability in behavior</a:t>
            </a:r>
          </a:p>
          <a:p>
            <a:pPr eaLnBrk="1" hangingPunct="1">
              <a:lnSpc>
                <a:spcPct val="80000"/>
              </a:lnSpc>
            </a:pPr>
            <a:endParaRPr lang="en-US" sz="2600" b="1" dirty="0"/>
          </a:p>
          <a:p>
            <a:pPr eaLnBrk="1" hangingPunct="1">
              <a:lnSpc>
                <a:spcPct val="80000"/>
              </a:lnSpc>
            </a:pPr>
            <a:r>
              <a:rPr lang="en-US" sz="2600" b="1" dirty="0"/>
              <a:t>Standardization promotes coordination</a:t>
            </a:r>
          </a:p>
          <a:p>
            <a:pPr eaLnBrk="1" hangingPunct="1">
              <a:lnSpc>
                <a:spcPct val="80000"/>
              </a:lnSpc>
            </a:pPr>
            <a:endParaRPr lang="en-US" sz="2600" b="1" dirty="0"/>
          </a:p>
          <a:p>
            <a:pPr eaLnBrk="1" hangingPunct="1">
              <a:lnSpc>
                <a:spcPct val="80000"/>
              </a:lnSpc>
            </a:pPr>
            <a:r>
              <a:rPr lang="en-US" sz="2600" b="1" dirty="0"/>
              <a:t>Formalization   </a:t>
            </a:r>
            <a:r>
              <a:rPr lang="en-US" b="1" dirty="0">
                <a:sym typeface="Symbol" pitchFamily="18" charset="2"/>
              </a:rPr>
              <a:t></a:t>
            </a:r>
            <a:r>
              <a:rPr lang="en-US" b="1" dirty="0"/>
              <a:t> </a:t>
            </a:r>
            <a:r>
              <a:rPr lang="en-US" sz="2600" b="1" dirty="0"/>
              <a:t> economy</a:t>
            </a:r>
          </a:p>
          <a:p>
            <a:pPr eaLnBrk="1" hangingPunct="1">
              <a:lnSpc>
                <a:spcPct val="80000"/>
              </a:lnSpc>
            </a:pPr>
            <a:endParaRPr lang="en-US" sz="2600" b="1" dirty="0"/>
          </a:p>
          <a:p>
            <a:pPr eaLnBrk="1" hangingPunct="1">
              <a:lnSpc>
                <a:spcPct val="80000"/>
              </a:lnSpc>
            </a:pPr>
            <a:r>
              <a:rPr lang="en-US" sz="2600" b="1" dirty="0"/>
              <a:t>Formalization</a:t>
            </a:r>
            <a:r>
              <a:rPr lang="en-US" sz="2600" dirty="0"/>
              <a:t> :</a:t>
            </a:r>
            <a:r>
              <a:rPr lang="en-US" sz="2600" i="1" dirty="0">
                <a:solidFill>
                  <a:schemeClr val="accent2"/>
                </a:solidFill>
              </a:rPr>
              <a:t>externalized behavior</a:t>
            </a:r>
            <a:r>
              <a:rPr lang="en-US" sz="2600" dirty="0"/>
              <a:t>; P</a:t>
            </a:r>
            <a:r>
              <a:rPr lang="en-US" sz="2600" b="1" dirty="0"/>
              <a:t>rofessionalization</a:t>
            </a:r>
            <a:r>
              <a:rPr lang="en-US" sz="2600" dirty="0"/>
              <a:t> : </a:t>
            </a:r>
            <a:r>
              <a:rPr lang="en-US" sz="2600" i="1" dirty="0">
                <a:solidFill>
                  <a:schemeClr val="accent2"/>
                </a:solidFill>
              </a:rPr>
              <a:t>internalized behavior</a:t>
            </a:r>
          </a:p>
          <a:p>
            <a:pPr eaLnBrk="1" hangingPunct="1">
              <a:lnSpc>
                <a:spcPct val="80000"/>
              </a:lnSpc>
            </a:pPr>
            <a:endParaRPr lang="en-US" sz="2600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2600" b="1" dirty="0">
                <a:solidFill>
                  <a:schemeClr val="tx2"/>
                </a:solidFill>
              </a:rPr>
              <a:t>“</a:t>
            </a:r>
            <a:r>
              <a:rPr lang="en-US" sz="2600" b="1" i="1" dirty="0">
                <a:solidFill>
                  <a:schemeClr val="tx2"/>
                </a:solidFill>
              </a:rPr>
              <a:t>make</a:t>
            </a:r>
            <a:r>
              <a:rPr lang="en-US" sz="2600" b="1" dirty="0">
                <a:solidFill>
                  <a:schemeClr val="tx2"/>
                </a:solidFill>
              </a:rPr>
              <a:t>” or “</a:t>
            </a:r>
            <a:r>
              <a:rPr lang="en-US" sz="2600" b="1" i="1" dirty="0">
                <a:solidFill>
                  <a:schemeClr val="tx2"/>
                </a:solidFill>
              </a:rPr>
              <a:t>buy</a:t>
            </a:r>
            <a:r>
              <a:rPr lang="en-US" sz="2600" b="1" dirty="0">
                <a:solidFill>
                  <a:schemeClr val="tx2"/>
                </a:solidFill>
              </a:rPr>
              <a:t>” decision</a:t>
            </a:r>
          </a:p>
          <a:p>
            <a:pPr eaLnBrk="1" hangingPunct="1">
              <a:lnSpc>
                <a:spcPct val="80000"/>
              </a:lnSpc>
            </a:pPr>
            <a:endParaRPr lang="en-US" sz="26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2600" b="1" dirty="0">
                <a:solidFill>
                  <a:schemeClr val="tx2"/>
                </a:solidFill>
              </a:rPr>
              <a:t>Socialization</a:t>
            </a:r>
            <a:r>
              <a:rPr lang="en-US" sz="2600" dirty="0">
                <a:solidFill>
                  <a:schemeClr val="tx2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Formalization Techniques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b="1" dirty="0"/>
              <a:t>Selection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b="1" dirty="0"/>
          </a:p>
          <a:p>
            <a:pPr eaLnBrk="1" hangingPunct="1">
              <a:lnSpc>
                <a:spcPct val="90000"/>
              </a:lnSpc>
            </a:pPr>
            <a:r>
              <a:rPr lang="en-US" sz="2800" b="1" dirty="0"/>
              <a:t>Role requirements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b="1" dirty="0"/>
          </a:p>
          <a:p>
            <a:pPr eaLnBrk="1" hangingPunct="1">
              <a:lnSpc>
                <a:spcPct val="90000"/>
              </a:lnSpc>
            </a:pPr>
            <a:r>
              <a:rPr lang="en-US" sz="2800" b="1" dirty="0"/>
              <a:t>Rules, procedures, policies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b="1" dirty="0"/>
          </a:p>
          <a:p>
            <a:pPr eaLnBrk="1" hangingPunct="1">
              <a:lnSpc>
                <a:spcPct val="90000"/>
              </a:lnSpc>
            </a:pPr>
            <a:r>
              <a:rPr lang="en-US" sz="2800" b="1" dirty="0"/>
              <a:t>Training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b="1" dirty="0"/>
          </a:p>
          <a:p>
            <a:pPr eaLnBrk="1" hangingPunct="1">
              <a:lnSpc>
                <a:spcPct val="90000"/>
              </a:lnSpc>
            </a:pPr>
            <a:r>
              <a:rPr lang="en-US" sz="2800" b="1" dirty="0"/>
              <a:t>Rituals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Formalization &amp; Complexity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Strong association between specialization, standardization and formalization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/>
          </a:p>
          <a:p>
            <a:pPr eaLnBrk="1" hangingPunct="1">
              <a:lnSpc>
                <a:spcPct val="90000"/>
              </a:lnSpc>
            </a:pPr>
            <a:r>
              <a:rPr lang="en-US"/>
              <a:t>Horizontal differentiation : </a:t>
            </a:r>
            <a:r>
              <a:rPr lang="en-US" b="1">
                <a:solidFill>
                  <a:schemeClr val="accent2"/>
                </a:solidFill>
              </a:rPr>
              <a:t>functional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i="1">
                <a:solidFill>
                  <a:srgbClr val="993300"/>
                </a:solidFill>
              </a:rPr>
              <a:t>High formalization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i="1"/>
          </a:p>
          <a:p>
            <a:pPr eaLnBrk="1" hangingPunct="1">
              <a:lnSpc>
                <a:spcPct val="90000"/>
              </a:lnSpc>
            </a:pPr>
            <a:r>
              <a:rPr lang="en-US"/>
              <a:t>Horizontal differentiation : </a:t>
            </a:r>
            <a:r>
              <a:rPr lang="en-US" b="1">
                <a:solidFill>
                  <a:schemeClr val="accent2"/>
                </a:solidFill>
              </a:rPr>
              <a:t>social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i="1">
                <a:solidFill>
                  <a:srgbClr val="993300"/>
                </a:solidFill>
              </a:rPr>
              <a:t>low formalization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Centralization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524001"/>
            <a:ext cx="5943600" cy="454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Centralization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534400" cy="5410200"/>
          </a:xfrm>
        </p:spPr>
        <p:txBody>
          <a:bodyPr/>
          <a:lstStyle/>
          <a:p>
            <a:pPr eaLnBrk="1" hangingPunct="1"/>
            <a:endParaRPr lang="en-US" sz="2000" b="1" dirty="0"/>
          </a:p>
          <a:p>
            <a:pPr eaLnBrk="1" hangingPunct="1"/>
            <a:endParaRPr lang="en-US" sz="2000" b="1" dirty="0"/>
          </a:p>
          <a:p>
            <a:r>
              <a:rPr lang="en-US" b="1" dirty="0"/>
              <a:t>Refers to the degree to which the formal authority to make discretionary choices is concentrated in an individual, unit, or level (usually at the higher level)</a:t>
            </a:r>
          </a:p>
          <a:p>
            <a:r>
              <a:rPr lang="en-US" dirty="0"/>
              <a:t>Factors affecting centralization</a:t>
            </a:r>
          </a:p>
          <a:p>
            <a:pPr lvl="1"/>
            <a:r>
              <a:rPr lang="en-US" dirty="0"/>
              <a:t>Size</a:t>
            </a:r>
          </a:p>
          <a:p>
            <a:pPr lvl="1"/>
            <a:r>
              <a:rPr lang="en-US" dirty="0"/>
              <a:t>Geographical dispersion</a:t>
            </a:r>
          </a:p>
          <a:p>
            <a:pPr lvl="1"/>
            <a:r>
              <a:rPr lang="en-US" dirty="0"/>
              <a:t>Technological complexity</a:t>
            </a:r>
          </a:p>
          <a:p>
            <a:pPr lvl="1"/>
            <a:r>
              <a:rPr lang="en-US" dirty="0"/>
              <a:t>Environmental uncertainty</a:t>
            </a:r>
          </a:p>
          <a:p>
            <a:pPr eaLnBrk="1" hangingPunct="1">
              <a:buFont typeface="Wingdings" pitchFamily="2" charset="2"/>
              <a:buNone/>
            </a:pPr>
            <a:endParaRPr lang="en-US" b="1" dirty="0"/>
          </a:p>
          <a:p>
            <a:pPr eaLnBrk="1" hangingPunct="1"/>
            <a:endParaRPr lang="en-US" b="1" dirty="0"/>
          </a:p>
          <a:p>
            <a:pPr eaLnBrk="1" hangingPunct="1">
              <a:buFont typeface="Wingdings" pitchFamily="2" charset="2"/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8229600" cy="865188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Main concerns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229600" cy="51816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en-US" sz="2000" b="1" i="1" dirty="0">
                <a:solidFill>
                  <a:schemeClr val="tx2"/>
                </a:solidFill>
              </a:rPr>
              <a:t>Formal authority</a:t>
            </a:r>
          </a:p>
          <a:p>
            <a:pPr lvl="2">
              <a:lnSpc>
                <a:spcPct val="90000"/>
              </a:lnSpc>
            </a:pPr>
            <a:r>
              <a:rPr lang="en-US" sz="1800" b="1" i="1" dirty="0"/>
              <a:t>Centralization is concerned only with the formal structure, not the informal organization</a:t>
            </a:r>
            <a:endParaRPr lang="en-US" sz="1800" b="1" i="1" dirty="0">
              <a:solidFill>
                <a:schemeClr val="accent2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2000" b="1" i="1" dirty="0">
                <a:solidFill>
                  <a:schemeClr val="tx2"/>
                </a:solidFill>
              </a:rPr>
              <a:t>Policies and decentralization</a:t>
            </a:r>
          </a:p>
          <a:p>
            <a:pPr lvl="2">
              <a:lnSpc>
                <a:spcPct val="90000"/>
              </a:lnSpc>
            </a:pPr>
            <a:r>
              <a:rPr lang="en-US" sz="1800" b="1" i="1" dirty="0"/>
              <a:t>Centralization looks at decision discretion</a:t>
            </a:r>
            <a:endParaRPr lang="en-US" sz="1800" b="1" i="1" dirty="0">
              <a:solidFill>
                <a:schemeClr val="accent2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2000" b="1" i="1" dirty="0">
                <a:solidFill>
                  <a:schemeClr val="accent2"/>
                </a:solidFill>
              </a:rPr>
              <a:t>“</a:t>
            </a:r>
            <a:r>
              <a:rPr lang="en-US" sz="2000" b="1" i="1" dirty="0">
                <a:solidFill>
                  <a:schemeClr val="tx2"/>
                </a:solidFill>
              </a:rPr>
              <a:t>Concentration at a single point”</a:t>
            </a:r>
          </a:p>
          <a:p>
            <a:pPr lvl="2">
              <a:lnSpc>
                <a:spcPct val="90000"/>
              </a:lnSpc>
            </a:pPr>
            <a:r>
              <a:rPr lang="en-US" sz="1700" b="1" i="1" dirty="0"/>
              <a:t>Concentration at a single point can refer to a single individual, unit or level, but the single point implies concentration at a high level.</a:t>
            </a:r>
            <a:endParaRPr lang="en-US" sz="1700" b="1" i="1" dirty="0">
              <a:solidFill>
                <a:schemeClr val="accent2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2000" b="1" i="1" dirty="0">
                <a:solidFill>
                  <a:schemeClr val="tx2"/>
                </a:solidFill>
              </a:rPr>
              <a:t>IT and centralization</a:t>
            </a:r>
          </a:p>
          <a:p>
            <a:pPr lvl="2">
              <a:lnSpc>
                <a:spcPct val="90000"/>
              </a:lnSpc>
            </a:pPr>
            <a:r>
              <a:rPr lang="en-US" sz="1700" b="1" i="1" dirty="0"/>
              <a:t>IT can improve top management's control, but decision choice still rests with low-level member</a:t>
            </a:r>
            <a:endParaRPr lang="en-US" sz="2000" b="1" i="1" dirty="0">
              <a:solidFill>
                <a:schemeClr val="accent2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2000" b="1" i="1" dirty="0">
                <a:solidFill>
                  <a:schemeClr val="tx2"/>
                </a:solidFill>
              </a:rPr>
              <a:t>Control of information by lower level members</a:t>
            </a:r>
            <a:endParaRPr lang="en-US" sz="2000" b="1" dirty="0">
              <a:solidFill>
                <a:schemeClr val="tx2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US" sz="1700" b="1" i="1" dirty="0"/>
              <a:t>Control of information input is a form of de facto decentralization</a:t>
            </a:r>
          </a:p>
          <a:p>
            <a:pPr lvl="2">
              <a:lnSpc>
                <a:spcPct val="90000"/>
              </a:lnSpc>
            </a:pP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86800" cy="762000"/>
          </a:xfrm>
        </p:spPr>
        <p:txBody>
          <a:bodyPr/>
          <a:lstStyle/>
          <a:p>
            <a:pPr eaLnBrk="1" hangingPunct="1"/>
            <a:r>
              <a:rPr lang="en-US" sz="2900" b="1" dirty="0">
                <a:solidFill>
                  <a:schemeClr val="accent1">
                    <a:lumMod val="75000"/>
                  </a:schemeClr>
                </a:solidFill>
              </a:rPr>
              <a:t>Importance of the centralization-decentralization issue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1800" b="1" dirty="0">
                <a:solidFill>
                  <a:schemeClr val="accent2"/>
                </a:solidFill>
              </a:rPr>
              <a:t>Decentralization helps counter information overload</a:t>
            </a:r>
          </a:p>
          <a:p>
            <a:pPr eaLnBrk="1" hangingPunct="1">
              <a:lnSpc>
                <a:spcPct val="80000"/>
              </a:lnSpc>
            </a:pPr>
            <a:endParaRPr lang="en-US" sz="1800" b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1800" b="1" dirty="0">
                <a:solidFill>
                  <a:schemeClr val="accent2"/>
                </a:solidFill>
              </a:rPr>
              <a:t>Decentralization facilitates speedy action and response</a:t>
            </a:r>
          </a:p>
          <a:p>
            <a:pPr eaLnBrk="1" hangingPunct="1">
              <a:lnSpc>
                <a:spcPct val="80000"/>
              </a:lnSpc>
            </a:pPr>
            <a:endParaRPr lang="en-US" sz="1800" b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1800" b="1" dirty="0">
                <a:solidFill>
                  <a:schemeClr val="accent2"/>
                </a:solidFill>
              </a:rPr>
              <a:t>Decentralization can provide more input into decision-making</a:t>
            </a:r>
          </a:p>
          <a:p>
            <a:pPr eaLnBrk="1" hangingPunct="1">
              <a:lnSpc>
                <a:spcPct val="80000"/>
              </a:lnSpc>
            </a:pPr>
            <a:endParaRPr lang="en-US" sz="1800" b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1800" b="1" dirty="0">
                <a:solidFill>
                  <a:schemeClr val="accent2"/>
                </a:solidFill>
              </a:rPr>
              <a:t>Decentralization motivates employees</a:t>
            </a:r>
          </a:p>
          <a:p>
            <a:pPr eaLnBrk="1" hangingPunct="1">
              <a:lnSpc>
                <a:spcPct val="80000"/>
              </a:lnSpc>
            </a:pPr>
            <a:endParaRPr lang="en-US" sz="1800" b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1800" b="1" dirty="0">
                <a:solidFill>
                  <a:schemeClr val="accent2"/>
                </a:solidFill>
              </a:rPr>
              <a:t>Decentralization provides training opportunities for lower level managers</a:t>
            </a:r>
          </a:p>
          <a:p>
            <a:pPr eaLnBrk="1" hangingPunct="1">
              <a:lnSpc>
                <a:spcPct val="80000"/>
              </a:lnSpc>
            </a:pPr>
            <a:endParaRPr lang="en-US" sz="1800" b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1800" b="1" dirty="0">
                <a:solidFill>
                  <a:srgbClr val="961A84"/>
                </a:solidFill>
              </a:rPr>
              <a:t>Centralization benefits whole organization, not any special-interest group</a:t>
            </a:r>
          </a:p>
          <a:p>
            <a:pPr eaLnBrk="1" hangingPunct="1">
              <a:lnSpc>
                <a:spcPct val="80000"/>
              </a:lnSpc>
            </a:pPr>
            <a:endParaRPr lang="en-US" sz="1800" b="1" dirty="0">
              <a:solidFill>
                <a:srgbClr val="961A84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1800" b="1" dirty="0">
                <a:solidFill>
                  <a:srgbClr val="961A84"/>
                </a:solidFill>
              </a:rPr>
              <a:t>Some activities are done more efficiently when centralized. </a:t>
            </a:r>
          </a:p>
          <a:p>
            <a:pPr eaLnBrk="1" hangingPunct="1">
              <a:lnSpc>
                <a:spcPct val="80000"/>
              </a:lnSpc>
            </a:pPr>
            <a:endParaRPr lang="en-US" sz="1800" b="1" dirty="0">
              <a:solidFill>
                <a:srgbClr val="961A84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1800" b="1" dirty="0">
                <a:solidFill>
                  <a:srgbClr val="961A84"/>
                </a:solidFill>
              </a:rPr>
              <a:t>Situational factors will determine the “right” amount of centralization required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80010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Centralization, Complexity and Formalization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b="1" dirty="0"/>
          </a:p>
          <a:p>
            <a:pPr eaLnBrk="1" hangingPunct="1"/>
            <a:r>
              <a:rPr lang="en-US" b="1" dirty="0"/>
              <a:t>Centralization</a:t>
            </a:r>
            <a:r>
              <a:rPr lang="en-US" dirty="0"/>
              <a:t> and </a:t>
            </a:r>
            <a:r>
              <a:rPr lang="en-US" b="1" dirty="0"/>
              <a:t>Complexity</a:t>
            </a:r>
          </a:p>
          <a:p>
            <a:pPr lvl="1" eaLnBrk="1" hangingPunct="1"/>
            <a:r>
              <a:rPr lang="en-US" b="1" i="1" dirty="0"/>
              <a:t>Inversely related</a:t>
            </a:r>
          </a:p>
          <a:p>
            <a:pPr eaLnBrk="1" hangingPunct="1">
              <a:buFont typeface="Wingdings" pitchFamily="2" charset="2"/>
              <a:buNone/>
            </a:pPr>
            <a:endParaRPr lang="en-US" b="1" dirty="0"/>
          </a:p>
          <a:p>
            <a:pPr eaLnBrk="1" hangingPunct="1">
              <a:buFont typeface="Wingdings" pitchFamily="2" charset="2"/>
              <a:buNone/>
            </a:pPr>
            <a:endParaRPr lang="en-US" b="1" dirty="0"/>
          </a:p>
          <a:p>
            <a:pPr eaLnBrk="1" hangingPunct="1"/>
            <a:r>
              <a:rPr lang="en-US" b="1" dirty="0"/>
              <a:t>Centralization </a:t>
            </a:r>
            <a:r>
              <a:rPr lang="en-US" dirty="0"/>
              <a:t>and</a:t>
            </a:r>
            <a:r>
              <a:rPr lang="en-US" b="1" dirty="0"/>
              <a:t> Formalization</a:t>
            </a:r>
          </a:p>
          <a:p>
            <a:pPr lvl="1" eaLnBrk="1" hangingPunct="1"/>
            <a:r>
              <a:rPr lang="en-US" b="1" i="1" dirty="0"/>
              <a:t>Ambiguous relationship</a:t>
            </a:r>
          </a:p>
          <a:p>
            <a:pPr lvl="1" eaLnBrk="1" hangingPunct="1">
              <a:buFont typeface="Wingdings" pitchFamily="2" charset="2"/>
              <a:buNone/>
            </a:pPr>
            <a:endParaRPr lang="en-US" b="1" i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641475"/>
            <a:ext cx="8229600" cy="45307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Tahoma" pitchFamily="34" charset="0"/>
              </a:rPr>
              <a:t>‘Superstructure’ :</a:t>
            </a:r>
          </a:p>
          <a:p>
            <a:pPr eaLnBrk="1" hangingPunct="1">
              <a:lnSpc>
                <a:spcPct val="80000"/>
              </a:lnSpc>
            </a:pPr>
            <a:r>
              <a:rPr lang="en-US" sz="2600" dirty="0"/>
              <a:t>	</a:t>
            </a:r>
            <a:r>
              <a:rPr lang="en-US" sz="2600" i="1" dirty="0"/>
              <a:t>depicted by the organization chart depicting departments and important reporting relationships in the organization</a:t>
            </a:r>
          </a:p>
          <a:p>
            <a:pPr lvl="2" eaLnBrk="1" hangingPunct="1">
              <a:lnSpc>
                <a:spcPct val="80000"/>
              </a:lnSpc>
              <a:buFont typeface="Wingdings" pitchFamily="2" charset="2"/>
              <a:buChar char="v"/>
            </a:pPr>
            <a:r>
              <a:rPr lang="en-US" sz="2000" b="1" dirty="0"/>
              <a:t>hierarchy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600" b="1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Tahoma" pitchFamily="34" charset="0"/>
              </a:rPr>
              <a:t>‘Infrastructure’ 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600" dirty="0"/>
              <a:t>	- </a:t>
            </a:r>
            <a:r>
              <a:rPr lang="en-US" sz="2600" i="1" dirty="0"/>
              <a:t>roles performed by various organizational members </a:t>
            </a:r>
          </a:p>
          <a:p>
            <a:pPr lvl="2" eaLnBrk="1" hangingPunct="1">
              <a:lnSpc>
                <a:spcPct val="80000"/>
              </a:lnSpc>
              <a:buFont typeface="Wingdings" pitchFamily="2" charset="2"/>
              <a:buChar char="v"/>
            </a:pPr>
            <a:r>
              <a:rPr lang="en-US" sz="2000" b="1" dirty="0"/>
              <a:t>Extent of formal authority, extent of centralization, extent of formalization, extent of specialization </a:t>
            </a:r>
          </a:p>
          <a:p>
            <a:pPr lvl="3" eaLnBrk="1" hangingPunct="1">
              <a:lnSpc>
                <a:spcPct val="80000"/>
              </a:lnSpc>
              <a:buFont typeface="Wingdings" pitchFamily="2" charset="2"/>
              <a:buChar char="Ø"/>
            </a:pPr>
            <a:r>
              <a:rPr lang="en-US" sz="1700" b="1" i="1" dirty="0"/>
              <a:t>Essential for ensuring reliability and quality  of work, accountability of various role performers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1700" i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/>
          <a:lstStyle/>
          <a:p>
            <a:pPr eaLnBrk="1" hangingPunct="1"/>
            <a:r>
              <a:rPr lang="en-US" sz="3800" b="1" dirty="0">
                <a:solidFill>
                  <a:schemeClr val="accent1">
                    <a:lumMod val="75000"/>
                  </a:schemeClr>
                </a:solidFill>
              </a:rPr>
              <a:t>Organizational Configurations 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3820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200" b="1" dirty="0"/>
              <a:t>Defined work activities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200" b="1" dirty="0"/>
          </a:p>
          <a:p>
            <a:pPr eaLnBrk="1" hangingPunct="1">
              <a:lnSpc>
                <a:spcPct val="90000"/>
              </a:lnSpc>
            </a:pPr>
            <a:r>
              <a:rPr lang="en-US" sz="2200" b="1" dirty="0"/>
              <a:t>Reporting relationships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b="1" i="1" dirty="0">
                <a:solidFill>
                  <a:schemeClr val="accent2"/>
                </a:solidFill>
              </a:rPr>
              <a:t>Simple 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b="1" i="1" dirty="0">
                <a:solidFill>
                  <a:srgbClr val="961A84"/>
                </a:solidFill>
              </a:rPr>
              <a:t>flat hierarchy, single head for coordination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800" b="1" i="1" dirty="0">
              <a:solidFill>
                <a:srgbClr val="961A84"/>
              </a:solidFill>
            </a:endParaRP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1" i="1" dirty="0">
                <a:solidFill>
                  <a:srgbClr val="961A84"/>
                </a:solidFill>
              </a:rPr>
              <a:t> </a:t>
            </a:r>
            <a:endParaRPr lang="en-US" b="1" i="1" dirty="0">
              <a:solidFill>
                <a:schemeClr val="accent2"/>
              </a:solidFill>
            </a:endParaRPr>
          </a:p>
        </p:txBody>
      </p:sp>
      <p:pic>
        <p:nvPicPr>
          <p:cNvPr id="18436" name="Picture 5" descr="company structure cartoons, company structure cartoon, company structure picture, company structure pictures, company structure image, company structure images, company structure illustration, company structure illustration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3352800"/>
            <a:ext cx="58674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800" b="1" dirty="0">
                <a:solidFill>
                  <a:schemeClr val="accent1">
                    <a:lumMod val="75000"/>
                  </a:schemeClr>
                </a:solidFill>
              </a:rPr>
              <a:t>Organizational Configurations (contd.)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lvl="1" eaLnBrk="1" hangingPunct="1">
              <a:lnSpc>
                <a:spcPct val="90000"/>
              </a:lnSpc>
            </a:pPr>
            <a:r>
              <a:rPr lang="en-US" sz="2400" b="1" i="1" dirty="0"/>
              <a:t>Functional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b="1" i="1" dirty="0"/>
              <a:t>Divisional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b="1" i="1" dirty="0"/>
              <a:t>Self-contained autonomous unit groups, coordinated by a  HQ unit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b="1" i="1" dirty="0"/>
              <a:t>Matrix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b="1" i="1" dirty="0"/>
              <a:t>Multiple reporting relationships</a:t>
            </a:r>
            <a:r>
              <a:rPr lang="en-US" sz="2600" b="1" i="1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b="1" i="1" dirty="0"/>
              <a:t>Ad Hoc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b="1" i="1" dirty="0"/>
              <a:t>High horizontal diff, low vertical diff, high spatial diff, low </a:t>
            </a:r>
            <a:r>
              <a:rPr lang="en-US" sz="2000" b="1" i="1" dirty="0" err="1"/>
              <a:t>forml</a:t>
            </a:r>
            <a:r>
              <a:rPr lang="en-US" sz="2000" b="1" i="1" dirty="0"/>
              <a:t>, decentralization, flexibility</a:t>
            </a:r>
          </a:p>
          <a:p>
            <a:pPr lvl="1"/>
            <a:r>
              <a:rPr lang="en-US" sz="2400" b="1" i="1" dirty="0"/>
              <a:t>Virtual</a:t>
            </a:r>
          </a:p>
          <a:p>
            <a:pPr lvl="2"/>
            <a:r>
              <a:rPr lang="en-US" sz="2000" b="1" i="1" dirty="0"/>
              <a:t>High spatial diff</a:t>
            </a:r>
          </a:p>
          <a:p>
            <a:pPr lvl="1"/>
            <a:r>
              <a:rPr lang="en-US" sz="2400" b="1" i="1" dirty="0"/>
              <a:t>International </a:t>
            </a:r>
          </a:p>
          <a:p>
            <a:pPr lvl="2"/>
            <a:r>
              <a:rPr lang="en-US" sz="2000" b="1" i="1" dirty="0"/>
              <a:t>Global versions of functional, divisional, matrix </a:t>
            </a:r>
          </a:p>
          <a:p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Functional Structure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981200"/>
            <a:ext cx="71628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Divisional Structure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905000"/>
            <a:ext cx="7086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Project Structure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523999"/>
            <a:ext cx="6858000" cy="4831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Matrix Structure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752600"/>
            <a:ext cx="7696200" cy="4617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800" b="1" dirty="0">
                <a:solidFill>
                  <a:schemeClr val="accent1">
                    <a:lumMod val="75000"/>
                  </a:schemeClr>
                </a:solidFill>
              </a:rPr>
              <a:t>Functional structure</a:t>
            </a:r>
            <a:r>
              <a:rPr lang="en-US" sz="38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066800"/>
            <a:ext cx="8534400" cy="5029200"/>
          </a:xfrm>
        </p:spPr>
        <p:txBody>
          <a:bodyPr/>
          <a:lstStyle/>
          <a:p>
            <a:pPr eaLnBrk="1" hangingPunct="1"/>
            <a:endParaRPr lang="en-US" sz="2200" b="1" dirty="0">
              <a:solidFill>
                <a:schemeClr val="accent2"/>
              </a:solidFill>
              <a:latin typeface="Sylfaen" pitchFamily="18" charset="0"/>
            </a:endParaRPr>
          </a:p>
          <a:p>
            <a:pPr eaLnBrk="1" hangingPunct="1"/>
            <a:r>
              <a:rPr lang="en-US" sz="2200" b="1" dirty="0">
                <a:solidFill>
                  <a:schemeClr val="accent2"/>
                </a:solidFill>
                <a:latin typeface="Sylfaen" pitchFamily="18" charset="0"/>
              </a:rPr>
              <a:t>Activities grouped together by common functions from bottom to top of the organization</a:t>
            </a:r>
          </a:p>
          <a:p>
            <a:pPr eaLnBrk="1" hangingPunct="1">
              <a:buFont typeface="Wingdings" pitchFamily="2" charset="2"/>
              <a:buNone/>
            </a:pPr>
            <a:endParaRPr lang="en-US" sz="2200" b="1" dirty="0">
              <a:solidFill>
                <a:schemeClr val="accent2"/>
              </a:solidFill>
              <a:latin typeface="Sylfae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200" b="1" dirty="0">
              <a:solidFill>
                <a:schemeClr val="accent2"/>
              </a:solidFill>
              <a:latin typeface="Sylfaen" pitchFamily="18" charset="0"/>
            </a:endParaRPr>
          </a:p>
          <a:p>
            <a:pPr eaLnBrk="1" hangingPunct="1"/>
            <a:endParaRPr lang="en-US" sz="2000" b="1" dirty="0">
              <a:solidFill>
                <a:schemeClr val="accent2"/>
              </a:solidFill>
              <a:latin typeface="Sylfaen" pitchFamily="18" charset="0"/>
            </a:endParaRPr>
          </a:p>
        </p:txBody>
      </p:sp>
      <p:graphicFrame>
        <p:nvGraphicFramePr>
          <p:cNvPr id="27710" name="Group 62"/>
          <p:cNvGraphicFramePr>
            <a:graphicFrameLocks noGrp="1"/>
          </p:cNvGraphicFramePr>
          <p:nvPr>
            <p:ph sz="half" idx="2"/>
          </p:nvPr>
        </p:nvGraphicFramePr>
        <p:xfrm>
          <a:off x="304800" y="2187574"/>
          <a:ext cx="8610600" cy="4822826"/>
        </p:xfrm>
        <a:graphic>
          <a:graphicData uri="http://schemas.openxmlformats.org/drawingml/2006/table">
            <a:tbl>
              <a:tblPr/>
              <a:tblGrid>
                <a:gridCol w="861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Strengths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831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AutoNum type="arabicPeriod"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Allows economies of scale within functional departments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AutoNum type="arabicPeriod"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Enables in-depth knowledge and skill development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AutoNum type="arabicPeriod"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Enables organization to accomplish functional goals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AutoNum type="arabicPeriod"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 best with only one or a few products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Weaknesses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37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AutoNum type="arabicPeriod"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Slow response time to environmental changes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AutoNum type="arabicPeriod"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May cause decisions to pile on top, hierarchy overload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AutoNum type="arabicPeriod"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Leads to poor horizontal coordination among departments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AutoNum type="arabicPeriod"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Results in less innovation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AutoNum type="arabicPeriod"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Involves restricted view of organizational goals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228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800" b="1" dirty="0">
                <a:solidFill>
                  <a:schemeClr val="accent1">
                    <a:lumMod val="75000"/>
                  </a:schemeClr>
                </a:solidFill>
              </a:rPr>
              <a:t>Divisional structure</a:t>
            </a:r>
            <a:r>
              <a:rPr lang="en-US" sz="38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990600"/>
            <a:ext cx="8534400" cy="5105400"/>
          </a:xfrm>
        </p:spPr>
        <p:txBody>
          <a:bodyPr/>
          <a:lstStyle/>
          <a:p>
            <a:pPr eaLnBrk="1" hangingPunct="1"/>
            <a:r>
              <a:rPr lang="en-US" sz="2100" b="1">
                <a:solidFill>
                  <a:schemeClr val="accent2"/>
                </a:solidFill>
                <a:latin typeface="Sylfaen" pitchFamily="18" charset="0"/>
              </a:rPr>
              <a:t>Product structure, SBUs; grouping based on organizational outputs</a:t>
            </a:r>
          </a:p>
          <a:p>
            <a:pPr eaLnBrk="1" hangingPunct="1"/>
            <a:endParaRPr lang="en-US" sz="2100" b="1">
              <a:solidFill>
                <a:schemeClr val="accent2"/>
              </a:solidFill>
              <a:latin typeface="Sylfae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000" b="1">
              <a:solidFill>
                <a:schemeClr val="accent2"/>
              </a:solidFill>
              <a:latin typeface="Sylfae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200" b="1">
              <a:solidFill>
                <a:schemeClr val="accent2"/>
              </a:solidFill>
              <a:latin typeface="Sylfaen" pitchFamily="18" charset="0"/>
            </a:endParaRPr>
          </a:p>
          <a:p>
            <a:pPr eaLnBrk="1" hangingPunct="1"/>
            <a:endParaRPr lang="en-US" sz="2000" b="1">
              <a:solidFill>
                <a:schemeClr val="accent2"/>
              </a:solidFill>
              <a:latin typeface="Sylfaen" pitchFamily="18" charset="0"/>
            </a:endParaRPr>
          </a:p>
        </p:txBody>
      </p:sp>
      <p:graphicFrame>
        <p:nvGraphicFramePr>
          <p:cNvPr id="34854" name="Group 38"/>
          <p:cNvGraphicFramePr>
            <a:graphicFrameLocks noGrp="1"/>
          </p:cNvGraphicFramePr>
          <p:nvPr>
            <p:ph sz="half" idx="2"/>
          </p:nvPr>
        </p:nvGraphicFramePr>
        <p:xfrm>
          <a:off x="304800" y="1502493"/>
          <a:ext cx="8153400" cy="5423262"/>
        </p:xfrm>
        <a:graphic>
          <a:graphicData uri="http://schemas.openxmlformats.org/drawingml/2006/table">
            <a:tbl>
              <a:tblPr/>
              <a:tblGrid>
                <a:gridCol w="815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38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Strengths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0319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AutoNum type="arabicPeriod"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Suited to fast change in unstable environment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AutoNum type="arabicPeriod"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Leads to client satisfaction because product responsibility and contact points are clear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AutoNum type="arabicPeriod"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Involves high coordination across functions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AutoNum type="arabicPeriod"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Allows units to adapt to differences in products, regions, clients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AutoNum type="arabicPeriod"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Best in large organizations with several products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AutoNum type="arabicPeriod"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Decentralizes decision making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8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Weaknesses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7582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AutoNum type="arabicPeriod"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Eliminates economies of scale in functional departments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AutoNum type="arabicPeriod"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Leads to poor coordination across product lines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AutoNum type="arabicPeriod"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Eliminates in-depth competence and technical specialization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AutoNum type="arabicPeriod"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Makes integration and standardization across product lines difficult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5709</TotalTime>
  <Words>1253</Words>
  <Application>Microsoft Office PowerPoint</Application>
  <PresentationFormat>On-screen Show (4:3)</PresentationFormat>
  <Paragraphs>260</Paragraphs>
  <Slides>33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Arial</vt:lpstr>
      <vt:lpstr>Calibri</vt:lpstr>
      <vt:lpstr>Sylfaen</vt:lpstr>
      <vt:lpstr>Symbol</vt:lpstr>
      <vt:lpstr>Tahoma</vt:lpstr>
      <vt:lpstr>Times New Roman</vt:lpstr>
      <vt:lpstr>Tw Cen MT</vt:lpstr>
      <vt:lpstr>Verdana</vt:lpstr>
      <vt:lpstr>Wingdings</vt:lpstr>
      <vt:lpstr>Wingdings 2</vt:lpstr>
      <vt:lpstr>Median</vt:lpstr>
      <vt:lpstr>Organization Structure</vt:lpstr>
      <vt:lpstr>Why Organizational Structure?</vt:lpstr>
      <vt:lpstr>Organizational Structure</vt:lpstr>
      <vt:lpstr>Dimensions of Structure</vt:lpstr>
      <vt:lpstr>Complexity </vt:lpstr>
      <vt:lpstr>Complexity</vt:lpstr>
      <vt:lpstr>Horizontal Differentiation</vt:lpstr>
      <vt:lpstr>Horizontal Differentiation</vt:lpstr>
      <vt:lpstr>Horizontal Coordination</vt:lpstr>
      <vt:lpstr>Vertical Differentiation</vt:lpstr>
      <vt:lpstr>Span of Control</vt:lpstr>
      <vt:lpstr>Vertical Coordination </vt:lpstr>
      <vt:lpstr>Importance of complexity</vt:lpstr>
      <vt:lpstr>Formalization </vt:lpstr>
      <vt:lpstr>Formalization </vt:lpstr>
      <vt:lpstr>Formalization</vt:lpstr>
      <vt:lpstr>Importance of Formalization</vt:lpstr>
      <vt:lpstr>Formalization Techniques</vt:lpstr>
      <vt:lpstr>Formalization &amp; Complexity</vt:lpstr>
      <vt:lpstr>Centralization </vt:lpstr>
      <vt:lpstr>Centralization</vt:lpstr>
      <vt:lpstr>Main concerns </vt:lpstr>
      <vt:lpstr>Importance of the centralization-decentralization issue</vt:lpstr>
      <vt:lpstr>Centralization, Complexity and Formalization</vt:lpstr>
      <vt:lpstr>PowerPoint Presentation</vt:lpstr>
      <vt:lpstr>Organizational Configurations </vt:lpstr>
      <vt:lpstr>Organizational Configurations (contd.)</vt:lpstr>
      <vt:lpstr>Functional Structure</vt:lpstr>
      <vt:lpstr>Divisional Structure</vt:lpstr>
      <vt:lpstr>Project Structure</vt:lpstr>
      <vt:lpstr>Matrix Structure</vt:lpstr>
      <vt:lpstr>Functional structure </vt:lpstr>
      <vt:lpstr>Divisional structure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Organization Structure</dc:title>
  <dc:creator>MP GANESH</dc:creator>
  <cp:lastModifiedBy>Ganesh MP</cp:lastModifiedBy>
  <cp:revision>21</cp:revision>
  <dcterms:created xsi:type="dcterms:W3CDTF">2006-08-16T00:00:00Z</dcterms:created>
  <dcterms:modified xsi:type="dcterms:W3CDTF">2024-11-22T06:04:08Z</dcterms:modified>
</cp:coreProperties>
</file>