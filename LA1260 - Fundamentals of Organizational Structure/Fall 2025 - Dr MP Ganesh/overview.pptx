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82" r:id="rId7"/>
    <p:sldId id="263" r:id="rId8"/>
    <p:sldId id="280" r:id="rId9"/>
    <p:sldId id="261" r:id="rId10"/>
    <p:sldId id="283" r:id="rId11"/>
    <p:sldId id="262" r:id="rId12"/>
    <p:sldId id="264" r:id="rId13"/>
    <p:sldId id="281" r:id="rId14"/>
    <p:sldId id="265" r:id="rId15"/>
    <p:sldId id="266" r:id="rId16"/>
    <p:sldId id="267" r:id="rId17"/>
    <p:sldId id="268" r:id="rId18"/>
    <p:sldId id="269" r:id="rId19"/>
    <p:sldId id="271" r:id="rId20"/>
    <p:sldId id="272" r:id="rId21"/>
    <p:sldId id="273" r:id="rId22"/>
    <p:sldId id="274" r:id="rId23"/>
    <p:sldId id="275" r:id="rId24"/>
    <p:sldId id="276" r:id="rId25"/>
    <p:sldId id="278" r:id="rId26"/>
    <p:sldId id="277" r:id="rId27"/>
    <p:sldId id="279" r:id="rId2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763EA-F117-4EAC-9579-8CB3C9812789}" type="datetimeFigureOut">
              <a:rPr lang="en-US" smtClean="0"/>
              <a:t>8/8/2017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61C9FE-1659-4F7E-AA93-A9D0FE615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3081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5DBFB4F-89A5-454E-AD8C-D54E88A60C2A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41E8424-E156-4B50-9322-0A0F439E5E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78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5C4315-4817-4AB5-BF17-11347E261B2A}" type="slidenum">
              <a:rPr lang="en-US"/>
              <a:pPr/>
              <a:t>14</a:t>
            </a:fld>
            <a:endParaRPr 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687094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-381000"/>
            <a:ext cx="7158038" cy="14128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49325" y="1219200"/>
            <a:ext cx="3754438" cy="2362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56163" y="1219200"/>
            <a:ext cx="3754437" cy="2362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49325" y="3733800"/>
            <a:ext cx="3754438" cy="2362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56163" y="3733800"/>
            <a:ext cx="3754437" cy="2362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49688-3C30-4146-A37B-4C03766343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8SuUzmqBewg&amp;feature=relmfu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Organizational Structure and Design: an Introduction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Organization? 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3400" y="1600200"/>
            <a:ext cx="55880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Organizing: Arranging the activities of the enterprise in such a way that they systematically contribute to the enterprise’s goals. </a:t>
            </a:r>
          </a:p>
          <a:p>
            <a:r>
              <a:rPr lang="en-US" dirty="0" smtClean="0"/>
              <a:t>A deliberate arrangement of people to accomplish some specific purpose.</a:t>
            </a:r>
          </a:p>
          <a:p>
            <a:r>
              <a:rPr lang="en-US" dirty="0" smtClean="0"/>
              <a:t>An organization is a </a:t>
            </a:r>
            <a:r>
              <a:rPr lang="en-US" u="sng" dirty="0" smtClean="0"/>
              <a:t>consciously coordinated</a:t>
            </a:r>
            <a:r>
              <a:rPr lang="en-US" dirty="0" smtClean="0"/>
              <a:t> </a:t>
            </a:r>
            <a:r>
              <a:rPr lang="en-US" u="sng" dirty="0" smtClean="0"/>
              <a:t>social entity</a:t>
            </a:r>
            <a:r>
              <a:rPr lang="en-US" dirty="0" smtClean="0"/>
              <a:t>, with an </a:t>
            </a:r>
            <a:r>
              <a:rPr lang="en-US" u="sng" dirty="0" smtClean="0"/>
              <a:t>identifiable boundary</a:t>
            </a:r>
            <a:r>
              <a:rPr lang="en-US" dirty="0" smtClean="0"/>
              <a:t>, that functions on a relatively </a:t>
            </a:r>
            <a:r>
              <a:rPr lang="en-US" u="sng" dirty="0" smtClean="0"/>
              <a:t>continuous</a:t>
            </a:r>
            <a:r>
              <a:rPr lang="en-US" dirty="0" smtClean="0"/>
              <a:t> basis to achieve a common </a:t>
            </a:r>
            <a:r>
              <a:rPr lang="en-US" u="sng" dirty="0" smtClean="0"/>
              <a:t>goal</a:t>
            </a:r>
            <a:r>
              <a:rPr lang="en-US" dirty="0" smtClean="0"/>
              <a:t> or set of </a:t>
            </a:r>
            <a:r>
              <a:rPr lang="en-US" u="sng" dirty="0" smtClean="0"/>
              <a:t>goals.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Organizational Structure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457750"/>
            <a:ext cx="4572000" cy="5169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Organizational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formal system of task and authority relationships that control how people coordinate their actions and use resources to achieve organizational goals.</a:t>
            </a:r>
          </a:p>
          <a:p>
            <a:r>
              <a:rPr lang="en-US" dirty="0" smtClean="0"/>
              <a:t>It defines how task are to be allocated, who reports to whom, and the formal coordinating mechanisms and interaction patterns that will be followed.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142999"/>
            <a:ext cx="5791200" cy="5122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Components of Organizational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Complexity: extent of differentiation within the organization. </a:t>
            </a:r>
          </a:p>
          <a:p>
            <a:r>
              <a:rPr lang="en-US" dirty="0" smtClean="0"/>
              <a:t>Formalization: extent of rules and procedures present to direct behaviour of the employees.</a:t>
            </a:r>
          </a:p>
          <a:p>
            <a:r>
              <a:rPr lang="en-US" dirty="0" smtClean="0"/>
              <a:t>Centralization: locus of decision-making authority (concentration of formal authority).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smtClean="0"/>
              <a:t>Organizational Complexity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1494864"/>
            <a:ext cx="4724400" cy="5210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Organizational Design and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u="sng" dirty="0" smtClean="0"/>
              <a:t>Organization Design: </a:t>
            </a:r>
            <a:r>
              <a:rPr lang="en-US" dirty="0" smtClean="0"/>
              <a:t>Concerned with constructing  and changing an organization’s structure to achieve the organization’s goals.</a:t>
            </a:r>
          </a:p>
          <a:p>
            <a:r>
              <a:rPr lang="en-US" u="sng" dirty="0" smtClean="0"/>
              <a:t>Organization Theory (OT): </a:t>
            </a:r>
            <a:r>
              <a:rPr lang="en-US" dirty="0" smtClean="0"/>
              <a:t>discipline that studies structure , design and culture of organizations.</a:t>
            </a:r>
          </a:p>
          <a:p>
            <a:endParaRPr lang="en-US" dirty="0" smtClean="0"/>
          </a:p>
          <a:p>
            <a:r>
              <a:rPr lang="en-US" dirty="0" smtClean="0"/>
              <a:t>Contrasting OB and OT :</a:t>
            </a:r>
          </a:p>
          <a:p>
            <a:pPr lvl="1"/>
            <a:r>
              <a:rPr lang="en-US" dirty="0" smtClean="0"/>
              <a:t>OB : takes a micro view – emphasizing individuals and small groups.</a:t>
            </a:r>
          </a:p>
          <a:p>
            <a:pPr lvl="1"/>
            <a:r>
              <a:rPr lang="en-US" dirty="0" smtClean="0"/>
              <a:t>OT : takes a macro perspective. Unit of analysis is the organization itself.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914400"/>
            <a:ext cx="6400800" cy="5008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Organization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295400" y="2133600"/>
            <a:ext cx="6172200" cy="3429000"/>
            <a:chOff x="1524000" y="2133600"/>
            <a:chExt cx="6172200" cy="3429000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3505200" y="2133600"/>
              <a:ext cx="1905000" cy="1828800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11"/>
            <p:cNvSpPr>
              <a:spLocks noChangeArrowheads="1"/>
            </p:cNvSpPr>
            <p:nvPr/>
          </p:nvSpPr>
          <p:spPr bwMode="auto">
            <a:xfrm>
              <a:off x="2286000" y="2971800"/>
              <a:ext cx="1905000" cy="1600200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12"/>
            <p:cNvSpPr>
              <a:spLocks noChangeArrowheads="1"/>
            </p:cNvSpPr>
            <p:nvPr/>
          </p:nvSpPr>
          <p:spPr bwMode="auto">
            <a:xfrm>
              <a:off x="1524000" y="4038600"/>
              <a:ext cx="2133600" cy="1447800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4876800" y="2819400"/>
              <a:ext cx="2133600" cy="1600200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5791200" y="4038600"/>
              <a:ext cx="1905000" cy="1371600"/>
            </a:xfrm>
            <a:prstGeom prst="ellipse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3581400" y="3733800"/>
              <a:ext cx="2362200" cy="1828800"/>
            </a:xfrm>
            <a:prstGeom prst="rect">
              <a:avLst/>
            </a:prstGeom>
            <a:solidFill>
              <a:srgbClr val="99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r>
                <a:rPr lang="en-US" sz="1600" b="1">
                  <a:solidFill>
                    <a:srgbClr val="993300"/>
                  </a:solidFill>
                  <a:latin typeface="Times New Roman" pitchFamily="18" charset="0"/>
                </a:rPr>
                <a:t>Structure</a:t>
              </a:r>
            </a:p>
            <a:p>
              <a:pPr eaLnBrk="1" hangingPunct="1">
                <a:buFontTx/>
                <a:buChar char="•"/>
              </a:pPr>
              <a:r>
                <a:rPr lang="en-US" sz="1600" b="1">
                  <a:latin typeface="Times New Roman" pitchFamily="18" charset="0"/>
                </a:rPr>
                <a:t>Formalization</a:t>
              </a:r>
            </a:p>
            <a:p>
              <a:pPr eaLnBrk="1" hangingPunct="1">
                <a:buFontTx/>
                <a:buChar char="•"/>
              </a:pPr>
              <a:r>
                <a:rPr lang="en-US" sz="1600" b="1">
                  <a:latin typeface="Times New Roman" pitchFamily="18" charset="0"/>
                </a:rPr>
                <a:t>Specialization</a:t>
              </a:r>
            </a:p>
            <a:p>
              <a:pPr eaLnBrk="1" hangingPunct="1">
                <a:buFontTx/>
                <a:buChar char="•"/>
              </a:pPr>
              <a:r>
                <a:rPr lang="en-US" sz="1600" b="1">
                  <a:latin typeface="Times New Roman" pitchFamily="18" charset="0"/>
                </a:rPr>
                <a:t>Hierarchy</a:t>
              </a:r>
            </a:p>
            <a:p>
              <a:pPr eaLnBrk="1" hangingPunct="1">
                <a:buFontTx/>
                <a:buChar char="•"/>
              </a:pPr>
              <a:r>
                <a:rPr lang="en-US" sz="1600" b="1">
                  <a:latin typeface="Times New Roman" pitchFamily="18" charset="0"/>
                </a:rPr>
                <a:t>Centralization</a:t>
              </a:r>
            </a:p>
          </p:txBody>
        </p:sp>
        <p:sp>
          <p:nvSpPr>
            <p:cNvPr id="11" name="Text Box 16"/>
            <p:cNvSpPr txBox="1">
              <a:spLocks noChangeArrowheads="1"/>
            </p:cNvSpPr>
            <p:nvPr/>
          </p:nvSpPr>
          <p:spPr bwMode="auto">
            <a:xfrm>
              <a:off x="1828800" y="4572000"/>
              <a:ext cx="15240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>
                  <a:latin typeface="Times New Roman" pitchFamily="18" charset="0"/>
                </a:rPr>
                <a:t>Culture</a:t>
              </a: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2590800" y="3352800"/>
              <a:ext cx="13716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latin typeface="Times New Roman" pitchFamily="18" charset="0"/>
                </a:rPr>
                <a:t>Environment</a:t>
              </a:r>
            </a:p>
          </p:txBody>
        </p:sp>
        <p:sp>
          <p:nvSpPr>
            <p:cNvPr id="13" name="Text Box 18"/>
            <p:cNvSpPr txBox="1">
              <a:spLocks noChangeArrowheads="1"/>
            </p:cNvSpPr>
            <p:nvPr/>
          </p:nvSpPr>
          <p:spPr bwMode="auto">
            <a:xfrm>
              <a:off x="3962400" y="2514600"/>
              <a:ext cx="16002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latin typeface="Times New Roman" pitchFamily="18" charset="0"/>
                </a:rPr>
                <a:t>Strategy</a:t>
              </a:r>
            </a:p>
          </p:txBody>
        </p:sp>
        <p:sp>
          <p:nvSpPr>
            <p:cNvPr id="14" name="Text Box 19"/>
            <p:cNvSpPr txBox="1">
              <a:spLocks noChangeArrowheads="1"/>
            </p:cNvSpPr>
            <p:nvPr/>
          </p:nvSpPr>
          <p:spPr bwMode="auto">
            <a:xfrm>
              <a:off x="5257800" y="3276600"/>
              <a:ext cx="1600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>
                  <a:latin typeface="Times New Roman" pitchFamily="18" charset="0"/>
                </a:rPr>
                <a:t>Technology</a:t>
              </a:r>
            </a:p>
          </p:txBody>
        </p:sp>
        <p:sp>
          <p:nvSpPr>
            <p:cNvPr id="15" name="Text Box 20"/>
            <p:cNvSpPr txBox="1">
              <a:spLocks noChangeArrowheads="1"/>
            </p:cNvSpPr>
            <p:nvPr/>
          </p:nvSpPr>
          <p:spPr bwMode="auto">
            <a:xfrm>
              <a:off x="6172200" y="4648200"/>
              <a:ext cx="1219200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b="1">
                  <a:latin typeface="Times New Roman" pitchFamily="18" charset="0"/>
                </a:rPr>
                <a:t>Size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organizations exist?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Palatino Linotype" pitchFamily="18" charset="0"/>
              </a:rPr>
              <a:t>Organizations exist to create value in society by satisfying certain needs of its stakeholders.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066800"/>
            <a:ext cx="5715000" cy="498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066800" y="3124200"/>
            <a:ext cx="12192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sy="-50000" kx="2453608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900" b="1" dirty="0"/>
              <a:t>The use of an</a:t>
            </a:r>
          </a:p>
          <a:p>
            <a:pPr algn="ctr">
              <a:defRPr/>
            </a:pPr>
            <a:r>
              <a:rPr lang="en-US" sz="900" b="1" dirty="0"/>
              <a:t>organization allows</a:t>
            </a:r>
          </a:p>
          <a:p>
            <a:pPr algn="ctr">
              <a:defRPr/>
            </a:pPr>
            <a:r>
              <a:rPr lang="en-US" sz="900" b="1" dirty="0"/>
              <a:t>people jointly to: </a:t>
            </a:r>
            <a:endParaRPr lang="en-US" sz="1200" b="1" dirty="0"/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324600" y="3124200"/>
            <a:ext cx="1295400" cy="9144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sy="-50000" kx="2453608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900" b="1" dirty="0"/>
              <a:t>Which increases the </a:t>
            </a:r>
          </a:p>
          <a:p>
            <a:pPr algn="ctr">
              <a:defRPr/>
            </a:pPr>
            <a:r>
              <a:rPr lang="en-US" sz="900" b="1" dirty="0"/>
              <a:t>value that an </a:t>
            </a:r>
          </a:p>
          <a:p>
            <a:pPr algn="ctr">
              <a:defRPr/>
            </a:pPr>
            <a:r>
              <a:rPr lang="en-US" sz="900" b="1" dirty="0"/>
              <a:t>organization can </a:t>
            </a:r>
          </a:p>
          <a:p>
            <a:pPr algn="ctr">
              <a:defRPr/>
            </a:pPr>
            <a:r>
              <a:rPr lang="en-US" sz="900" b="1" dirty="0"/>
              <a:t>create</a:t>
            </a:r>
          </a:p>
        </p:txBody>
      </p:sp>
      <p:sp>
        <p:nvSpPr>
          <p:cNvPr id="38918" name="Rectangle 6"/>
          <p:cNvSpPr>
            <a:spLocks noChangeArrowheads="1"/>
          </p:cNvSpPr>
          <p:nvPr/>
        </p:nvSpPr>
        <p:spPr bwMode="auto">
          <a:xfrm>
            <a:off x="2895600" y="1524000"/>
            <a:ext cx="26670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000" b="1" dirty="0">
                <a:solidFill>
                  <a:srgbClr val="CC0000"/>
                </a:solidFill>
                <a:latin typeface="Century Gothic" pitchFamily="34" charset="0"/>
              </a:rPr>
              <a:t>Increase specialization &amp;</a:t>
            </a:r>
          </a:p>
          <a:p>
            <a:pPr algn="ctr">
              <a:defRPr/>
            </a:pPr>
            <a:r>
              <a:rPr lang="en-US" sz="1000" b="1" dirty="0">
                <a:solidFill>
                  <a:srgbClr val="CC0000"/>
                </a:solidFill>
                <a:latin typeface="Century Gothic" pitchFamily="34" charset="0"/>
              </a:rPr>
              <a:t>Division of </a:t>
            </a:r>
            <a:r>
              <a:rPr lang="en-US" sz="1000" b="1" dirty="0" err="1">
                <a:solidFill>
                  <a:srgbClr val="CC0000"/>
                </a:solidFill>
                <a:latin typeface="Century Gothic" pitchFamily="34" charset="0"/>
              </a:rPr>
              <a:t>labour</a:t>
            </a:r>
            <a:r>
              <a:rPr lang="en-US" sz="1000" b="1" dirty="0">
                <a:solidFill>
                  <a:srgbClr val="CC0000"/>
                </a:solidFill>
                <a:latin typeface="Century Gothic" pitchFamily="34" charset="0"/>
              </a:rPr>
              <a:t> </a:t>
            </a:r>
          </a:p>
        </p:txBody>
      </p:sp>
      <p:sp>
        <p:nvSpPr>
          <p:cNvPr id="38919" name="Rectangle 7"/>
          <p:cNvSpPr>
            <a:spLocks noChangeArrowheads="1"/>
          </p:cNvSpPr>
          <p:nvPr/>
        </p:nvSpPr>
        <p:spPr bwMode="auto">
          <a:xfrm>
            <a:off x="2895600" y="2362200"/>
            <a:ext cx="26670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000" b="1">
                <a:solidFill>
                  <a:srgbClr val="CC0000"/>
                </a:solidFill>
                <a:latin typeface="Century Gothic" pitchFamily="34" charset="0"/>
              </a:rPr>
              <a:t>Use large</a:t>
            </a:r>
          </a:p>
          <a:p>
            <a:pPr algn="ctr">
              <a:defRPr/>
            </a:pPr>
            <a:r>
              <a:rPr lang="en-US" sz="1000" b="1">
                <a:solidFill>
                  <a:srgbClr val="CC0000"/>
                </a:solidFill>
                <a:latin typeface="Century Gothic" pitchFamily="34" charset="0"/>
              </a:rPr>
              <a:t>scale technology</a:t>
            </a: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2895600" y="3200400"/>
            <a:ext cx="26670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endParaRPr lang="en-US" sz="900" dirty="0">
              <a:solidFill>
                <a:srgbClr val="CC0000"/>
              </a:solidFill>
              <a:latin typeface="Century Gothic" pitchFamily="34" charset="0"/>
            </a:endParaRPr>
          </a:p>
          <a:p>
            <a:pPr algn="ctr">
              <a:defRPr/>
            </a:pPr>
            <a:r>
              <a:rPr lang="en-US" sz="1000" b="1" dirty="0">
                <a:solidFill>
                  <a:srgbClr val="CC0000"/>
                </a:solidFill>
                <a:latin typeface="Century Gothic" pitchFamily="34" charset="0"/>
              </a:rPr>
              <a:t>Manage the external environment</a:t>
            </a:r>
          </a:p>
          <a:p>
            <a:pPr algn="ctr">
              <a:defRPr/>
            </a:pPr>
            <a:endParaRPr lang="en-US" sz="1000" b="1" dirty="0">
              <a:latin typeface="Century Gothic" pitchFamily="34" charset="0"/>
            </a:endParaRP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2895600" y="4038600"/>
            <a:ext cx="26670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000" b="1" dirty="0">
                <a:solidFill>
                  <a:srgbClr val="CC0000"/>
                </a:solidFill>
                <a:latin typeface="Century Gothic" pitchFamily="34" charset="0"/>
              </a:rPr>
              <a:t>Economize on transaction costs</a:t>
            </a:r>
          </a:p>
          <a:p>
            <a:pPr algn="ctr">
              <a:defRPr/>
            </a:pPr>
            <a:endParaRPr lang="en-US" sz="1000" b="1" dirty="0">
              <a:latin typeface="Century Gothic" pitchFamily="34" charset="0"/>
            </a:endParaRP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2895600" y="4876800"/>
            <a:ext cx="2667000" cy="457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000" b="1">
                <a:solidFill>
                  <a:srgbClr val="CC0000"/>
                </a:solidFill>
                <a:latin typeface="Century Gothic" pitchFamily="34" charset="0"/>
              </a:rPr>
              <a:t>Exert power and control</a:t>
            </a:r>
            <a:endParaRPr lang="en-US" sz="1000" b="1">
              <a:latin typeface="Century Gothic" pitchFamily="34" charset="0"/>
            </a:endParaRPr>
          </a:p>
        </p:txBody>
      </p:sp>
      <p:sp>
        <p:nvSpPr>
          <p:cNvPr id="9225" name="Line 11"/>
          <p:cNvSpPr>
            <a:spLocks noChangeShapeType="1"/>
          </p:cNvSpPr>
          <p:nvPr/>
        </p:nvSpPr>
        <p:spPr bwMode="auto">
          <a:xfrm>
            <a:off x="2286000" y="3505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6" name="Line 12"/>
          <p:cNvSpPr>
            <a:spLocks noChangeShapeType="1"/>
          </p:cNvSpPr>
          <p:nvPr/>
        </p:nvSpPr>
        <p:spPr bwMode="auto">
          <a:xfrm>
            <a:off x="2514600" y="17526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7" name="Line 13"/>
          <p:cNvSpPr>
            <a:spLocks noChangeShapeType="1"/>
          </p:cNvSpPr>
          <p:nvPr/>
        </p:nvSpPr>
        <p:spPr bwMode="auto">
          <a:xfrm>
            <a:off x="2514600" y="5105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8" name="Line 14"/>
          <p:cNvSpPr>
            <a:spLocks noChangeShapeType="1"/>
          </p:cNvSpPr>
          <p:nvPr/>
        </p:nvSpPr>
        <p:spPr bwMode="auto">
          <a:xfrm>
            <a:off x="2514600" y="4267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9" name="Line 15"/>
          <p:cNvSpPr>
            <a:spLocks noChangeShapeType="1"/>
          </p:cNvSpPr>
          <p:nvPr/>
        </p:nvSpPr>
        <p:spPr bwMode="auto">
          <a:xfrm>
            <a:off x="2514600" y="2590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0" name="Line 16"/>
          <p:cNvSpPr>
            <a:spLocks noChangeShapeType="1"/>
          </p:cNvSpPr>
          <p:nvPr/>
        </p:nvSpPr>
        <p:spPr bwMode="auto">
          <a:xfrm>
            <a:off x="2514600" y="1752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1" name="Line 17"/>
          <p:cNvSpPr>
            <a:spLocks noChangeShapeType="1"/>
          </p:cNvSpPr>
          <p:nvPr/>
        </p:nvSpPr>
        <p:spPr bwMode="auto">
          <a:xfrm>
            <a:off x="6019800" y="1752600"/>
            <a:ext cx="0" cy="335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2" name="Line 18"/>
          <p:cNvSpPr>
            <a:spLocks noChangeShapeType="1"/>
          </p:cNvSpPr>
          <p:nvPr/>
        </p:nvSpPr>
        <p:spPr bwMode="auto">
          <a:xfrm>
            <a:off x="5562600" y="34290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3" name="Line 19"/>
          <p:cNvSpPr>
            <a:spLocks noChangeShapeType="1"/>
          </p:cNvSpPr>
          <p:nvPr/>
        </p:nvSpPr>
        <p:spPr bwMode="auto">
          <a:xfrm>
            <a:off x="5562600" y="5105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4" name="Line 20"/>
          <p:cNvSpPr>
            <a:spLocks noChangeShapeType="1"/>
          </p:cNvSpPr>
          <p:nvPr/>
        </p:nvSpPr>
        <p:spPr bwMode="auto">
          <a:xfrm>
            <a:off x="5562600" y="4267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5" name="Line 21"/>
          <p:cNvSpPr>
            <a:spLocks noChangeShapeType="1"/>
          </p:cNvSpPr>
          <p:nvPr/>
        </p:nvSpPr>
        <p:spPr bwMode="auto">
          <a:xfrm>
            <a:off x="5562600" y="2514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36" name="Line 22"/>
          <p:cNvSpPr>
            <a:spLocks noChangeShapeType="1"/>
          </p:cNvSpPr>
          <p:nvPr/>
        </p:nvSpPr>
        <p:spPr bwMode="auto">
          <a:xfrm>
            <a:off x="5562600" y="1752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Value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143000" y="152400"/>
            <a:ext cx="6858000" cy="990600"/>
          </a:xfrm>
        </p:spPr>
        <p:txBody>
          <a:bodyPr/>
          <a:lstStyle/>
          <a:p>
            <a:pPr algn="ctr" eaLnBrk="1" hangingPunct="1"/>
            <a:r>
              <a:rPr lang="en-US" sz="3000" b="1" dirty="0" smtClean="0">
                <a:latin typeface="Arial Rounded MT Bold" pitchFamily="34" charset="0"/>
              </a:rPr>
              <a:t>How an organization creates value</a:t>
            </a:r>
          </a:p>
        </p:txBody>
      </p:sp>
      <p:graphicFrame>
        <p:nvGraphicFramePr>
          <p:cNvPr id="40963" name="Group 3"/>
          <p:cNvGraphicFramePr>
            <a:graphicFrameLocks noGrp="1"/>
          </p:cNvGraphicFramePr>
          <p:nvPr>
            <p:ph sz="quarter" idx="1"/>
          </p:nvPr>
        </p:nvGraphicFramePr>
        <p:xfrm>
          <a:off x="1752600" y="1143000"/>
          <a:ext cx="2590800" cy="2362201"/>
        </p:xfrm>
        <a:graphic>
          <a:graphicData uri="http://schemas.openxmlformats.org/drawingml/2006/table">
            <a:tbl>
              <a:tblPr/>
              <a:tblGrid>
                <a:gridCol w="2590800"/>
              </a:tblGrid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/>
                          <a:latin typeface="Arial" charset="0"/>
                        </a:rPr>
                        <a:t>Inputs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99"/>
                    </a:solidFill>
                  </a:tcPr>
                </a:tc>
              </a:tr>
              <a:tr h="180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Raw materials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Money &amp; capital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Human resources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Information and knowledge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971" name="Group 11"/>
          <p:cNvGraphicFramePr>
            <a:graphicFrameLocks noGrp="1"/>
          </p:cNvGraphicFramePr>
          <p:nvPr>
            <p:ph sz="quarter" idx="2"/>
          </p:nvPr>
        </p:nvGraphicFramePr>
        <p:xfrm>
          <a:off x="5257800" y="1143000"/>
          <a:ext cx="2590800" cy="2384044"/>
        </p:xfrm>
        <a:graphic>
          <a:graphicData uri="http://schemas.openxmlformats.org/drawingml/2006/table">
            <a:tbl>
              <a:tblPr/>
              <a:tblGrid>
                <a:gridCol w="2590800"/>
              </a:tblGrid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/>
                          <a:latin typeface="Arial" charset="0"/>
                        </a:rPr>
                        <a:t>Conversion process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99"/>
                    </a:solidFill>
                  </a:tcPr>
                </a:tc>
              </a:tr>
              <a:tr h="178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Machinery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Computers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Human skills &amp; abilities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13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979" name="Group 19"/>
          <p:cNvGraphicFramePr>
            <a:graphicFrameLocks noGrp="1"/>
          </p:cNvGraphicFramePr>
          <p:nvPr>
            <p:ph sz="quarter" idx="3"/>
          </p:nvPr>
        </p:nvGraphicFramePr>
        <p:xfrm>
          <a:off x="1752600" y="4114800"/>
          <a:ext cx="2590800" cy="2341563"/>
        </p:xfrm>
        <a:graphic>
          <a:graphicData uri="http://schemas.openxmlformats.org/drawingml/2006/table">
            <a:tbl>
              <a:tblPr/>
              <a:tblGrid>
                <a:gridCol w="25908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/>
                          <a:latin typeface="Arial" charset="0"/>
                        </a:rPr>
                        <a:t>Environment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99"/>
                    </a:solidFill>
                  </a:tcPr>
                </a:tc>
              </a:tr>
              <a:tr h="180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Customers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Shareholders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Suppliers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Distributors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Government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Competitors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987" name="Group 27"/>
          <p:cNvGraphicFramePr>
            <a:graphicFrameLocks noGrp="1"/>
          </p:cNvGraphicFramePr>
          <p:nvPr>
            <p:ph sz="quarter" idx="4"/>
          </p:nvPr>
        </p:nvGraphicFramePr>
        <p:xfrm>
          <a:off x="5257800" y="4114800"/>
          <a:ext cx="2590800" cy="2362201"/>
        </p:xfrm>
        <a:graphic>
          <a:graphicData uri="http://schemas.openxmlformats.org/drawingml/2006/table">
            <a:tbl>
              <a:tblPr/>
              <a:tblGrid>
                <a:gridCol w="2590800"/>
              </a:tblGrid>
              <a:tr h="554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6600"/>
                          </a:solidFill>
                          <a:effectLst/>
                          <a:latin typeface="Arial" charset="0"/>
                        </a:rPr>
                        <a:t>Outputs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99"/>
                    </a:solidFill>
                  </a:tcPr>
                </a:tc>
              </a:tr>
              <a:tr h="1808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Finished goods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Services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Dividends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Salaries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Wingdings" pitchFamily="2" charset="2"/>
                        <a:buChar char="n"/>
                        <a:tabLst/>
                      </a:pPr>
                      <a:r>
                        <a:rPr kumimoji="0" lang="en-US" sz="13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for shareholders</a:t>
                      </a: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</a:tbl>
          </a:graphicData>
        </a:graphic>
      </p:graphicFrame>
      <p:sp>
        <p:nvSpPr>
          <p:cNvPr id="10275" name="Line 35"/>
          <p:cNvSpPr>
            <a:spLocks noChangeShapeType="1"/>
          </p:cNvSpPr>
          <p:nvPr/>
        </p:nvSpPr>
        <p:spPr bwMode="auto">
          <a:xfrm flipV="1">
            <a:off x="2971800" y="35052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76" name="Line 36"/>
          <p:cNvSpPr>
            <a:spLocks noChangeShapeType="1"/>
          </p:cNvSpPr>
          <p:nvPr/>
        </p:nvSpPr>
        <p:spPr bwMode="auto">
          <a:xfrm>
            <a:off x="4343400" y="2438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77" name="Line 37"/>
          <p:cNvSpPr>
            <a:spLocks noChangeShapeType="1"/>
          </p:cNvSpPr>
          <p:nvPr/>
        </p:nvSpPr>
        <p:spPr bwMode="auto">
          <a:xfrm>
            <a:off x="6553200" y="35052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78" name="Line 38"/>
          <p:cNvSpPr>
            <a:spLocks noChangeShapeType="1"/>
          </p:cNvSpPr>
          <p:nvPr/>
        </p:nvSpPr>
        <p:spPr bwMode="auto">
          <a:xfrm flipH="1">
            <a:off x="4343400" y="5486400"/>
            <a:ext cx="91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Perspectives on Organizations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Rational entities</a:t>
            </a:r>
          </a:p>
          <a:p>
            <a:r>
              <a:rPr lang="en-US" dirty="0" smtClean="0"/>
              <a:t>Coalitions of powerful constituencies</a:t>
            </a:r>
          </a:p>
          <a:p>
            <a:r>
              <a:rPr lang="en-US" dirty="0" smtClean="0"/>
              <a:t>Capitalistic structures </a:t>
            </a:r>
          </a:p>
          <a:p>
            <a:r>
              <a:rPr lang="en-US" dirty="0" smtClean="0"/>
              <a:t>Instruments of domination</a:t>
            </a:r>
          </a:p>
          <a:p>
            <a:r>
              <a:rPr lang="en-US" u="sng" dirty="0" smtClean="0">
                <a:hlinkClick r:id="rId2"/>
              </a:rPr>
              <a:t>http://www.youtube.com/watch?v=8SuUzmqBewg&amp;feature=relmfu</a:t>
            </a:r>
            <a:endParaRPr lang="en-US" dirty="0" smtClean="0"/>
          </a:p>
          <a:p>
            <a:r>
              <a:rPr lang="en-US" dirty="0" smtClean="0"/>
              <a:t>Open systems </a:t>
            </a:r>
            <a:r>
              <a:rPr lang="en-US" dirty="0" smtClean="0"/>
              <a:t>    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Systems Perspective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system is a set of interrelated and interdependent parts arranged in a manner that produces a unified whole. (e.g. societies, automobiles, plants, human bodies).</a:t>
            </a:r>
          </a:p>
          <a:p>
            <a:r>
              <a:rPr lang="en-US" dirty="0" smtClean="0"/>
              <a:t>Subsystems within larger systems.</a:t>
            </a:r>
          </a:p>
          <a:p>
            <a:r>
              <a:rPr lang="en-US" dirty="0" smtClean="0"/>
              <a:t>Interrelationship of parts within the system.</a:t>
            </a:r>
          </a:p>
          <a:p>
            <a:r>
              <a:rPr lang="en-US" dirty="0" smtClean="0"/>
              <a:t>Differentiation Vs Integration .</a:t>
            </a:r>
          </a:p>
          <a:p>
            <a:r>
              <a:rPr lang="en-US" dirty="0" smtClean="0"/>
              <a:t>Closed systems and open systems.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Closed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Views system as self-contained</a:t>
            </a:r>
          </a:p>
          <a:p>
            <a:r>
              <a:rPr lang="en-US" dirty="0" smtClean="0"/>
              <a:t>Ignores effect of environment </a:t>
            </a:r>
          </a:p>
          <a:p>
            <a:r>
              <a:rPr lang="en-US" dirty="0" smtClean="0"/>
              <a:t>Receives no energy from outside, no energy released to its surroundings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3058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 smtClean="0">
                <a:latin typeface="Arial Rounded MT Bold" pitchFamily="34" charset="0"/>
              </a:rPr>
              <a:t>Open systems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8534400" cy="5105400"/>
          </a:xfrm>
        </p:spPr>
        <p:txBody>
          <a:bodyPr/>
          <a:lstStyle/>
          <a:p>
            <a:pPr eaLnBrk="1" hangingPunct="1"/>
            <a:r>
              <a:rPr lang="en-US" sz="2600" b="1" dirty="0" smtClean="0"/>
              <a:t>  Recognizes dynamic interaction of system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600" b="1" dirty="0" smtClean="0"/>
              <a:t>       with its environment</a:t>
            </a:r>
          </a:p>
        </p:txBody>
      </p:sp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533400" y="24384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533400" y="24384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8" name="Line 6"/>
          <p:cNvSpPr>
            <a:spLocks noChangeShapeType="1"/>
          </p:cNvSpPr>
          <p:nvPr/>
        </p:nvSpPr>
        <p:spPr bwMode="auto">
          <a:xfrm>
            <a:off x="533400" y="6553200"/>
            <a:ext cx="830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8763000" y="2438400"/>
            <a:ext cx="0" cy="411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auto">
          <a:xfrm>
            <a:off x="1600200" y="4343400"/>
            <a:ext cx="1371600" cy="8382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Times New Roman" pitchFamily="18" charset="0"/>
              </a:rPr>
              <a:t>Inputs</a:t>
            </a:r>
          </a:p>
        </p:txBody>
      </p:sp>
      <p:sp>
        <p:nvSpPr>
          <p:cNvPr id="46089" name="Rectangle 9"/>
          <p:cNvSpPr>
            <a:spLocks noChangeArrowheads="1"/>
          </p:cNvSpPr>
          <p:nvPr/>
        </p:nvSpPr>
        <p:spPr bwMode="auto">
          <a:xfrm>
            <a:off x="6629400" y="4495800"/>
            <a:ext cx="1371600" cy="609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Times New Roman" pitchFamily="18" charset="0"/>
              </a:rPr>
              <a:t>Outputs</a:t>
            </a:r>
          </a:p>
        </p:txBody>
      </p:sp>
      <p:sp>
        <p:nvSpPr>
          <p:cNvPr id="46090" name="Rectangle 10"/>
          <p:cNvSpPr>
            <a:spLocks noChangeArrowheads="1"/>
          </p:cNvSpPr>
          <p:nvPr/>
        </p:nvSpPr>
        <p:spPr bwMode="auto">
          <a:xfrm>
            <a:off x="3733800" y="4419600"/>
            <a:ext cx="2057400" cy="7620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000" b="1">
                <a:latin typeface="Times New Roman" pitchFamily="18" charset="0"/>
              </a:rPr>
              <a:t>Transformation </a:t>
            </a:r>
          </a:p>
          <a:p>
            <a:pPr algn="ctr" eaLnBrk="1" hangingPunct="1">
              <a:defRPr/>
            </a:pPr>
            <a:r>
              <a:rPr lang="en-US" sz="2000" b="1">
                <a:latin typeface="Times New Roman" pitchFamily="18" charset="0"/>
              </a:rPr>
              <a:t>process</a:t>
            </a:r>
          </a:p>
        </p:txBody>
      </p:sp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3581400" y="3641725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b="1">
                <a:latin typeface="Times New Roman" pitchFamily="18" charset="0"/>
              </a:rPr>
              <a:t>System</a:t>
            </a:r>
          </a:p>
        </p:txBody>
      </p:sp>
      <p:sp>
        <p:nvSpPr>
          <p:cNvPr id="13324" name="Text Box 12"/>
          <p:cNvSpPr txBox="1">
            <a:spLocks noChangeArrowheads="1"/>
          </p:cNvSpPr>
          <p:nvPr/>
        </p:nvSpPr>
        <p:spPr bwMode="auto">
          <a:xfrm>
            <a:off x="6553200" y="28956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993300"/>
                </a:solidFill>
                <a:latin typeface="Times New Roman" pitchFamily="18" charset="0"/>
              </a:rPr>
              <a:t>Environment</a:t>
            </a:r>
          </a:p>
        </p:txBody>
      </p:sp>
      <p:sp>
        <p:nvSpPr>
          <p:cNvPr id="13325" name="Text Box 13"/>
          <p:cNvSpPr txBox="1">
            <a:spLocks noChangeArrowheads="1"/>
          </p:cNvSpPr>
          <p:nvPr/>
        </p:nvSpPr>
        <p:spPr bwMode="auto">
          <a:xfrm>
            <a:off x="457200" y="57150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400">
                <a:latin typeface="Times New Roman" pitchFamily="18" charset="0"/>
              </a:rPr>
              <a:t>  </a:t>
            </a:r>
            <a:r>
              <a:rPr lang="en-US" sz="2000" b="1">
                <a:solidFill>
                  <a:srgbClr val="993300"/>
                </a:solidFill>
                <a:latin typeface="Times New Roman" pitchFamily="18" charset="0"/>
              </a:rPr>
              <a:t>Environment</a:t>
            </a:r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3048000" y="46482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>
            <a:off x="5867400" y="4648200"/>
            <a:ext cx="762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28" name="Freeform 16"/>
          <p:cNvSpPr>
            <a:spLocks/>
          </p:cNvSpPr>
          <p:nvPr/>
        </p:nvSpPr>
        <p:spPr bwMode="auto">
          <a:xfrm>
            <a:off x="2209800" y="3200400"/>
            <a:ext cx="5410200" cy="1244600"/>
          </a:xfrm>
          <a:custGeom>
            <a:avLst/>
            <a:gdLst>
              <a:gd name="T0" fmla="*/ 0 w 3408"/>
              <a:gd name="T1" fmla="*/ 688 h 784"/>
              <a:gd name="T2" fmla="*/ 240 w 3408"/>
              <a:gd name="T3" fmla="*/ 208 h 784"/>
              <a:gd name="T4" fmla="*/ 672 w 3408"/>
              <a:gd name="T5" fmla="*/ 112 h 784"/>
              <a:gd name="T6" fmla="*/ 1152 w 3408"/>
              <a:gd name="T7" fmla="*/ 16 h 784"/>
              <a:gd name="T8" fmla="*/ 1584 w 3408"/>
              <a:gd name="T9" fmla="*/ 64 h 784"/>
              <a:gd name="T10" fmla="*/ 1968 w 3408"/>
              <a:gd name="T11" fmla="*/ 16 h 784"/>
              <a:gd name="T12" fmla="*/ 2352 w 3408"/>
              <a:gd name="T13" fmla="*/ 160 h 784"/>
              <a:gd name="T14" fmla="*/ 2784 w 3408"/>
              <a:gd name="T15" fmla="*/ 208 h 784"/>
              <a:gd name="T16" fmla="*/ 3216 w 3408"/>
              <a:gd name="T17" fmla="*/ 400 h 784"/>
              <a:gd name="T18" fmla="*/ 3264 w 3408"/>
              <a:gd name="T19" fmla="*/ 640 h 784"/>
              <a:gd name="T20" fmla="*/ 3408 w 3408"/>
              <a:gd name="T21" fmla="*/ 784 h 7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408"/>
              <a:gd name="T34" fmla="*/ 0 h 784"/>
              <a:gd name="T35" fmla="*/ 3408 w 3408"/>
              <a:gd name="T36" fmla="*/ 784 h 78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408" h="784">
                <a:moveTo>
                  <a:pt x="0" y="688"/>
                </a:moveTo>
                <a:cubicBezTo>
                  <a:pt x="64" y="496"/>
                  <a:pt x="128" y="304"/>
                  <a:pt x="240" y="208"/>
                </a:cubicBezTo>
                <a:cubicBezTo>
                  <a:pt x="352" y="112"/>
                  <a:pt x="520" y="144"/>
                  <a:pt x="672" y="112"/>
                </a:cubicBezTo>
                <a:cubicBezTo>
                  <a:pt x="824" y="80"/>
                  <a:pt x="1000" y="24"/>
                  <a:pt x="1152" y="16"/>
                </a:cubicBezTo>
                <a:cubicBezTo>
                  <a:pt x="1304" y="8"/>
                  <a:pt x="1448" y="64"/>
                  <a:pt x="1584" y="64"/>
                </a:cubicBezTo>
                <a:cubicBezTo>
                  <a:pt x="1720" y="64"/>
                  <a:pt x="1840" y="0"/>
                  <a:pt x="1968" y="16"/>
                </a:cubicBezTo>
                <a:cubicBezTo>
                  <a:pt x="2096" y="32"/>
                  <a:pt x="2216" y="128"/>
                  <a:pt x="2352" y="160"/>
                </a:cubicBezTo>
                <a:cubicBezTo>
                  <a:pt x="2488" y="192"/>
                  <a:pt x="2640" y="168"/>
                  <a:pt x="2784" y="208"/>
                </a:cubicBezTo>
                <a:cubicBezTo>
                  <a:pt x="2928" y="248"/>
                  <a:pt x="3136" y="328"/>
                  <a:pt x="3216" y="400"/>
                </a:cubicBezTo>
                <a:cubicBezTo>
                  <a:pt x="3296" y="472"/>
                  <a:pt x="3232" y="576"/>
                  <a:pt x="3264" y="640"/>
                </a:cubicBezTo>
                <a:cubicBezTo>
                  <a:pt x="3296" y="704"/>
                  <a:pt x="3384" y="760"/>
                  <a:pt x="3408" y="784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9" name="Freeform 17"/>
          <p:cNvSpPr>
            <a:spLocks/>
          </p:cNvSpPr>
          <p:nvPr/>
        </p:nvSpPr>
        <p:spPr bwMode="auto">
          <a:xfrm>
            <a:off x="2133600" y="5105400"/>
            <a:ext cx="5664200" cy="1244600"/>
          </a:xfrm>
          <a:custGeom>
            <a:avLst/>
            <a:gdLst>
              <a:gd name="T0" fmla="*/ 0 w 3568"/>
              <a:gd name="T1" fmla="*/ 48 h 784"/>
              <a:gd name="T2" fmla="*/ 96 w 3568"/>
              <a:gd name="T3" fmla="*/ 384 h 784"/>
              <a:gd name="T4" fmla="*/ 96 w 3568"/>
              <a:gd name="T5" fmla="*/ 720 h 784"/>
              <a:gd name="T6" fmla="*/ 624 w 3568"/>
              <a:gd name="T7" fmla="*/ 720 h 784"/>
              <a:gd name="T8" fmla="*/ 720 w 3568"/>
              <a:gd name="T9" fmla="*/ 768 h 784"/>
              <a:gd name="T10" fmla="*/ 1584 w 3568"/>
              <a:gd name="T11" fmla="*/ 624 h 784"/>
              <a:gd name="T12" fmla="*/ 2448 w 3568"/>
              <a:gd name="T13" fmla="*/ 768 h 784"/>
              <a:gd name="T14" fmla="*/ 3168 w 3568"/>
              <a:gd name="T15" fmla="*/ 672 h 784"/>
              <a:gd name="T16" fmla="*/ 3504 w 3568"/>
              <a:gd name="T17" fmla="*/ 432 h 784"/>
              <a:gd name="T18" fmla="*/ 3552 w 3568"/>
              <a:gd name="T19" fmla="*/ 0 h 78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568"/>
              <a:gd name="T31" fmla="*/ 0 h 784"/>
              <a:gd name="T32" fmla="*/ 3568 w 3568"/>
              <a:gd name="T33" fmla="*/ 784 h 78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568" h="784">
                <a:moveTo>
                  <a:pt x="0" y="48"/>
                </a:moveTo>
                <a:cubicBezTo>
                  <a:pt x="40" y="160"/>
                  <a:pt x="80" y="272"/>
                  <a:pt x="96" y="384"/>
                </a:cubicBezTo>
                <a:cubicBezTo>
                  <a:pt x="112" y="496"/>
                  <a:pt x="8" y="664"/>
                  <a:pt x="96" y="720"/>
                </a:cubicBezTo>
                <a:cubicBezTo>
                  <a:pt x="184" y="776"/>
                  <a:pt x="520" y="712"/>
                  <a:pt x="624" y="720"/>
                </a:cubicBezTo>
                <a:cubicBezTo>
                  <a:pt x="728" y="728"/>
                  <a:pt x="560" y="784"/>
                  <a:pt x="720" y="768"/>
                </a:cubicBezTo>
                <a:cubicBezTo>
                  <a:pt x="880" y="752"/>
                  <a:pt x="1296" y="624"/>
                  <a:pt x="1584" y="624"/>
                </a:cubicBezTo>
                <a:cubicBezTo>
                  <a:pt x="1872" y="624"/>
                  <a:pt x="2184" y="760"/>
                  <a:pt x="2448" y="768"/>
                </a:cubicBezTo>
                <a:cubicBezTo>
                  <a:pt x="2712" y="776"/>
                  <a:pt x="2992" y="728"/>
                  <a:pt x="3168" y="672"/>
                </a:cubicBezTo>
                <a:cubicBezTo>
                  <a:pt x="3344" y="616"/>
                  <a:pt x="3440" y="544"/>
                  <a:pt x="3504" y="432"/>
                </a:cubicBezTo>
                <a:cubicBezTo>
                  <a:pt x="3568" y="320"/>
                  <a:pt x="3544" y="72"/>
                  <a:pt x="3552" y="0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838200"/>
          </a:xfrm>
        </p:spPr>
        <p:txBody>
          <a:bodyPr>
            <a:normAutofit fontScale="90000"/>
          </a:bodyPr>
          <a:lstStyle/>
          <a:p>
            <a:r>
              <a:rPr lang="en-US" sz="2600" b="1" dirty="0" smtClean="0">
                <a:latin typeface="Arial Rounded MT Bold" pitchFamily="34" charset="0"/>
              </a:rPr>
              <a:t/>
            </a:r>
            <a:br>
              <a:rPr lang="en-US" sz="2600" b="1" dirty="0" smtClean="0">
                <a:latin typeface="Arial Rounded MT Bold" pitchFamily="34" charset="0"/>
              </a:rPr>
            </a:br>
            <a:r>
              <a:rPr lang="en-US" sz="2600" b="1" dirty="0" smtClean="0">
                <a:latin typeface="Arial Rounded MT Bold" pitchFamily="34" charset="0"/>
              </a:rPr>
              <a:t/>
            </a:r>
            <a:br>
              <a:rPr lang="en-US" sz="2600" b="1" dirty="0" smtClean="0">
                <a:latin typeface="Arial Rounded MT Bold" pitchFamily="34" charset="0"/>
              </a:rPr>
            </a:br>
            <a:r>
              <a:rPr lang="en-US" sz="2600" b="1" dirty="0" smtClean="0">
                <a:latin typeface="Arial Rounded MT Bold" pitchFamily="34" charset="0"/>
              </a:rPr>
              <a:t> The organization as an open system</a:t>
            </a:r>
            <a:br>
              <a:rPr lang="en-US" sz="2600" b="1" dirty="0" smtClean="0">
                <a:latin typeface="Arial Rounded MT Bold" pitchFamily="34" charset="0"/>
              </a:rPr>
            </a:br>
            <a:r>
              <a:rPr lang="en-US" sz="2600" b="1" dirty="0" smtClean="0">
                <a:latin typeface="Arial Rounded MT Bold" pitchFamily="34" charset="0"/>
              </a:rPr>
              <a:t/>
            </a:r>
            <a:br>
              <a:rPr lang="en-US" sz="2600" b="1" dirty="0" smtClean="0">
                <a:latin typeface="Arial Rounded MT Bold" pitchFamily="34" charset="0"/>
              </a:rPr>
            </a:br>
            <a:endParaRPr lang="en-US" sz="2600" b="1" dirty="0" smtClean="0">
              <a:latin typeface="Arial Rounded MT Bold" pitchFamily="34" charset="0"/>
            </a:endParaRPr>
          </a:p>
        </p:txBody>
      </p:sp>
      <p:sp>
        <p:nvSpPr>
          <p:cNvPr id="14339" name="Oval 4"/>
          <p:cNvSpPr>
            <a:spLocks noChangeArrowheads="1"/>
          </p:cNvSpPr>
          <p:nvPr/>
        </p:nvSpPr>
        <p:spPr bwMode="auto">
          <a:xfrm>
            <a:off x="1143000" y="990600"/>
            <a:ext cx="3124200" cy="2819400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en-US" b="1" dirty="0">
                <a:solidFill>
                  <a:schemeClr val="bg1"/>
                </a:solidFill>
                <a:cs typeface="Arial" charset="0"/>
              </a:rPr>
              <a:t>Goals &amp; values</a:t>
            </a:r>
          </a:p>
          <a:p>
            <a:pPr eaLnBrk="1" hangingPunct="1"/>
            <a:r>
              <a:rPr lang="en-US" b="1" dirty="0">
                <a:solidFill>
                  <a:schemeClr val="bg1"/>
                </a:solidFill>
                <a:cs typeface="Arial" charset="0"/>
              </a:rPr>
              <a:t>subsystems</a:t>
            </a:r>
          </a:p>
          <a:p>
            <a:pPr eaLnBrk="1" hangingPunct="1">
              <a:buFontTx/>
              <a:buChar char="•"/>
            </a:pPr>
            <a:r>
              <a:rPr lang="en-US" sz="1500" b="1" dirty="0">
                <a:latin typeface="Arial Narrow" pitchFamily="34" charset="0"/>
                <a:cs typeface="Arial" charset="0"/>
              </a:rPr>
              <a:t>Culture</a:t>
            </a:r>
          </a:p>
          <a:p>
            <a:pPr eaLnBrk="1" hangingPunct="1">
              <a:buFontTx/>
              <a:buChar char="•"/>
            </a:pPr>
            <a:r>
              <a:rPr lang="en-US" sz="1500" b="1" dirty="0">
                <a:latin typeface="Arial Narrow" pitchFamily="34" charset="0"/>
                <a:cs typeface="Arial" charset="0"/>
              </a:rPr>
              <a:t>Philosophy</a:t>
            </a:r>
          </a:p>
          <a:p>
            <a:pPr eaLnBrk="1" hangingPunct="1">
              <a:buFontTx/>
              <a:buChar char="•"/>
            </a:pPr>
            <a:r>
              <a:rPr lang="en-US" sz="1500" b="1" dirty="0">
                <a:latin typeface="Arial Narrow" pitchFamily="34" charset="0"/>
                <a:cs typeface="Arial" charset="0"/>
              </a:rPr>
              <a:t>Overall goals</a:t>
            </a:r>
          </a:p>
          <a:p>
            <a:pPr eaLnBrk="1" hangingPunct="1">
              <a:buFontTx/>
              <a:buChar char="•"/>
            </a:pPr>
            <a:r>
              <a:rPr lang="en-US" sz="1500" b="1" dirty="0">
                <a:latin typeface="Arial Narrow" pitchFamily="34" charset="0"/>
                <a:cs typeface="Arial" charset="0"/>
              </a:rPr>
              <a:t>Group goals</a:t>
            </a:r>
          </a:p>
          <a:p>
            <a:pPr eaLnBrk="1" hangingPunct="1">
              <a:buFontTx/>
              <a:buChar char="•"/>
            </a:pPr>
            <a:r>
              <a:rPr lang="en-US" sz="1500" b="1" dirty="0">
                <a:latin typeface="Arial Narrow" pitchFamily="34" charset="0"/>
                <a:cs typeface="Arial" charset="0"/>
              </a:rPr>
              <a:t>Individual goals</a:t>
            </a:r>
          </a:p>
          <a:p>
            <a:pPr eaLnBrk="1" hangingPunct="1"/>
            <a:endParaRPr lang="en-US" sz="1500" b="1" dirty="0">
              <a:latin typeface="Arial Narrow" pitchFamily="34" charset="0"/>
              <a:cs typeface="Arial" charset="0"/>
            </a:endParaRPr>
          </a:p>
        </p:txBody>
      </p:sp>
      <p:sp>
        <p:nvSpPr>
          <p:cNvPr id="14340" name="Oval 5"/>
          <p:cNvSpPr>
            <a:spLocks noChangeArrowheads="1"/>
          </p:cNvSpPr>
          <p:nvPr/>
        </p:nvSpPr>
        <p:spPr bwMode="auto">
          <a:xfrm>
            <a:off x="4572000" y="990600"/>
            <a:ext cx="3124200" cy="2667000"/>
          </a:xfrm>
          <a:prstGeom prst="ellipse">
            <a:avLst/>
          </a:prstGeom>
          <a:solidFill>
            <a:srgbClr val="F4FAA4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en-US" sz="1600" b="1">
                <a:solidFill>
                  <a:srgbClr val="990033"/>
                </a:solidFill>
                <a:latin typeface="Arial Narrow" pitchFamily="34" charset="0"/>
                <a:cs typeface="Arial" charset="0"/>
              </a:rPr>
              <a:t>       Technical subsystem</a:t>
            </a:r>
          </a:p>
          <a:p>
            <a:pPr lvl="2" eaLnBrk="1" hangingPunct="1">
              <a:buFontTx/>
              <a:buChar char="•"/>
            </a:pPr>
            <a:r>
              <a:rPr lang="en-US" sz="1600" b="1">
                <a:latin typeface="Arial Narrow" pitchFamily="34" charset="0"/>
                <a:cs typeface="Arial" charset="0"/>
              </a:rPr>
              <a:t>Knowledge</a:t>
            </a:r>
          </a:p>
          <a:p>
            <a:pPr lvl="2" eaLnBrk="1" hangingPunct="1">
              <a:buFontTx/>
              <a:buChar char="•"/>
            </a:pPr>
            <a:r>
              <a:rPr lang="en-US" sz="1600" b="1">
                <a:latin typeface="Arial Narrow" pitchFamily="34" charset="0"/>
                <a:cs typeface="Arial" charset="0"/>
              </a:rPr>
              <a:t>Techniques</a:t>
            </a:r>
          </a:p>
          <a:p>
            <a:pPr lvl="2" eaLnBrk="1" hangingPunct="1">
              <a:buFontTx/>
              <a:buChar char="•"/>
            </a:pPr>
            <a:r>
              <a:rPr lang="en-US" sz="1600" b="1">
                <a:latin typeface="Arial Narrow" pitchFamily="34" charset="0"/>
                <a:cs typeface="Arial" charset="0"/>
              </a:rPr>
              <a:t>Facilities </a:t>
            </a:r>
          </a:p>
          <a:p>
            <a:pPr lvl="2" eaLnBrk="1" hangingPunct="1">
              <a:buFontTx/>
              <a:buChar char="•"/>
            </a:pPr>
            <a:r>
              <a:rPr lang="en-US" sz="1600" b="1">
                <a:latin typeface="Arial Narrow" pitchFamily="34" charset="0"/>
                <a:cs typeface="Arial" charset="0"/>
              </a:rPr>
              <a:t>Equipment</a:t>
            </a:r>
          </a:p>
          <a:p>
            <a:pPr eaLnBrk="1" hangingPunct="1"/>
            <a:endParaRPr lang="en-US" sz="1600" b="1">
              <a:latin typeface="Arial Narrow" pitchFamily="34" charset="0"/>
              <a:cs typeface="Arial" charset="0"/>
            </a:endParaRPr>
          </a:p>
        </p:txBody>
      </p:sp>
      <p:sp>
        <p:nvSpPr>
          <p:cNvPr id="14341" name="Oval 6"/>
          <p:cNvSpPr>
            <a:spLocks noChangeArrowheads="1"/>
          </p:cNvSpPr>
          <p:nvPr/>
        </p:nvSpPr>
        <p:spPr bwMode="auto">
          <a:xfrm>
            <a:off x="4648200" y="3429000"/>
            <a:ext cx="3124200" cy="2971800"/>
          </a:xfrm>
          <a:prstGeom prst="ellipse">
            <a:avLst/>
          </a:prstGeom>
          <a:solidFill>
            <a:srgbClr val="DAFEA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r" eaLnBrk="1" hangingPunct="1"/>
            <a:r>
              <a:rPr lang="en-US" b="1">
                <a:solidFill>
                  <a:srgbClr val="990033"/>
                </a:solidFill>
                <a:cs typeface="Arial" charset="0"/>
              </a:rPr>
              <a:t>		    </a:t>
            </a:r>
          </a:p>
        </p:txBody>
      </p:sp>
      <p:sp>
        <p:nvSpPr>
          <p:cNvPr id="14342" name="Oval 7"/>
          <p:cNvSpPr>
            <a:spLocks noChangeArrowheads="1"/>
          </p:cNvSpPr>
          <p:nvPr/>
        </p:nvSpPr>
        <p:spPr bwMode="auto">
          <a:xfrm>
            <a:off x="1676400" y="3657600"/>
            <a:ext cx="3124200" cy="2667000"/>
          </a:xfrm>
          <a:prstGeom prst="ellipse">
            <a:avLst/>
          </a:prstGeom>
          <a:solidFill>
            <a:srgbClr val="FEA0CB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en-US" sz="1500">
              <a:solidFill>
                <a:srgbClr val="990033"/>
              </a:solidFill>
              <a:latin typeface="Arial Narrow" pitchFamily="34" charset="0"/>
              <a:cs typeface="Arial" charset="0"/>
            </a:endParaRPr>
          </a:p>
          <a:p>
            <a:pPr eaLnBrk="1" hangingPunct="1"/>
            <a:endParaRPr lang="en-US" sz="1500">
              <a:solidFill>
                <a:srgbClr val="990033"/>
              </a:solidFill>
              <a:latin typeface="Arial Narrow" pitchFamily="34" charset="0"/>
              <a:cs typeface="Arial" charset="0"/>
            </a:endParaRPr>
          </a:p>
          <a:p>
            <a:pPr eaLnBrk="1" hangingPunct="1"/>
            <a:r>
              <a:rPr lang="en-US" sz="1200" b="1">
                <a:solidFill>
                  <a:srgbClr val="990033"/>
                </a:solidFill>
                <a:latin typeface="Arial Narrow" pitchFamily="34" charset="0"/>
                <a:cs typeface="Arial" charset="0"/>
              </a:rPr>
              <a:t>Psychosocial subsystem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Human resources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Attitudes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Perceptions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Motivations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Group dynamics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Leadership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Communication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Interpersonal relations </a:t>
            </a:r>
          </a:p>
          <a:p>
            <a:pPr eaLnBrk="1" hangingPunct="1">
              <a:buFontTx/>
              <a:buChar char="•"/>
            </a:pPr>
            <a:endParaRPr lang="en-US" sz="1400" b="1">
              <a:latin typeface="Arial Narrow" pitchFamily="34" charset="0"/>
              <a:cs typeface="Arial" charset="0"/>
            </a:endParaRPr>
          </a:p>
          <a:p>
            <a:pPr eaLnBrk="1" hangingPunct="1">
              <a:buFontTx/>
              <a:buChar char="•"/>
            </a:pPr>
            <a:endParaRPr lang="en-US" sz="1500">
              <a:latin typeface="Arial Narrow" pitchFamily="34" charset="0"/>
              <a:cs typeface="Arial" charset="0"/>
            </a:endParaRPr>
          </a:p>
        </p:txBody>
      </p:sp>
      <p:sp>
        <p:nvSpPr>
          <p:cNvPr id="14343" name="Oval 8"/>
          <p:cNvSpPr>
            <a:spLocks noChangeArrowheads="1"/>
          </p:cNvSpPr>
          <p:nvPr/>
        </p:nvSpPr>
        <p:spPr bwMode="auto">
          <a:xfrm>
            <a:off x="3505200" y="2362200"/>
            <a:ext cx="2362200" cy="2057400"/>
          </a:xfrm>
          <a:prstGeom prst="ellipse">
            <a:avLst/>
          </a:prstGeom>
          <a:solidFill>
            <a:srgbClr val="FDA1F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en-US" sz="1400" b="1">
                <a:solidFill>
                  <a:srgbClr val="990033"/>
                </a:solidFill>
                <a:latin typeface="Arial Narrow" pitchFamily="34" charset="0"/>
                <a:cs typeface="Arial" charset="0"/>
              </a:rPr>
              <a:t>Managerial subsystems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Goal setting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Planning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Assembling resources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Organizing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Implementing</a:t>
            </a:r>
          </a:p>
          <a:p>
            <a:pPr eaLnBrk="1" hangingPunct="1">
              <a:buFontTx/>
              <a:buChar char="•"/>
            </a:pPr>
            <a:r>
              <a:rPr lang="en-US" sz="1400" b="1">
                <a:latin typeface="Arial Narrow" pitchFamily="34" charset="0"/>
                <a:cs typeface="Arial" charset="0"/>
              </a:rPr>
              <a:t>Controlling </a:t>
            </a: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76200" y="3048000"/>
            <a:ext cx="1143000" cy="19050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lang="en-US" b="1">
                <a:solidFill>
                  <a:srgbClr val="3333FF"/>
                </a:solidFill>
                <a:latin typeface="Arial Narrow" pitchFamily="34" charset="0"/>
                <a:cs typeface="Arial" charset="0"/>
              </a:rPr>
              <a:t>Inputs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latin typeface="Arial Narrow" pitchFamily="34" charset="0"/>
                <a:cs typeface="Arial" charset="0"/>
              </a:rPr>
              <a:t>Material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latin typeface="Arial Narrow" pitchFamily="34" charset="0"/>
                <a:cs typeface="Arial" charset="0"/>
              </a:rPr>
              <a:t>Money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latin typeface="Arial Narrow" pitchFamily="34" charset="0"/>
                <a:cs typeface="Arial" charset="0"/>
              </a:rPr>
              <a:t>Human effort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latin typeface="Arial Narrow" pitchFamily="34" charset="0"/>
                <a:cs typeface="Arial" charset="0"/>
              </a:rPr>
              <a:t>Information</a:t>
            </a:r>
          </a:p>
          <a:p>
            <a:pPr eaLnBrk="1" hangingPunct="1">
              <a:buFontTx/>
              <a:buChar char="•"/>
              <a:defRPr/>
            </a:pPr>
            <a:endParaRPr lang="en-US" sz="1500" b="1">
              <a:latin typeface="Arial Narrow" pitchFamily="34" charset="0"/>
              <a:cs typeface="Arial" charset="0"/>
            </a:endParaRPr>
          </a:p>
        </p:txBody>
      </p:sp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7772400" y="2743200"/>
            <a:ext cx="1143000" cy="20574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lang="en-US" sz="1600" b="1">
                <a:solidFill>
                  <a:srgbClr val="3333FF"/>
                </a:solidFill>
                <a:cs typeface="Arial" charset="0"/>
              </a:rPr>
              <a:t>Outputs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Products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Services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Human</a:t>
            </a:r>
          </a:p>
          <a:p>
            <a:pPr eaLnBrk="1" hangingPunct="1"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 satisfaction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Org.survival</a:t>
            </a:r>
          </a:p>
          <a:p>
            <a:pPr eaLnBrk="1" hangingPunct="1"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 &amp; growth</a:t>
            </a:r>
          </a:p>
          <a:p>
            <a:pPr eaLnBrk="1" hangingPunct="1">
              <a:buFontTx/>
              <a:buChar char="•"/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Social </a:t>
            </a:r>
          </a:p>
          <a:p>
            <a:pPr eaLnBrk="1" hangingPunct="1">
              <a:defRPr/>
            </a:pPr>
            <a:r>
              <a:rPr lang="en-US" sz="1400">
                <a:solidFill>
                  <a:srgbClr val="990033"/>
                </a:solidFill>
                <a:cs typeface="Arial" charset="0"/>
              </a:rPr>
              <a:t> benefit</a:t>
            </a:r>
          </a:p>
        </p:txBody>
      </p:sp>
      <p:sp>
        <p:nvSpPr>
          <p:cNvPr id="14346" name="Line 11"/>
          <p:cNvSpPr>
            <a:spLocks noChangeShapeType="1"/>
          </p:cNvSpPr>
          <p:nvPr/>
        </p:nvSpPr>
        <p:spPr bwMode="auto">
          <a:xfrm>
            <a:off x="8534400" y="4876800"/>
            <a:ext cx="0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7" name="Line 12"/>
          <p:cNvSpPr>
            <a:spLocks noChangeShapeType="1"/>
          </p:cNvSpPr>
          <p:nvPr/>
        </p:nvSpPr>
        <p:spPr bwMode="auto">
          <a:xfrm flipH="1">
            <a:off x="685800" y="6629400"/>
            <a:ext cx="784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4348" name="Line 13"/>
          <p:cNvSpPr>
            <a:spLocks noChangeShapeType="1"/>
          </p:cNvSpPr>
          <p:nvPr/>
        </p:nvSpPr>
        <p:spPr bwMode="auto">
          <a:xfrm flipV="1">
            <a:off x="685800" y="4953000"/>
            <a:ext cx="0" cy="1676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49" name="Line 14"/>
          <p:cNvSpPr>
            <a:spLocks noChangeShapeType="1"/>
          </p:cNvSpPr>
          <p:nvPr/>
        </p:nvSpPr>
        <p:spPr bwMode="auto">
          <a:xfrm>
            <a:off x="1295400" y="3886200"/>
            <a:ext cx="990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7086600" y="3505200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51" name="Text Box 16"/>
          <p:cNvSpPr txBox="1">
            <a:spLocks noChangeArrowheads="1"/>
          </p:cNvSpPr>
          <p:nvPr/>
        </p:nvSpPr>
        <p:spPr bwMode="auto">
          <a:xfrm>
            <a:off x="4289425" y="6216650"/>
            <a:ext cx="14255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990033"/>
                </a:solidFill>
                <a:cs typeface="Arial" charset="0"/>
              </a:rPr>
              <a:t>Feedback</a:t>
            </a:r>
          </a:p>
        </p:txBody>
      </p:sp>
      <p:sp>
        <p:nvSpPr>
          <p:cNvPr id="14352" name="Text Box 17"/>
          <p:cNvSpPr txBox="1">
            <a:spLocks noChangeArrowheads="1"/>
          </p:cNvSpPr>
          <p:nvPr/>
        </p:nvSpPr>
        <p:spPr bwMode="auto">
          <a:xfrm>
            <a:off x="5867400" y="3846513"/>
            <a:ext cx="1450975" cy="260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sz="1500" b="1">
                <a:solidFill>
                  <a:srgbClr val="990033"/>
                </a:solidFill>
                <a:cs typeface="Arial" charset="0"/>
              </a:rPr>
              <a:t>Structural </a:t>
            </a:r>
          </a:p>
          <a:p>
            <a:pPr eaLnBrk="1" hangingPunct="1"/>
            <a:r>
              <a:rPr lang="en-US" sz="1500" b="1">
                <a:solidFill>
                  <a:srgbClr val="990033"/>
                </a:solidFill>
                <a:cs typeface="Arial" charset="0"/>
              </a:rPr>
              <a:t>Subsystem</a:t>
            </a:r>
          </a:p>
          <a:p>
            <a:pPr eaLnBrk="1" hangingPunct="1">
              <a:buFontTx/>
              <a:buChar char="•"/>
            </a:pPr>
            <a:r>
              <a:rPr lang="en-US" sz="1500" b="1">
                <a:latin typeface="Arial Narrow" pitchFamily="34" charset="0"/>
                <a:cs typeface="Arial" charset="0"/>
              </a:rPr>
              <a:t>Tasks</a:t>
            </a:r>
          </a:p>
          <a:p>
            <a:pPr eaLnBrk="1" hangingPunct="1">
              <a:buFontTx/>
              <a:buChar char="•"/>
            </a:pPr>
            <a:r>
              <a:rPr lang="en-US" sz="1500" b="1">
                <a:latin typeface="Arial Narrow" pitchFamily="34" charset="0"/>
                <a:cs typeface="Arial" charset="0"/>
              </a:rPr>
              <a:t>Workflow</a:t>
            </a:r>
          </a:p>
          <a:p>
            <a:pPr eaLnBrk="1" hangingPunct="1">
              <a:buFontTx/>
              <a:buChar char="•"/>
            </a:pPr>
            <a:r>
              <a:rPr lang="en-US" sz="1500" b="1">
                <a:latin typeface="Arial Narrow" pitchFamily="34" charset="0"/>
                <a:cs typeface="Arial" charset="0"/>
              </a:rPr>
              <a:t>Work groups</a:t>
            </a:r>
          </a:p>
          <a:p>
            <a:pPr eaLnBrk="1" hangingPunct="1">
              <a:buFontTx/>
              <a:buChar char="•"/>
            </a:pPr>
            <a:r>
              <a:rPr lang="en-US" sz="1500" b="1">
                <a:latin typeface="Arial Narrow" pitchFamily="34" charset="0"/>
                <a:cs typeface="Arial" charset="0"/>
              </a:rPr>
              <a:t>Authority</a:t>
            </a:r>
          </a:p>
          <a:p>
            <a:pPr eaLnBrk="1" hangingPunct="1">
              <a:buFontTx/>
              <a:buChar char="•"/>
            </a:pPr>
            <a:r>
              <a:rPr lang="en-US" sz="1500" b="1">
                <a:latin typeface="Arial Narrow" pitchFamily="34" charset="0"/>
                <a:cs typeface="Arial" charset="0"/>
              </a:rPr>
              <a:t>Information flow</a:t>
            </a:r>
          </a:p>
          <a:p>
            <a:pPr eaLnBrk="1" hangingPunct="1">
              <a:buFontTx/>
              <a:buChar char="•"/>
            </a:pPr>
            <a:r>
              <a:rPr lang="en-US" sz="1500" b="1">
                <a:latin typeface="Arial Narrow" pitchFamily="34" charset="0"/>
                <a:cs typeface="Arial" charset="0"/>
              </a:rPr>
              <a:t>Procedures</a:t>
            </a:r>
          </a:p>
          <a:p>
            <a:pPr eaLnBrk="1" hangingPunct="1">
              <a:buFontTx/>
              <a:buChar char="•"/>
            </a:pPr>
            <a:r>
              <a:rPr lang="en-US" sz="1500" b="1">
                <a:latin typeface="Arial Narrow" pitchFamily="34" charset="0"/>
                <a:cs typeface="Arial" charset="0"/>
              </a:rPr>
              <a:t>Rules</a:t>
            </a:r>
          </a:p>
          <a:p>
            <a:pPr eaLnBrk="1" hangingPunct="1">
              <a:buFontTx/>
              <a:buChar char="•"/>
            </a:pPr>
            <a:endParaRPr lang="en-US" sz="1500" b="1">
              <a:latin typeface="Arial Narrow" pitchFamily="34" charset="0"/>
              <a:cs typeface="Arial" charset="0"/>
            </a:endParaRPr>
          </a:p>
          <a:p>
            <a:pPr eaLnBrk="1" hangingPunct="1">
              <a:buFontTx/>
              <a:buChar char="•"/>
            </a:pPr>
            <a:endParaRPr lang="en-US" sz="1500" b="1">
              <a:solidFill>
                <a:srgbClr val="990033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52400"/>
            <a:ext cx="83820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smtClean="0">
                <a:latin typeface="Arial Rounded MT Bold" pitchFamily="34" charset="0"/>
              </a:rPr>
              <a:t>An Industrial Organization as an Open System</a:t>
            </a:r>
            <a:r>
              <a:rPr lang="en-US" sz="29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       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914400" y="1219200"/>
            <a:ext cx="1371600" cy="12192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lang="en-US" b="1" dirty="0">
                <a:latin typeface="Times New Roman" pitchFamily="18" charset="0"/>
              </a:rPr>
              <a:t>Inputs</a:t>
            </a:r>
          </a:p>
          <a:p>
            <a:pPr eaLnBrk="1" hangingPunct="1">
              <a:defRPr/>
            </a:pPr>
            <a:r>
              <a:rPr lang="en-US" b="1" dirty="0">
                <a:latin typeface="Times New Roman" pitchFamily="18" charset="0"/>
              </a:rPr>
              <a:t> - </a:t>
            </a:r>
            <a:r>
              <a:rPr lang="en-US" b="1" dirty="0" smtClean="0">
                <a:latin typeface="Times New Roman" pitchFamily="18" charset="0"/>
              </a:rPr>
              <a:t>M</a:t>
            </a:r>
            <a:r>
              <a:rPr lang="en-US" sz="1700" b="1" i="1" dirty="0" smtClean="0">
                <a:latin typeface="Times New Roman" pitchFamily="18" charset="0"/>
              </a:rPr>
              <a:t>aterials </a:t>
            </a:r>
            <a:endParaRPr lang="en-US" sz="1700" b="1" i="1" dirty="0">
              <a:latin typeface="Times New Roman" pitchFamily="18" charset="0"/>
            </a:endParaRPr>
          </a:p>
          <a:p>
            <a:pPr eaLnBrk="1" hangingPunct="1">
              <a:defRPr/>
            </a:pPr>
            <a:r>
              <a:rPr lang="en-US" sz="1700" b="1" i="1" dirty="0">
                <a:latin typeface="Times New Roman" pitchFamily="18" charset="0"/>
              </a:rPr>
              <a:t> - Labor</a:t>
            </a:r>
          </a:p>
          <a:p>
            <a:pPr eaLnBrk="1" hangingPunct="1">
              <a:defRPr/>
            </a:pPr>
            <a:r>
              <a:rPr lang="en-US" sz="1700" b="1" i="1" dirty="0">
                <a:latin typeface="Times New Roman" pitchFamily="18" charset="0"/>
              </a:rPr>
              <a:t> - </a:t>
            </a:r>
            <a:r>
              <a:rPr lang="en-US" sz="1700" b="1" i="1" dirty="0" smtClean="0">
                <a:latin typeface="Times New Roman" pitchFamily="18" charset="0"/>
              </a:rPr>
              <a:t>Capital</a:t>
            </a:r>
            <a:endParaRPr lang="en-US" sz="1700" b="1" i="1" dirty="0">
              <a:latin typeface="Times New Roman" pitchFamily="18" charset="0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2895600" y="990600"/>
            <a:ext cx="2209800" cy="14478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lang="en-US" b="1">
                <a:latin typeface="Times New Roman" pitchFamily="18" charset="0"/>
              </a:rPr>
              <a:t>Technical processing</a:t>
            </a:r>
          </a:p>
          <a:p>
            <a:pPr eaLnBrk="1" hangingPunct="1">
              <a:defRPr/>
            </a:pPr>
            <a:r>
              <a:rPr lang="en-US" b="1">
                <a:latin typeface="Times New Roman" pitchFamily="18" charset="0"/>
              </a:rPr>
              <a:t>Core</a:t>
            </a:r>
          </a:p>
          <a:p>
            <a:pPr eaLnBrk="1" hangingPunct="1">
              <a:defRPr/>
            </a:pPr>
            <a:r>
              <a:rPr lang="en-US" sz="1600" b="1">
                <a:latin typeface="Times New Roman" pitchFamily="18" charset="0"/>
              </a:rPr>
              <a:t>(transforming r/m </a:t>
            </a:r>
          </a:p>
          <a:p>
            <a:pPr eaLnBrk="1" hangingPunct="1">
              <a:defRPr/>
            </a:pPr>
            <a:r>
              <a:rPr lang="en-US" sz="1600" b="1">
                <a:latin typeface="Times New Roman" pitchFamily="18" charset="0"/>
              </a:rPr>
              <a:t>into finished product)</a:t>
            </a:r>
          </a:p>
        </p:txBody>
      </p:sp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5486400" y="1524000"/>
            <a:ext cx="1295400" cy="9144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eaLnBrk="1" hangingPunct="1">
              <a:defRPr/>
            </a:pPr>
            <a:r>
              <a:rPr lang="en-US" b="1">
                <a:latin typeface="Times New Roman" pitchFamily="18" charset="0"/>
              </a:rPr>
              <a:t>Output:</a:t>
            </a:r>
          </a:p>
          <a:p>
            <a:pPr eaLnBrk="1" hangingPunct="1">
              <a:defRPr/>
            </a:pPr>
            <a:r>
              <a:rPr lang="en-US" b="1">
                <a:latin typeface="Times New Roman" pitchFamily="18" charset="0"/>
              </a:rPr>
              <a:t>   </a:t>
            </a:r>
            <a:r>
              <a:rPr lang="en-US" b="1" i="1">
                <a:latin typeface="Times New Roman" pitchFamily="18" charset="0"/>
              </a:rPr>
              <a:t>Finished</a:t>
            </a:r>
          </a:p>
          <a:p>
            <a:pPr eaLnBrk="1" hangingPunct="1">
              <a:defRPr/>
            </a:pPr>
            <a:r>
              <a:rPr lang="en-US" b="1" i="1">
                <a:latin typeface="Times New Roman" pitchFamily="18" charset="0"/>
              </a:rPr>
              <a:t>   product</a:t>
            </a:r>
          </a:p>
        </p:txBody>
      </p:sp>
      <p:sp>
        <p:nvSpPr>
          <p:cNvPr id="10247" name="Rectangle 7"/>
          <p:cNvSpPr>
            <a:spLocks noChangeArrowheads="1"/>
          </p:cNvSpPr>
          <p:nvPr/>
        </p:nvSpPr>
        <p:spPr bwMode="auto">
          <a:xfrm>
            <a:off x="7315200" y="1524000"/>
            <a:ext cx="1295400" cy="9144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b="1">
                <a:latin typeface="Times New Roman" pitchFamily="18" charset="0"/>
              </a:rPr>
              <a:t>Customers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2514600" y="3352800"/>
            <a:ext cx="3124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Times New Roman" pitchFamily="18" charset="0"/>
              </a:rPr>
              <a:t>Government</a:t>
            </a:r>
          </a:p>
        </p:txBody>
      </p:sp>
      <p:sp>
        <p:nvSpPr>
          <p:cNvPr id="10250" name="Rectangle 10"/>
          <p:cNvSpPr>
            <a:spLocks noChangeArrowheads="1"/>
          </p:cNvSpPr>
          <p:nvPr/>
        </p:nvSpPr>
        <p:spPr bwMode="auto">
          <a:xfrm>
            <a:off x="2514600" y="4343400"/>
            <a:ext cx="3124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Times New Roman" pitchFamily="18" charset="0"/>
              </a:rPr>
              <a:t>Financial institutions</a:t>
            </a:r>
          </a:p>
        </p:txBody>
      </p:sp>
      <p:sp>
        <p:nvSpPr>
          <p:cNvPr id="10251" name="Rectangle 11"/>
          <p:cNvSpPr>
            <a:spLocks noChangeArrowheads="1"/>
          </p:cNvSpPr>
          <p:nvPr/>
        </p:nvSpPr>
        <p:spPr bwMode="auto">
          <a:xfrm>
            <a:off x="2514600" y="5181600"/>
            <a:ext cx="3124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Times New Roman" pitchFamily="18" charset="0"/>
              </a:rPr>
              <a:t>Labour force</a:t>
            </a:r>
          </a:p>
        </p:txBody>
      </p:sp>
      <p:sp>
        <p:nvSpPr>
          <p:cNvPr id="10252" name="Rectangle 12"/>
          <p:cNvSpPr>
            <a:spLocks noChangeArrowheads="1"/>
          </p:cNvSpPr>
          <p:nvPr/>
        </p:nvSpPr>
        <p:spPr bwMode="auto">
          <a:xfrm>
            <a:off x="2514600" y="6019800"/>
            <a:ext cx="3124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400" b="1">
                <a:latin typeface="Times New Roman" pitchFamily="18" charset="0"/>
              </a:rPr>
              <a:t>Suppliers</a:t>
            </a:r>
          </a:p>
        </p:txBody>
      </p:sp>
      <p:sp>
        <p:nvSpPr>
          <p:cNvPr id="15371" name="Line 14"/>
          <p:cNvSpPr>
            <a:spLocks noChangeShapeType="1"/>
          </p:cNvSpPr>
          <p:nvPr/>
        </p:nvSpPr>
        <p:spPr bwMode="auto">
          <a:xfrm>
            <a:off x="2362200" y="1752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2" name="Line 15"/>
          <p:cNvSpPr>
            <a:spLocks noChangeShapeType="1"/>
          </p:cNvSpPr>
          <p:nvPr/>
        </p:nvSpPr>
        <p:spPr bwMode="auto">
          <a:xfrm>
            <a:off x="5181600" y="1828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3" name="Line 16"/>
          <p:cNvSpPr>
            <a:spLocks noChangeShapeType="1"/>
          </p:cNvSpPr>
          <p:nvPr/>
        </p:nvSpPr>
        <p:spPr bwMode="auto">
          <a:xfrm>
            <a:off x="6858000" y="1905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4" name="Line 20"/>
          <p:cNvSpPr>
            <a:spLocks noChangeShapeType="1"/>
          </p:cNvSpPr>
          <p:nvPr/>
        </p:nvSpPr>
        <p:spPr bwMode="auto">
          <a:xfrm flipH="1">
            <a:off x="5715000" y="3581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5" name="Freeform 22"/>
          <p:cNvSpPr>
            <a:spLocks/>
          </p:cNvSpPr>
          <p:nvPr/>
        </p:nvSpPr>
        <p:spPr bwMode="auto">
          <a:xfrm>
            <a:off x="6248400" y="2514600"/>
            <a:ext cx="1905000" cy="1104900"/>
          </a:xfrm>
          <a:custGeom>
            <a:avLst/>
            <a:gdLst>
              <a:gd name="T0" fmla="*/ 0 w 1200"/>
              <a:gd name="T1" fmla="*/ 1066800 h 696"/>
              <a:gd name="T2" fmla="*/ 609600 w 1200"/>
              <a:gd name="T3" fmla="*/ 1066800 h 696"/>
              <a:gd name="T4" fmla="*/ 1143000 w 1200"/>
              <a:gd name="T5" fmla="*/ 838200 h 696"/>
              <a:gd name="T6" fmla="*/ 1524000 w 1200"/>
              <a:gd name="T7" fmla="*/ 457200 h 696"/>
              <a:gd name="T8" fmla="*/ 1905000 w 1200"/>
              <a:gd name="T9" fmla="*/ 0 h 6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"/>
              <a:gd name="T16" fmla="*/ 0 h 696"/>
              <a:gd name="T17" fmla="*/ 1200 w 1200"/>
              <a:gd name="T18" fmla="*/ 696 h 6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" h="696">
                <a:moveTo>
                  <a:pt x="0" y="672"/>
                </a:moveTo>
                <a:cubicBezTo>
                  <a:pt x="132" y="684"/>
                  <a:pt x="264" y="696"/>
                  <a:pt x="384" y="672"/>
                </a:cubicBezTo>
                <a:cubicBezTo>
                  <a:pt x="504" y="648"/>
                  <a:pt x="624" y="592"/>
                  <a:pt x="720" y="528"/>
                </a:cubicBezTo>
                <a:cubicBezTo>
                  <a:pt x="816" y="464"/>
                  <a:pt x="880" y="376"/>
                  <a:pt x="960" y="288"/>
                </a:cubicBezTo>
                <a:cubicBezTo>
                  <a:pt x="1040" y="200"/>
                  <a:pt x="1160" y="48"/>
                  <a:pt x="1200" y="0"/>
                </a:cubicBezTo>
              </a:path>
            </a:pathLst>
          </a:cu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76" name="Text Box 24"/>
          <p:cNvSpPr txBox="1">
            <a:spLocks noChangeArrowheads="1"/>
          </p:cNvSpPr>
          <p:nvPr/>
        </p:nvSpPr>
        <p:spPr bwMode="auto">
          <a:xfrm>
            <a:off x="6705600" y="3505200"/>
            <a:ext cx="2133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b="1">
                <a:solidFill>
                  <a:srgbClr val="993300"/>
                </a:solidFill>
                <a:latin typeface="Times New Roman" pitchFamily="18" charset="0"/>
              </a:rPr>
              <a:t>Receipt of revenue</a:t>
            </a:r>
            <a:r>
              <a:rPr lang="en-US" b="1">
                <a:latin typeface="Times New Roman" pitchFamily="18" charset="0"/>
              </a:rPr>
              <a:t> </a:t>
            </a:r>
          </a:p>
        </p:txBody>
      </p:sp>
      <p:sp>
        <p:nvSpPr>
          <p:cNvPr id="15377" name="Line 48"/>
          <p:cNvSpPr>
            <a:spLocks noChangeShapeType="1"/>
          </p:cNvSpPr>
          <p:nvPr/>
        </p:nvSpPr>
        <p:spPr bwMode="auto">
          <a:xfrm>
            <a:off x="609600" y="2133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8" name="Line 49"/>
          <p:cNvSpPr>
            <a:spLocks noChangeShapeType="1"/>
          </p:cNvSpPr>
          <p:nvPr/>
        </p:nvSpPr>
        <p:spPr bwMode="auto">
          <a:xfrm>
            <a:off x="533400" y="1905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79" name="Line 50"/>
          <p:cNvSpPr>
            <a:spLocks noChangeShapeType="1"/>
          </p:cNvSpPr>
          <p:nvPr/>
        </p:nvSpPr>
        <p:spPr bwMode="auto">
          <a:xfrm>
            <a:off x="381000" y="1600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80" name="Line 51"/>
          <p:cNvSpPr>
            <a:spLocks noChangeShapeType="1"/>
          </p:cNvSpPr>
          <p:nvPr/>
        </p:nvSpPr>
        <p:spPr bwMode="auto">
          <a:xfrm>
            <a:off x="609600" y="21336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1" name="Line 52"/>
          <p:cNvSpPr>
            <a:spLocks noChangeShapeType="1"/>
          </p:cNvSpPr>
          <p:nvPr/>
        </p:nvSpPr>
        <p:spPr bwMode="auto">
          <a:xfrm>
            <a:off x="609600" y="4572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2" name="Line 53"/>
          <p:cNvSpPr>
            <a:spLocks noChangeShapeType="1"/>
          </p:cNvSpPr>
          <p:nvPr/>
        </p:nvSpPr>
        <p:spPr bwMode="auto">
          <a:xfrm>
            <a:off x="533400" y="1905000"/>
            <a:ext cx="0" cy="342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3" name="Line 54"/>
          <p:cNvSpPr>
            <a:spLocks noChangeShapeType="1"/>
          </p:cNvSpPr>
          <p:nvPr/>
        </p:nvSpPr>
        <p:spPr bwMode="auto">
          <a:xfrm>
            <a:off x="533400" y="53340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4" name="Line 55"/>
          <p:cNvSpPr>
            <a:spLocks noChangeShapeType="1"/>
          </p:cNvSpPr>
          <p:nvPr/>
        </p:nvSpPr>
        <p:spPr bwMode="auto">
          <a:xfrm>
            <a:off x="381000" y="1600200"/>
            <a:ext cx="0" cy="472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5" name="Line 56"/>
          <p:cNvSpPr>
            <a:spLocks noChangeShapeType="1"/>
          </p:cNvSpPr>
          <p:nvPr/>
        </p:nvSpPr>
        <p:spPr bwMode="auto">
          <a:xfrm>
            <a:off x="381000" y="6324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86" name="Line 60"/>
          <p:cNvSpPr>
            <a:spLocks noChangeShapeType="1"/>
          </p:cNvSpPr>
          <p:nvPr/>
        </p:nvSpPr>
        <p:spPr bwMode="auto">
          <a:xfrm>
            <a:off x="8305800" y="2514600"/>
            <a:ext cx="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87" name="Text Box 61"/>
          <p:cNvSpPr txBox="1">
            <a:spLocks noChangeArrowheads="1"/>
          </p:cNvSpPr>
          <p:nvPr/>
        </p:nvSpPr>
        <p:spPr bwMode="auto">
          <a:xfrm>
            <a:off x="5867400" y="5105400"/>
            <a:ext cx="11430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993300"/>
                </a:solidFill>
                <a:latin typeface="Times New Roman" pitchFamily="18" charset="0"/>
              </a:rPr>
              <a:t>Wages</a:t>
            </a:r>
          </a:p>
        </p:txBody>
      </p:sp>
      <p:sp>
        <p:nvSpPr>
          <p:cNvPr id="15388" name="Text Box 62"/>
          <p:cNvSpPr txBox="1">
            <a:spLocks noChangeArrowheads="1"/>
          </p:cNvSpPr>
          <p:nvPr/>
        </p:nvSpPr>
        <p:spPr bwMode="auto">
          <a:xfrm>
            <a:off x="5791200" y="5943600"/>
            <a:ext cx="16002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993300"/>
                </a:solidFill>
                <a:latin typeface="Times New Roman" pitchFamily="18" charset="0"/>
              </a:rPr>
              <a:t>Payment to</a:t>
            </a:r>
          </a:p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993300"/>
                </a:solidFill>
                <a:latin typeface="Times New Roman" pitchFamily="18" charset="0"/>
              </a:rPr>
              <a:t>creditors</a:t>
            </a:r>
          </a:p>
        </p:txBody>
      </p:sp>
      <p:sp>
        <p:nvSpPr>
          <p:cNvPr id="15389" name="Line 63"/>
          <p:cNvSpPr>
            <a:spLocks noChangeShapeType="1"/>
          </p:cNvSpPr>
          <p:nvPr/>
        </p:nvSpPr>
        <p:spPr bwMode="auto">
          <a:xfrm flipH="1">
            <a:off x="5715000" y="44958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0" name="Line 64"/>
          <p:cNvSpPr>
            <a:spLocks noChangeShapeType="1"/>
          </p:cNvSpPr>
          <p:nvPr/>
        </p:nvSpPr>
        <p:spPr bwMode="auto">
          <a:xfrm flipH="1">
            <a:off x="5715000" y="54102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1" name="Line 65"/>
          <p:cNvSpPr>
            <a:spLocks noChangeShapeType="1"/>
          </p:cNvSpPr>
          <p:nvPr/>
        </p:nvSpPr>
        <p:spPr bwMode="auto">
          <a:xfrm flipH="1">
            <a:off x="5715000" y="62484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392" name="Line 66"/>
          <p:cNvSpPr>
            <a:spLocks noChangeShapeType="1"/>
          </p:cNvSpPr>
          <p:nvPr/>
        </p:nvSpPr>
        <p:spPr bwMode="auto">
          <a:xfrm flipV="1">
            <a:off x="7239000" y="3810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3" name="Line 67"/>
          <p:cNvSpPr>
            <a:spLocks noChangeShapeType="1"/>
          </p:cNvSpPr>
          <p:nvPr/>
        </p:nvSpPr>
        <p:spPr bwMode="auto">
          <a:xfrm flipV="1">
            <a:off x="7772400" y="38100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4" name="Line 68"/>
          <p:cNvSpPr>
            <a:spLocks noChangeShapeType="1"/>
          </p:cNvSpPr>
          <p:nvPr/>
        </p:nvSpPr>
        <p:spPr bwMode="auto">
          <a:xfrm flipV="1">
            <a:off x="8458200" y="3810000"/>
            <a:ext cx="0" cy="2438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395" name="Text Box 69"/>
          <p:cNvSpPr txBox="1">
            <a:spLocks noChangeArrowheads="1"/>
          </p:cNvSpPr>
          <p:nvPr/>
        </p:nvSpPr>
        <p:spPr bwMode="auto">
          <a:xfrm>
            <a:off x="5715000" y="4191000"/>
            <a:ext cx="15240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993300"/>
                </a:solidFill>
                <a:latin typeface="Times New Roman" pitchFamily="18" charset="0"/>
              </a:rPr>
              <a:t>Repayment of</a:t>
            </a:r>
          </a:p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993300"/>
                </a:solidFill>
                <a:latin typeface="Times New Roman" pitchFamily="18" charset="0"/>
              </a:rPr>
              <a:t>loans</a:t>
            </a:r>
          </a:p>
        </p:txBody>
      </p:sp>
      <p:sp>
        <p:nvSpPr>
          <p:cNvPr id="15396" name="Text Box 70"/>
          <p:cNvSpPr txBox="1">
            <a:spLocks noChangeArrowheads="1"/>
          </p:cNvSpPr>
          <p:nvPr/>
        </p:nvSpPr>
        <p:spPr bwMode="auto">
          <a:xfrm>
            <a:off x="5715000" y="2971800"/>
            <a:ext cx="1676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993300"/>
                </a:solidFill>
                <a:latin typeface="Times New Roman" pitchFamily="18" charset="0"/>
              </a:rPr>
              <a:t>Consumer advocacy</a:t>
            </a:r>
          </a:p>
        </p:txBody>
      </p:sp>
      <p:sp>
        <p:nvSpPr>
          <p:cNvPr id="15397" name="Text Box 71"/>
          <p:cNvSpPr txBox="1">
            <a:spLocks noChangeArrowheads="1"/>
          </p:cNvSpPr>
          <p:nvPr/>
        </p:nvSpPr>
        <p:spPr bwMode="auto">
          <a:xfrm rot="-5400000">
            <a:off x="2605088" y="2590800"/>
            <a:ext cx="7620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993300"/>
                </a:solidFill>
                <a:latin typeface="Times New Roman" pitchFamily="18" charset="0"/>
              </a:rPr>
              <a:t>Regul-ations</a:t>
            </a:r>
          </a:p>
        </p:txBody>
      </p:sp>
      <p:sp>
        <p:nvSpPr>
          <p:cNvPr id="15398" name="Text Box 72"/>
          <p:cNvSpPr txBox="1">
            <a:spLocks noChangeArrowheads="1"/>
          </p:cNvSpPr>
          <p:nvPr/>
        </p:nvSpPr>
        <p:spPr bwMode="auto">
          <a:xfrm rot="-5400000">
            <a:off x="3502819" y="2632869"/>
            <a:ext cx="12557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993300"/>
                </a:solidFill>
                <a:latin typeface="Times New Roman" pitchFamily="18" charset="0"/>
              </a:rPr>
              <a:t>Lobbying</a:t>
            </a:r>
            <a:endParaRPr lang="en-US" sz="1700" b="1">
              <a:solidFill>
                <a:srgbClr val="993300"/>
              </a:solidFill>
              <a:latin typeface="Times New Roman" pitchFamily="18" charset="0"/>
            </a:endParaRPr>
          </a:p>
        </p:txBody>
      </p:sp>
      <p:sp>
        <p:nvSpPr>
          <p:cNvPr id="15399" name="Line 73"/>
          <p:cNvSpPr>
            <a:spLocks noChangeShapeType="1"/>
          </p:cNvSpPr>
          <p:nvPr/>
        </p:nvSpPr>
        <p:spPr bwMode="auto">
          <a:xfrm flipV="1">
            <a:off x="3352800" y="25146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400" name="Line 74"/>
          <p:cNvSpPr>
            <a:spLocks noChangeShapeType="1"/>
          </p:cNvSpPr>
          <p:nvPr/>
        </p:nvSpPr>
        <p:spPr bwMode="auto">
          <a:xfrm>
            <a:off x="4419600" y="25146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 smtClean="0">
                <a:latin typeface="Arial Rounded MT Bold" pitchFamily="34" charset="0"/>
              </a:rPr>
              <a:t>Characteristics of an Open System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382000" cy="46783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/>
              <a:t>Environment awareness : </a:t>
            </a:r>
            <a:r>
              <a:rPr lang="en-US" sz="1800" b="1" i="1" dirty="0" smtClean="0"/>
              <a:t>concept of boundaries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500" b="1" dirty="0" smtClean="0">
                <a:latin typeface="Tahoma" pitchFamily="34" charset="0"/>
              </a:rPr>
              <a:t>New organizational forms redefine concept of boundaries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/>
              <a:t>Feedback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/>
              <a:t>Cyclical character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/>
              <a:t>Negative entropy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/>
              <a:t>Steady state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/>
              <a:t>Movement towards growth and expansion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smtClean="0"/>
              <a:t>Balance of maintenance and adaptive activities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 err="1" smtClean="0"/>
              <a:t>Equifinality</a:t>
            </a:r>
            <a:endParaRPr lang="en-US" sz="2400" b="1" dirty="0" smtClean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400" b="1" dirty="0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800" b="1" dirty="0" smtClean="0"/>
              <a:t>Importance of the systems perspective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200" b="1" dirty="0" smtClean="0">
                <a:latin typeface="Arial Rounded MT Bold" pitchFamily="34" charset="0"/>
              </a:rPr>
              <a:t>The life-cycle perspective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100" b="1" dirty="0" smtClean="0">
                <a:latin typeface="Tahoma" pitchFamily="34" charset="0"/>
              </a:rPr>
              <a:t>Life cycle stages:</a:t>
            </a:r>
          </a:p>
          <a:p>
            <a:pPr eaLnBrk="1" hangingPunct="1">
              <a:lnSpc>
                <a:spcPct val="80000"/>
              </a:lnSpc>
              <a:buClr>
                <a:srgbClr val="993300"/>
              </a:buClr>
              <a:buFont typeface="Wingdings" pitchFamily="2" charset="2"/>
              <a:buChar char="§"/>
            </a:pPr>
            <a:r>
              <a:rPr lang="en-US" sz="2000" b="1" dirty="0" smtClean="0">
                <a:latin typeface="Batang" pitchFamily="18" charset="-127"/>
              </a:rPr>
              <a:t>Entrepreneurial stage: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b="1" i="1" dirty="0" smtClean="0"/>
              <a:t>Formation, ambiguous goals, high creativity, requires steady supply of resources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200" b="1" dirty="0" smtClean="0"/>
              <a:t>Population ecology theory – “</a:t>
            </a:r>
            <a:r>
              <a:rPr lang="en-US" sz="1200" b="1" i="1" dirty="0" smtClean="0"/>
              <a:t>liability of newness</a:t>
            </a:r>
            <a:r>
              <a:rPr lang="en-US" sz="1200" b="1" dirty="0" smtClean="0"/>
              <a:t>” 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200" b="1" dirty="0" smtClean="0"/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000" b="1" dirty="0" smtClean="0">
                <a:latin typeface="Batang" pitchFamily="18" charset="-127"/>
              </a:rPr>
              <a:t>Collectivity stage: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b="1" i="1" dirty="0" smtClean="0"/>
              <a:t>Mission clarified, communication &amp; structure informal, high member commitment</a:t>
            </a:r>
          </a:p>
          <a:p>
            <a:pPr lvl="2" eaLnBrk="1" hangingPunct="1">
              <a:lnSpc>
                <a:spcPct val="80000"/>
              </a:lnSpc>
            </a:pPr>
            <a:r>
              <a:rPr lang="en-US" sz="1200" b="1" dirty="0" smtClean="0"/>
              <a:t>Institutional theory – </a:t>
            </a:r>
            <a:r>
              <a:rPr lang="en-US" sz="1200" b="1" i="1" dirty="0" smtClean="0"/>
              <a:t>“Organizational isomorphism”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400" b="1" dirty="0" smtClean="0">
              <a:latin typeface="Batang" pitchFamily="18" charset="-127"/>
            </a:endParaRPr>
          </a:p>
          <a:p>
            <a:pPr eaLnBrk="1" hangingPunct="1">
              <a:lnSpc>
                <a:spcPct val="80000"/>
              </a:lnSpc>
              <a:buClr>
                <a:srgbClr val="993300"/>
              </a:buClr>
              <a:buFont typeface="Wingdings" pitchFamily="2" charset="2"/>
              <a:buChar char="§"/>
            </a:pPr>
            <a:r>
              <a:rPr lang="en-US" sz="2000" b="1" dirty="0" smtClean="0">
                <a:latin typeface="Batang" pitchFamily="18" charset="-127"/>
              </a:rPr>
              <a:t>Formalization-and-control stage: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b="1" i="1" dirty="0" smtClean="0"/>
              <a:t>Structure stabilizes, rules, procedures imposed, innovation de-emphasized, conservative decision making, role clarity, organization exists beyond individual</a:t>
            </a:r>
          </a:p>
          <a:p>
            <a:pPr lvl="2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400" b="1" i="1" dirty="0" smtClean="0"/>
          </a:p>
          <a:p>
            <a:pPr eaLnBrk="1" hangingPunct="1">
              <a:lnSpc>
                <a:spcPct val="80000"/>
              </a:lnSpc>
              <a:buClr>
                <a:srgbClr val="993300"/>
              </a:buClr>
              <a:buFont typeface="Wingdings" pitchFamily="2" charset="2"/>
              <a:buChar char="§"/>
            </a:pPr>
            <a:r>
              <a:rPr lang="en-US" sz="2000" b="1" dirty="0" smtClean="0">
                <a:latin typeface="Batang" pitchFamily="18" charset="-127"/>
              </a:rPr>
              <a:t>Elaboration-of-structure stage: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b="1" i="1" dirty="0" smtClean="0"/>
              <a:t>Product diversification, growth opportunities sought, structure more complex, decentralization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1400" b="1" i="1" dirty="0" smtClean="0"/>
          </a:p>
          <a:p>
            <a:pPr eaLnBrk="1" hangingPunct="1">
              <a:lnSpc>
                <a:spcPct val="80000"/>
              </a:lnSpc>
              <a:buClr>
                <a:srgbClr val="993300"/>
              </a:buClr>
              <a:buFont typeface="Wingdings" pitchFamily="2" charset="2"/>
              <a:buChar char="§"/>
            </a:pPr>
            <a:r>
              <a:rPr lang="en-US" sz="2000" b="1" dirty="0" smtClean="0">
                <a:latin typeface="Batang" pitchFamily="18" charset="-127"/>
              </a:rPr>
              <a:t>Decline stage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400" b="1" i="1" dirty="0" smtClean="0"/>
              <a:t>Shrinking market, increased competition, employee turnover, increased conflicts, centralized decision making under new leadership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76200"/>
            <a:ext cx="7772400" cy="609600"/>
          </a:xfrm>
        </p:spPr>
        <p:txBody>
          <a:bodyPr/>
          <a:lstStyle/>
          <a:p>
            <a:pPr eaLnBrk="1" hangingPunct="1"/>
            <a:r>
              <a:rPr lang="en-US" sz="3200" b="1" smtClean="0">
                <a:solidFill>
                  <a:schemeClr val="tx1"/>
                </a:solidFill>
                <a:latin typeface="Arial Rounded MT Bold" pitchFamily="34" charset="0"/>
              </a:rPr>
              <a:t>Organizational Life Cycle</a:t>
            </a:r>
            <a:endParaRPr lang="en-US" sz="1800" b="1" smtClean="0">
              <a:solidFill>
                <a:schemeClr val="tx1"/>
              </a:solidFill>
              <a:latin typeface="Arial Rounded MT Bold" pitchFamily="34" charset="0"/>
            </a:endParaRPr>
          </a:p>
        </p:txBody>
      </p:sp>
      <p:sp>
        <p:nvSpPr>
          <p:cNvPr id="18435" name="Line 7"/>
          <p:cNvSpPr>
            <a:spLocks noChangeShapeType="1"/>
          </p:cNvSpPr>
          <p:nvPr/>
        </p:nvSpPr>
        <p:spPr bwMode="auto">
          <a:xfrm>
            <a:off x="2133600" y="4419600"/>
            <a:ext cx="0" cy="2209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6" name="Line 9"/>
          <p:cNvSpPr>
            <a:spLocks noChangeShapeType="1"/>
          </p:cNvSpPr>
          <p:nvPr/>
        </p:nvSpPr>
        <p:spPr bwMode="auto">
          <a:xfrm>
            <a:off x="3733800" y="52578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7" name="Line 11"/>
          <p:cNvSpPr>
            <a:spLocks noChangeShapeType="1"/>
          </p:cNvSpPr>
          <p:nvPr/>
        </p:nvSpPr>
        <p:spPr bwMode="auto">
          <a:xfrm>
            <a:off x="7543800" y="1295400"/>
            <a:ext cx="0" cy="5257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8" name="Text Box 12"/>
          <p:cNvSpPr txBox="1">
            <a:spLocks noChangeArrowheads="1"/>
          </p:cNvSpPr>
          <p:nvPr/>
        </p:nvSpPr>
        <p:spPr bwMode="auto">
          <a:xfrm>
            <a:off x="304800" y="5105400"/>
            <a:ext cx="2057400" cy="177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CC0099"/>
                </a:solidFill>
                <a:latin typeface="Times New Roman" pitchFamily="18" charset="0"/>
              </a:rPr>
              <a:t>Entrepreneurial stage: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700" b="1">
                <a:latin typeface="Times New Roman" pitchFamily="18" charset="0"/>
              </a:rPr>
              <a:t> </a:t>
            </a:r>
            <a:r>
              <a:rPr lang="en-US" sz="1400" b="1">
                <a:latin typeface="Times New Roman" pitchFamily="18" charset="0"/>
              </a:rPr>
              <a:t>Ambiguous goals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700" b="1">
                <a:latin typeface="Times New Roman" pitchFamily="18" charset="0"/>
              </a:rPr>
              <a:t> </a:t>
            </a:r>
            <a:r>
              <a:rPr lang="en-US" sz="1400" b="1">
                <a:latin typeface="Times New Roman" pitchFamily="18" charset="0"/>
              </a:rPr>
              <a:t>High creativity</a:t>
            </a:r>
          </a:p>
          <a:p>
            <a:pPr eaLnBrk="1" hangingPunct="1">
              <a:spcBef>
                <a:spcPct val="50000"/>
              </a:spcBef>
            </a:pPr>
            <a:endParaRPr lang="en-US" sz="1700" b="1">
              <a:latin typeface="Times New Roman" pitchFamily="18" charset="0"/>
            </a:endParaRPr>
          </a:p>
        </p:txBody>
      </p:sp>
      <p:sp>
        <p:nvSpPr>
          <p:cNvPr id="18439" name="Text Box 13"/>
          <p:cNvSpPr txBox="1">
            <a:spLocks noChangeArrowheads="1"/>
          </p:cNvSpPr>
          <p:nvPr/>
        </p:nvSpPr>
        <p:spPr bwMode="auto">
          <a:xfrm>
            <a:off x="2286000" y="4800600"/>
            <a:ext cx="144780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CC0099"/>
                </a:solidFill>
                <a:latin typeface="Times New Roman" pitchFamily="18" charset="0"/>
              </a:rPr>
              <a:t>Collectivity stage: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Informal</a:t>
            </a:r>
            <a:r>
              <a:rPr lang="en-US" sz="1700" b="1">
                <a:latin typeface="Times New Roman" pitchFamily="18" charset="0"/>
              </a:rPr>
              <a:t> </a:t>
            </a:r>
            <a:r>
              <a:rPr lang="en-US" sz="1400" b="1">
                <a:latin typeface="Times New Roman" pitchFamily="18" charset="0"/>
              </a:rPr>
              <a:t>communication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High</a:t>
            </a:r>
            <a:r>
              <a:rPr lang="en-US" sz="1700" b="1">
                <a:latin typeface="Times New Roman" pitchFamily="18" charset="0"/>
              </a:rPr>
              <a:t> </a:t>
            </a:r>
            <a:r>
              <a:rPr lang="en-US" sz="1400" b="1">
                <a:latin typeface="Times New Roman" pitchFamily="18" charset="0"/>
              </a:rPr>
              <a:t>commitment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endParaRPr lang="en-US" sz="1400" b="1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en-US" sz="1700" b="1">
              <a:latin typeface="Times New Roman" pitchFamily="18" charset="0"/>
            </a:endParaRPr>
          </a:p>
        </p:txBody>
      </p:sp>
      <p:sp>
        <p:nvSpPr>
          <p:cNvPr id="18440" name="Line 15"/>
          <p:cNvSpPr>
            <a:spLocks noChangeShapeType="1"/>
          </p:cNvSpPr>
          <p:nvPr/>
        </p:nvSpPr>
        <p:spPr bwMode="auto">
          <a:xfrm flipV="1">
            <a:off x="609600" y="1066800"/>
            <a:ext cx="0" cy="3276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1" name="Line 17"/>
          <p:cNvSpPr>
            <a:spLocks noChangeShapeType="1"/>
          </p:cNvSpPr>
          <p:nvPr/>
        </p:nvSpPr>
        <p:spPr bwMode="auto">
          <a:xfrm flipH="1">
            <a:off x="3733800" y="4343400"/>
            <a:ext cx="45720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2" name="Line 18"/>
          <p:cNvSpPr>
            <a:spLocks noChangeShapeType="1"/>
          </p:cNvSpPr>
          <p:nvPr/>
        </p:nvSpPr>
        <p:spPr bwMode="auto">
          <a:xfrm flipV="1">
            <a:off x="4191000" y="1524000"/>
            <a:ext cx="0" cy="28194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3" name="Text Box 19"/>
          <p:cNvSpPr txBox="1">
            <a:spLocks noChangeArrowheads="1"/>
          </p:cNvSpPr>
          <p:nvPr/>
        </p:nvSpPr>
        <p:spPr bwMode="auto">
          <a:xfrm>
            <a:off x="7620000" y="4648200"/>
            <a:ext cx="1676400" cy="152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700" b="1">
                <a:solidFill>
                  <a:srgbClr val="CC0099"/>
                </a:solidFill>
                <a:latin typeface="Times New Roman" pitchFamily="18" charset="0"/>
              </a:rPr>
              <a:t>Decline stage: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High employee turnover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Increased conflict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centralization</a:t>
            </a:r>
          </a:p>
        </p:txBody>
      </p:sp>
      <p:sp>
        <p:nvSpPr>
          <p:cNvPr id="18444" name="Text Box 20"/>
          <p:cNvSpPr txBox="1">
            <a:spLocks noChangeArrowheads="1"/>
          </p:cNvSpPr>
          <p:nvPr/>
        </p:nvSpPr>
        <p:spPr bwMode="auto">
          <a:xfrm>
            <a:off x="3886200" y="4800600"/>
            <a:ext cx="1752600" cy="171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CC0099"/>
                </a:solidFill>
                <a:latin typeface="Times New Roman" pitchFamily="18" charset="0"/>
              </a:rPr>
              <a:t>F &amp; C stage: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Formalization of rules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Stable structure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Emphasis on efficiency</a:t>
            </a:r>
          </a:p>
        </p:txBody>
      </p:sp>
      <p:sp>
        <p:nvSpPr>
          <p:cNvPr id="18445" name="Text Box 22"/>
          <p:cNvSpPr txBox="1">
            <a:spLocks noChangeArrowheads="1"/>
          </p:cNvSpPr>
          <p:nvPr/>
        </p:nvSpPr>
        <p:spPr bwMode="auto">
          <a:xfrm>
            <a:off x="5638800" y="4800600"/>
            <a:ext cx="1828800" cy="134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CC0099"/>
                </a:solidFill>
                <a:latin typeface="Times New Roman" pitchFamily="18" charset="0"/>
              </a:rPr>
              <a:t>E of S stage: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More complex str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decentralizn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1400" b="1">
                <a:latin typeface="Times New Roman" pitchFamily="18" charset="0"/>
              </a:rPr>
              <a:t>Diversified markets</a:t>
            </a:r>
            <a:r>
              <a:rPr lang="en-US" sz="1600" b="1">
                <a:latin typeface="Times New Roman" pitchFamily="18" charset="0"/>
              </a:rPr>
              <a:t>    </a:t>
            </a:r>
          </a:p>
        </p:txBody>
      </p:sp>
      <p:sp>
        <p:nvSpPr>
          <p:cNvPr id="18446" name="Freeform 23"/>
          <p:cNvSpPr>
            <a:spLocks/>
          </p:cNvSpPr>
          <p:nvPr/>
        </p:nvSpPr>
        <p:spPr bwMode="auto">
          <a:xfrm>
            <a:off x="1219200" y="914400"/>
            <a:ext cx="7239000" cy="3149600"/>
          </a:xfrm>
          <a:custGeom>
            <a:avLst/>
            <a:gdLst>
              <a:gd name="T0" fmla="*/ 0 w 4560"/>
              <a:gd name="T1" fmla="*/ 3149600 h 1984"/>
              <a:gd name="T2" fmla="*/ 914400 w 4560"/>
              <a:gd name="T3" fmla="*/ 3073400 h 1984"/>
              <a:gd name="T4" fmla="*/ 1447800 w 4560"/>
              <a:gd name="T5" fmla="*/ 2692400 h 1984"/>
              <a:gd name="T6" fmla="*/ 1905000 w 4560"/>
              <a:gd name="T7" fmla="*/ 2006600 h 1984"/>
              <a:gd name="T8" fmla="*/ 2590800 w 4560"/>
              <a:gd name="T9" fmla="*/ 1016000 h 1984"/>
              <a:gd name="T10" fmla="*/ 2971800 w 4560"/>
              <a:gd name="T11" fmla="*/ 635000 h 1984"/>
              <a:gd name="T12" fmla="*/ 3657600 w 4560"/>
              <a:gd name="T13" fmla="*/ 254000 h 1984"/>
              <a:gd name="T14" fmla="*/ 4267200 w 4560"/>
              <a:gd name="T15" fmla="*/ 25400 h 1984"/>
              <a:gd name="T16" fmla="*/ 5486399 w 4560"/>
              <a:gd name="T17" fmla="*/ 101600 h 1984"/>
              <a:gd name="T18" fmla="*/ 6400799 w 4560"/>
              <a:gd name="T19" fmla="*/ 406400 h 1984"/>
              <a:gd name="T20" fmla="*/ 7239000 w 4560"/>
              <a:gd name="T21" fmla="*/ 1244600 h 198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560"/>
              <a:gd name="T34" fmla="*/ 0 h 1984"/>
              <a:gd name="T35" fmla="*/ 4560 w 4560"/>
              <a:gd name="T36" fmla="*/ 1984 h 198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560" h="1984">
                <a:moveTo>
                  <a:pt x="0" y="1984"/>
                </a:moveTo>
                <a:cubicBezTo>
                  <a:pt x="212" y="1984"/>
                  <a:pt x="424" y="1984"/>
                  <a:pt x="576" y="1936"/>
                </a:cubicBezTo>
                <a:cubicBezTo>
                  <a:pt x="728" y="1888"/>
                  <a:pt x="808" y="1808"/>
                  <a:pt x="912" y="1696"/>
                </a:cubicBezTo>
                <a:cubicBezTo>
                  <a:pt x="1016" y="1584"/>
                  <a:pt x="1080" y="1440"/>
                  <a:pt x="1200" y="1264"/>
                </a:cubicBezTo>
                <a:cubicBezTo>
                  <a:pt x="1320" y="1088"/>
                  <a:pt x="1520" y="784"/>
                  <a:pt x="1632" y="640"/>
                </a:cubicBezTo>
                <a:cubicBezTo>
                  <a:pt x="1744" y="496"/>
                  <a:pt x="1760" y="480"/>
                  <a:pt x="1872" y="400"/>
                </a:cubicBezTo>
                <a:cubicBezTo>
                  <a:pt x="1984" y="320"/>
                  <a:pt x="2168" y="224"/>
                  <a:pt x="2304" y="160"/>
                </a:cubicBezTo>
                <a:cubicBezTo>
                  <a:pt x="2440" y="96"/>
                  <a:pt x="2496" y="32"/>
                  <a:pt x="2688" y="16"/>
                </a:cubicBezTo>
                <a:cubicBezTo>
                  <a:pt x="2880" y="0"/>
                  <a:pt x="3232" y="24"/>
                  <a:pt x="3456" y="64"/>
                </a:cubicBezTo>
                <a:cubicBezTo>
                  <a:pt x="3680" y="104"/>
                  <a:pt x="3848" y="136"/>
                  <a:pt x="4032" y="256"/>
                </a:cubicBezTo>
                <a:cubicBezTo>
                  <a:pt x="4216" y="376"/>
                  <a:pt x="4472" y="696"/>
                  <a:pt x="4560" y="784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7" name="Line 24"/>
          <p:cNvSpPr>
            <a:spLocks noChangeShapeType="1"/>
          </p:cNvSpPr>
          <p:nvPr/>
        </p:nvSpPr>
        <p:spPr bwMode="auto">
          <a:xfrm>
            <a:off x="609600" y="4343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8" name="Text Box 25"/>
          <p:cNvSpPr txBox="1">
            <a:spLocks noChangeArrowheads="1"/>
          </p:cNvSpPr>
          <p:nvPr/>
        </p:nvSpPr>
        <p:spPr bwMode="auto">
          <a:xfrm>
            <a:off x="914400" y="3505200"/>
            <a:ext cx="1219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993300"/>
                </a:solidFill>
                <a:latin typeface="Times New Roman" pitchFamily="18" charset="0"/>
              </a:rPr>
              <a:t>Formation</a:t>
            </a:r>
          </a:p>
        </p:txBody>
      </p:sp>
      <p:sp>
        <p:nvSpPr>
          <p:cNvPr id="18449" name="Text Box 26"/>
          <p:cNvSpPr txBox="1">
            <a:spLocks noChangeArrowheads="1"/>
          </p:cNvSpPr>
          <p:nvPr/>
        </p:nvSpPr>
        <p:spPr bwMode="auto">
          <a:xfrm rot="-5400000">
            <a:off x="2225675" y="2117725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993300"/>
                </a:solidFill>
                <a:latin typeface="Times New Roman" pitchFamily="18" charset="0"/>
              </a:rPr>
              <a:t>Growth</a:t>
            </a:r>
          </a:p>
        </p:txBody>
      </p:sp>
      <p:sp>
        <p:nvSpPr>
          <p:cNvPr id="18450" name="Text Box 27"/>
          <p:cNvSpPr txBox="1">
            <a:spLocks noChangeArrowheads="1"/>
          </p:cNvSpPr>
          <p:nvPr/>
        </p:nvSpPr>
        <p:spPr bwMode="auto">
          <a:xfrm>
            <a:off x="5410200" y="1111250"/>
            <a:ext cx="1371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993300"/>
                </a:solidFill>
                <a:latin typeface="Times New Roman" pitchFamily="18" charset="0"/>
              </a:rPr>
              <a:t>maturity</a:t>
            </a:r>
          </a:p>
        </p:txBody>
      </p:sp>
      <p:sp>
        <p:nvSpPr>
          <p:cNvPr id="18451" name="Text Box 28"/>
          <p:cNvSpPr txBox="1">
            <a:spLocks noChangeArrowheads="1"/>
          </p:cNvSpPr>
          <p:nvPr/>
        </p:nvSpPr>
        <p:spPr bwMode="auto">
          <a:xfrm rot="5400000">
            <a:off x="8099425" y="1622425"/>
            <a:ext cx="990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600" b="1">
                <a:solidFill>
                  <a:srgbClr val="993300"/>
                </a:solidFill>
                <a:latin typeface="Times New Roman" pitchFamily="18" charset="0"/>
              </a:rPr>
              <a:t>Decline</a:t>
            </a:r>
          </a:p>
        </p:txBody>
      </p:sp>
      <p:sp>
        <p:nvSpPr>
          <p:cNvPr id="18452" name="Line 30"/>
          <p:cNvSpPr>
            <a:spLocks noChangeShapeType="1"/>
          </p:cNvSpPr>
          <p:nvPr/>
        </p:nvSpPr>
        <p:spPr bwMode="auto">
          <a:xfrm flipV="1">
            <a:off x="2133600" y="3962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z="2400" b="1" smtClean="0">
                <a:latin typeface="Arial Rounded MT Bold" pitchFamily="34" charset="0"/>
              </a:rPr>
              <a:t>Stages of corporate lifecycle:Adizes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8229600" cy="4525963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Courtship stage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Infancy (</a:t>
            </a:r>
            <a:r>
              <a:rPr lang="en-US" sz="1400" b="1" i="1" dirty="0" smtClean="0">
                <a:latin typeface="Tahoma" pitchFamily="34" charset="0"/>
              </a:rPr>
              <a:t>infant mortality</a:t>
            </a:r>
            <a:r>
              <a:rPr lang="en-US" sz="1400" b="1" dirty="0" smtClean="0">
                <a:latin typeface="Tahoma" pitchFamily="34" charset="0"/>
              </a:rPr>
              <a:t>)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Go-go stage (</a:t>
            </a:r>
            <a:r>
              <a:rPr lang="en-US" sz="1400" b="1" i="1" dirty="0" smtClean="0">
                <a:latin typeface="Tahoma" pitchFamily="34" charset="0"/>
              </a:rPr>
              <a:t>founders’ trap</a:t>
            </a:r>
            <a:r>
              <a:rPr lang="en-US" sz="1400" b="1" dirty="0" smtClean="0">
                <a:latin typeface="Tahoma" pitchFamily="34" charset="0"/>
              </a:rPr>
              <a:t>)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Adolescence stage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Prime stage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Stability stage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Aristocracy stage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Recrimination stage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Bureaucracy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r>
              <a:rPr lang="en-US" sz="1400" b="1" dirty="0" smtClean="0">
                <a:latin typeface="Tahoma" pitchFamily="34" charset="0"/>
              </a:rPr>
              <a:t>Death 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14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600" b="1" dirty="0" smtClean="0">
              <a:latin typeface="Tahoma" pitchFamily="34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AutoNum type="arabicPeriod"/>
            </a:pPr>
            <a:endParaRPr lang="en-US" sz="600" b="1" dirty="0" smtClean="0">
              <a:latin typeface="Tahoma" pitchFamily="34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7158038" cy="498475"/>
          </a:xfrm>
        </p:spPr>
        <p:txBody>
          <a:bodyPr/>
          <a:lstStyle/>
          <a:p>
            <a:pPr algn="ctr" eaLnBrk="1" hangingPunct="1"/>
            <a:r>
              <a:rPr lang="en-US" sz="2400" b="1" smtClean="0"/>
              <a:t>Greiner’s Model of Organizational Growth</a:t>
            </a:r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1676400" y="1219200"/>
            <a:ext cx="0" cy="464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Line 5"/>
          <p:cNvSpPr>
            <a:spLocks noChangeShapeType="1"/>
          </p:cNvSpPr>
          <p:nvPr/>
        </p:nvSpPr>
        <p:spPr bwMode="auto">
          <a:xfrm>
            <a:off x="8077200" y="1219200"/>
            <a:ext cx="0" cy="464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1" name="Line 6"/>
          <p:cNvSpPr>
            <a:spLocks noChangeShapeType="1"/>
          </p:cNvSpPr>
          <p:nvPr/>
        </p:nvSpPr>
        <p:spPr bwMode="auto">
          <a:xfrm>
            <a:off x="1676400" y="5867400"/>
            <a:ext cx="6400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2" name="Line 7"/>
          <p:cNvSpPr>
            <a:spLocks noChangeShapeType="1"/>
          </p:cNvSpPr>
          <p:nvPr/>
        </p:nvSpPr>
        <p:spPr bwMode="auto">
          <a:xfrm>
            <a:off x="2743200" y="16002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3" name="Line 9"/>
          <p:cNvSpPr>
            <a:spLocks noChangeShapeType="1"/>
          </p:cNvSpPr>
          <p:nvPr/>
        </p:nvSpPr>
        <p:spPr bwMode="auto">
          <a:xfrm>
            <a:off x="3733800" y="16002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4" name="Line 10"/>
          <p:cNvSpPr>
            <a:spLocks noChangeShapeType="1"/>
          </p:cNvSpPr>
          <p:nvPr/>
        </p:nvSpPr>
        <p:spPr bwMode="auto">
          <a:xfrm>
            <a:off x="7239000" y="16002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5" name="Line 11"/>
          <p:cNvSpPr>
            <a:spLocks noChangeShapeType="1"/>
          </p:cNvSpPr>
          <p:nvPr/>
        </p:nvSpPr>
        <p:spPr bwMode="auto">
          <a:xfrm>
            <a:off x="6019800" y="16002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6" name="Line 12"/>
          <p:cNvSpPr>
            <a:spLocks noChangeShapeType="1"/>
          </p:cNvSpPr>
          <p:nvPr/>
        </p:nvSpPr>
        <p:spPr bwMode="auto">
          <a:xfrm>
            <a:off x="4800600" y="16002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7" name="Line 13"/>
          <p:cNvSpPr>
            <a:spLocks noChangeShapeType="1"/>
          </p:cNvSpPr>
          <p:nvPr/>
        </p:nvSpPr>
        <p:spPr bwMode="auto">
          <a:xfrm flipV="1">
            <a:off x="1676400" y="4648200"/>
            <a:ext cx="533400" cy="6096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8" name="Line 15"/>
          <p:cNvSpPr>
            <a:spLocks noChangeShapeType="1"/>
          </p:cNvSpPr>
          <p:nvPr/>
        </p:nvSpPr>
        <p:spPr bwMode="auto">
          <a:xfrm flipV="1">
            <a:off x="2819400" y="4114800"/>
            <a:ext cx="609600" cy="381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9" name="Line 16"/>
          <p:cNvSpPr>
            <a:spLocks noChangeShapeType="1"/>
          </p:cNvSpPr>
          <p:nvPr/>
        </p:nvSpPr>
        <p:spPr bwMode="auto">
          <a:xfrm flipV="1">
            <a:off x="3810000" y="3429000"/>
            <a:ext cx="685800" cy="457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0" name="Line 17"/>
          <p:cNvSpPr>
            <a:spLocks noChangeShapeType="1"/>
          </p:cNvSpPr>
          <p:nvPr/>
        </p:nvSpPr>
        <p:spPr bwMode="auto">
          <a:xfrm flipV="1">
            <a:off x="4953000" y="2895600"/>
            <a:ext cx="838200" cy="4572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1" name="Line 18"/>
          <p:cNvSpPr>
            <a:spLocks noChangeShapeType="1"/>
          </p:cNvSpPr>
          <p:nvPr/>
        </p:nvSpPr>
        <p:spPr bwMode="auto">
          <a:xfrm flipV="1">
            <a:off x="6248400" y="2438400"/>
            <a:ext cx="762000" cy="38100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2" name="Line 19"/>
          <p:cNvSpPr>
            <a:spLocks noChangeShapeType="1"/>
          </p:cNvSpPr>
          <p:nvPr/>
        </p:nvSpPr>
        <p:spPr bwMode="auto">
          <a:xfrm>
            <a:off x="7620000" y="2438400"/>
            <a:ext cx="457200" cy="990600"/>
          </a:xfrm>
          <a:prstGeom prst="line">
            <a:avLst/>
          </a:prstGeom>
          <a:noFill/>
          <a:ln w="28575">
            <a:solidFill>
              <a:schemeClr val="bg2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Line 20"/>
          <p:cNvSpPr>
            <a:spLocks noChangeShapeType="1"/>
          </p:cNvSpPr>
          <p:nvPr/>
        </p:nvSpPr>
        <p:spPr bwMode="auto">
          <a:xfrm flipV="1">
            <a:off x="2209800" y="44196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4" name="Line 21"/>
          <p:cNvSpPr>
            <a:spLocks noChangeShapeType="1"/>
          </p:cNvSpPr>
          <p:nvPr/>
        </p:nvSpPr>
        <p:spPr bwMode="auto">
          <a:xfrm>
            <a:off x="2209800" y="44196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5" name="Line 22"/>
          <p:cNvSpPr>
            <a:spLocks noChangeShapeType="1"/>
          </p:cNvSpPr>
          <p:nvPr/>
        </p:nvSpPr>
        <p:spPr bwMode="auto">
          <a:xfrm flipV="1">
            <a:off x="2438400" y="42672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6" name="Line 23"/>
          <p:cNvSpPr>
            <a:spLocks noChangeShapeType="1"/>
          </p:cNvSpPr>
          <p:nvPr/>
        </p:nvSpPr>
        <p:spPr bwMode="auto">
          <a:xfrm>
            <a:off x="2667000" y="4267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7" name="Line 24"/>
          <p:cNvSpPr>
            <a:spLocks noChangeShapeType="1"/>
          </p:cNvSpPr>
          <p:nvPr/>
        </p:nvSpPr>
        <p:spPr bwMode="auto">
          <a:xfrm flipV="1">
            <a:off x="3429000" y="38862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8" name="Line 25"/>
          <p:cNvSpPr>
            <a:spLocks noChangeShapeType="1"/>
          </p:cNvSpPr>
          <p:nvPr/>
        </p:nvSpPr>
        <p:spPr bwMode="auto">
          <a:xfrm>
            <a:off x="3429000" y="38862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9" name="Line 26"/>
          <p:cNvSpPr>
            <a:spLocks noChangeShapeType="1"/>
          </p:cNvSpPr>
          <p:nvPr/>
        </p:nvSpPr>
        <p:spPr bwMode="auto">
          <a:xfrm flipV="1">
            <a:off x="3581400" y="38100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0" name="Line 27"/>
          <p:cNvSpPr>
            <a:spLocks noChangeShapeType="1"/>
          </p:cNvSpPr>
          <p:nvPr/>
        </p:nvSpPr>
        <p:spPr bwMode="auto">
          <a:xfrm>
            <a:off x="3733800" y="3810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1" name="Line 28"/>
          <p:cNvSpPr>
            <a:spLocks noChangeShapeType="1"/>
          </p:cNvSpPr>
          <p:nvPr/>
        </p:nvSpPr>
        <p:spPr bwMode="auto">
          <a:xfrm flipV="1">
            <a:off x="4495800" y="32766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2" name="Line 29"/>
          <p:cNvSpPr>
            <a:spLocks noChangeShapeType="1"/>
          </p:cNvSpPr>
          <p:nvPr/>
        </p:nvSpPr>
        <p:spPr bwMode="auto">
          <a:xfrm>
            <a:off x="4495800" y="32766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3" name="Line 30"/>
          <p:cNvSpPr>
            <a:spLocks noChangeShapeType="1"/>
          </p:cNvSpPr>
          <p:nvPr/>
        </p:nvSpPr>
        <p:spPr bwMode="auto">
          <a:xfrm flipV="1">
            <a:off x="4648200" y="3124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4" name="Line 31"/>
          <p:cNvSpPr>
            <a:spLocks noChangeShapeType="1"/>
          </p:cNvSpPr>
          <p:nvPr/>
        </p:nvSpPr>
        <p:spPr bwMode="auto">
          <a:xfrm>
            <a:off x="4800600" y="3124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5" name="Line 32"/>
          <p:cNvSpPr>
            <a:spLocks noChangeShapeType="1"/>
          </p:cNvSpPr>
          <p:nvPr/>
        </p:nvSpPr>
        <p:spPr bwMode="auto">
          <a:xfrm flipV="1">
            <a:off x="5791200" y="2743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6" name="Line 33"/>
          <p:cNvSpPr>
            <a:spLocks noChangeShapeType="1"/>
          </p:cNvSpPr>
          <p:nvPr/>
        </p:nvSpPr>
        <p:spPr bwMode="auto">
          <a:xfrm>
            <a:off x="5791200" y="27432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7" name="Line 34"/>
          <p:cNvSpPr>
            <a:spLocks noChangeShapeType="1"/>
          </p:cNvSpPr>
          <p:nvPr/>
        </p:nvSpPr>
        <p:spPr bwMode="auto">
          <a:xfrm flipV="1">
            <a:off x="5943600" y="2514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8" name="Line 35"/>
          <p:cNvSpPr>
            <a:spLocks noChangeShapeType="1"/>
          </p:cNvSpPr>
          <p:nvPr/>
        </p:nvSpPr>
        <p:spPr bwMode="auto">
          <a:xfrm>
            <a:off x="6096000" y="2514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89" name="Line 36"/>
          <p:cNvSpPr>
            <a:spLocks noChangeShapeType="1"/>
          </p:cNvSpPr>
          <p:nvPr/>
        </p:nvSpPr>
        <p:spPr bwMode="auto">
          <a:xfrm flipV="1">
            <a:off x="7010400" y="22860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90" name="Line 37"/>
          <p:cNvSpPr>
            <a:spLocks noChangeShapeType="1"/>
          </p:cNvSpPr>
          <p:nvPr/>
        </p:nvSpPr>
        <p:spPr bwMode="auto">
          <a:xfrm>
            <a:off x="7010400" y="2286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91" name="Line 41"/>
          <p:cNvSpPr>
            <a:spLocks noChangeShapeType="1"/>
          </p:cNvSpPr>
          <p:nvPr/>
        </p:nvSpPr>
        <p:spPr bwMode="auto">
          <a:xfrm flipH="1">
            <a:off x="7620000" y="2286000"/>
            <a:ext cx="76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92" name="Text Box 42"/>
          <p:cNvSpPr txBox="1">
            <a:spLocks noChangeArrowheads="1"/>
          </p:cNvSpPr>
          <p:nvPr/>
        </p:nvSpPr>
        <p:spPr bwMode="auto">
          <a:xfrm>
            <a:off x="1219200" y="5911850"/>
            <a:ext cx="12954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>
                <a:solidFill>
                  <a:srgbClr val="0000FF"/>
                </a:solidFill>
              </a:rPr>
              <a:t>Young</a:t>
            </a:r>
          </a:p>
        </p:txBody>
      </p:sp>
      <p:sp>
        <p:nvSpPr>
          <p:cNvPr id="19493" name="Text Box 43"/>
          <p:cNvSpPr txBox="1">
            <a:spLocks noChangeArrowheads="1"/>
          </p:cNvSpPr>
          <p:nvPr/>
        </p:nvSpPr>
        <p:spPr bwMode="auto">
          <a:xfrm>
            <a:off x="7467600" y="5911850"/>
            <a:ext cx="12954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>
                <a:solidFill>
                  <a:srgbClr val="0000FF"/>
                </a:solidFill>
              </a:rPr>
              <a:t>Mature </a:t>
            </a:r>
          </a:p>
        </p:txBody>
      </p:sp>
      <p:sp>
        <p:nvSpPr>
          <p:cNvPr id="19494" name="Text Box 44"/>
          <p:cNvSpPr txBox="1">
            <a:spLocks noChangeArrowheads="1"/>
          </p:cNvSpPr>
          <p:nvPr/>
        </p:nvSpPr>
        <p:spPr bwMode="auto">
          <a:xfrm>
            <a:off x="4038600" y="5911850"/>
            <a:ext cx="22098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>
                <a:solidFill>
                  <a:srgbClr val="990000"/>
                </a:solidFill>
              </a:rPr>
              <a:t>Age of Organization</a:t>
            </a:r>
            <a:r>
              <a:rPr lang="en-US" sz="1100" b="1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19495" name="Text Box 45"/>
          <p:cNvSpPr txBox="1">
            <a:spLocks noChangeArrowheads="1"/>
          </p:cNvSpPr>
          <p:nvPr/>
        </p:nvSpPr>
        <p:spPr bwMode="auto">
          <a:xfrm>
            <a:off x="685800" y="5226050"/>
            <a:ext cx="12954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>
                <a:solidFill>
                  <a:srgbClr val="0000FF"/>
                </a:solidFill>
              </a:rPr>
              <a:t>Small</a:t>
            </a:r>
          </a:p>
        </p:txBody>
      </p:sp>
      <p:sp>
        <p:nvSpPr>
          <p:cNvPr id="19496" name="Text Box 46"/>
          <p:cNvSpPr txBox="1">
            <a:spLocks noChangeArrowheads="1"/>
          </p:cNvSpPr>
          <p:nvPr/>
        </p:nvSpPr>
        <p:spPr bwMode="auto">
          <a:xfrm>
            <a:off x="685800" y="1187450"/>
            <a:ext cx="12954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100" b="1">
                <a:solidFill>
                  <a:srgbClr val="0000FF"/>
                </a:solidFill>
              </a:rPr>
              <a:t>Large</a:t>
            </a:r>
          </a:p>
        </p:txBody>
      </p:sp>
      <p:sp>
        <p:nvSpPr>
          <p:cNvPr id="19497" name="Text Box 50"/>
          <p:cNvSpPr txBox="1">
            <a:spLocks noChangeArrowheads="1"/>
          </p:cNvSpPr>
          <p:nvPr/>
        </p:nvSpPr>
        <p:spPr bwMode="auto">
          <a:xfrm rot="10800000">
            <a:off x="1143000" y="2362200"/>
            <a:ext cx="304800" cy="1903413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vert="eaVert"/>
          <a:lstStyle/>
          <a:p>
            <a:pPr algn="ctr"/>
            <a:r>
              <a:rPr lang="en-US" sz="1100" b="1">
                <a:solidFill>
                  <a:srgbClr val="990000"/>
                </a:solidFill>
              </a:rPr>
              <a:t>Size of organization </a:t>
            </a:r>
            <a:endParaRPr lang="en-US" sz="1100">
              <a:solidFill>
                <a:srgbClr val="990000"/>
              </a:solidFill>
            </a:endParaRPr>
          </a:p>
        </p:txBody>
      </p:sp>
      <p:sp>
        <p:nvSpPr>
          <p:cNvPr id="19498" name="Text Box 53"/>
          <p:cNvSpPr txBox="1">
            <a:spLocks noChangeArrowheads="1"/>
          </p:cNvSpPr>
          <p:nvPr/>
        </p:nvSpPr>
        <p:spPr bwMode="auto">
          <a:xfrm>
            <a:off x="1752600" y="1295400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19499" name="Text Box 54"/>
          <p:cNvSpPr txBox="1">
            <a:spLocks noChangeArrowheads="1"/>
          </p:cNvSpPr>
          <p:nvPr/>
        </p:nvSpPr>
        <p:spPr bwMode="auto">
          <a:xfrm>
            <a:off x="1752600" y="12954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00"/>
                </a:solidFill>
              </a:rPr>
              <a:t>Stage 1</a:t>
            </a:r>
          </a:p>
        </p:txBody>
      </p:sp>
      <p:sp>
        <p:nvSpPr>
          <p:cNvPr id="19500" name="Text Box 55"/>
          <p:cNvSpPr txBox="1">
            <a:spLocks noChangeArrowheads="1"/>
          </p:cNvSpPr>
          <p:nvPr/>
        </p:nvSpPr>
        <p:spPr bwMode="auto">
          <a:xfrm>
            <a:off x="2819400" y="12954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00"/>
                </a:solidFill>
              </a:rPr>
              <a:t>Stage 2</a:t>
            </a:r>
          </a:p>
        </p:txBody>
      </p:sp>
      <p:sp>
        <p:nvSpPr>
          <p:cNvPr id="19501" name="Text Box 56"/>
          <p:cNvSpPr txBox="1">
            <a:spLocks noChangeArrowheads="1"/>
          </p:cNvSpPr>
          <p:nvPr/>
        </p:nvSpPr>
        <p:spPr bwMode="auto">
          <a:xfrm>
            <a:off x="3886200" y="12954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00"/>
                </a:solidFill>
              </a:rPr>
              <a:t>Stage 3</a:t>
            </a:r>
          </a:p>
        </p:txBody>
      </p:sp>
      <p:sp>
        <p:nvSpPr>
          <p:cNvPr id="19502" name="Text Box 57"/>
          <p:cNvSpPr txBox="1">
            <a:spLocks noChangeArrowheads="1"/>
          </p:cNvSpPr>
          <p:nvPr/>
        </p:nvSpPr>
        <p:spPr bwMode="auto">
          <a:xfrm>
            <a:off x="4953000" y="12954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00"/>
                </a:solidFill>
              </a:rPr>
              <a:t>Stage 4</a:t>
            </a:r>
          </a:p>
        </p:txBody>
      </p:sp>
      <p:sp>
        <p:nvSpPr>
          <p:cNvPr id="19503" name="Text Box 58"/>
          <p:cNvSpPr txBox="1">
            <a:spLocks noChangeArrowheads="1"/>
          </p:cNvSpPr>
          <p:nvPr/>
        </p:nvSpPr>
        <p:spPr bwMode="auto">
          <a:xfrm>
            <a:off x="6096000" y="12954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00"/>
                </a:solidFill>
              </a:rPr>
              <a:t>Stage 5</a:t>
            </a:r>
          </a:p>
        </p:txBody>
      </p:sp>
      <p:sp>
        <p:nvSpPr>
          <p:cNvPr id="19504" name="Text Box 59"/>
          <p:cNvSpPr txBox="1">
            <a:spLocks noChangeArrowheads="1"/>
          </p:cNvSpPr>
          <p:nvPr/>
        </p:nvSpPr>
        <p:spPr bwMode="auto">
          <a:xfrm>
            <a:off x="7239000" y="1295400"/>
            <a:ext cx="762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000" b="1">
                <a:solidFill>
                  <a:srgbClr val="006600"/>
                </a:solidFill>
              </a:rPr>
              <a:t>Stage 6</a:t>
            </a:r>
          </a:p>
        </p:txBody>
      </p:sp>
      <p:sp>
        <p:nvSpPr>
          <p:cNvPr id="19505" name="Text Box 60"/>
          <p:cNvSpPr txBox="1">
            <a:spLocks noChangeArrowheads="1"/>
          </p:cNvSpPr>
          <p:nvPr/>
        </p:nvSpPr>
        <p:spPr bwMode="auto">
          <a:xfrm>
            <a:off x="1752600" y="3613150"/>
            <a:ext cx="76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1. Crisis of leadership </a:t>
            </a:r>
          </a:p>
        </p:txBody>
      </p:sp>
      <p:sp>
        <p:nvSpPr>
          <p:cNvPr id="19506" name="Text Box 61"/>
          <p:cNvSpPr txBox="1">
            <a:spLocks noChangeArrowheads="1"/>
          </p:cNvSpPr>
          <p:nvPr/>
        </p:nvSpPr>
        <p:spPr bwMode="auto">
          <a:xfrm>
            <a:off x="2819400" y="3079750"/>
            <a:ext cx="76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2. Crisis of autonomy </a:t>
            </a:r>
          </a:p>
        </p:txBody>
      </p:sp>
      <p:sp>
        <p:nvSpPr>
          <p:cNvPr id="19507" name="Text Box 62"/>
          <p:cNvSpPr txBox="1">
            <a:spLocks noChangeArrowheads="1"/>
          </p:cNvSpPr>
          <p:nvPr/>
        </p:nvSpPr>
        <p:spPr bwMode="auto">
          <a:xfrm>
            <a:off x="3962400" y="2606675"/>
            <a:ext cx="762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3. Crisis of control </a:t>
            </a:r>
          </a:p>
        </p:txBody>
      </p:sp>
      <p:sp>
        <p:nvSpPr>
          <p:cNvPr id="19508" name="Text Box 63"/>
          <p:cNvSpPr txBox="1">
            <a:spLocks noChangeArrowheads="1"/>
          </p:cNvSpPr>
          <p:nvPr/>
        </p:nvSpPr>
        <p:spPr bwMode="auto">
          <a:xfrm>
            <a:off x="5105400" y="2165350"/>
            <a:ext cx="76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4. Crisis of red-tape</a:t>
            </a:r>
          </a:p>
        </p:txBody>
      </p:sp>
      <p:sp>
        <p:nvSpPr>
          <p:cNvPr id="19509" name="Line 64"/>
          <p:cNvSpPr>
            <a:spLocks noChangeShapeType="1"/>
          </p:cNvSpPr>
          <p:nvPr/>
        </p:nvSpPr>
        <p:spPr bwMode="auto">
          <a:xfrm flipV="1">
            <a:off x="7086600" y="22098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510" name="Line 65"/>
          <p:cNvSpPr>
            <a:spLocks noChangeShapeType="1"/>
          </p:cNvSpPr>
          <p:nvPr/>
        </p:nvSpPr>
        <p:spPr bwMode="auto">
          <a:xfrm>
            <a:off x="7239000" y="2209800"/>
            <a:ext cx="152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511" name="Line 66"/>
          <p:cNvSpPr>
            <a:spLocks noChangeShapeType="1"/>
          </p:cNvSpPr>
          <p:nvPr/>
        </p:nvSpPr>
        <p:spPr bwMode="auto">
          <a:xfrm>
            <a:off x="7391400" y="2286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512" name="Text Box 67"/>
          <p:cNvSpPr txBox="1">
            <a:spLocks noChangeArrowheads="1"/>
          </p:cNvSpPr>
          <p:nvPr/>
        </p:nvSpPr>
        <p:spPr bwMode="auto">
          <a:xfrm>
            <a:off x="6324600" y="1844675"/>
            <a:ext cx="762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5. Crisis of ?? </a:t>
            </a:r>
          </a:p>
        </p:txBody>
      </p:sp>
      <p:sp>
        <p:nvSpPr>
          <p:cNvPr id="19513" name="Line 68"/>
          <p:cNvSpPr>
            <a:spLocks noChangeShapeType="1"/>
          </p:cNvSpPr>
          <p:nvPr/>
        </p:nvSpPr>
        <p:spPr bwMode="auto">
          <a:xfrm>
            <a:off x="2133600" y="4191000"/>
            <a:ext cx="304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14" name="Line 69"/>
          <p:cNvSpPr>
            <a:spLocks noChangeShapeType="1"/>
          </p:cNvSpPr>
          <p:nvPr/>
        </p:nvSpPr>
        <p:spPr bwMode="auto">
          <a:xfrm>
            <a:off x="3124200" y="35814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15" name="Line 70"/>
          <p:cNvSpPr>
            <a:spLocks noChangeShapeType="1"/>
          </p:cNvSpPr>
          <p:nvPr/>
        </p:nvSpPr>
        <p:spPr bwMode="auto">
          <a:xfrm>
            <a:off x="4267200" y="29718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16" name="Line 71"/>
          <p:cNvSpPr>
            <a:spLocks noChangeShapeType="1"/>
          </p:cNvSpPr>
          <p:nvPr/>
        </p:nvSpPr>
        <p:spPr bwMode="auto">
          <a:xfrm>
            <a:off x="5486400" y="2514600"/>
            <a:ext cx="381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17" name="Line 72"/>
          <p:cNvSpPr>
            <a:spLocks noChangeShapeType="1"/>
          </p:cNvSpPr>
          <p:nvPr/>
        </p:nvSpPr>
        <p:spPr bwMode="auto">
          <a:xfrm>
            <a:off x="6781800" y="2133600"/>
            <a:ext cx="3048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18" name="Text Box 73"/>
          <p:cNvSpPr txBox="1">
            <a:spLocks noChangeArrowheads="1"/>
          </p:cNvSpPr>
          <p:nvPr/>
        </p:nvSpPr>
        <p:spPr bwMode="auto">
          <a:xfrm>
            <a:off x="1981200" y="4953000"/>
            <a:ext cx="76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Growth thru’ creativity </a:t>
            </a:r>
          </a:p>
        </p:txBody>
      </p:sp>
      <p:sp>
        <p:nvSpPr>
          <p:cNvPr id="19519" name="Text Box 74"/>
          <p:cNvSpPr txBox="1">
            <a:spLocks noChangeArrowheads="1"/>
          </p:cNvSpPr>
          <p:nvPr/>
        </p:nvSpPr>
        <p:spPr bwMode="auto">
          <a:xfrm>
            <a:off x="2971800" y="4648200"/>
            <a:ext cx="76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Growth thru’ direction </a:t>
            </a:r>
          </a:p>
        </p:txBody>
      </p:sp>
      <p:sp>
        <p:nvSpPr>
          <p:cNvPr id="19520" name="Text Box 75"/>
          <p:cNvSpPr txBox="1">
            <a:spLocks noChangeArrowheads="1"/>
          </p:cNvSpPr>
          <p:nvPr/>
        </p:nvSpPr>
        <p:spPr bwMode="auto">
          <a:xfrm>
            <a:off x="3962400" y="4070350"/>
            <a:ext cx="762000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Growth thru’ delegation</a:t>
            </a:r>
          </a:p>
        </p:txBody>
      </p:sp>
      <p:sp>
        <p:nvSpPr>
          <p:cNvPr id="19521" name="Text Box 76"/>
          <p:cNvSpPr txBox="1">
            <a:spLocks noChangeArrowheads="1"/>
          </p:cNvSpPr>
          <p:nvPr/>
        </p:nvSpPr>
        <p:spPr bwMode="auto">
          <a:xfrm>
            <a:off x="5029200" y="3505200"/>
            <a:ext cx="914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Growth thru’ coordination</a:t>
            </a:r>
          </a:p>
        </p:txBody>
      </p:sp>
      <p:sp>
        <p:nvSpPr>
          <p:cNvPr id="19522" name="Text Box 77"/>
          <p:cNvSpPr txBox="1">
            <a:spLocks noChangeArrowheads="1"/>
          </p:cNvSpPr>
          <p:nvPr/>
        </p:nvSpPr>
        <p:spPr bwMode="auto">
          <a:xfrm>
            <a:off x="6172200" y="3048000"/>
            <a:ext cx="990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900" b="1" i="1"/>
              <a:t>Growth thru’ collaboration </a:t>
            </a:r>
          </a:p>
        </p:txBody>
      </p:sp>
      <p:sp>
        <p:nvSpPr>
          <p:cNvPr id="19523" name="Line 78"/>
          <p:cNvSpPr>
            <a:spLocks noChangeShapeType="1"/>
          </p:cNvSpPr>
          <p:nvPr/>
        </p:nvSpPr>
        <p:spPr bwMode="auto">
          <a:xfrm flipH="1" flipV="1">
            <a:off x="2133600" y="48006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24" name="Line 79"/>
          <p:cNvSpPr>
            <a:spLocks noChangeShapeType="1"/>
          </p:cNvSpPr>
          <p:nvPr/>
        </p:nvSpPr>
        <p:spPr bwMode="auto">
          <a:xfrm flipH="1" flipV="1">
            <a:off x="3200400" y="43434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25" name="Line 80"/>
          <p:cNvSpPr>
            <a:spLocks noChangeShapeType="1"/>
          </p:cNvSpPr>
          <p:nvPr/>
        </p:nvSpPr>
        <p:spPr bwMode="auto">
          <a:xfrm flipH="1" flipV="1">
            <a:off x="4191000" y="3733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26" name="Line 81"/>
          <p:cNvSpPr>
            <a:spLocks noChangeShapeType="1"/>
          </p:cNvSpPr>
          <p:nvPr/>
        </p:nvSpPr>
        <p:spPr bwMode="auto">
          <a:xfrm flipH="1" flipV="1">
            <a:off x="5486400" y="32004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9527" name="Line 82"/>
          <p:cNvSpPr>
            <a:spLocks noChangeShapeType="1"/>
          </p:cNvSpPr>
          <p:nvPr/>
        </p:nvSpPr>
        <p:spPr bwMode="auto">
          <a:xfrm flipH="1" flipV="1">
            <a:off x="6705600" y="26670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200" b="1" dirty="0" smtClean="0">
                <a:latin typeface="Arial Rounded MT Bold" pitchFamily="34" charset="0"/>
              </a:rPr>
              <a:t>The changing paradigm of organization design: </a:t>
            </a:r>
            <a:br>
              <a:rPr lang="en-US" sz="2200" b="1" dirty="0" smtClean="0">
                <a:latin typeface="Arial Rounded MT Bold" pitchFamily="34" charset="0"/>
              </a:rPr>
            </a:br>
            <a:r>
              <a:rPr lang="en-US" sz="2000" b="1" i="1" dirty="0" smtClean="0"/>
              <a:t>from efficient performance to learning organization</a:t>
            </a:r>
            <a:r>
              <a:rPr lang="en-US" sz="2400" b="1" dirty="0" smtClean="0"/>
              <a:t>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3000" dirty="0" smtClean="0">
                <a:latin typeface="Tahoma" pitchFamily="34" charset="0"/>
              </a:rPr>
              <a:t>From vertical to horizontal structure</a:t>
            </a:r>
          </a:p>
          <a:p>
            <a:pPr eaLnBrk="1" hangingPunct="1">
              <a:lnSpc>
                <a:spcPct val="80000"/>
              </a:lnSpc>
            </a:pPr>
            <a:endParaRPr lang="en-US" sz="3000" dirty="0" smtClean="0">
              <a:latin typeface="Tahom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3000" dirty="0" smtClean="0">
                <a:latin typeface="Tahoma" pitchFamily="34" charset="0"/>
              </a:rPr>
              <a:t>From routine tasks to empowered roles </a:t>
            </a:r>
          </a:p>
          <a:p>
            <a:pPr eaLnBrk="1" hangingPunct="1">
              <a:lnSpc>
                <a:spcPct val="80000"/>
              </a:lnSpc>
            </a:pPr>
            <a:endParaRPr lang="en-US" sz="3000" dirty="0" smtClean="0">
              <a:latin typeface="Tahom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3000" dirty="0" smtClean="0">
                <a:latin typeface="Tahoma" pitchFamily="34" charset="0"/>
              </a:rPr>
              <a:t>From formal control systems to shared information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i="1" dirty="0" smtClean="0">
                <a:latin typeface="Tahoma" pitchFamily="34" charset="0"/>
              </a:rPr>
              <a:t>‘Learning’ organization       ‘teaching’ organization</a:t>
            </a:r>
          </a:p>
          <a:p>
            <a:pPr eaLnBrk="1" hangingPunct="1">
              <a:lnSpc>
                <a:spcPct val="80000"/>
              </a:lnSpc>
            </a:pPr>
            <a:endParaRPr lang="en-US" sz="1800" i="1" dirty="0" smtClean="0">
              <a:latin typeface="Tahom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3000" dirty="0" smtClean="0">
                <a:latin typeface="Tahoma" pitchFamily="34" charset="0"/>
              </a:rPr>
              <a:t>From competitive to collaborative strategy</a:t>
            </a:r>
          </a:p>
          <a:p>
            <a:pPr eaLnBrk="1" hangingPunct="1">
              <a:lnSpc>
                <a:spcPct val="80000"/>
              </a:lnSpc>
            </a:pPr>
            <a:endParaRPr lang="en-US" sz="3000" dirty="0" smtClean="0">
              <a:latin typeface="Tahoma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3000" dirty="0" smtClean="0">
                <a:latin typeface="Tahoma" pitchFamily="34" charset="0"/>
              </a:rPr>
              <a:t>From rigid to adaptive culture</a:t>
            </a:r>
            <a:r>
              <a:rPr lang="en-US" sz="2200" dirty="0" smtClean="0">
                <a:latin typeface="Tahoma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endParaRPr lang="en-US" sz="2200" dirty="0" smtClean="0">
              <a:latin typeface="Tahoma" pitchFamily="34" charset="0"/>
            </a:endParaRPr>
          </a:p>
        </p:txBody>
      </p:sp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3581400" y="40386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921</TotalTime>
  <Words>960</Words>
  <Application>Microsoft Office PowerPoint</Application>
  <PresentationFormat>On-screen Show (4:3)</PresentationFormat>
  <Paragraphs>295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Batang</vt:lpstr>
      <vt:lpstr>Arial</vt:lpstr>
      <vt:lpstr>Arial Narrow</vt:lpstr>
      <vt:lpstr>Arial Rounded MT Bold</vt:lpstr>
      <vt:lpstr>Calibri</vt:lpstr>
      <vt:lpstr>Century Gothic</vt:lpstr>
      <vt:lpstr>Palatino Linotype</vt:lpstr>
      <vt:lpstr>Tahoma</vt:lpstr>
      <vt:lpstr>Times New Roman</vt:lpstr>
      <vt:lpstr>Wingdings</vt:lpstr>
      <vt:lpstr>Office Theme</vt:lpstr>
      <vt:lpstr>Organizational Structure and Design: an Introduction</vt:lpstr>
      <vt:lpstr>What is an Organization? </vt:lpstr>
      <vt:lpstr>Organization </vt:lpstr>
      <vt:lpstr>Organizational Structure </vt:lpstr>
      <vt:lpstr>Organizational Structure</vt:lpstr>
      <vt:lpstr>PowerPoint Presentation</vt:lpstr>
      <vt:lpstr>Components of Organizational Structure</vt:lpstr>
      <vt:lpstr>Organizational Complexity</vt:lpstr>
      <vt:lpstr>Organizational Design and Theory</vt:lpstr>
      <vt:lpstr>PowerPoint Presentation</vt:lpstr>
      <vt:lpstr>The Organization</vt:lpstr>
      <vt:lpstr>Why organizations exist?</vt:lpstr>
      <vt:lpstr>PowerPoint Presentation</vt:lpstr>
      <vt:lpstr>Creating Value</vt:lpstr>
      <vt:lpstr>How an organization creates value</vt:lpstr>
      <vt:lpstr>Perspectives on Organizations</vt:lpstr>
      <vt:lpstr>Systems Perspective</vt:lpstr>
      <vt:lpstr>The Closed System</vt:lpstr>
      <vt:lpstr>Open systems</vt:lpstr>
      <vt:lpstr>   The organization as an open system  </vt:lpstr>
      <vt:lpstr>An Industrial Organization as an Open System        </vt:lpstr>
      <vt:lpstr>Characteristics of an Open System</vt:lpstr>
      <vt:lpstr>The life-cycle perspective</vt:lpstr>
      <vt:lpstr>Organizational Life Cycle</vt:lpstr>
      <vt:lpstr>Stages of corporate lifecycle:Adizes</vt:lpstr>
      <vt:lpstr>Greiner’s Model of Organizational Growth</vt:lpstr>
      <vt:lpstr>The changing paradigm of organization design:  from efficient performance to learning organization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Organizational Structure and Design: an Introduction</dc:title>
  <dc:creator>MP GANESH</dc:creator>
  <cp:lastModifiedBy>Ganesh</cp:lastModifiedBy>
  <cp:revision>45</cp:revision>
  <dcterms:created xsi:type="dcterms:W3CDTF">2006-08-16T00:00:00Z</dcterms:created>
  <dcterms:modified xsi:type="dcterms:W3CDTF">2017-08-08T10:01:09Z</dcterms:modified>
</cp:coreProperties>
</file>