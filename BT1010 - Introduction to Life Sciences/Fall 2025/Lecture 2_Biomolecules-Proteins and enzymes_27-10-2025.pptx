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7077075" cy="93630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94BhJQmIbX5SylRErxkDRN/Eq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66733" cy="46978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08705" y="0"/>
            <a:ext cx="3066733" cy="46978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28663" y="1169988"/>
            <a:ext cx="5619750" cy="31607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93297"/>
            <a:ext cx="3066733" cy="469779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28663" y="1169988"/>
            <a:ext cx="5619750" cy="31607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3a4eff4dd_0_37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113a4eff4dd_0_37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113a4eff4dd_0_37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48fdd5ca1_0_0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1248fdd5ca1_0_0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d3f1125c0_0_1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11d3f1125c0_0_1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11d3f1125c0_0_1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d3f1125c0_0_18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11d3f1125c0_0_18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11d3f1125c0_0_18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d3f1125c0_0_9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11d3f1125c0_0_9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11d3f1125c0_0_9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d3f1125c0_0_30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11d3f1125c0_0_30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11d3f1125c0_0_30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d3f1125c0_0_44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11d3f1125c0_0_44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11d3f1125c0_0_44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d3f1125c0_0_56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11d3f1125c0_0_56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11d3f1125c0_0_56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1d3f1125c0_0_65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11d3f1125c0_0_65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11d3f1125c0_0_65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1d3f1125c0_0_75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11d3f1125c0_0_75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1d3f1125c0_0_75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1d3f1125c0_0_82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11d3f1125c0_0_82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11d3f1125c0_0_82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d3f1125c0_0_90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11d3f1125c0_0_90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11d3f1125c0_0_90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f2afff05d_0_4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f2afff05d_0_4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2ff2afff05d_0_4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d3f1125c0_0_102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11d3f1125c0_0_102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11d3f1125c0_0_102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921fdd4798_0_0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2921fdd4798_0_0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921fdd4798_0_8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921fdd4798_0_8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921fdd4798_0_8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21fdd4798_0_15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21fdd4798_0_15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921fdd4798_0_15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921fdd4798_0_22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921fdd4798_0_22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921fdd4798_0_22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21fdd4798_0_31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21fdd4798_0_31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2921fdd4798_0_31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921fdd4798_0_44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921fdd4798_0_44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921fdd4798_0_44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21fdd4798_0_53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921fdd4798_0_53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921fdd4798_0_53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921fdd4798_0_67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921fdd4798_0_67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921fdd4798_0_67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921fdd4798_0_77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921fdd4798_0_77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921fdd4798_0_77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921fdd4798_0_85:notes"/>
          <p:cNvSpPr/>
          <p:nvPr>
            <p:ph idx="2" type="sldImg"/>
          </p:nvPr>
        </p:nvSpPr>
        <p:spPr>
          <a:xfrm>
            <a:off x="728663" y="1169988"/>
            <a:ext cx="5619900" cy="316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921fdd4798_0_85:notes"/>
          <p:cNvSpPr txBox="1"/>
          <p:nvPr>
            <p:ph idx="1" type="body"/>
          </p:nvPr>
        </p:nvSpPr>
        <p:spPr>
          <a:xfrm>
            <a:off x="707708" y="4505980"/>
            <a:ext cx="5661600" cy="3686700"/>
          </a:xfrm>
          <a:prstGeom prst="rect">
            <a:avLst/>
          </a:prstGeom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921fdd4798_0_85:notes"/>
          <p:cNvSpPr txBox="1"/>
          <p:nvPr>
            <p:ph idx="12" type="sldNum"/>
          </p:nvPr>
        </p:nvSpPr>
        <p:spPr>
          <a:xfrm>
            <a:off x="4008705" y="8893297"/>
            <a:ext cx="3066600" cy="469800"/>
          </a:xfrm>
          <a:prstGeom prst="rect">
            <a:avLst/>
          </a:prstGeom>
        </p:spPr>
        <p:txBody>
          <a:bodyPr anchorCtr="0" anchor="b" bIns="46950" lIns="93925" spcFirstLastPara="1" rIns="93925" wrap="square" tIns="46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728663" y="1169988"/>
            <a:ext cx="5619750" cy="31607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hyperlink" Target="mailto:gunjanmehta@bt.iith.ac.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en.wikipedia.org/wiki/Prosthetic_group" TargetMode="External"/><Relationship Id="rId10" Type="http://schemas.openxmlformats.org/officeDocument/2006/relationships/hyperlink" Target="https://en.wikipedia.org/wiki/Prosthetic_group" TargetMode="External"/><Relationship Id="rId13" Type="http://schemas.openxmlformats.org/officeDocument/2006/relationships/hyperlink" Target="https://en.wikipedia.org/wiki/Heme_group" TargetMode="External"/><Relationship Id="rId12" Type="http://schemas.openxmlformats.org/officeDocument/2006/relationships/hyperlink" Target="https://en.wikipedia.org/wiki/Heme_group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hyperlink" Target="https://en.wikipedia.org/wiki/Myoglobin" TargetMode="External"/><Relationship Id="rId9" Type="http://schemas.openxmlformats.org/officeDocument/2006/relationships/hyperlink" Target="https://en.wikipedia.org/wiki/X-ray_crystallography" TargetMode="External"/><Relationship Id="rId15" Type="http://schemas.openxmlformats.org/officeDocument/2006/relationships/hyperlink" Target="https://www.youtube.com/watch?v=y-uuk4Pr2i8" TargetMode="External"/><Relationship Id="rId14" Type="http://schemas.openxmlformats.org/officeDocument/2006/relationships/image" Target="../media/image6.png"/><Relationship Id="rId16" Type="http://schemas.openxmlformats.org/officeDocument/2006/relationships/hyperlink" Target="https://www.youtube.com/watch?v=wJyUtbn0O5Y" TargetMode="External"/><Relationship Id="rId5" Type="http://schemas.openxmlformats.org/officeDocument/2006/relationships/hyperlink" Target="https://en.wikipedia.org/wiki/Myoglobin" TargetMode="External"/><Relationship Id="rId6" Type="http://schemas.openxmlformats.org/officeDocument/2006/relationships/hyperlink" Target="https://en.wikipedia.org/wiki/Alpha_helix" TargetMode="External"/><Relationship Id="rId7" Type="http://schemas.openxmlformats.org/officeDocument/2006/relationships/hyperlink" Target="https://en.wikipedia.org/wiki/Alpha_helix" TargetMode="External"/><Relationship Id="rId8" Type="http://schemas.openxmlformats.org/officeDocument/2006/relationships/hyperlink" Target="https://en.wikipedia.org/wiki/X-ray_crystallograph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35.png"/><Relationship Id="rId6" Type="http://schemas.openxmlformats.org/officeDocument/2006/relationships/image" Target="../media/image25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50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hyperlink" Target="https://en.wikipedia.org/wiki/John_M._Jumper#cite_note-afold-5" TargetMode="External"/><Relationship Id="rId10" Type="http://schemas.openxmlformats.org/officeDocument/2006/relationships/hyperlink" Target="https://en.wikipedia.org/wiki/AlphaFold" TargetMode="External"/><Relationship Id="rId13" Type="http://schemas.openxmlformats.org/officeDocument/2006/relationships/hyperlink" Target="https://en.wikipedia.org/wiki/Artificial_intelligence" TargetMode="External"/><Relationship Id="rId12" Type="http://schemas.openxmlformats.org/officeDocument/2006/relationships/hyperlink" Target="https://en.wikipedia.org/wiki/Artificial_intelligenc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Relationship Id="rId4" Type="http://schemas.openxmlformats.org/officeDocument/2006/relationships/hyperlink" Target="https://en.wikipedia.org/wiki/DeepMind" TargetMode="External"/><Relationship Id="rId9" Type="http://schemas.openxmlformats.org/officeDocument/2006/relationships/hyperlink" Target="https://en.wikipedia.org/wiki/AlphaFold" TargetMode="External"/><Relationship Id="rId15" Type="http://schemas.openxmlformats.org/officeDocument/2006/relationships/hyperlink" Target="https://en.wikipedia.org/wiki/Protein_structure" TargetMode="External"/><Relationship Id="rId14" Type="http://schemas.openxmlformats.org/officeDocument/2006/relationships/hyperlink" Target="https://en.wikipedia.org/wiki/Protein_structure" TargetMode="External"/><Relationship Id="rId17" Type="http://schemas.openxmlformats.org/officeDocument/2006/relationships/hyperlink" Target="https://en.wikipedia.org/wiki/Amino_acid_sequence" TargetMode="External"/><Relationship Id="rId16" Type="http://schemas.openxmlformats.org/officeDocument/2006/relationships/hyperlink" Target="https://en.wikipedia.org/wiki/Amino_acid_sequence" TargetMode="External"/><Relationship Id="rId5" Type="http://schemas.openxmlformats.org/officeDocument/2006/relationships/hyperlink" Target="https://en.wikipedia.org/wiki/DeepMind" TargetMode="External"/><Relationship Id="rId6" Type="http://schemas.openxmlformats.org/officeDocument/2006/relationships/hyperlink" Target="https://en.wikipedia.org/wiki/John_M._Jumper#cite_note-gs-2" TargetMode="External"/><Relationship Id="rId7" Type="http://schemas.openxmlformats.org/officeDocument/2006/relationships/hyperlink" Target="https://en.wikipedia.org/wiki/John_M._Jumper#cite_note-epmc-3" TargetMode="External"/><Relationship Id="rId8" Type="http://schemas.openxmlformats.org/officeDocument/2006/relationships/hyperlink" Target="https://en.wikipedia.org/wiki/John_M._Jumper#cite_note-4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27.png"/><Relationship Id="rId5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46.png"/><Relationship Id="rId7" Type="http://schemas.openxmlformats.org/officeDocument/2006/relationships/image" Target="../media/image4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15825"/>
            <a:ext cx="6808025" cy="46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-1" y="0"/>
            <a:ext cx="121919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BT1010 Introduction to Life Sciences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6070200" y="4840800"/>
            <a:ext cx="5131200" cy="1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Course Instructor: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Dr. Gunjan Mehta, Ph.D.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BT314, 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Department of Biotechnology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IIT Hyderabad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(M.) +91 70168 96886 Email: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gunjanmehta@bt.iith.ac.in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78100" y="2373375"/>
            <a:ext cx="751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2: Biomolecules: Proteins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Enzymes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113a4eff4dd_0_37"/>
          <p:cNvPicPr preferRelativeResize="0"/>
          <p:nvPr/>
        </p:nvPicPr>
        <p:blipFill rotWithShape="1">
          <a:blip r:embed="rId3">
            <a:alphaModFix/>
          </a:blip>
          <a:srcRect b="5005" l="0" r="0" t="0"/>
          <a:stretch/>
        </p:blipFill>
        <p:spPr>
          <a:xfrm>
            <a:off x="218992" y="-3175"/>
            <a:ext cx="1173068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13a4eff4dd_0_37"/>
          <p:cNvSpPr txBox="1"/>
          <p:nvPr>
            <p:ph idx="1" type="body"/>
          </p:nvPr>
        </p:nvSpPr>
        <p:spPr>
          <a:xfrm>
            <a:off x="4648200" y="-3175"/>
            <a:ext cx="68799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7500">
                <a:latin typeface="Times New Roman"/>
                <a:ea typeface="Times New Roman"/>
                <a:cs typeface="Times New Roman"/>
                <a:sym typeface="Times New Roman"/>
              </a:rPr>
              <a:t>Proteins</a:t>
            </a:r>
            <a:endParaRPr b="1" sz="7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248fdd5ca1_0_0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biomolecules that we eat.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g1248fdd5ca1_0_0"/>
          <p:cNvPicPr preferRelativeResize="0"/>
          <p:nvPr/>
        </p:nvPicPr>
        <p:blipFill rotWithShape="1">
          <a:blip r:embed="rId3">
            <a:alphaModFix/>
          </a:blip>
          <a:srcRect b="20271" l="0" r="0" t="20644"/>
          <a:stretch/>
        </p:blipFill>
        <p:spPr>
          <a:xfrm>
            <a:off x="2007400" y="1344150"/>
            <a:ext cx="3665124" cy="216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1248fdd5ca1_0_0"/>
          <p:cNvPicPr preferRelativeResize="0"/>
          <p:nvPr/>
        </p:nvPicPr>
        <p:blipFill rotWithShape="1">
          <a:blip r:embed="rId4">
            <a:alphaModFix/>
          </a:blip>
          <a:srcRect b="0" l="24152" r="43964" t="0"/>
          <a:stretch/>
        </p:blipFill>
        <p:spPr>
          <a:xfrm>
            <a:off x="64625" y="495375"/>
            <a:ext cx="2028510" cy="63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1248fdd5ca1_0_0"/>
          <p:cNvSpPr txBox="1"/>
          <p:nvPr/>
        </p:nvSpPr>
        <p:spPr>
          <a:xfrm>
            <a:off x="2007400" y="4828800"/>
            <a:ext cx="8630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gm of carbohydrates provide 4 calories.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gm of proteins provide 4 calories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gm of fats/lipids provide 9 calories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Nutritional calorie is the equivalent of the kilocalorie used by chemists and biochemists. So, 65 calorie diet is the equivalent of a 65 kcal diet.</a:t>
            </a:r>
            <a:endParaRPr b="0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g1248fdd5ca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2300" y="517525"/>
            <a:ext cx="3603925" cy="36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1248fdd5ca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2525" y="517525"/>
            <a:ext cx="2859775" cy="285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1248fdd5ca1_0_0"/>
          <p:cNvSpPr txBox="1"/>
          <p:nvPr/>
        </p:nvSpPr>
        <p:spPr>
          <a:xfrm>
            <a:off x="2411175" y="35096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16.2 gm x 4 = 65 cal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g1248fdd5ca1_0_0"/>
          <p:cNvSpPr txBox="1"/>
          <p:nvPr/>
        </p:nvSpPr>
        <p:spPr>
          <a:xfrm>
            <a:off x="8734675" y="4071950"/>
            <a:ext cx="3000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46.10 gm x 4 = 184.4 cal 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8.68 gm x 4 = 34.72 cal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38.12 gm x 9 = 343.08 cal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562 cal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1248fdd5ca1_0_0"/>
          <p:cNvSpPr/>
          <p:nvPr/>
        </p:nvSpPr>
        <p:spPr>
          <a:xfrm>
            <a:off x="11178875" y="808775"/>
            <a:ext cx="864300" cy="310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248fdd5ca1_0_0"/>
          <p:cNvSpPr/>
          <p:nvPr/>
        </p:nvSpPr>
        <p:spPr>
          <a:xfrm>
            <a:off x="2944350" y="2164388"/>
            <a:ext cx="864300" cy="310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11d3f1125c0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4666968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11d3f1125c0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1768" y="1752600"/>
            <a:ext cx="70199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1d3f1125c0_0_18"/>
          <p:cNvSpPr txBox="1"/>
          <p:nvPr>
            <p:ph idx="1" type="body"/>
          </p:nvPr>
        </p:nvSpPr>
        <p:spPr>
          <a:xfrm>
            <a:off x="390225" y="419475"/>
            <a:ext cx="11247900" cy="57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are large biomolecules and macromolecules that comprise long chains of 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amino acids,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by the peptide bond.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Proteins perform a vast number of functions in our body such as catalysing metabolic reactions, DNA replication, providing structural support to the cells, transporting molecules.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Proteins are nanomachines of the cells.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11d3f1125c0_0_18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proteins?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g11d3f1125c0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1675" y="2926472"/>
            <a:ext cx="3844000" cy="38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1d3f1125c0_0_18"/>
          <p:cNvSpPr txBox="1"/>
          <p:nvPr/>
        </p:nvSpPr>
        <p:spPr>
          <a:xfrm>
            <a:off x="12192000" y="4448425"/>
            <a:ext cx="3000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representation of the 3D structure of the protein</a:t>
            </a:r>
            <a:r>
              <a:rPr b="0" i="0" lang="en-US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myoglobin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showing turquoise</a:t>
            </a:r>
            <a:r>
              <a:rPr b="0" i="0" lang="en-US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α-helices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This protein was the first to have its structure solved by</a:t>
            </a:r>
            <a:r>
              <a:rPr b="0" i="0" lang="en-US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X-ray crystallography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Toward the right-center among the coils, a</a:t>
            </a:r>
            <a:r>
              <a:rPr b="0" i="0" lang="en-US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prosthetic group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called a</a:t>
            </a:r>
            <a:r>
              <a:rPr b="0" i="0" lang="en-US" sz="11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heme group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(shown in gray) with a bound oxygen molecule (red).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11d3f1125c0_0_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9475" y="3035700"/>
            <a:ext cx="6237350" cy="38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11d3f1125c0_0_18"/>
          <p:cNvSpPr txBox="1"/>
          <p:nvPr/>
        </p:nvSpPr>
        <p:spPr>
          <a:xfrm>
            <a:off x="7167275" y="2095175"/>
            <a:ext cx="508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Motor protein walking on a microtubule: </a:t>
            </a:r>
            <a:r>
              <a:rPr lang="en-US" u="sng">
                <a:solidFill>
                  <a:schemeClr val="hlink"/>
                </a:solidFill>
                <a:hlinkClick r:id="rId15"/>
              </a:rPr>
              <a:t>https://www.youtube.com/watch?v=y-uuk4Pr2i8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16"/>
              </a:rPr>
              <a:t>https://www.youtube.com/watch?v=wJyUtbn0O5Y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1d3f1125c0_0_9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20 common amino acids of proteins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g11d3f1125c0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2400" y="439000"/>
            <a:ext cx="6894476" cy="641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11d3f1125c0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0" y="6030538"/>
            <a:ext cx="80391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1d3f1125c0_0_9"/>
          <p:cNvSpPr txBox="1"/>
          <p:nvPr>
            <p:ph idx="1" type="body"/>
          </p:nvPr>
        </p:nvSpPr>
        <p:spPr>
          <a:xfrm>
            <a:off x="203550" y="419475"/>
            <a:ext cx="5033700" cy="6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Amino acids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are organic compounds that contain amino (-NH3+) and carboxyl (-COO-) functional groups, along with a side chain (R group) specific to each amino acid.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They are classified based on their polarity, ionization and side chain group type (aliphatic, acyclic, aromatic).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Natural amino acids have the L configuration.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There are several 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Uncommon amino acids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such as 4-hydroxyproline, 5-hydroxylysin, 6-N-Methyllysine, Selenocystein. See page no. 82 in Lehninger.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d3f1125c0_0_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6" name="Google Shape;146;g11d3f1125c0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99086"/>
            <a:ext cx="12191999" cy="570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11d3f1125c0_0_30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standard amino acid abbreviations and properties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11d3f1125c0_0_30"/>
          <p:cNvSpPr txBox="1"/>
          <p:nvPr/>
        </p:nvSpPr>
        <p:spPr>
          <a:xfrm>
            <a:off x="19500" y="6428775"/>
            <a:ext cx="1212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d3f1125c0_0_44"/>
          <p:cNvSpPr txBox="1"/>
          <p:nvPr>
            <p:ph idx="1" type="body"/>
          </p:nvPr>
        </p:nvSpPr>
        <p:spPr>
          <a:xfrm>
            <a:off x="468250" y="517025"/>
            <a:ext cx="8672400" cy="5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Amino acids have two ionizable groups, the carboxyl group and the amino group.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you titrate with a strong base (NaOH), the plot shows two distinct stages, corresponding to deprotonation of two different groups of the amino acids.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pKa is a measure of the tendency of a group to give up a proton, with that tendency decreases tenfold as the pKa increases by one unit.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For Glycine, p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of COOH group is 2.34, whereas p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of NH2 group is 9.6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carboxyl group of 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glycine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is over 100 times more acidic (more easily ionized) than the carboxyl group of 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acetic acid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(p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= 4.76).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titration curve of glycine indicates that this amino acid has two regions of buffering power. One of these is the relatively flat portion of the curve, 1 pH unit on either side of the p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of 2.34 and the second one is near p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of 9.60.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11d3f1125c0_0_44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Amino Acids have characteristic titration curves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g11d3f1125c0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7325" y="0"/>
            <a:ext cx="2914675" cy="37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11d3f1125c0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1988" y="2889725"/>
            <a:ext cx="38766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11d3f1125c0_0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7967" y="3797400"/>
            <a:ext cx="2633708" cy="302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11d3f1125c0_0_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924300" y="6105513"/>
            <a:ext cx="39243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11d3f1125c0_0_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11038" y="6050988"/>
            <a:ext cx="38385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d3f1125c0_0_56"/>
          <p:cNvSpPr txBox="1"/>
          <p:nvPr>
            <p:ph idx="1" type="body"/>
          </p:nvPr>
        </p:nvSpPr>
        <p:spPr>
          <a:xfrm>
            <a:off x="614575" y="758825"/>
            <a:ext cx="10974600" cy="49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 pH 5.97, glycine is present predominantly as its dipolar form, fully ionized but with no net electrical charge.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characteristic pH at which the net electric charge is zero is called the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isoelectric point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isoelectric pH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designated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At this pH, the amino acid exists in its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zwitterionic form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However, amino acids differ in their acid-base properties, based on the ionization capacity of the R group. The titration curve of all the amino acids are not the same. See page no. 84-85 in Lehninger. Titration curves for glutamate and histidine.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11d3f1125c0_0_56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Titration curve predict the electric charge of amino acids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g11d3f1125c0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9950" y="2902225"/>
            <a:ext cx="656272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1d3f1125c0_0_65"/>
          <p:cNvSpPr txBox="1"/>
          <p:nvPr>
            <p:ph idx="1" type="body"/>
          </p:nvPr>
        </p:nvSpPr>
        <p:spPr>
          <a:xfrm>
            <a:off x="838200" y="4540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Amino acids are linked together by the peptide bond to form a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peptide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(two/three/four/five amino acids)/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oligopeptide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(a few amino acids)/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polypeptide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(many amino acids)/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protein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(thousands of amino acids).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11d3f1125c0_0_65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Peptides and Proteins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g11d3f1125c0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500" y="2838800"/>
            <a:ext cx="4722549" cy="39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11d3f1125c0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5675" y="3560150"/>
            <a:ext cx="5905501" cy="27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1d3f1125c0_0_65"/>
          <p:cNvSpPr txBox="1"/>
          <p:nvPr/>
        </p:nvSpPr>
        <p:spPr>
          <a:xfrm>
            <a:off x="7027600" y="3159425"/>
            <a:ext cx="47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pentapeptide, Ser-Gly-Tyr-Ala-Leu, or SGYAL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d3f1125c0_0_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5" name="Google Shape;185;g11d3f1125c0_0_7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6" name="Google Shape;186;g11d3f1125c0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551" y="0"/>
            <a:ext cx="1121689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d3f1125c0_0_82"/>
          <p:cNvSpPr txBox="1"/>
          <p:nvPr>
            <p:ph idx="1" type="body"/>
          </p:nvPr>
        </p:nvSpPr>
        <p:spPr>
          <a:xfrm>
            <a:off x="838200" y="614575"/>
            <a:ext cx="10515600" cy="5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Some proteins contain chemical groups other than amino acids. This chemical group is known as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prosthetic group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11d3f1125c0_0_82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Prosthetic group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g11d3f1125c0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00350"/>
            <a:ext cx="7341650" cy="3607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moglobin: Structure, Types, Functions, Diseases" id="195" name="Google Shape;195;g11d3f1125c0_0_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0500" y="2451625"/>
            <a:ext cx="4581524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11d3f1125c0_0_90"/>
          <p:cNvPicPr preferRelativeResize="0"/>
          <p:nvPr/>
        </p:nvPicPr>
        <p:blipFill rotWithShape="1">
          <a:blip r:embed="rId3">
            <a:alphaModFix/>
          </a:blip>
          <a:srcRect b="8053" l="0" r="0" t="0"/>
          <a:stretch/>
        </p:blipFill>
        <p:spPr>
          <a:xfrm>
            <a:off x="381025" y="4350875"/>
            <a:ext cx="3967375" cy="23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11d3f1125c0_0_90"/>
          <p:cNvSpPr txBox="1"/>
          <p:nvPr>
            <p:ph idx="1" type="body"/>
          </p:nvPr>
        </p:nvSpPr>
        <p:spPr>
          <a:xfrm>
            <a:off x="439000" y="478000"/>
            <a:ext cx="11433300" cy="6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structure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the linear sequence of amino acids: Gly-Ala-Lys-Trp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structure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stable arrangement of amino acids giving rise to recurring structural patterns, such as α-helix and β-sheet.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Tertiary structure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three-dimensional folding of a polypeptide chain.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Quaternary structure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when a protein has two or more polypeptide chains, their arrangement in space.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11d3f1125c0_0_90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structure of proteins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g11d3f1125c0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825" y="3746000"/>
            <a:ext cx="6172251" cy="309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11d3f1125c0_0_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1988" y="3152638"/>
            <a:ext cx="5076825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11d3f1125c0_0_90"/>
          <p:cNvSpPr txBox="1"/>
          <p:nvPr/>
        </p:nvSpPr>
        <p:spPr>
          <a:xfrm>
            <a:off x="813050" y="6251825"/>
            <a:ext cx="858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α-helix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1d3f1125c0_0_90"/>
          <p:cNvSpPr txBox="1"/>
          <p:nvPr/>
        </p:nvSpPr>
        <p:spPr>
          <a:xfrm>
            <a:off x="3229025" y="6381175"/>
            <a:ext cx="858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β-sheet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f2afff05d_0_4"/>
          <p:cNvSpPr txBox="1"/>
          <p:nvPr>
            <p:ph idx="1" type="body"/>
          </p:nvPr>
        </p:nvSpPr>
        <p:spPr>
          <a:xfrm>
            <a:off x="838200" y="987425"/>
            <a:ext cx="10515600" cy="12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Demis Hassabis, John Jumper and David Baker for being awarded the 2024 Nobel Prize in Chemistry for their work on protein structure prediction and computational protein design.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g2ff2afff05d_0_4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Nobel </a:t>
            </a: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prize</a:t>
            </a: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2024 in Chemistry for AI-based protein structure prediction tool (</a:t>
            </a: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 Fold</a:t>
            </a:r>
            <a:r>
              <a:rPr b="1" lang="en-US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2024 Chemistry Nobel Prize: AI Breakthroughs and Protein Design Innovations  Recognized" id="215" name="Google Shape;215;g2ff2afff05d_0_4"/>
          <p:cNvPicPr preferRelativeResize="0"/>
          <p:nvPr/>
        </p:nvPicPr>
        <p:blipFill rotWithShape="1">
          <a:blip r:embed="rId3">
            <a:alphaModFix/>
          </a:blip>
          <a:srcRect b="0" l="19105" r="21338" t="0"/>
          <a:stretch/>
        </p:blipFill>
        <p:spPr>
          <a:xfrm>
            <a:off x="7744425" y="1847850"/>
            <a:ext cx="4447575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2ff2afff05d_0_4"/>
          <p:cNvSpPr txBox="1"/>
          <p:nvPr/>
        </p:nvSpPr>
        <p:spPr>
          <a:xfrm>
            <a:off x="859400" y="2389225"/>
            <a:ext cx="6898500" cy="29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pioneer Demis Hassabis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whose AI software cracked an impossible chemistry problem—predicting the structure of every protein known to science.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John Michael Jumper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(born 1985) is an American chemist and computer scientist. He currently serves as director at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Google DeepMind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aseline="30000"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[2]</a:t>
            </a:r>
            <a:r>
              <a:rPr baseline="30000"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[3]</a:t>
            </a:r>
            <a:r>
              <a:rPr baseline="30000"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[4]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Jumper and his colleagues created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AlphaFold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aseline="30000"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[5]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/>
              </a:rPr>
              <a:t>artificial intelligence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(AI) model to predict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/>
              </a:rPr>
              <a:t>protein structures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their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7"/>
              </a:rPr>
              <a:t>amino acid sequence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high accuracy.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Baker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American biochemist and computational biologist who has pioneered methods to design proteins and predict their three-dimensional structures.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d3f1125c0_0_102"/>
          <p:cNvSpPr txBox="1"/>
          <p:nvPr>
            <p:ph idx="1" type="body"/>
          </p:nvPr>
        </p:nvSpPr>
        <p:spPr>
          <a:xfrm>
            <a:off x="448750" y="458500"/>
            <a:ext cx="11286900" cy="6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Our hairs and nails are made up of a protein, known as ɑ-Keratin. Hair grows at a rate of 15-20 cm/year, whereas nails grow 3.5 mm each month.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fundamental structural element of ɑ-Keratin is the ɑ-helix.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11d3f1125c0_0_102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Hairs and Nails are proteins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2921fdd479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3930" y="538675"/>
            <a:ext cx="4237371" cy="23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921fdd4798_0_0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Enzymes?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g2921fdd4798_0_0"/>
          <p:cNvSpPr txBox="1"/>
          <p:nvPr/>
        </p:nvSpPr>
        <p:spPr>
          <a:xfrm>
            <a:off x="167250" y="476150"/>
            <a:ext cx="11282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Enzymes are proteins.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Enzymes are bio-catalysts.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Catalysts accelerate chemical reactions. Similarly, enzymes accelerate biochemical reactions.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 all catalysts, enzymes increase the reaction rate by lowering its activation energy.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g2921fdd479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050" y="4126350"/>
            <a:ext cx="7262300" cy="27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2921fdd479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325" y="2640450"/>
            <a:ext cx="6402951" cy="14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2921fdd479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650" y="776750"/>
            <a:ext cx="645795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921fdd4798_0_8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Energy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g2921fdd4798_0_8"/>
          <p:cNvSpPr txBox="1"/>
          <p:nvPr/>
        </p:nvSpPr>
        <p:spPr>
          <a:xfrm>
            <a:off x="1230725" y="4682300"/>
            <a:ext cx="105894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Activation Energy: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the difference between the energy levels of the ground state and the transition state is known as the activation energy (ΔG).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Enzymes enhance the reaction rate by lowering activation energy.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921fdd4798_0_15"/>
          <p:cNvSpPr txBox="1"/>
          <p:nvPr>
            <p:ph idx="1" type="body"/>
          </p:nvPr>
        </p:nvSpPr>
        <p:spPr>
          <a:xfrm>
            <a:off x="838200" y="6064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Enzymes are classified according to the type of reaction they catalyze.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g2921fdd4798_0_15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Classification of Enzymes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g2921fdd4798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55375"/>
            <a:ext cx="11980252" cy="378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21fdd4798_0_22"/>
          <p:cNvSpPr txBox="1"/>
          <p:nvPr>
            <p:ph idx="1" type="body"/>
          </p:nvPr>
        </p:nvSpPr>
        <p:spPr>
          <a:xfrm>
            <a:off x="838200" y="4540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Substrate concentration [S] affects the rate of enzyme-catalyzed reactions.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However, the substrate concentration [S] keeps changing in the enzymatic reaction as products are formed.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So, the initial velocity (Vo) is measured.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g2921fdd4798_0_22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Enzyme Kinetics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g2921fdd4798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275" y="3160600"/>
            <a:ext cx="4308649" cy="329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2921fdd4798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3825" y="3905250"/>
            <a:ext cx="76581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2921fdd4798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7199" y="6510575"/>
            <a:ext cx="36576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921fdd4798_0_31"/>
          <p:cNvSpPr txBox="1"/>
          <p:nvPr>
            <p:ph idx="1" type="body"/>
          </p:nvPr>
        </p:nvSpPr>
        <p:spPr>
          <a:xfrm>
            <a:off x="838200" y="5054275"/>
            <a:ext cx="10515600" cy="104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lang="en-US" sz="1612">
                <a:latin typeface="Times New Roman"/>
                <a:ea typeface="Times New Roman"/>
                <a:cs typeface="Times New Roman"/>
                <a:sym typeface="Times New Roman"/>
              </a:rPr>
              <a:t>= maximum velocity (unit µM/min)</a:t>
            </a:r>
            <a:endParaRPr sz="161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612">
                <a:latin typeface="Times New Roman"/>
                <a:ea typeface="Times New Roman"/>
                <a:cs typeface="Times New Roman"/>
                <a:sym typeface="Times New Roman"/>
              </a:rPr>
              <a:t>= The substrate concentration at which the velocity is Vmax/2. (unit mM)</a:t>
            </a:r>
            <a:endParaRPr sz="161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</a:t>
            </a:r>
            <a:r>
              <a:rPr lang="en-US" sz="1612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12">
                <a:latin typeface="Times New Roman"/>
                <a:ea typeface="Times New Roman"/>
                <a:cs typeface="Times New Roman"/>
                <a:sym typeface="Times New Roman"/>
              </a:rPr>
              <a:t>= turnover number (the number of substrate molecules converted to product in a given unit of time on a single enzyme molecule when the enzyme is saturated with substrate. (unit s</a:t>
            </a:r>
            <a:r>
              <a:rPr baseline="30000" lang="en-US" sz="1612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1612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12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5" name="Google Shape;265;g2921fdd4798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575" y="784563"/>
            <a:ext cx="5062150" cy="415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2921fdd4798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1988" y="2819400"/>
            <a:ext cx="7572375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2921fdd4798_0_31"/>
          <p:cNvSpPr/>
          <p:nvPr/>
        </p:nvSpPr>
        <p:spPr>
          <a:xfrm>
            <a:off x="0" y="0"/>
            <a:ext cx="12192000" cy="3651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Kinetic parameters for an enzymatic reaction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8" name="Google Shape;268;g2921fdd4798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6625" y="517500"/>
            <a:ext cx="3866725" cy="21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2921fdd4798_0_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1600" y="2742325"/>
            <a:ext cx="3821750" cy="178746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921fdd4798_0_31"/>
          <p:cNvSpPr txBox="1"/>
          <p:nvPr/>
        </p:nvSpPr>
        <p:spPr>
          <a:xfrm>
            <a:off x="826800" y="464450"/>
            <a:ext cx="63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effect on V</a:t>
            </a:r>
            <a:r>
              <a:rPr baseline="-25000" lang="en-US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varying [S] when the enzyme concentration is held constant.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g2921fdd4798_0_31"/>
          <p:cNvSpPr txBox="1"/>
          <p:nvPr/>
        </p:nvSpPr>
        <p:spPr>
          <a:xfrm>
            <a:off x="3471550" y="2003725"/>
            <a:ext cx="245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Rectangular Hyperbola curve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g2921fdd4798_0_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4000" y="5617300"/>
            <a:ext cx="3071350" cy="2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921fdd4798_0_44"/>
          <p:cNvSpPr txBox="1"/>
          <p:nvPr>
            <p:ph idx="1" type="body"/>
          </p:nvPr>
        </p:nvSpPr>
        <p:spPr>
          <a:xfrm>
            <a:off x="838200" y="6064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rectangular hyperbola curve can be expressed algebraically by the 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Michaelis-Menten Equation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value of KM is inversely related to the affinity of the enzyme for its substrate. </a:t>
            </a: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High values of KM correspond to low enzyme affinity for substrate</a:t>
            </a: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 (it takes more substrate to get to Vmax).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2921fdd4798_0_44"/>
          <p:cNvSpPr/>
          <p:nvPr/>
        </p:nvSpPr>
        <p:spPr>
          <a:xfrm>
            <a:off x="0" y="0"/>
            <a:ext cx="12192000" cy="4509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relationship between Substrate Concentration [S] and Reaction Rate (V</a:t>
            </a:r>
            <a:r>
              <a:rPr b="1" baseline="-25000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g2921fdd4798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100" y="1034825"/>
            <a:ext cx="22098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921fdd4798_0_44"/>
          <p:cNvSpPr txBox="1"/>
          <p:nvPr/>
        </p:nvSpPr>
        <p:spPr>
          <a:xfrm>
            <a:off x="1105650" y="2066250"/>
            <a:ext cx="88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where, K</a:t>
            </a:r>
            <a:r>
              <a:rPr baseline="-25000" lang="en-US" sz="18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is the Michaelis constant.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g2921fdd4798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7450" y="3801300"/>
            <a:ext cx="5471251" cy="29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921fdd4798_0_53"/>
          <p:cNvSpPr txBox="1"/>
          <p:nvPr>
            <p:ph idx="1" type="body"/>
          </p:nvPr>
        </p:nvSpPr>
        <p:spPr>
          <a:xfrm>
            <a:off x="838200" y="2587375"/>
            <a:ext cx="10515600" cy="35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Plot of 1/V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versus 1/[S] (double reciprocal) yields a straight line.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line has a slope of K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/V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Accurate determination of V</a:t>
            </a:r>
            <a:r>
              <a:rPr baseline="-25000" lang="en-US" sz="2000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2921fdd4798_0_53"/>
          <p:cNvSpPr/>
          <p:nvPr/>
        </p:nvSpPr>
        <p:spPr>
          <a:xfrm>
            <a:off x="0" y="0"/>
            <a:ext cx="12192000" cy="4509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Lineweaver-Burk equation/plot for calculating Km and Vmax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g2921fdd4798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175" y="1176550"/>
            <a:ext cx="30956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2921fdd4798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25" y="1176550"/>
            <a:ext cx="20955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2921fdd4798_0_53"/>
          <p:cNvSpPr txBox="1"/>
          <p:nvPr/>
        </p:nvSpPr>
        <p:spPr>
          <a:xfrm>
            <a:off x="501150" y="534150"/>
            <a:ext cx="30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Michaelis-Menten equation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g2921fdd4798_0_53"/>
          <p:cNvSpPr txBox="1"/>
          <p:nvPr/>
        </p:nvSpPr>
        <p:spPr>
          <a:xfrm>
            <a:off x="8387050" y="714850"/>
            <a:ext cx="30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Lineweaver-Burk equation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4" name="Google Shape;294;g2921fdd4798_0_53"/>
          <p:cNvCxnSpPr/>
          <p:nvPr/>
        </p:nvCxnSpPr>
        <p:spPr>
          <a:xfrm>
            <a:off x="3523675" y="1597250"/>
            <a:ext cx="4064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5" name="Google Shape;295;g2921fdd4798_0_53"/>
          <p:cNvSpPr txBox="1"/>
          <p:nvPr/>
        </p:nvSpPr>
        <p:spPr>
          <a:xfrm>
            <a:off x="4263675" y="1128225"/>
            <a:ext cx="268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Transformed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6" name="Google Shape;296;g2921fdd4798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5572" y="2289050"/>
            <a:ext cx="3885778" cy="40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2921fdd4798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6450" y="6391800"/>
            <a:ext cx="46863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921fdd4798_0_67"/>
          <p:cNvSpPr/>
          <p:nvPr/>
        </p:nvSpPr>
        <p:spPr>
          <a:xfrm>
            <a:off x="0" y="0"/>
            <a:ext cx="12192000" cy="4509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Enzymes with same function but different kinetics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2921fdd4798_0_67"/>
          <p:cNvSpPr txBox="1"/>
          <p:nvPr/>
        </p:nvSpPr>
        <p:spPr>
          <a:xfrm>
            <a:off x="782550" y="517250"/>
            <a:ext cx="5888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Hexokinase and Glucokinase, both are enzymes that phosphorylates glucose.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g2921fdd4798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375" y="1256025"/>
            <a:ext cx="47053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2921fdd4798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8025" y="3318450"/>
            <a:ext cx="2766775" cy="340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921fdd4798_0_67"/>
          <p:cNvSpPr txBox="1"/>
          <p:nvPr/>
        </p:nvSpPr>
        <p:spPr>
          <a:xfrm>
            <a:off x="2995375" y="1773725"/>
            <a:ext cx="110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latin typeface="Times New Roman"/>
                <a:ea typeface="Times New Roman"/>
                <a:cs typeface="Times New Roman"/>
                <a:sym typeface="Times New Roman"/>
              </a:rPr>
              <a:t>Glucokinase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g2921fdd4798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8949" y="716025"/>
            <a:ext cx="5733050" cy="42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921fdd4798_0_77"/>
          <p:cNvSpPr txBox="1"/>
          <p:nvPr>
            <p:ph idx="1" type="body"/>
          </p:nvPr>
        </p:nvSpPr>
        <p:spPr>
          <a:xfrm>
            <a:off x="522000" y="544575"/>
            <a:ext cx="11183400" cy="604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kinetic parameters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cat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are useful for comparing different enzymes.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best way to compare the catalytic efficiencies of different enzymes or the turnover of different substrates by the same enzyme is to compare the ratio of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cat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/K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for the two reactions.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This ratio is known as </a:t>
            </a:r>
            <a:r>
              <a:rPr lang="en-US" sz="18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Specificity Constant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upper limit to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cat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/K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imposed by the rate at which E and S can diffuse together in an aqueous solution. This diffusion controlled limit is 10</a:t>
            </a:r>
            <a:r>
              <a:rPr baseline="30000" lang="en-US" sz="18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10</a:t>
            </a:r>
            <a:r>
              <a:rPr baseline="30000" lang="en-US" sz="18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M</a:t>
            </a:r>
            <a:r>
              <a:rPr baseline="30000" lang="en-US" sz="18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30000" lang="en-US" sz="18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g2921fdd4798_0_77"/>
          <p:cNvSpPr/>
          <p:nvPr/>
        </p:nvSpPr>
        <p:spPr>
          <a:xfrm>
            <a:off x="0" y="0"/>
            <a:ext cx="12192000" cy="4509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Comparing catalytic mechanisms and efficiencies of two different enzymes</a:t>
            </a:r>
            <a:endParaRPr b="1" i="0" sz="2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g2921fdd4798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450" y="3652075"/>
            <a:ext cx="8512925" cy="293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921fdd4798_0_77"/>
          <p:cNvSpPr txBox="1"/>
          <p:nvPr/>
        </p:nvSpPr>
        <p:spPr>
          <a:xfrm>
            <a:off x="9975125" y="4623300"/>
            <a:ext cx="198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Catalytic perfection</a:t>
            </a:r>
            <a:endParaRPr sz="1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2921fdd4798_0_85"/>
          <p:cNvPicPr preferRelativeResize="0"/>
          <p:nvPr/>
        </p:nvPicPr>
        <p:blipFill rotWithShape="1">
          <a:blip r:embed="rId3">
            <a:alphaModFix/>
          </a:blip>
          <a:srcRect b="58662" l="0" r="0" t="0"/>
          <a:stretch/>
        </p:blipFill>
        <p:spPr>
          <a:xfrm>
            <a:off x="-94450" y="217250"/>
            <a:ext cx="5923699" cy="564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2921fdd4798_0_85"/>
          <p:cNvPicPr preferRelativeResize="0"/>
          <p:nvPr/>
        </p:nvPicPr>
        <p:blipFill rotWithShape="1">
          <a:blip r:embed="rId3">
            <a:alphaModFix/>
          </a:blip>
          <a:srcRect b="24390" l="-1114" r="-1114" t="40776"/>
          <a:stretch/>
        </p:blipFill>
        <p:spPr>
          <a:xfrm>
            <a:off x="5923700" y="661225"/>
            <a:ext cx="6055800" cy="475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"/>
          <p:cNvSpPr txBox="1"/>
          <p:nvPr>
            <p:ph idx="1" type="body"/>
          </p:nvPr>
        </p:nvSpPr>
        <p:spPr>
          <a:xfrm>
            <a:off x="546300" y="902825"/>
            <a:ext cx="11433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Book: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Lehninger: Principles of Biochemistry, 6th edition. ISBN: 1464109621.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Chapter 3: Amino Acids, Peptides, and Proteins, Page 75-114.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Chapter 4: Three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dimensional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structure of proteins, Page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Chapter 6: Enzymes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1430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65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reading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1" y="601980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class on 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(Thur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sday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2021-09-02T08:32:53Z</dcterms:created>
  <dc:creator>Gunjan Mehta</dc:creator>
</cp:coreProperties>
</file>