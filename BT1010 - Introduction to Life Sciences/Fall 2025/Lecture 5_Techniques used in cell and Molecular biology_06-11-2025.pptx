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y="6858000" cx="12192000"/>
  <p:notesSz cx="7077075" cy="93630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3" roundtripDataSignature="AMtx7mgmsj4uuVn4A8Gl24akvWsG3LUyg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21" Type="http://schemas.openxmlformats.org/officeDocument/2006/relationships/slide" Target="slides/slide16.xml"/><Relationship Id="rId43" Type="http://customschemas.google.com/relationships/presentationmetadata" Target="meta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66733" cy="469780"/>
          </a:xfrm>
          <a:prstGeom prst="rect">
            <a:avLst/>
          </a:prstGeom>
          <a:noFill/>
          <a:ln>
            <a:noFill/>
          </a:ln>
        </p:spPr>
        <p:txBody>
          <a:bodyPr anchorCtr="0" anchor="t" bIns="46950" lIns="93925" spcFirstLastPara="1" rIns="93925" wrap="square" tIns="4695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008705" y="0"/>
            <a:ext cx="3066733" cy="469780"/>
          </a:xfrm>
          <a:prstGeom prst="rect">
            <a:avLst/>
          </a:prstGeom>
          <a:noFill/>
          <a:ln>
            <a:noFill/>
          </a:ln>
        </p:spPr>
        <p:txBody>
          <a:bodyPr anchorCtr="0" anchor="t" bIns="46950" lIns="93925" spcFirstLastPara="1" rIns="93925" wrap="square" tIns="4695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28663" y="1169988"/>
            <a:ext cx="5619750" cy="31607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7708" y="4505980"/>
            <a:ext cx="5661660" cy="3686711"/>
          </a:xfrm>
          <a:prstGeom prst="rect">
            <a:avLst/>
          </a:prstGeom>
          <a:noFill/>
          <a:ln>
            <a:noFill/>
          </a:ln>
        </p:spPr>
        <p:txBody>
          <a:bodyPr anchorCtr="0" anchor="t" bIns="46950" lIns="93925" spcFirstLastPara="1" rIns="93925" wrap="square" tIns="4695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893297"/>
            <a:ext cx="3066733" cy="469779"/>
          </a:xfrm>
          <a:prstGeom prst="rect">
            <a:avLst/>
          </a:prstGeom>
          <a:noFill/>
          <a:ln>
            <a:noFill/>
          </a:ln>
        </p:spPr>
        <p:txBody>
          <a:bodyPr anchorCtr="0" anchor="b" bIns="46950" lIns="93925" spcFirstLastPara="1" rIns="93925" wrap="square" tIns="4695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008705" y="8893297"/>
            <a:ext cx="3066733" cy="469779"/>
          </a:xfrm>
          <a:prstGeom prst="rect">
            <a:avLst/>
          </a:prstGeom>
          <a:noFill/>
          <a:ln>
            <a:noFill/>
          </a:ln>
        </p:spPr>
        <p:txBody>
          <a:bodyPr anchorCtr="0" anchor="b" bIns="46950" lIns="93925" spcFirstLastPara="1" rIns="93925" wrap="square" tIns="469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notes"/>
          <p:cNvSpPr txBox="1"/>
          <p:nvPr>
            <p:ph idx="1" type="body"/>
          </p:nvPr>
        </p:nvSpPr>
        <p:spPr>
          <a:xfrm>
            <a:off x="707708" y="4505980"/>
            <a:ext cx="5661660" cy="3686711"/>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161" name="Google Shape;161;p1:notes"/>
          <p:cNvSpPr/>
          <p:nvPr>
            <p:ph idx="2" type="sldImg"/>
          </p:nvPr>
        </p:nvSpPr>
        <p:spPr>
          <a:xfrm>
            <a:off x="728663" y="1169988"/>
            <a:ext cx="5619750" cy="31607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15961fba6c_0_0: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15961fba6c_0_0:notes"/>
          <p:cNvSpPr txBox="1"/>
          <p:nvPr>
            <p:ph idx="1" type="body"/>
          </p:nvPr>
        </p:nvSpPr>
        <p:spPr>
          <a:xfrm>
            <a:off x="707708" y="4505980"/>
            <a:ext cx="5661600" cy="3686700"/>
          </a:xfrm>
          <a:prstGeom prst="rect">
            <a:avLst/>
          </a:prstGeom>
        </p:spPr>
        <p:txBody>
          <a:bodyPr anchorCtr="0" anchor="t" bIns="46950" lIns="93925" spcFirstLastPara="1" rIns="93925" wrap="square" tIns="46950">
            <a:noAutofit/>
          </a:bodyPr>
          <a:lstStyle/>
          <a:p>
            <a:pPr indent="0" lvl="0" marL="0" rtl="0" algn="l">
              <a:spcBef>
                <a:spcPts val="0"/>
              </a:spcBef>
              <a:spcAft>
                <a:spcPts val="0"/>
              </a:spcAft>
              <a:buNone/>
            </a:pPr>
            <a:r>
              <a:t/>
            </a:r>
            <a:endParaRPr/>
          </a:p>
        </p:txBody>
      </p:sp>
      <p:sp>
        <p:nvSpPr>
          <p:cNvPr id="170" name="Google Shape;170;g315961fba6c_0_0:notes"/>
          <p:cNvSpPr txBox="1"/>
          <p:nvPr>
            <p:ph idx="12" type="sldNum"/>
          </p:nvPr>
        </p:nvSpPr>
        <p:spPr>
          <a:xfrm>
            <a:off x="4008705" y="8893297"/>
            <a:ext cx="3066600" cy="469800"/>
          </a:xfrm>
          <a:prstGeom prst="rect">
            <a:avLst/>
          </a:prstGeom>
        </p:spPr>
        <p:txBody>
          <a:bodyPr anchorCtr="0" anchor="b" bIns="46950" lIns="93925" spcFirstLastPara="1" rIns="93925" wrap="square" tIns="4695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9981c83788_0_6: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29981c83788_0_6:notes"/>
          <p:cNvSpPr txBox="1"/>
          <p:nvPr>
            <p:ph idx="1" type="body"/>
          </p:nvPr>
        </p:nvSpPr>
        <p:spPr>
          <a:xfrm>
            <a:off x="707708" y="4505980"/>
            <a:ext cx="5661600" cy="3686700"/>
          </a:xfrm>
          <a:prstGeom prst="rect">
            <a:avLst/>
          </a:prstGeom>
        </p:spPr>
        <p:txBody>
          <a:bodyPr anchorCtr="0" anchor="t" bIns="46950" lIns="93925" spcFirstLastPara="1" rIns="93925" wrap="square" tIns="46950">
            <a:noAutofit/>
          </a:bodyPr>
          <a:lstStyle/>
          <a:p>
            <a:pPr indent="0" lvl="0" marL="0" rtl="0" algn="l">
              <a:spcBef>
                <a:spcPts val="0"/>
              </a:spcBef>
              <a:spcAft>
                <a:spcPts val="0"/>
              </a:spcAft>
              <a:buNone/>
            </a:pPr>
            <a:r>
              <a:t/>
            </a:r>
            <a:endParaRPr/>
          </a:p>
        </p:txBody>
      </p:sp>
      <p:sp>
        <p:nvSpPr>
          <p:cNvPr id="176" name="Google Shape;176;g29981c83788_0_6:notes"/>
          <p:cNvSpPr txBox="1"/>
          <p:nvPr>
            <p:ph idx="12" type="sldNum"/>
          </p:nvPr>
        </p:nvSpPr>
        <p:spPr>
          <a:xfrm>
            <a:off x="4008705" y="8893297"/>
            <a:ext cx="3066600" cy="469800"/>
          </a:xfrm>
          <a:prstGeom prst="rect">
            <a:avLst/>
          </a:prstGeom>
        </p:spPr>
        <p:txBody>
          <a:bodyPr anchorCtr="0" anchor="b" bIns="46950" lIns="93925" spcFirstLastPara="1" rIns="93925" wrap="square" tIns="4695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155d714b4a_0_0: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155d714b4a_0_0:notes"/>
          <p:cNvSpPr txBox="1"/>
          <p:nvPr>
            <p:ph idx="1" type="body"/>
          </p:nvPr>
        </p:nvSpPr>
        <p:spPr>
          <a:xfrm>
            <a:off x="707708" y="4505980"/>
            <a:ext cx="5661600" cy="3686700"/>
          </a:xfrm>
          <a:prstGeom prst="rect">
            <a:avLst/>
          </a:prstGeom>
        </p:spPr>
        <p:txBody>
          <a:bodyPr anchorCtr="0" anchor="t" bIns="46950" lIns="93925" spcFirstLastPara="1" rIns="93925" wrap="square" tIns="46950">
            <a:noAutofit/>
          </a:bodyPr>
          <a:lstStyle/>
          <a:p>
            <a:pPr indent="0" lvl="0" marL="0" rtl="0" algn="l">
              <a:spcBef>
                <a:spcPts val="0"/>
              </a:spcBef>
              <a:spcAft>
                <a:spcPts val="0"/>
              </a:spcAft>
              <a:buNone/>
            </a:pPr>
            <a:r>
              <a:t/>
            </a:r>
            <a:endParaRPr/>
          </a:p>
        </p:txBody>
      </p:sp>
      <p:sp>
        <p:nvSpPr>
          <p:cNvPr id="196" name="Google Shape;196;g3155d714b4a_0_0:notes"/>
          <p:cNvSpPr txBox="1"/>
          <p:nvPr>
            <p:ph idx="12" type="sldNum"/>
          </p:nvPr>
        </p:nvSpPr>
        <p:spPr>
          <a:xfrm>
            <a:off x="4008705" y="8893297"/>
            <a:ext cx="3066600" cy="469800"/>
          </a:xfrm>
          <a:prstGeom prst="rect">
            <a:avLst/>
          </a:prstGeom>
        </p:spPr>
        <p:txBody>
          <a:bodyPr anchorCtr="0" anchor="b" bIns="46950" lIns="93925" spcFirstLastPara="1" rIns="93925" wrap="square" tIns="4695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29981c83788_0_120: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29981c83788_0_120:notes"/>
          <p:cNvSpPr txBox="1"/>
          <p:nvPr>
            <p:ph idx="1" type="body"/>
          </p:nvPr>
        </p:nvSpPr>
        <p:spPr>
          <a:xfrm>
            <a:off x="707708" y="4505980"/>
            <a:ext cx="5661600" cy="3686700"/>
          </a:xfrm>
          <a:prstGeom prst="rect">
            <a:avLst/>
          </a:prstGeom>
        </p:spPr>
        <p:txBody>
          <a:bodyPr anchorCtr="0" anchor="t" bIns="46950" lIns="93925" spcFirstLastPara="1" rIns="93925" wrap="square" tIns="46950">
            <a:noAutofit/>
          </a:bodyPr>
          <a:lstStyle/>
          <a:p>
            <a:pPr indent="0" lvl="0" marL="0" rtl="0" algn="l">
              <a:spcBef>
                <a:spcPts val="0"/>
              </a:spcBef>
              <a:spcAft>
                <a:spcPts val="0"/>
              </a:spcAft>
              <a:buNone/>
            </a:pPr>
            <a:r>
              <a:t/>
            </a:r>
            <a:endParaRPr/>
          </a:p>
        </p:txBody>
      </p:sp>
      <p:sp>
        <p:nvSpPr>
          <p:cNvPr id="209" name="Google Shape;209;g29981c83788_0_120:notes"/>
          <p:cNvSpPr txBox="1"/>
          <p:nvPr>
            <p:ph idx="12" type="sldNum"/>
          </p:nvPr>
        </p:nvSpPr>
        <p:spPr>
          <a:xfrm>
            <a:off x="4008705" y="8893297"/>
            <a:ext cx="3066600" cy="469800"/>
          </a:xfrm>
          <a:prstGeom prst="rect">
            <a:avLst/>
          </a:prstGeom>
        </p:spPr>
        <p:txBody>
          <a:bodyPr anchorCtr="0" anchor="b" bIns="46950" lIns="93925" spcFirstLastPara="1" rIns="93925" wrap="square" tIns="4695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157d447c70_0_4: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157d447c70_0_4:notes"/>
          <p:cNvSpPr txBox="1"/>
          <p:nvPr>
            <p:ph idx="1" type="body"/>
          </p:nvPr>
        </p:nvSpPr>
        <p:spPr>
          <a:xfrm>
            <a:off x="707708" y="4505980"/>
            <a:ext cx="5661600" cy="3686700"/>
          </a:xfrm>
          <a:prstGeom prst="rect">
            <a:avLst/>
          </a:prstGeom>
        </p:spPr>
        <p:txBody>
          <a:bodyPr anchorCtr="0" anchor="t" bIns="46950" lIns="93925" spcFirstLastPara="1" rIns="93925" wrap="square" tIns="46950">
            <a:noAutofit/>
          </a:bodyPr>
          <a:lstStyle/>
          <a:p>
            <a:pPr indent="0" lvl="0" marL="0" rtl="0" algn="l">
              <a:spcBef>
                <a:spcPts val="0"/>
              </a:spcBef>
              <a:spcAft>
                <a:spcPts val="0"/>
              </a:spcAft>
              <a:buNone/>
            </a:pPr>
            <a:r>
              <a:t/>
            </a:r>
            <a:endParaRPr/>
          </a:p>
        </p:txBody>
      </p:sp>
      <p:sp>
        <p:nvSpPr>
          <p:cNvPr id="217" name="Google Shape;217;g3157d447c70_0_4:notes"/>
          <p:cNvSpPr txBox="1"/>
          <p:nvPr>
            <p:ph idx="12" type="sldNum"/>
          </p:nvPr>
        </p:nvSpPr>
        <p:spPr>
          <a:xfrm>
            <a:off x="4008705" y="8893297"/>
            <a:ext cx="3066600" cy="469800"/>
          </a:xfrm>
          <a:prstGeom prst="rect">
            <a:avLst/>
          </a:prstGeom>
        </p:spPr>
        <p:txBody>
          <a:bodyPr anchorCtr="0" anchor="b" bIns="46950" lIns="93925" spcFirstLastPara="1" rIns="93925" wrap="square" tIns="4695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15961fba6c_0_9: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15961fba6c_0_9:notes"/>
          <p:cNvSpPr txBox="1"/>
          <p:nvPr>
            <p:ph idx="1" type="body"/>
          </p:nvPr>
        </p:nvSpPr>
        <p:spPr>
          <a:xfrm>
            <a:off x="707708" y="4505980"/>
            <a:ext cx="5661600" cy="3686700"/>
          </a:xfrm>
          <a:prstGeom prst="rect">
            <a:avLst/>
          </a:prstGeom>
        </p:spPr>
        <p:txBody>
          <a:bodyPr anchorCtr="0" anchor="t" bIns="46950" lIns="93925" spcFirstLastPara="1" rIns="93925" wrap="square" tIns="46950">
            <a:noAutofit/>
          </a:bodyPr>
          <a:lstStyle/>
          <a:p>
            <a:pPr indent="0" lvl="0" marL="0" rtl="0" algn="l">
              <a:spcBef>
                <a:spcPts val="0"/>
              </a:spcBef>
              <a:spcAft>
                <a:spcPts val="0"/>
              </a:spcAft>
              <a:buNone/>
            </a:pPr>
            <a:r>
              <a:t/>
            </a:r>
            <a:endParaRPr/>
          </a:p>
        </p:txBody>
      </p:sp>
      <p:sp>
        <p:nvSpPr>
          <p:cNvPr id="225" name="Google Shape;225;g315961fba6c_0_9:notes"/>
          <p:cNvSpPr txBox="1"/>
          <p:nvPr>
            <p:ph idx="12" type="sldNum"/>
          </p:nvPr>
        </p:nvSpPr>
        <p:spPr>
          <a:xfrm>
            <a:off x="4008705" y="8893297"/>
            <a:ext cx="3066600" cy="469800"/>
          </a:xfrm>
          <a:prstGeom prst="rect">
            <a:avLst/>
          </a:prstGeom>
        </p:spPr>
        <p:txBody>
          <a:bodyPr anchorCtr="0" anchor="b" bIns="46950" lIns="93925" spcFirstLastPara="1" rIns="93925" wrap="square" tIns="4695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29981c83788_0_141: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29981c83788_0_141:notes"/>
          <p:cNvSpPr txBox="1"/>
          <p:nvPr>
            <p:ph idx="1" type="body"/>
          </p:nvPr>
        </p:nvSpPr>
        <p:spPr>
          <a:xfrm>
            <a:off x="707708" y="4505980"/>
            <a:ext cx="5661600" cy="3686700"/>
          </a:xfrm>
          <a:prstGeom prst="rect">
            <a:avLst/>
          </a:prstGeom>
        </p:spPr>
        <p:txBody>
          <a:bodyPr anchorCtr="0" anchor="t" bIns="46950" lIns="93925" spcFirstLastPara="1" rIns="93925" wrap="square" tIns="46950">
            <a:noAutofit/>
          </a:bodyPr>
          <a:lstStyle/>
          <a:p>
            <a:pPr indent="0" lvl="0" marL="0" rtl="0" algn="l">
              <a:spcBef>
                <a:spcPts val="0"/>
              </a:spcBef>
              <a:spcAft>
                <a:spcPts val="0"/>
              </a:spcAft>
              <a:buNone/>
            </a:pPr>
            <a:r>
              <a:t/>
            </a:r>
            <a:endParaRPr/>
          </a:p>
        </p:txBody>
      </p:sp>
      <p:sp>
        <p:nvSpPr>
          <p:cNvPr id="235" name="Google Shape;235;g29981c83788_0_141:notes"/>
          <p:cNvSpPr txBox="1"/>
          <p:nvPr>
            <p:ph idx="12" type="sldNum"/>
          </p:nvPr>
        </p:nvSpPr>
        <p:spPr>
          <a:xfrm>
            <a:off x="4008705" y="8893297"/>
            <a:ext cx="3066600" cy="469800"/>
          </a:xfrm>
          <a:prstGeom prst="rect">
            <a:avLst/>
          </a:prstGeom>
        </p:spPr>
        <p:txBody>
          <a:bodyPr anchorCtr="0" anchor="b" bIns="46950" lIns="93925" spcFirstLastPara="1" rIns="93925" wrap="square" tIns="4695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29981c83788_0_14: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29981c83788_0_14:notes"/>
          <p:cNvSpPr txBox="1"/>
          <p:nvPr>
            <p:ph idx="1" type="body"/>
          </p:nvPr>
        </p:nvSpPr>
        <p:spPr>
          <a:xfrm>
            <a:off x="707708" y="4505980"/>
            <a:ext cx="5661600" cy="3686700"/>
          </a:xfrm>
          <a:prstGeom prst="rect">
            <a:avLst/>
          </a:prstGeom>
        </p:spPr>
        <p:txBody>
          <a:bodyPr anchorCtr="0" anchor="t" bIns="46950" lIns="93925" spcFirstLastPara="1" rIns="93925" wrap="square" tIns="46950">
            <a:noAutofit/>
          </a:bodyPr>
          <a:lstStyle/>
          <a:p>
            <a:pPr indent="0" lvl="0" marL="0" rtl="0" algn="l">
              <a:spcBef>
                <a:spcPts val="0"/>
              </a:spcBef>
              <a:spcAft>
                <a:spcPts val="0"/>
              </a:spcAft>
              <a:buNone/>
            </a:pPr>
            <a:r>
              <a:t/>
            </a:r>
            <a:endParaRPr/>
          </a:p>
        </p:txBody>
      </p:sp>
      <p:sp>
        <p:nvSpPr>
          <p:cNvPr id="253" name="Google Shape;253;g29981c83788_0_14:notes"/>
          <p:cNvSpPr txBox="1"/>
          <p:nvPr>
            <p:ph idx="12" type="sldNum"/>
          </p:nvPr>
        </p:nvSpPr>
        <p:spPr>
          <a:xfrm>
            <a:off x="4008705" y="8893297"/>
            <a:ext cx="3066600" cy="469800"/>
          </a:xfrm>
          <a:prstGeom prst="rect">
            <a:avLst/>
          </a:prstGeom>
        </p:spPr>
        <p:txBody>
          <a:bodyPr anchorCtr="0" anchor="b" bIns="46950" lIns="93925" spcFirstLastPara="1" rIns="93925" wrap="square" tIns="4695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15961fba6c_0_40: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15961fba6c_0_40:notes"/>
          <p:cNvSpPr txBox="1"/>
          <p:nvPr>
            <p:ph idx="1" type="body"/>
          </p:nvPr>
        </p:nvSpPr>
        <p:spPr>
          <a:xfrm>
            <a:off x="707708" y="4505980"/>
            <a:ext cx="5661600" cy="3686700"/>
          </a:xfrm>
          <a:prstGeom prst="rect">
            <a:avLst/>
          </a:prstGeom>
        </p:spPr>
        <p:txBody>
          <a:bodyPr anchorCtr="0" anchor="t" bIns="46950" lIns="93925" spcFirstLastPara="1" rIns="93925" wrap="square" tIns="46950">
            <a:noAutofit/>
          </a:bodyPr>
          <a:lstStyle/>
          <a:p>
            <a:pPr indent="0" lvl="0" marL="0" rtl="0" algn="l">
              <a:spcBef>
                <a:spcPts val="0"/>
              </a:spcBef>
              <a:spcAft>
                <a:spcPts val="0"/>
              </a:spcAft>
              <a:buNone/>
            </a:pPr>
            <a:r>
              <a:t/>
            </a:r>
            <a:endParaRPr/>
          </a:p>
        </p:txBody>
      </p:sp>
      <p:sp>
        <p:nvSpPr>
          <p:cNvPr id="277" name="Google Shape;277;g315961fba6c_0_40:notes"/>
          <p:cNvSpPr txBox="1"/>
          <p:nvPr>
            <p:ph idx="12" type="sldNum"/>
          </p:nvPr>
        </p:nvSpPr>
        <p:spPr>
          <a:xfrm>
            <a:off x="4008705" y="8893297"/>
            <a:ext cx="3066600" cy="469800"/>
          </a:xfrm>
          <a:prstGeom prst="rect">
            <a:avLst/>
          </a:prstGeom>
        </p:spPr>
        <p:txBody>
          <a:bodyPr anchorCtr="0" anchor="b" bIns="46950" lIns="93925" spcFirstLastPara="1" rIns="93925" wrap="square" tIns="4695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15961fba6c_0_23: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15961fba6c_0_23:notes"/>
          <p:cNvSpPr txBox="1"/>
          <p:nvPr>
            <p:ph idx="1" type="body"/>
          </p:nvPr>
        </p:nvSpPr>
        <p:spPr>
          <a:xfrm>
            <a:off x="707708" y="4505980"/>
            <a:ext cx="5661600" cy="3686700"/>
          </a:xfrm>
          <a:prstGeom prst="rect">
            <a:avLst/>
          </a:prstGeom>
        </p:spPr>
        <p:txBody>
          <a:bodyPr anchorCtr="0" anchor="t" bIns="46950" lIns="93925" spcFirstLastPara="1" rIns="93925" wrap="square" tIns="46950">
            <a:noAutofit/>
          </a:bodyPr>
          <a:lstStyle/>
          <a:p>
            <a:pPr indent="0" lvl="0" marL="0" rtl="0" algn="l">
              <a:spcBef>
                <a:spcPts val="0"/>
              </a:spcBef>
              <a:spcAft>
                <a:spcPts val="0"/>
              </a:spcAft>
              <a:buNone/>
            </a:pPr>
            <a:r>
              <a:t/>
            </a:r>
            <a:endParaRPr/>
          </a:p>
        </p:txBody>
      </p:sp>
      <p:sp>
        <p:nvSpPr>
          <p:cNvPr id="289" name="Google Shape;289;g315961fba6c_0_23:notes"/>
          <p:cNvSpPr txBox="1"/>
          <p:nvPr>
            <p:ph idx="12" type="sldNum"/>
          </p:nvPr>
        </p:nvSpPr>
        <p:spPr>
          <a:xfrm>
            <a:off x="4008705" y="8893297"/>
            <a:ext cx="3066600" cy="469800"/>
          </a:xfrm>
          <a:prstGeom prst="rect">
            <a:avLst/>
          </a:prstGeom>
        </p:spPr>
        <p:txBody>
          <a:bodyPr anchorCtr="0" anchor="b" bIns="46950" lIns="93925" spcFirstLastPara="1" rIns="93925" wrap="square" tIns="4695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15961fba6c_0_31: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15961fba6c_0_31:notes"/>
          <p:cNvSpPr txBox="1"/>
          <p:nvPr>
            <p:ph idx="1" type="body"/>
          </p:nvPr>
        </p:nvSpPr>
        <p:spPr>
          <a:xfrm>
            <a:off x="707708" y="4505980"/>
            <a:ext cx="5661600" cy="3686700"/>
          </a:xfrm>
          <a:prstGeom prst="rect">
            <a:avLst/>
          </a:prstGeom>
        </p:spPr>
        <p:txBody>
          <a:bodyPr anchorCtr="0" anchor="t" bIns="46950" lIns="93925" spcFirstLastPara="1" rIns="93925" wrap="square" tIns="46950">
            <a:noAutofit/>
          </a:bodyPr>
          <a:lstStyle/>
          <a:p>
            <a:pPr indent="0" lvl="0" marL="0" rtl="0" algn="l">
              <a:spcBef>
                <a:spcPts val="0"/>
              </a:spcBef>
              <a:spcAft>
                <a:spcPts val="0"/>
              </a:spcAft>
              <a:buNone/>
            </a:pPr>
            <a:r>
              <a:t/>
            </a:r>
            <a:endParaRPr/>
          </a:p>
        </p:txBody>
      </p:sp>
      <p:sp>
        <p:nvSpPr>
          <p:cNvPr id="296" name="Google Shape;296;g315961fba6c_0_31:notes"/>
          <p:cNvSpPr txBox="1"/>
          <p:nvPr>
            <p:ph idx="12" type="sldNum"/>
          </p:nvPr>
        </p:nvSpPr>
        <p:spPr>
          <a:xfrm>
            <a:off x="4008705" y="8893297"/>
            <a:ext cx="3066600" cy="469800"/>
          </a:xfrm>
          <a:prstGeom prst="rect">
            <a:avLst/>
          </a:prstGeom>
        </p:spPr>
        <p:txBody>
          <a:bodyPr anchorCtr="0" anchor="b" bIns="46950" lIns="93925" spcFirstLastPara="1" rIns="93925" wrap="square" tIns="4695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157d447c70_0_451:notes"/>
          <p:cNvSpPr txBox="1"/>
          <p:nvPr>
            <p:ph idx="1" type="body"/>
          </p:nvPr>
        </p:nvSpPr>
        <p:spPr>
          <a:xfrm>
            <a:off x="707707" y="4505980"/>
            <a:ext cx="5661600" cy="3687000"/>
          </a:xfrm>
          <a:prstGeom prst="rect">
            <a:avLst/>
          </a:prstGeom>
        </p:spPr>
        <p:txBody>
          <a:bodyPr anchorCtr="0" anchor="t" bIns="46950" lIns="93925" spcFirstLastPara="1" rIns="93925" wrap="square" tIns="46950">
            <a:noAutofit/>
          </a:bodyPr>
          <a:lstStyle/>
          <a:p>
            <a:pPr indent="0" lvl="0" marL="0" rtl="0" algn="l">
              <a:spcBef>
                <a:spcPts val="0"/>
              </a:spcBef>
              <a:spcAft>
                <a:spcPts val="0"/>
              </a:spcAft>
              <a:buNone/>
            </a:pPr>
            <a:r>
              <a:t/>
            </a:r>
            <a:endParaRPr/>
          </a:p>
        </p:txBody>
      </p:sp>
      <p:sp>
        <p:nvSpPr>
          <p:cNvPr id="302" name="Google Shape;302;g3157d447c70_0_451:notes"/>
          <p:cNvSpPr/>
          <p:nvPr>
            <p:ph idx="2" type="sldImg"/>
          </p:nvPr>
        </p:nvSpPr>
        <p:spPr>
          <a:xfrm>
            <a:off x="707707" y="1170384"/>
            <a:ext cx="5661600" cy="3159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157d447c70_0_688: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3157d447c70_0_688:notes"/>
          <p:cNvSpPr txBox="1"/>
          <p:nvPr>
            <p:ph idx="1" type="body"/>
          </p:nvPr>
        </p:nvSpPr>
        <p:spPr>
          <a:xfrm>
            <a:off x="707708" y="4505980"/>
            <a:ext cx="5661600" cy="3686700"/>
          </a:xfrm>
          <a:prstGeom prst="rect">
            <a:avLst/>
          </a:prstGeom>
        </p:spPr>
        <p:txBody>
          <a:bodyPr anchorCtr="0" anchor="t" bIns="46950" lIns="93925" spcFirstLastPara="1" rIns="93925" wrap="square" tIns="46950">
            <a:noAutofit/>
          </a:bodyPr>
          <a:lstStyle/>
          <a:p>
            <a:pPr indent="0" lvl="0" marL="0" rtl="0" algn="l">
              <a:spcBef>
                <a:spcPts val="0"/>
              </a:spcBef>
              <a:spcAft>
                <a:spcPts val="0"/>
              </a:spcAft>
              <a:buNone/>
            </a:pPr>
            <a:r>
              <a:t/>
            </a:r>
            <a:endParaRPr/>
          </a:p>
        </p:txBody>
      </p:sp>
      <p:sp>
        <p:nvSpPr>
          <p:cNvPr id="315" name="Google Shape;315;g3157d447c70_0_688:notes"/>
          <p:cNvSpPr txBox="1"/>
          <p:nvPr>
            <p:ph idx="12" type="sldNum"/>
          </p:nvPr>
        </p:nvSpPr>
        <p:spPr>
          <a:xfrm>
            <a:off x="4008705" y="8893297"/>
            <a:ext cx="3066600" cy="469800"/>
          </a:xfrm>
          <a:prstGeom prst="rect">
            <a:avLst/>
          </a:prstGeom>
        </p:spPr>
        <p:txBody>
          <a:bodyPr anchorCtr="0" anchor="b" bIns="46950" lIns="93925" spcFirstLastPara="1" rIns="93925" wrap="square" tIns="4695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15961fba6c_0_58: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15961fba6c_0_58:notes"/>
          <p:cNvSpPr txBox="1"/>
          <p:nvPr>
            <p:ph idx="1" type="body"/>
          </p:nvPr>
        </p:nvSpPr>
        <p:spPr>
          <a:xfrm>
            <a:off x="707708" y="4505980"/>
            <a:ext cx="5661600" cy="3686700"/>
          </a:xfrm>
          <a:prstGeom prst="rect">
            <a:avLst/>
          </a:prstGeom>
        </p:spPr>
        <p:txBody>
          <a:bodyPr anchorCtr="0" anchor="t" bIns="46950" lIns="93925" spcFirstLastPara="1" rIns="93925" wrap="square" tIns="46950">
            <a:noAutofit/>
          </a:bodyPr>
          <a:lstStyle/>
          <a:p>
            <a:pPr indent="0" lvl="0" marL="0" rtl="0" algn="l">
              <a:spcBef>
                <a:spcPts val="0"/>
              </a:spcBef>
              <a:spcAft>
                <a:spcPts val="0"/>
              </a:spcAft>
              <a:buNone/>
            </a:pPr>
            <a:r>
              <a:t/>
            </a:r>
            <a:endParaRPr/>
          </a:p>
        </p:txBody>
      </p:sp>
      <p:sp>
        <p:nvSpPr>
          <p:cNvPr id="330" name="Google Shape;330;g315961fba6c_0_58:notes"/>
          <p:cNvSpPr txBox="1"/>
          <p:nvPr>
            <p:ph idx="12" type="sldNum"/>
          </p:nvPr>
        </p:nvSpPr>
        <p:spPr>
          <a:xfrm>
            <a:off x="4008705" y="8893297"/>
            <a:ext cx="3066600" cy="469800"/>
          </a:xfrm>
          <a:prstGeom prst="rect">
            <a:avLst/>
          </a:prstGeom>
        </p:spPr>
        <p:txBody>
          <a:bodyPr anchorCtr="0" anchor="b" bIns="46950" lIns="93925" spcFirstLastPara="1" rIns="93925" wrap="square" tIns="4695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29981c83788_0_37: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29981c83788_0_37:notes"/>
          <p:cNvSpPr txBox="1"/>
          <p:nvPr>
            <p:ph idx="1" type="body"/>
          </p:nvPr>
        </p:nvSpPr>
        <p:spPr>
          <a:xfrm>
            <a:off x="707708" y="4505980"/>
            <a:ext cx="5661600" cy="3686700"/>
          </a:xfrm>
          <a:prstGeom prst="rect">
            <a:avLst/>
          </a:prstGeom>
        </p:spPr>
        <p:txBody>
          <a:bodyPr anchorCtr="0" anchor="t" bIns="46950" lIns="93925" spcFirstLastPara="1" rIns="93925" wrap="square" tIns="46950">
            <a:noAutofit/>
          </a:bodyPr>
          <a:lstStyle/>
          <a:p>
            <a:pPr indent="0" lvl="0" marL="0" rtl="0" algn="l">
              <a:spcBef>
                <a:spcPts val="0"/>
              </a:spcBef>
              <a:spcAft>
                <a:spcPts val="0"/>
              </a:spcAft>
              <a:buNone/>
            </a:pPr>
            <a:r>
              <a:t/>
            </a:r>
            <a:endParaRPr/>
          </a:p>
        </p:txBody>
      </p:sp>
      <p:sp>
        <p:nvSpPr>
          <p:cNvPr id="340" name="Google Shape;340;g29981c83788_0_37:notes"/>
          <p:cNvSpPr txBox="1"/>
          <p:nvPr>
            <p:ph idx="12" type="sldNum"/>
          </p:nvPr>
        </p:nvSpPr>
        <p:spPr>
          <a:xfrm>
            <a:off x="4008705" y="8893297"/>
            <a:ext cx="3066600" cy="469800"/>
          </a:xfrm>
          <a:prstGeom prst="rect">
            <a:avLst/>
          </a:prstGeom>
        </p:spPr>
        <p:txBody>
          <a:bodyPr anchorCtr="0" anchor="b" bIns="46950" lIns="93925" spcFirstLastPara="1" rIns="93925" wrap="square" tIns="4695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12196808087_0_94: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1" name="Google Shape;351;g12196808087_0_94: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rPr lang="en-US"/>
              <a:t>Movie was provided by Zachary Swider, University of Wisconsin-Madison, USA. These are starfish cells in a developing embryo, they are at the blastula stage of development in this movie. The microtubules are labeled with 3xGFP-EMTB (Ensconsin Microtubule Binding Domain) and the DNA is labeled with mCherry-Histone H2B. The frames were originally captured at 18 sec/frame and the movie plays at 15 fps, so it's about 270x speed. The whole field of view is about 250 microns.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 microscopic video shows the coronavirus causing cell fusion and death in bat brain cells. (https://www.nytimes.com/2021/08/22/science/microscopic-bat-brain-virus.html)</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HeLa cells stained for DNA (blue, Hoechst44432), microtubules (green, anti-tubulin, alpaca anti-mouse-alexa 488) and F-actin (red, phalloidin-Abberior STAR Red). Acquired with multiplex mode of Zeiss Airyscan.</a:t>
            </a:r>
            <a:endParaRPr/>
          </a:p>
          <a:p>
            <a:pPr indent="0" lvl="0" marL="0" rtl="0" algn="l">
              <a:lnSpc>
                <a:spcPct val="100000"/>
              </a:lnSpc>
              <a:spcBef>
                <a:spcPts val="0"/>
              </a:spcBef>
              <a:spcAft>
                <a:spcPts val="0"/>
              </a:spcAft>
              <a:buSzPts val="1400"/>
              <a:buNone/>
            </a:pPr>
            <a:r>
              <a:t/>
            </a:r>
            <a:endParaRPr/>
          </a:p>
        </p:txBody>
      </p:sp>
      <p:sp>
        <p:nvSpPr>
          <p:cNvPr id="352" name="Google Shape;352;g12196808087_0_94: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12196808087_0_272: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371" name="Google Shape;371;g12196808087_0_272: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12196808087_0_466:notes"/>
          <p:cNvSpPr/>
          <p:nvPr>
            <p:ph idx="2" type="sldImg"/>
          </p:nvPr>
        </p:nvSpPr>
        <p:spPr>
          <a:xfrm>
            <a:off x="707707" y="1170384"/>
            <a:ext cx="5661600" cy="3159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1" name="Google Shape;381;g12196808087_0_466:notes"/>
          <p:cNvSpPr txBox="1"/>
          <p:nvPr>
            <p:ph idx="1" type="body"/>
          </p:nvPr>
        </p:nvSpPr>
        <p:spPr>
          <a:xfrm>
            <a:off x="707707" y="4505980"/>
            <a:ext cx="5661600" cy="3687000"/>
          </a:xfrm>
          <a:prstGeom prst="rect">
            <a:avLst/>
          </a:prstGeom>
          <a:noFill/>
          <a:ln>
            <a:noFill/>
          </a:ln>
        </p:spPr>
        <p:txBody>
          <a:bodyPr anchorCtr="0" anchor="t" bIns="47050" lIns="94100" spcFirstLastPara="1" rIns="94100" wrap="square" tIns="47050">
            <a:noAutofit/>
          </a:bodyPr>
          <a:lstStyle/>
          <a:p>
            <a:pPr indent="0" lvl="0" marL="0" rtl="0" algn="l">
              <a:lnSpc>
                <a:spcPct val="100000"/>
              </a:lnSpc>
              <a:spcBef>
                <a:spcPts val="0"/>
              </a:spcBef>
              <a:spcAft>
                <a:spcPts val="0"/>
              </a:spcAft>
              <a:buSzPts val="1400"/>
              <a:buNone/>
            </a:pPr>
            <a:r>
              <a:rPr lang="en-US"/>
              <a:t>S= Serine, T=Threonine, E=Glutamate</a:t>
            </a:r>
            <a:endParaRPr/>
          </a:p>
        </p:txBody>
      </p:sp>
      <p:sp>
        <p:nvSpPr>
          <p:cNvPr id="382" name="Google Shape;382;g12196808087_0_466:notes"/>
          <p:cNvSpPr txBox="1"/>
          <p:nvPr>
            <p:ph idx="12" type="sldNum"/>
          </p:nvPr>
        </p:nvSpPr>
        <p:spPr>
          <a:xfrm>
            <a:off x="4008705" y="8893297"/>
            <a:ext cx="3066600" cy="469800"/>
          </a:xfrm>
          <a:prstGeom prst="rect">
            <a:avLst/>
          </a:prstGeom>
          <a:noFill/>
          <a:ln>
            <a:noFill/>
          </a:ln>
        </p:spPr>
        <p:txBody>
          <a:bodyPr anchorCtr="0" anchor="b" bIns="47050" lIns="94100" spcFirstLastPara="1" rIns="94100" wrap="square" tIns="4705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157d447c70_0_24:notes"/>
          <p:cNvSpPr/>
          <p:nvPr>
            <p:ph idx="2" type="sldImg"/>
          </p:nvPr>
        </p:nvSpPr>
        <p:spPr>
          <a:xfrm>
            <a:off x="707707" y="1170384"/>
            <a:ext cx="5661600" cy="3159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6" name="Google Shape;406;g3157d447c70_0_24:notes"/>
          <p:cNvSpPr txBox="1"/>
          <p:nvPr>
            <p:ph idx="1" type="body"/>
          </p:nvPr>
        </p:nvSpPr>
        <p:spPr>
          <a:xfrm>
            <a:off x="707707" y="4505980"/>
            <a:ext cx="5661600" cy="3687000"/>
          </a:xfrm>
          <a:prstGeom prst="rect">
            <a:avLst/>
          </a:prstGeom>
          <a:noFill/>
          <a:ln>
            <a:noFill/>
          </a:ln>
        </p:spPr>
        <p:txBody>
          <a:bodyPr anchorCtr="0" anchor="t" bIns="47050" lIns="94100" spcFirstLastPara="1" rIns="94100" wrap="square" tIns="47050">
            <a:noAutofit/>
          </a:bodyPr>
          <a:lstStyle/>
          <a:p>
            <a:pPr indent="0" lvl="0" marL="0" rtl="0" algn="l">
              <a:spcBef>
                <a:spcPts val="0"/>
              </a:spcBef>
              <a:spcAft>
                <a:spcPts val="0"/>
              </a:spcAft>
              <a:buNone/>
            </a:pPr>
            <a:r>
              <a:rPr lang="en-US"/>
              <a:t>S=Serine; T=Threonine, I=Isoleucine, Y=Tyrosine, H=His, W=Tryptophan</a:t>
            </a:r>
            <a:endParaRPr/>
          </a:p>
        </p:txBody>
      </p:sp>
      <p:sp>
        <p:nvSpPr>
          <p:cNvPr id="407" name="Google Shape;407;g3157d447c70_0_24:notes"/>
          <p:cNvSpPr txBox="1"/>
          <p:nvPr>
            <p:ph idx="12" type="sldNum"/>
          </p:nvPr>
        </p:nvSpPr>
        <p:spPr>
          <a:xfrm>
            <a:off x="4008705" y="8893296"/>
            <a:ext cx="3066600" cy="469800"/>
          </a:xfrm>
          <a:prstGeom prst="rect">
            <a:avLst/>
          </a:prstGeom>
          <a:noFill/>
          <a:ln>
            <a:noFill/>
          </a:ln>
        </p:spPr>
        <p:txBody>
          <a:bodyPr anchorCtr="0" anchor="b" bIns="47050" lIns="94100" spcFirstLastPara="1" rIns="94100" wrap="square" tIns="4705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157d447c70_0_35:notes"/>
          <p:cNvSpPr/>
          <p:nvPr>
            <p:ph idx="2" type="sldImg"/>
          </p:nvPr>
        </p:nvSpPr>
        <p:spPr>
          <a:xfrm>
            <a:off x="707707" y="1170384"/>
            <a:ext cx="5661600" cy="31599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3157d447c70_0_35:notes"/>
          <p:cNvSpPr txBox="1"/>
          <p:nvPr>
            <p:ph idx="1" type="body"/>
          </p:nvPr>
        </p:nvSpPr>
        <p:spPr>
          <a:xfrm>
            <a:off x="707707" y="4505980"/>
            <a:ext cx="5661600" cy="3687000"/>
          </a:xfrm>
          <a:prstGeom prst="rect">
            <a:avLst/>
          </a:prstGeom>
        </p:spPr>
        <p:txBody>
          <a:bodyPr anchorCtr="0" anchor="t" bIns="46950" lIns="93925" spcFirstLastPara="1" rIns="93925" wrap="square" tIns="46950">
            <a:noAutofit/>
          </a:bodyPr>
          <a:lstStyle/>
          <a:p>
            <a:pPr indent="0" lvl="0" marL="0" rtl="0" algn="l">
              <a:spcBef>
                <a:spcPts val="0"/>
              </a:spcBef>
              <a:spcAft>
                <a:spcPts val="0"/>
              </a:spcAft>
              <a:buNone/>
            </a:pPr>
            <a:r>
              <a:t/>
            </a:r>
            <a:endParaRPr/>
          </a:p>
        </p:txBody>
      </p:sp>
      <p:sp>
        <p:nvSpPr>
          <p:cNvPr id="419" name="Google Shape;419;g3157d447c70_0_35:notes"/>
          <p:cNvSpPr txBox="1"/>
          <p:nvPr>
            <p:ph idx="12" type="sldNum"/>
          </p:nvPr>
        </p:nvSpPr>
        <p:spPr>
          <a:xfrm>
            <a:off x="4008705" y="8893296"/>
            <a:ext cx="3066600" cy="469800"/>
          </a:xfrm>
          <a:prstGeom prst="rect">
            <a:avLst/>
          </a:prstGeom>
        </p:spPr>
        <p:txBody>
          <a:bodyPr anchorCtr="0" anchor="b" bIns="46950" lIns="93925" spcFirstLastPara="1" rIns="93925" wrap="square" tIns="4695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157d447c70_0_115:notes"/>
          <p:cNvSpPr txBox="1"/>
          <p:nvPr>
            <p:ph idx="1" type="body"/>
          </p:nvPr>
        </p:nvSpPr>
        <p:spPr>
          <a:xfrm>
            <a:off x="707707" y="4505980"/>
            <a:ext cx="5661600" cy="3687000"/>
          </a:xfrm>
          <a:prstGeom prst="rect">
            <a:avLst/>
          </a:prstGeom>
        </p:spPr>
        <p:txBody>
          <a:bodyPr anchorCtr="0" anchor="t" bIns="46950" lIns="93925" spcFirstLastPara="1" rIns="93925" wrap="square" tIns="46950">
            <a:noAutofit/>
          </a:bodyPr>
          <a:lstStyle/>
          <a:p>
            <a:pPr indent="0" lvl="0" marL="0" rtl="0" algn="l">
              <a:spcBef>
                <a:spcPts val="0"/>
              </a:spcBef>
              <a:spcAft>
                <a:spcPts val="0"/>
              </a:spcAft>
              <a:buNone/>
            </a:pPr>
            <a:r>
              <a:t/>
            </a:r>
            <a:endParaRPr/>
          </a:p>
        </p:txBody>
      </p:sp>
      <p:sp>
        <p:nvSpPr>
          <p:cNvPr id="424" name="Google Shape;424;g3157d447c70_0_115:notes"/>
          <p:cNvSpPr/>
          <p:nvPr>
            <p:ph idx="2" type="sldImg"/>
          </p:nvPr>
        </p:nvSpPr>
        <p:spPr>
          <a:xfrm>
            <a:off x="707707" y="1170384"/>
            <a:ext cx="5661600" cy="3159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157d447c70_0_124:notes"/>
          <p:cNvSpPr txBox="1"/>
          <p:nvPr>
            <p:ph idx="1" type="body"/>
          </p:nvPr>
        </p:nvSpPr>
        <p:spPr>
          <a:xfrm>
            <a:off x="707707" y="4505980"/>
            <a:ext cx="5661600" cy="3687000"/>
          </a:xfrm>
          <a:prstGeom prst="rect">
            <a:avLst/>
          </a:prstGeom>
        </p:spPr>
        <p:txBody>
          <a:bodyPr anchorCtr="0" anchor="t" bIns="46950" lIns="93925" spcFirstLastPara="1" rIns="93925" wrap="square" tIns="46950">
            <a:noAutofit/>
          </a:bodyPr>
          <a:lstStyle/>
          <a:p>
            <a:pPr indent="0" lvl="0" marL="0" rtl="0" algn="l">
              <a:spcBef>
                <a:spcPts val="0"/>
              </a:spcBef>
              <a:spcAft>
                <a:spcPts val="0"/>
              </a:spcAft>
              <a:buNone/>
            </a:pPr>
            <a:r>
              <a:t/>
            </a:r>
            <a:endParaRPr/>
          </a:p>
        </p:txBody>
      </p:sp>
      <p:sp>
        <p:nvSpPr>
          <p:cNvPr id="433" name="Google Shape;433;g3157d447c70_0_124:notes"/>
          <p:cNvSpPr/>
          <p:nvPr>
            <p:ph idx="2" type="sldImg"/>
          </p:nvPr>
        </p:nvSpPr>
        <p:spPr>
          <a:xfrm>
            <a:off x="707707" y="1170384"/>
            <a:ext cx="5661600" cy="3159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12196808087_0_659:notes"/>
          <p:cNvSpPr txBox="1"/>
          <p:nvPr>
            <p:ph idx="1" type="body"/>
          </p:nvPr>
        </p:nvSpPr>
        <p:spPr>
          <a:xfrm>
            <a:off x="707707" y="4505980"/>
            <a:ext cx="5661600" cy="36870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438" name="Google Shape;438;g12196808087_0_659:notes"/>
          <p:cNvSpPr/>
          <p:nvPr>
            <p:ph idx="2" type="sldImg"/>
          </p:nvPr>
        </p:nvSpPr>
        <p:spPr>
          <a:xfrm>
            <a:off x="707707" y="1170384"/>
            <a:ext cx="5661600" cy="3159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12196808087_0_738:notes"/>
          <p:cNvSpPr txBox="1"/>
          <p:nvPr>
            <p:ph idx="1" type="body"/>
          </p:nvPr>
        </p:nvSpPr>
        <p:spPr>
          <a:xfrm>
            <a:off x="707707" y="4505980"/>
            <a:ext cx="5661600" cy="36870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445" name="Google Shape;445;g12196808087_0_738:notes"/>
          <p:cNvSpPr/>
          <p:nvPr>
            <p:ph idx="2" type="sldImg"/>
          </p:nvPr>
        </p:nvSpPr>
        <p:spPr>
          <a:xfrm>
            <a:off x="707707" y="1170384"/>
            <a:ext cx="5661600" cy="3159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12196808087_0_832:notes"/>
          <p:cNvSpPr txBox="1"/>
          <p:nvPr>
            <p:ph idx="1" type="body"/>
          </p:nvPr>
        </p:nvSpPr>
        <p:spPr>
          <a:xfrm>
            <a:off x="707707" y="4505980"/>
            <a:ext cx="5661600" cy="36870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464" name="Google Shape;464;g12196808087_0_832:notes"/>
          <p:cNvSpPr/>
          <p:nvPr>
            <p:ph idx="2" type="sldImg"/>
          </p:nvPr>
        </p:nvSpPr>
        <p:spPr>
          <a:xfrm>
            <a:off x="707707" y="1170384"/>
            <a:ext cx="5661600" cy="3159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1219bf80b5f_0_0: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539" name="Google Shape;539;g1219bf80b5f_0_0: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3a2fdaac686_0_0: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3a2fdaac686_0_0:notes"/>
          <p:cNvSpPr txBox="1"/>
          <p:nvPr>
            <p:ph idx="1" type="body"/>
          </p:nvPr>
        </p:nvSpPr>
        <p:spPr>
          <a:xfrm>
            <a:off x="707708" y="4505980"/>
            <a:ext cx="5661600" cy="3686700"/>
          </a:xfrm>
          <a:prstGeom prst="rect">
            <a:avLst/>
          </a:prstGeom>
        </p:spPr>
        <p:txBody>
          <a:bodyPr anchorCtr="0" anchor="t" bIns="46950" lIns="93925" spcFirstLastPara="1" rIns="93925" wrap="square" tIns="46950">
            <a:noAutofit/>
          </a:bodyPr>
          <a:lstStyle/>
          <a:p>
            <a:pPr indent="0" lvl="0" marL="0" rtl="0" algn="l">
              <a:spcBef>
                <a:spcPts val="0"/>
              </a:spcBef>
              <a:spcAft>
                <a:spcPts val="0"/>
              </a:spcAft>
              <a:buNone/>
            </a:pPr>
            <a:r>
              <a:t/>
            </a:r>
            <a:endParaRPr/>
          </a:p>
        </p:txBody>
      </p:sp>
      <p:sp>
        <p:nvSpPr>
          <p:cNvPr id="546" name="Google Shape;546;g3a2fdaac686_0_0:notes"/>
          <p:cNvSpPr txBox="1"/>
          <p:nvPr>
            <p:ph idx="12" type="sldNum"/>
          </p:nvPr>
        </p:nvSpPr>
        <p:spPr>
          <a:xfrm>
            <a:off x="4008705" y="8893297"/>
            <a:ext cx="3066600" cy="469800"/>
          </a:xfrm>
          <a:prstGeom prst="rect">
            <a:avLst/>
          </a:prstGeom>
        </p:spPr>
        <p:txBody>
          <a:bodyPr anchorCtr="0" anchor="b" bIns="46950" lIns="93925" spcFirstLastPara="1" rIns="93925" wrap="square" tIns="4695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12196808087_0_1669: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1" name="Google Shape;551;g12196808087_0_1669: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552" name="Google Shape;552;g12196808087_0_1669: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12196808087_0_385:notes"/>
          <p:cNvSpPr txBox="1"/>
          <p:nvPr>
            <p:ph idx="1" type="body"/>
          </p:nvPr>
        </p:nvSpPr>
        <p:spPr>
          <a:xfrm>
            <a:off x="707707" y="4505980"/>
            <a:ext cx="5661600" cy="36870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563" name="Google Shape;563;g12196808087_0_385:notes"/>
          <p:cNvSpPr/>
          <p:nvPr>
            <p:ph idx="2" type="sldImg"/>
          </p:nvPr>
        </p:nvSpPr>
        <p:spPr>
          <a:xfrm>
            <a:off x="707707" y="1170384"/>
            <a:ext cx="5661600" cy="3159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12196808087_0_981:notes"/>
          <p:cNvSpPr txBox="1"/>
          <p:nvPr>
            <p:ph idx="1" type="body"/>
          </p:nvPr>
        </p:nvSpPr>
        <p:spPr>
          <a:xfrm>
            <a:off x="707707" y="4505980"/>
            <a:ext cx="5661600" cy="36870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572" name="Google Shape;572;g12196808087_0_981:notes"/>
          <p:cNvSpPr/>
          <p:nvPr>
            <p:ph idx="2" type="sldImg"/>
          </p:nvPr>
        </p:nvSpPr>
        <p:spPr>
          <a:xfrm>
            <a:off x="707707" y="1170384"/>
            <a:ext cx="5661600" cy="3159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12196808087_0_1008:notes"/>
          <p:cNvSpPr txBox="1"/>
          <p:nvPr>
            <p:ph idx="1" type="body"/>
          </p:nvPr>
        </p:nvSpPr>
        <p:spPr>
          <a:xfrm>
            <a:off x="707707" y="4505980"/>
            <a:ext cx="5661600" cy="36870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600" name="Google Shape;600;g12196808087_0_1008:notes"/>
          <p:cNvSpPr/>
          <p:nvPr>
            <p:ph idx="2" type="sldImg"/>
          </p:nvPr>
        </p:nvSpPr>
        <p:spPr>
          <a:xfrm>
            <a:off x="707707" y="1170384"/>
            <a:ext cx="5661600" cy="3159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12196808087_0_1146:notes"/>
          <p:cNvSpPr txBox="1"/>
          <p:nvPr>
            <p:ph idx="1" type="body"/>
          </p:nvPr>
        </p:nvSpPr>
        <p:spPr>
          <a:xfrm>
            <a:off x="707707" y="4505980"/>
            <a:ext cx="5661600" cy="36870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612" name="Google Shape;612;g12196808087_0_1146:notes"/>
          <p:cNvSpPr/>
          <p:nvPr>
            <p:ph idx="2" type="sldImg"/>
          </p:nvPr>
        </p:nvSpPr>
        <p:spPr>
          <a:xfrm>
            <a:off x="707707" y="1170384"/>
            <a:ext cx="5661600" cy="3159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12196808087_0_1391:notes"/>
          <p:cNvSpPr txBox="1"/>
          <p:nvPr>
            <p:ph idx="1" type="body"/>
          </p:nvPr>
        </p:nvSpPr>
        <p:spPr>
          <a:xfrm>
            <a:off x="707707" y="4505980"/>
            <a:ext cx="5661600" cy="3687000"/>
          </a:xfrm>
          <a:prstGeom prst="rect">
            <a:avLst/>
          </a:prstGeom>
          <a:noFill/>
          <a:ln>
            <a:noFill/>
          </a:ln>
        </p:spPr>
        <p:txBody>
          <a:bodyPr anchorCtr="0" anchor="t" bIns="47050" lIns="94100" spcFirstLastPara="1" rIns="94100" wrap="square" tIns="47050">
            <a:noAutofit/>
          </a:bodyPr>
          <a:lstStyle/>
          <a:p>
            <a:pPr indent="0" lvl="0" marL="0" rtl="0" algn="l">
              <a:lnSpc>
                <a:spcPct val="100000"/>
              </a:lnSpc>
              <a:spcBef>
                <a:spcPts val="0"/>
              </a:spcBef>
              <a:spcAft>
                <a:spcPts val="0"/>
              </a:spcAft>
              <a:buSzPts val="1400"/>
              <a:buNone/>
            </a:pPr>
            <a:r>
              <a:t/>
            </a:r>
            <a:endParaRPr/>
          </a:p>
        </p:txBody>
      </p:sp>
      <p:sp>
        <p:nvSpPr>
          <p:cNvPr id="623" name="Google Shape;623;g12196808087_0_1391:notes"/>
          <p:cNvSpPr/>
          <p:nvPr>
            <p:ph idx="2" type="sldImg"/>
          </p:nvPr>
        </p:nvSpPr>
        <p:spPr>
          <a:xfrm>
            <a:off x="707707" y="1170384"/>
            <a:ext cx="5661600" cy="3159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12196808087_0_1231:notes"/>
          <p:cNvSpPr txBox="1"/>
          <p:nvPr>
            <p:ph idx="1" type="body"/>
          </p:nvPr>
        </p:nvSpPr>
        <p:spPr>
          <a:xfrm>
            <a:off x="707707" y="4505980"/>
            <a:ext cx="5661600" cy="36870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646" name="Google Shape;646;g12196808087_0_1231:notes"/>
          <p:cNvSpPr/>
          <p:nvPr>
            <p:ph idx="2" type="sldImg"/>
          </p:nvPr>
        </p:nvSpPr>
        <p:spPr>
          <a:xfrm>
            <a:off x="707707" y="1170384"/>
            <a:ext cx="5661600" cy="3159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g12196808087_0_1479:notes"/>
          <p:cNvSpPr/>
          <p:nvPr>
            <p:ph idx="2" type="sldImg"/>
          </p:nvPr>
        </p:nvSpPr>
        <p:spPr>
          <a:xfrm>
            <a:off x="707707" y="1170384"/>
            <a:ext cx="5661600" cy="3159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3" name="Google Shape;703;g12196808087_0_1479:notes"/>
          <p:cNvSpPr txBox="1"/>
          <p:nvPr>
            <p:ph idx="1" type="body"/>
          </p:nvPr>
        </p:nvSpPr>
        <p:spPr>
          <a:xfrm>
            <a:off x="707707" y="4505980"/>
            <a:ext cx="5661600" cy="3687000"/>
          </a:xfrm>
          <a:prstGeom prst="rect">
            <a:avLst/>
          </a:prstGeom>
          <a:noFill/>
          <a:ln>
            <a:noFill/>
          </a:ln>
        </p:spPr>
        <p:txBody>
          <a:bodyPr anchorCtr="0" anchor="t" bIns="47050" lIns="94100" spcFirstLastPara="1" rIns="94100" wrap="square" tIns="47050">
            <a:noAutofit/>
          </a:bodyPr>
          <a:lstStyle/>
          <a:p>
            <a:pPr indent="-228600" lvl="0" marL="469900" marR="0" rtl="0" algn="l">
              <a:lnSpc>
                <a:spcPct val="100000"/>
              </a:lnSpc>
              <a:spcBef>
                <a:spcPts val="0"/>
              </a:spcBef>
              <a:spcAft>
                <a:spcPts val="0"/>
              </a:spcAft>
              <a:buSzPts val="14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g12196808087_0_1574:notes"/>
          <p:cNvSpPr/>
          <p:nvPr>
            <p:ph idx="2" type="sldImg"/>
          </p:nvPr>
        </p:nvSpPr>
        <p:spPr>
          <a:xfrm>
            <a:off x="707707" y="1170384"/>
            <a:ext cx="5661600" cy="3159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5" name="Google Shape;715;g12196808087_0_1574:notes"/>
          <p:cNvSpPr txBox="1"/>
          <p:nvPr>
            <p:ph idx="1" type="body"/>
          </p:nvPr>
        </p:nvSpPr>
        <p:spPr>
          <a:xfrm>
            <a:off x="707707" y="4505980"/>
            <a:ext cx="5661600" cy="36870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716" name="Google Shape;716;g12196808087_0_1574: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3"/>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25"/>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25"/>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25"/>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9"/>
          <p:cNvSpPr/>
          <p:nvPr>
            <p:ph idx="2" type="pic"/>
          </p:nvPr>
        </p:nvSpPr>
        <p:spPr>
          <a:xfrm>
            <a:off x="5183188" y="987425"/>
            <a:ext cx="6172200" cy="4873625"/>
          </a:xfrm>
          <a:prstGeom prst="rect">
            <a:avLst/>
          </a:prstGeom>
          <a:noFill/>
          <a:ln>
            <a:noFill/>
          </a:ln>
        </p:spPr>
      </p:sp>
      <p:sp>
        <p:nvSpPr>
          <p:cNvPr id="68" name="Google Shape;68;p2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0" name="Shape 90"/>
        <p:cNvGrpSpPr/>
        <p:nvPr/>
      </p:nvGrpSpPr>
      <p:grpSpPr>
        <a:xfrm>
          <a:off x="0" y="0"/>
          <a:ext cx="0" cy="0"/>
          <a:chOff x="0" y="0"/>
          <a:chExt cx="0" cy="0"/>
        </a:xfrm>
      </p:grpSpPr>
      <p:sp>
        <p:nvSpPr>
          <p:cNvPr id="91" name="Google Shape;91;g12196808087_0_12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g12196808087_0_125"/>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 name="Google Shape;93;g12196808087_0_125"/>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g12196808087_0_12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g12196808087_0_12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g12196808087_0_15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g12196808087_0_15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g12196808087_0_15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0" name="Shape 100"/>
        <p:cNvGrpSpPr/>
        <p:nvPr/>
      </p:nvGrpSpPr>
      <p:grpSpPr>
        <a:xfrm>
          <a:off x="0" y="0"/>
          <a:ext cx="0" cy="0"/>
          <a:chOff x="0" y="0"/>
          <a:chExt cx="0" cy="0"/>
        </a:xfrm>
      </p:grpSpPr>
      <p:sp>
        <p:nvSpPr>
          <p:cNvPr id="101" name="Google Shape;101;g12196808087_0_119"/>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g12196808087_0_119"/>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03" name="Google Shape;103;g12196808087_0_119"/>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g12196808087_0_11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g12196808087_0_11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6" name="Shape 106"/>
        <p:cNvGrpSpPr/>
        <p:nvPr/>
      </p:nvGrpSpPr>
      <p:grpSpPr>
        <a:xfrm>
          <a:off x="0" y="0"/>
          <a:ext cx="0" cy="0"/>
          <a:chOff x="0" y="0"/>
          <a:chExt cx="0" cy="0"/>
        </a:xfrm>
      </p:grpSpPr>
      <p:sp>
        <p:nvSpPr>
          <p:cNvPr id="107" name="Google Shape;107;g12196808087_0_131"/>
          <p:cNvSpPr txBox="1"/>
          <p:nvPr>
            <p:ph type="title"/>
          </p:nvPr>
        </p:nvSpPr>
        <p:spPr>
          <a:xfrm>
            <a:off x="831850" y="1709738"/>
            <a:ext cx="10515600" cy="28527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g12196808087_0_131"/>
          <p:cNvSpPr txBox="1"/>
          <p:nvPr>
            <p:ph idx="1" type="body"/>
          </p:nvPr>
        </p:nvSpPr>
        <p:spPr>
          <a:xfrm>
            <a:off x="831850" y="4589463"/>
            <a:ext cx="10515600" cy="1500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09" name="Google Shape;109;g12196808087_0_131"/>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g12196808087_0_13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g12196808087_0_13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2" name="Shape 112"/>
        <p:cNvGrpSpPr/>
        <p:nvPr/>
      </p:nvGrpSpPr>
      <p:grpSpPr>
        <a:xfrm>
          <a:off x="0" y="0"/>
          <a:ext cx="0" cy="0"/>
          <a:chOff x="0" y="0"/>
          <a:chExt cx="0" cy="0"/>
        </a:xfrm>
      </p:grpSpPr>
      <p:sp>
        <p:nvSpPr>
          <p:cNvPr id="113" name="Google Shape;113;g12196808087_0_13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g12196808087_0_137"/>
          <p:cNvSpPr txBox="1"/>
          <p:nvPr>
            <p:ph idx="1" type="body"/>
          </p:nvPr>
        </p:nvSpPr>
        <p:spPr>
          <a:xfrm>
            <a:off x="838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5" name="Google Shape;115;g12196808087_0_137"/>
          <p:cNvSpPr txBox="1"/>
          <p:nvPr>
            <p:ph idx="2" type="body"/>
          </p:nvPr>
        </p:nvSpPr>
        <p:spPr>
          <a:xfrm>
            <a:off x="6172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6" name="Google Shape;116;g12196808087_0_137"/>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g12196808087_0_13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g12196808087_0_13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9" name="Shape 119"/>
        <p:cNvGrpSpPr/>
        <p:nvPr/>
      </p:nvGrpSpPr>
      <p:grpSpPr>
        <a:xfrm>
          <a:off x="0" y="0"/>
          <a:ext cx="0" cy="0"/>
          <a:chOff x="0" y="0"/>
          <a:chExt cx="0" cy="0"/>
        </a:xfrm>
      </p:grpSpPr>
      <p:sp>
        <p:nvSpPr>
          <p:cNvPr id="120" name="Google Shape;120;g12196808087_0_144"/>
          <p:cNvSpPr txBox="1"/>
          <p:nvPr>
            <p:ph type="title"/>
          </p:nvPr>
        </p:nvSpPr>
        <p:spPr>
          <a:xfrm>
            <a:off x="839788"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g12196808087_0_144"/>
          <p:cNvSpPr txBox="1"/>
          <p:nvPr>
            <p:ph idx="1" type="body"/>
          </p:nvPr>
        </p:nvSpPr>
        <p:spPr>
          <a:xfrm>
            <a:off x="839788" y="1681163"/>
            <a:ext cx="51579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22" name="Google Shape;122;g12196808087_0_144"/>
          <p:cNvSpPr txBox="1"/>
          <p:nvPr>
            <p:ph idx="2" type="body"/>
          </p:nvPr>
        </p:nvSpPr>
        <p:spPr>
          <a:xfrm>
            <a:off x="839788" y="2505075"/>
            <a:ext cx="51579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3" name="Google Shape;123;g12196808087_0_144"/>
          <p:cNvSpPr txBox="1"/>
          <p:nvPr>
            <p:ph idx="3" type="body"/>
          </p:nvPr>
        </p:nvSpPr>
        <p:spPr>
          <a:xfrm>
            <a:off x="6172200" y="1681163"/>
            <a:ext cx="51831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24" name="Google Shape;124;g12196808087_0_144"/>
          <p:cNvSpPr txBox="1"/>
          <p:nvPr>
            <p:ph idx="4" type="body"/>
          </p:nvPr>
        </p:nvSpPr>
        <p:spPr>
          <a:xfrm>
            <a:off x="6172200" y="2505075"/>
            <a:ext cx="51831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5" name="Google Shape;125;g12196808087_0_14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g12196808087_0_14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g12196808087_0_14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8" name="Shape 128"/>
        <p:cNvGrpSpPr/>
        <p:nvPr/>
      </p:nvGrpSpPr>
      <p:grpSpPr>
        <a:xfrm>
          <a:off x="0" y="0"/>
          <a:ext cx="0" cy="0"/>
          <a:chOff x="0" y="0"/>
          <a:chExt cx="0" cy="0"/>
        </a:xfrm>
      </p:grpSpPr>
      <p:sp>
        <p:nvSpPr>
          <p:cNvPr id="129" name="Google Shape;129;g12196808087_0_15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0" name="Google Shape;130;g12196808087_0_153"/>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g12196808087_0_15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g12196808087_0_15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3" name="Shape 133"/>
        <p:cNvGrpSpPr/>
        <p:nvPr/>
      </p:nvGrpSpPr>
      <p:grpSpPr>
        <a:xfrm>
          <a:off x="0" y="0"/>
          <a:ext cx="0" cy="0"/>
          <a:chOff x="0" y="0"/>
          <a:chExt cx="0" cy="0"/>
        </a:xfrm>
      </p:grpSpPr>
      <p:sp>
        <p:nvSpPr>
          <p:cNvPr id="134" name="Google Shape;134;g12196808087_0_162"/>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g12196808087_0_162"/>
          <p:cNvSpPr txBox="1"/>
          <p:nvPr>
            <p:ph idx="1" type="body"/>
          </p:nvPr>
        </p:nvSpPr>
        <p:spPr>
          <a:xfrm>
            <a:off x="5183188" y="987425"/>
            <a:ext cx="6172200" cy="487350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36" name="Google Shape;136;g12196808087_0_162"/>
          <p:cNvSpPr txBox="1"/>
          <p:nvPr>
            <p:ph idx="2"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37" name="Google Shape;137;g12196808087_0_162"/>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g12196808087_0_16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g12196808087_0_16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0" name="Shape 140"/>
        <p:cNvGrpSpPr/>
        <p:nvPr/>
      </p:nvGrpSpPr>
      <p:grpSpPr>
        <a:xfrm>
          <a:off x="0" y="0"/>
          <a:ext cx="0" cy="0"/>
          <a:chOff x="0" y="0"/>
          <a:chExt cx="0" cy="0"/>
        </a:xfrm>
      </p:grpSpPr>
      <p:sp>
        <p:nvSpPr>
          <p:cNvPr id="141" name="Google Shape;141;g12196808087_0_169"/>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g12196808087_0_169"/>
          <p:cNvSpPr/>
          <p:nvPr>
            <p:ph idx="2" type="pic"/>
          </p:nvPr>
        </p:nvSpPr>
        <p:spPr>
          <a:xfrm>
            <a:off x="5183188" y="987425"/>
            <a:ext cx="6172200" cy="4873500"/>
          </a:xfrm>
          <a:prstGeom prst="rect">
            <a:avLst/>
          </a:prstGeom>
          <a:noFill/>
          <a:ln>
            <a:noFill/>
          </a:ln>
        </p:spPr>
      </p:sp>
      <p:sp>
        <p:nvSpPr>
          <p:cNvPr id="143" name="Google Shape;143;g12196808087_0_169"/>
          <p:cNvSpPr txBox="1"/>
          <p:nvPr>
            <p:ph idx="1"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44" name="Google Shape;144;g12196808087_0_169"/>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g12196808087_0_16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g12196808087_0_16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7" name="Shape 147"/>
        <p:cNvGrpSpPr/>
        <p:nvPr/>
      </p:nvGrpSpPr>
      <p:grpSpPr>
        <a:xfrm>
          <a:off x="0" y="0"/>
          <a:ext cx="0" cy="0"/>
          <a:chOff x="0" y="0"/>
          <a:chExt cx="0" cy="0"/>
        </a:xfrm>
      </p:grpSpPr>
      <p:sp>
        <p:nvSpPr>
          <p:cNvPr id="148" name="Google Shape;148;g12196808087_0_17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9" name="Google Shape;149;g12196808087_0_176"/>
          <p:cNvSpPr txBox="1"/>
          <p:nvPr>
            <p:ph idx="1" type="body"/>
          </p:nvPr>
        </p:nvSpPr>
        <p:spPr>
          <a:xfrm rot="5400000">
            <a:off x="3920400" y="-1256575"/>
            <a:ext cx="4351200"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0" name="Google Shape;150;g12196808087_0_176"/>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1" name="Google Shape;151;g12196808087_0_17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2" name="Google Shape;152;g12196808087_0_17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3" name="Shape 153"/>
        <p:cNvGrpSpPr/>
        <p:nvPr/>
      </p:nvGrpSpPr>
      <p:grpSpPr>
        <a:xfrm>
          <a:off x="0" y="0"/>
          <a:ext cx="0" cy="0"/>
          <a:chOff x="0" y="0"/>
          <a:chExt cx="0" cy="0"/>
        </a:xfrm>
      </p:grpSpPr>
      <p:sp>
        <p:nvSpPr>
          <p:cNvPr id="154" name="Google Shape;154;g12196808087_0_182"/>
          <p:cNvSpPr txBox="1"/>
          <p:nvPr>
            <p:ph type="title"/>
          </p:nvPr>
        </p:nvSpPr>
        <p:spPr>
          <a:xfrm rot="5400000">
            <a:off x="7133400" y="1956625"/>
            <a:ext cx="5811900"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5" name="Google Shape;155;g12196808087_0_182"/>
          <p:cNvSpPr txBox="1"/>
          <p:nvPr>
            <p:ph idx="1" type="body"/>
          </p:nvPr>
        </p:nvSpPr>
        <p:spPr>
          <a:xfrm rot="5400000">
            <a:off x="1799400" y="-596075"/>
            <a:ext cx="5811900"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6" name="Google Shape;156;g12196808087_0_182"/>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7" name="Google Shape;157;g12196808087_0_18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8" name="Google Shape;158;g12196808087_0_18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 name="Shape 84"/>
        <p:cNvGrpSpPr/>
        <p:nvPr/>
      </p:nvGrpSpPr>
      <p:grpSpPr>
        <a:xfrm>
          <a:off x="0" y="0"/>
          <a:ext cx="0" cy="0"/>
          <a:chOff x="0" y="0"/>
          <a:chExt cx="0" cy="0"/>
        </a:xfrm>
      </p:grpSpPr>
      <p:sp>
        <p:nvSpPr>
          <p:cNvPr id="85" name="Google Shape;85;g12196808087_0_11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g12196808087_0_113"/>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7" name="Google Shape;87;g12196808087_0_113"/>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8" name="Google Shape;88;g12196808087_0_11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9" name="Google Shape;89;g12196808087_0_11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hyperlink" Target="mailto:gunjanmehta@bt.iith.ac.i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47.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2.jpg"/><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23.jpg"/><Relationship Id="rId4" Type="http://schemas.openxmlformats.org/officeDocument/2006/relationships/hyperlink" Target="https://www.youtube.com/watch?v=iQsu3Kz9NYo"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2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4.jpg"/><Relationship Id="rId4" Type="http://schemas.openxmlformats.org/officeDocument/2006/relationships/image" Target="../media/image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1.png"/><Relationship Id="rId5"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9.jpg"/><Relationship Id="rId4" Type="http://schemas.openxmlformats.org/officeDocument/2006/relationships/image" Target="../media/image32.jpg"/><Relationship Id="rId5" Type="http://schemas.openxmlformats.org/officeDocument/2006/relationships/image" Target="../media/image1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19.png"/><Relationship Id="rId5" Type="http://schemas.openxmlformats.org/officeDocument/2006/relationships/image" Target="../media/image2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21.jpg"/><Relationship Id="rId4" Type="http://schemas.openxmlformats.org/officeDocument/2006/relationships/image" Target="../media/image2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10.png"/><Relationship Id="rId4" Type="http://schemas.openxmlformats.org/officeDocument/2006/relationships/image" Target="../media/image18.png"/><Relationship Id="rId5"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20.png"/><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29.png"/><Relationship Id="rId4" Type="http://schemas.openxmlformats.org/officeDocument/2006/relationships/image" Target="../media/image30.png"/><Relationship Id="rId10" Type="http://schemas.openxmlformats.org/officeDocument/2006/relationships/image" Target="../media/image40.png"/><Relationship Id="rId9" Type="http://schemas.openxmlformats.org/officeDocument/2006/relationships/hyperlink" Target="https://youtu.be/RQ6vkDr_Dec" TargetMode="External"/><Relationship Id="rId5" Type="http://schemas.openxmlformats.org/officeDocument/2006/relationships/image" Target="../media/image25.jpg"/><Relationship Id="rId6" Type="http://schemas.openxmlformats.org/officeDocument/2006/relationships/hyperlink" Target="https://youtu.be/Jo7MvM_IXa8" TargetMode="External"/><Relationship Id="rId7" Type="http://schemas.openxmlformats.org/officeDocument/2006/relationships/hyperlink" Target="https://youtu.be/pof6ywsTK6Y" TargetMode="External"/><Relationship Id="rId8" Type="http://schemas.openxmlformats.org/officeDocument/2006/relationships/hyperlink" Target="https://youtu.be/ed6OkXi6M5Q"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35.png"/><Relationship Id="rId4" Type="http://schemas.openxmlformats.org/officeDocument/2006/relationships/image" Target="../media/image3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34.jpg"/><Relationship Id="rId4" Type="http://schemas.openxmlformats.org/officeDocument/2006/relationships/image" Target="../media/image31.gif"/><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4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43.jpg"/><Relationship Id="rId4" Type="http://schemas.openxmlformats.org/officeDocument/2006/relationships/hyperlink" Target="https://www.leica-microsystems.com/science-lab/fluorescent-proteins-introduction-and-photo-spectral-characteristics/" TargetMode="External"/><Relationship Id="rId5" Type="http://schemas.openxmlformats.org/officeDocument/2006/relationships/image" Target="../media/image3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3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45.gif"/><Relationship Id="rId4" Type="http://schemas.openxmlformats.org/officeDocument/2006/relationships/image" Target="../media/image4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48.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46.png"/><Relationship Id="rId4" Type="http://schemas.openxmlformats.org/officeDocument/2006/relationships/image" Target="../media/image52.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39.png"/><Relationship Id="rId4" Type="http://schemas.openxmlformats.org/officeDocument/2006/relationships/image" Target="../media/image5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51.png"/><Relationship Id="rId4" Type="http://schemas.openxmlformats.org/officeDocument/2006/relationships/image" Target="../media/image50.jpg"/><Relationship Id="rId5" Type="http://schemas.openxmlformats.org/officeDocument/2006/relationships/image" Target="../media/image49.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hyperlink" Target="https://www.microscopyu.com/" TargetMode="External"/><Relationship Id="rId4" Type="http://schemas.openxmlformats.org/officeDocument/2006/relationships/hyperlink" Target="https://www.ibiology.org/online-biology-courses/microscopy-series/" TargetMode="External"/><Relationship Id="rId9" Type="http://schemas.openxmlformats.org/officeDocument/2006/relationships/hyperlink" Target="https://www.youtube.com/playlist?list=PL5ESQNfM5lc7SAMstEu082ivW4BDMvd0U" TargetMode="External"/><Relationship Id="rId5" Type="http://schemas.openxmlformats.org/officeDocument/2006/relationships/hyperlink" Target="http://zeiss-campus.magnet.fsu.edu/index.html" TargetMode="External"/><Relationship Id="rId6" Type="http://schemas.openxmlformats.org/officeDocument/2006/relationships/hyperlink" Target="https://www.leica-microsystems.com/science-lab/topics/basics-in-microscopy/" TargetMode="External"/><Relationship Id="rId7" Type="http://schemas.openxmlformats.org/officeDocument/2006/relationships/hyperlink" Target="https://www.olympus-lifescience.com/en/microscope-resource/" TargetMode="External"/><Relationship Id="rId8" Type="http://schemas.openxmlformats.org/officeDocument/2006/relationships/hyperlink" Target="https://imagej.nih.gov/ij/docs/examples/index.htm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57.png"/><Relationship Id="rId4" Type="http://schemas.openxmlformats.org/officeDocument/2006/relationships/image" Target="../media/image44.png"/><Relationship Id="rId5" Type="http://schemas.openxmlformats.org/officeDocument/2006/relationships/image" Target="../media/image69.png"/><Relationship Id="rId6" Type="http://schemas.openxmlformats.org/officeDocument/2006/relationships/image" Target="../media/image66.png"/><Relationship Id="rId7" Type="http://schemas.openxmlformats.org/officeDocument/2006/relationships/image" Target="../media/image59.png"/><Relationship Id="rId8" Type="http://schemas.openxmlformats.org/officeDocument/2006/relationships/image" Target="../media/image55.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image" Target="../media/image64.jpg"/><Relationship Id="rId4" Type="http://schemas.openxmlformats.org/officeDocument/2006/relationships/image" Target="../media/image58.jpg"/><Relationship Id="rId5" Type="http://schemas.openxmlformats.org/officeDocument/2006/relationships/image" Target="../media/image68.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 Id="rId3" Type="http://schemas.openxmlformats.org/officeDocument/2006/relationships/image" Target="../media/image63.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 Id="rId3" Type="http://schemas.openxmlformats.org/officeDocument/2006/relationships/image" Target="../media/image54.png"/><Relationship Id="rId4" Type="http://schemas.openxmlformats.org/officeDocument/2006/relationships/image" Target="../media/image6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image" Target="../media/image70.png"/><Relationship Id="rId4" Type="http://schemas.openxmlformats.org/officeDocument/2006/relationships/image" Target="../media/image67.gif"/><Relationship Id="rId5" Type="http://schemas.openxmlformats.org/officeDocument/2006/relationships/image" Target="../media/image74.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30.png"/><Relationship Id="rId4" Type="http://schemas.openxmlformats.org/officeDocument/2006/relationships/image" Target="../media/image82.png"/><Relationship Id="rId5" Type="http://schemas.openxmlformats.org/officeDocument/2006/relationships/image" Target="../media/image71.gif"/><Relationship Id="rId6" Type="http://schemas.openxmlformats.org/officeDocument/2006/relationships/image" Target="../media/image73.gif"/><Relationship Id="rId7" Type="http://schemas.openxmlformats.org/officeDocument/2006/relationships/image" Target="../media/image8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 Id="rId3" Type="http://schemas.openxmlformats.org/officeDocument/2006/relationships/image" Target="../media/image76.png"/><Relationship Id="rId4" Type="http://schemas.openxmlformats.org/officeDocument/2006/relationships/image" Target="../media/image80.png"/><Relationship Id="rId9" Type="http://schemas.openxmlformats.org/officeDocument/2006/relationships/image" Target="../media/image78.png"/><Relationship Id="rId5" Type="http://schemas.openxmlformats.org/officeDocument/2006/relationships/image" Target="../media/image72.png"/><Relationship Id="rId6" Type="http://schemas.openxmlformats.org/officeDocument/2006/relationships/image" Target="../media/image87.png"/><Relationship Id="rId7" Type="http://schemas.openxmlformats.org/officeDocument/2006/relationships/image" Target="../media/image83.png"/><Relationship Id="rId8" Type="http://schemas.openxmlformats.org/officeDocument/2006/relationships/image" Target="../media/image7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 Id="rId3" Type="http://schemas.openxmlformats.org/officeDocument/2006/relationships/image" Target="../media/image77.png"/><Relationship Id="rId4" Type="http://schemas.openxmlformats.org/officeDocument/2006/relationships/hyperlink" Target="https://physicsworld.com/a/optical-tweezers-where-physics-meets-biology/" TargetMode="External"/><Relationship Id="rId5" Type="http://schemas.openxmlformats.org/officeDocument/2006/relationships/hyperlink" Target="https://en.wikipedia.org/wiki/Optical_tweezers"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 Id="rId3" Type="http://schemas.openxmlformats.org/officeDocument/2006/relationships/image" Target="../media/image85.png"/><Relationship Id="rId4" Type="http://schemas.openxmlformats.org/officeDocument/2006/relationships/image" Target="../media/image81.png"/><Relationship Id="rId5" Type="http://schemas.openxmlformats.org/officeDocument/2006/relationships/image" Target="../media/image8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pic>
        <p:nvPicPr>
          <p:cNvPr id="163" name="Google Shape;163;p1"/>
          <p:cNvPicPr preferRelativeResize="0"/>
          <p:nvPr/>
        </p:nvPicPr>
        <p:blipFill rotWithShape="1">
          <a:blip r:embed="rId3">
            <a:alphaModFix/>
          </a:blip>
          <a:srcRect b="0" l="0" r="0" t="0"/>
          <a:stretch/>
        </p:blipFill>
        <p:spPr>
          <a:xfrm>
            <a:off x="0" y="2215825"/>
            <a:ext cx="6808025" cy="4627025"/>
          </a:xfrm>
          <a:prstGeom prst="rect">
            <a:avLst/>
          </a:prstGeom>
          <a:noFill/>
          <a:ln>
            <a:noFill/>
          </a:ln>
        </p:spPr>
      </p:pic>
      <p:sp>
        <p:nvSpPr>
          <p:cNvPr id="164" name="Google Shape;164;p1"/>
          <p:cNvSpPr txBox="1"/>
          <p:nvPr>
            <p:ph type="ctrTitle"/>
          </p:nvPr>
        </p:nvSpPr>
        <p:spPr>
          <a:xfrm>
            <a:off x="-1" y="0"/>
            <a:ext cx="12191999" cy="23876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lang="en-US" sz="4400">
                <a:latin typeface="Times New Roman"/>
                <a:ea typeface="Times New Roman"/>
                <a:cs typeface="Times New Roman"/>
                <a:sym typeface="Times New Roman"/>
              </a:rPr>
              <a:t>BT1010 Introduction to Life Sciences</a:t>
            </a:r>
            <a:endParaRPr sz="4400">
              <a:latin typeface="Times New Roman"/>
              <a:ea typeface="Times New Roman"/>
              <a:cs typeface="Times New Roman"/>
              <a:sym typeface="Times New Roman"/>
            </a:endParaRPr>
          </a:p>
        </p:txBody>
      </p:sp>
      <p:sp>
        <p:nvSpPr>
          <p:cNvPr id="165" name="Google Shape;165;p1"/>
          <p:cNvSpPr txBox="1"/>
          <p:nvPr>
            <p:ph idx="1" type="subTitle"/>
          </p:nvPr>
        </p:nvSpPr>
        <p:spPr>
          <a:xfrm>
            <a:off x="6070200" y="4840800"/>
            <a:ext cx="5131200" cy="19410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1400"/>
              <a:buNone/>
            </a:pPr>
            <a:r>
              <a:rPr lang="en-US" sz="1400">
                <a:latin typeface="Times New Roman"/>
                <a:ea typeface="Times New Roman"/>
                <a:cs typeface="Times New Roman"/>
                <a:sym typeface="Times New Roman"/>
              </a:rPr>
              <a:t>Course Instructor:</a:t>
            </a:r>
            <a:endParaRPr/>
          </a:p>
          <a:p>
            <a:pPr indent="0" lvl="0" marL="0" rtl="0" algn="ctr">
              <a:lnSpc>
                <a:spcPct val="90000"/>
              </a:lnSpc>
              <a:spcBef>
                <a:spcPts val="1000"/>
              </a:spcBef>
              <a:spcAft>
                <a:spcPts val="0"/>
              </a:spcAft>
              <a:buClr>
                <a:schemeClr val="dk1"/>
              </a:buClr>
              <a:buSzPts val="1800"/>
              <a:buNone/>
            </a:pPr>
            <a:r>
              <a:rPr b="1" lang="en-US" sz="1800">
                <a:latin typeface="Times New Roman"/>
                <a:ea typeface="Times New Roman"/>
                <a:cs typeface="Times New Roman"/>
                <a:sym typeface="Times New Roman"/>
              </a:rPr>
              <a:t>Dr. Gunjan Mehta, Ph.D.</a:t>
            </a:r>
            <a:endParaRPr/>
          </a:p>
          <a:p>
            <a:pPr indent="0" lvl="0" marL="0" rtl="0" algn="ctr">
              <a:lnSpc>
                <a:spcPct val="90000"/>
              </a:lnSpc>
              <a:spcBef>
                <a:spcPts val="1000"/>
              </a:spcBef>
              <a:spcAft>
                <a:spcPts val="0"/>
              </a:spcAft>
              <a:buClr>
                <a:schemeClr val="dk1"/>
              </a:buClr>
              <a:buSzPts val="1400"/>
              <a:buNone/>
            </a:pPr>
            <a:r>
              <a:rPr lang="en-US" sz="1400">
                <a:latin typeface="Times New Roman"/>
                <a:ea typeface="Times New Roman"/>
                <a:cs typeface="Times New Roman"/>
                <a:sym typeface="Times New Roman"/>
              </a:rPr>
              <a:t>Assistant Professor</a:t>
            </a:r>
            <a:endParaRPr/>
          </a:p>
          <a:p>
            <a:pPr indent="0" lvl="0" marL="0" rtl="0" algn="ctr">
              <a:lnSpc>
                <a:spcPct val="90000"/>
              </a:lnSpc>
              <a:spcBef>
                <a:spcPts val="1000"/>
              </a:spcBef>
              <a:spcAft>
                <a:spcPts val="0"/>
              </a:spcAft>
              <a:buClr>
                <a:schemeClr val="dk1"/>
              </a:buClr>
              <a:buSzPts val="1400"/>
              <a:buNone/>
            </a:pPr>
            <a:r>
              <a:rPr lang="en-US" sz="1400">
                <a:latin typeface="Times New Roman"/>
                <a:ea typeface="Times New Roman"/>
                <a:cs typeface="Times New Roman"/>
                <a:sym typeface="Times New Roman"/>
              </a:rPr>
              <a:t>Department of Biotechnology </a:t>
            </a:r>
            <a:endParaRPr sz="1400">
              <a:latin typeface="Times New Roman"/>
              <a:ea typeface="Times New Roman"/>
              <a:cs typeface="Times New Roman"/>
              <a:sym typeface="Times New Roman"/>
            </a:endParaRPr>
          </a:p>
          <a:p>
            <a:pPr indent="0" lvl="0" marL="0" rtl="0" algn="ctr">
              <a:lnSpc>
                <a:spcPct val="90000"/>
              </a:lnSpc>
              <a:spcBef>
                <a:spcPts val="1000"/>
              </a:spcBef>
              <a:spcAft>
                <a:spcPts val="0"/>
              </a:spcAft>
              <a:buClr>
                <a:schemeClr val="dk1"/>
              </a:buClr>
              <a:buSzPts val="1400"/>
              <a:buNone/>
            </a:pPr>
            <a:r>
              <a:rPr lang="en-US" sz="1400">
                <a:latin typeface="Times New Roman"/>
                <a:ea typeface="Times New Roman"/>
                <a:cs typeface="Times New Roman"/>
                <a:sym typeface="Times New Roman"/>
              </a:rPr>
              <a:t>IIT Hyderabad</a:t>
            </a:r>
            <a:endParaRPr/>
          </a:p>
          <a:p>
            <a:pPr indent="0" lvl="0" marL="0" rtl="0" algn="ctr">
              <a:lnSpc>
                <a:spcPct val="90000"/>
              </a:lnSpc>
              <a:spcBef>
                <a:spcPts val="1000"/>
              </a:spcBef>
              <a:spcAft>
                <a:spcPts val="0"/>
              </a:spcAft>
              <a:buClr>
                <a:schemeClr val="dk1"/>
              </a:buClr>
              <a:buSzPts val="1400"/>
              <a:buNone/>
            </a:pPr>
            <a:r>
              <a:rPr lang="en-US" sz="1400">
                <a:latin typeface="Times New Roman"/>
                <a:ea typeface="Times New Roman"/>
                <a:cs typeface="Times New Roman"/>
                <a:sym typeface="Times New Roman"/>
              </a:rPr>
              <a:t>(M.) +91 70168 96886 Email: </a:t>
            </a:r>
            <a:r>
              <a:rPr lang="en-US" sz="1400" u="sng">
                <a:solidFill>
                  <a:schemeClr val="hlink"/>
                </a:solidFill>
                <a:latin typeface="Times New Roman"/>
                <a:ea typeface="Times New Roman"/>
                <a:cs typeface="Times New Roman"/>
                <a:sym typeface="Times New Roman"/>
                <a:hlinkClick r:id="rId4"/>
              </a:rPr>
              <a:t>gunjanmehta@bt.iith.ac.in</a:t>
            </a:r>
            <a:endParaRPr sz="1400">
              <a:latin typeface="Times New Roman"/>
              <a:ea typeface="Times New Roman"/>
              <a:cs typeface="Times New Roman"/>
              <a:sym typeface="Times New Roman"/>
            </a:endParaRPr>
          </a:p>
          <a:p>
            <a:pPr indent="0" lvl="0" marL="0" rtl="0" algn="ctr">
              <a:lnSpc>
                <a:spcPct val="90000"/>
              </a:lnSpc>
              <a:spcBef>
                <a:spcPts val="1000"/>
              </a:spcBef>
              <a:spcAft>
                <a:spcPts val="0"/>
              </a:spcAft>
              <a:buClr>
                <a:schemeClr val="dk1"/>
              </a:buClr>
              <a:buSzPts val="1400"/>
              <a:buNone/>
            </a:pPr>
            <a:r>
              <a:t/>
            </a:r>
            <a:endParaRPr sz="1400">
              <a:latin typeface="Times New Roman"/>
              <a:ea typeface="Times New Roman"/>
              <a:cs typeface="Times New Roman"/>
              <a:sym typeface="Times New Roman"/>
            </a:endParaRPr>
          </a:p>
        </p:txBody>
      </p:sp>
      <p:sp>
        <p:nvSpPr>
          <p:cNvPr id="166" name="Google Shape;166;p1"/>
          <p:cNvSpPr txBox="1"/>
          <p:nvPr/>
        </p:nvSpPr>
        <p:spPr>
          <a:xfrm>
            <a:off x="4678100" y="2373375"/>
            <a:ext cx="7513800" cy="923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Lecture </a:t>
            </a:r>
            <a:r>
              <a:rPr lang="en-US" sz="1800">
                <a:solidFill>
                  <a:schemeClr val="dk1"/>
                </a:solidFill>
                <a:latin typeface="Times New Roman"/>
                <a:ea typeface="Times New Roman"/>
                <a:cs typeface="Times New Roman"/>
                <a:sym typeface="Times New Roman"/>
              </a:rPr>
              <a:t>5</a:t>
            </a:r>
            <a:r>
              <a:rPr b="0" i="0" lang="en-US" sz="1800" u="none" cap="none" strike="noStrike">
                <a:solidFill>
                  <a:schemeClr val="dk1"/>
                </a:solidFill>
                <a:latin typeface="Times New Roman"/>
                <a:ea typeface="Times New Roman"/>
                <a:cs typeface="Times New Roman"/>
                <a:sym typeface="Times New Roman"/>
              </a:rPr>
              <a:t>: </a:t>
            </a:r>
            <a:r>
              <a:rPr lang="en-US" sz="1800">
                <a:solidFill>
                  <a:schemeClr val="dk1"/>
                </a:solidFill>
                <a:latin typeface="Times New Roman"/>
                <a:ea typeface="Times New Roman"/>
                <a:cs typeface="Times New Roman"/>
                <a:sym typeface="Times New Roman"/>
              </a:rPr>
              <a:t>Techniques used in cell and molecular biology </a:t>
            </a:r>
            <a:endParaRPr sz="1800">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800"/>
              <a:buFont typeface="Arial"/>
              <a:buNone/>
            </a:pPr>
            <a:r>
              <a:rPr lang="en-US" sz="1800">
                <a:solidFill>
                  <a:schemeClr val="dk1"/>
                </a:solidFill>
                <a:latin typeface="Times New Roman"/>
                <a:ea typeface="Times New Roman"/>
                <a:cs typeface="Times New Roman"/>
                <a:sym typeface="Times New Roman"/>
              </a:rPr>
              <a:t>and their diagnostic applications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lang="en-US" sz="1800">
                <a:solidFill>
                  <a:schemeClr val="dk1"/>
                </a:solidFill>
                <a:latin typeface="Times New Roman"/>
                <a:ea typeface="Times New Roman"/>
                <a:cs typeface="Times New Roman"/>
                <a:sym typeface="Times New Roman"/>
              </a:rPr>
              <a:t>06</a:t>
            </a:r>
            <a:r>
              <a:rPr b="0" i="0" lang="en-US" sz="1800" u="none" cap="none" strike="noStrike">
                <a:solidFill>
                  <a:schemeClr val="dk1"/>
                </a:solidFill>
                <a:latin typeface="Times New Roman"/>
                <a:ea typeface="Times New Roman"/>
                <a:cs typeface="Times New Roman"/>
                <a:sym typeface="Times New Roman"/>
              </a:rPr>
              <a:t>/</a:t>
            </a:r>
            <a:r>
              <a:rPr lang="en-US" sz="1800">
                <a:solidFill>
                  <a:schemeClr val="dk1"/>
                </a:solidFill>
                <a:latin typeface="Times New Roman"/>
                <a:ea typeface="Times New Roman"/>
                <a:cs typeface="Times New Roman"/>
                <a:sym typeface="Times New Roman"/>
              </a:rPr>
              <a:t>11</a:t>
            </a:r>
            <a:r>
              <a:rPr b="0" i="0" lang="en-US" sz="1800" u="none" cap="none" strike="noStrike">
                <a:solidFill>
                  <a:schemeClr val="dk1"/>
                </a:solidFill>
                <a:latin typeface="Times New Roman"/>
                <a:ea typeface="Times New Roman"/>
                <a:cs typeface="Times New Roman"/>
                <a:sym typeface="Times New Roman"/>
              </a:rPr>
              <a:t>/202</a:t>
            </a:r>
            <a:r>
              <a:rPr lang="en-US" sz="1800">
                <a:solidFill>
                  <a:schemeClr val="dk1"/>
                </a:solidFill>
                <a:latin typeface="Times New Roman"/>
                <a:ea typeface="Times New Roman"/>
                <a:cs typeface="Times New Roman"/>
                <a:sym typeface="Times New Roman"/>
              </a:rPr>
              <a:t>5</a:t>
            </a:r>
            <a:endParaRPr b="0" i="0" sz="1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g315961fba6c_0_0"/>
          <p:cNvSpPr txBox="1"/>
          <p:nvPr>
            <p:ph idx="1" type="subTitle"/>
          </p:nvPr>
        </p:nvSpPr>
        <p:spPr>
          <a:xfrm>
            <a:off x="1014125" y="1804300"/>
            <a:ext cx="10388400" cy="3453600"/>
          </a:xfrm>
          <a:prstGeom prst="rect">
            <a:avLst/>
          </a:prstGeom>
        </p:spPr>
        <p:txBody>
          <a:bodyPr anchorCtr="0" anchor="t" bIns="45700" lIns="91425" spcFirstLastPara="1" rIns="91425" wrap="square" tIns="45700">
            <a:normAutofit/>
          </a:bodyPr>
          <a:lstStyle/>
          <a:p>
            <a:pPr indent="-381000" lvl="0" marL="457200" rtl="0" algn="l">
              <a:spcBef>
                <a:spcPts val="1000"/>
              </a:spcBef>
              <a:spcAft>
                <a:spcPts val="0"/>
              </a:spcAft>
              <a:buSzPts val="2400"/>
              <a:buFont typeface="Times New Roman"/>
              <a:buAutoNum type="arabicPeriod"/>
            </a:pPr>
            <a:r>
              <a:rPr lang="en-US">
                <a:latin typeface="Times New Roman"/>
                <a:ea typeface="Times New Roman"/>
                <a:cs typeface="Times New Roman"/>
                <a:sym typeface="Times New Roman"/>
              </a:rPr>
              <a:t>PCR (Polymerase Chain Reaction) to amplify specific segment of DNA (gene)</a:t>
            </a:r>
            <a:endParaRPr>
              <a:latin typeface="Times New Roman"/>
              <a:ea typeface="Times New Roman"/>
              <a:cs typeface="Times New Roman"/>
              <a:sym typeface="Times New Roman"/>
            </a:endParaRPr>
          </a:p>
          <a:p>
            <a:pPr indent="-381000" lvl="0" marL="457200" rtl="0" algn="l">
              <a:spcBef>
                <a:spcPts val="0"/>
              </a:spcBef>
              <a:spcAft>
                <a:spcPts val="0"/>
              </a:spcAft>
              <a:buSzPts val="2400"/>
              <a:buFont typeface="Times New Roman"/>
              <a:buAutoNum type="arabicPeriod"/>
            </a:pPr>
            <a:r>
              <a:rPr lang="en-US">
                <a:latin typeface="Times New Roman"/>
                <a:ea typeface="Times New Roman"/>
                <a:cs typeface="Times New Roman"/>
                <a:sym typeface="Times New Roman"/>
              </a:rPr>
              <a:t>Agarose Gel Electrophoresis to </a:t>
            </a:r>
            <a:r>
              <a:rPr lang="en-US">
                <a:latin typeface="Times New Roman"/>
                <a:ea typeface="Times New Roman"/>
                <a:cs typeface="Times New Roman"/>
                <a:sym typeface="Times New Roman"/>
              </a:rPr>
              <a:t>separate</a:t>
            </a:r>
            <a:r>
              <a:rPr lang="en-US">
                <a:latin typeface="Times New Roman"/>
                <a:ea typeface="Times New Roman"/>
                <a:cs typeface="Times New Roman"/>
                <a:sym typeface="Times New Roman"/>
              </a:rPr>
              <a:t> DNA based on molecular weight</a:t>
            </a:r>
            <a:endParaRPr>
              <a:latin typeface="Times New Roman"/>
              <a:ea typeface="Times New Roman"/>
              <a:cs typeface="Times New Roman"/>
              <a:sym typeface="Times New Roman"/>
            </a:endParaRPr>
          </a:p>
          <a:p>
            <a:pPr indent="-381000" lvl="0" marL="457200" rtl="0" algn="l">
              <a:spcBef>
                <a:spcPts val="0"/>
              </a:spcBef>
              <a:spcAft>
                <a:spcPts val="0"/>
              </a:spcAft>
              <a:buSzPts val="2400"/>
              <a:buFont typeface="Times New Roman"/>
              <a:buAutoNum type="arabicPeriod"/>
            </a:pPr>
            <a:r>
              <a:rPr lang="en-US">
                <a:latin typeface="Times New Roman"/>
                <a:ea typeface="Times New Roman"/>
                <a:cs typeface="Times New Roman"/>
                <a:sym typeface="Times New Roman"/>
              </a:rPr>
              <a:t>DNA Fingerprinting to identify individuals (parent/kids/crime suspects)</a:t>
            </a:r>
            <a:endParaRPr>
              <a:latin typeface="Times New Roman"/>
              <a:ea typeface="Times New Roman"/>
              <a:cs typeface="Times New Roman"/>
              <a:sym typeface="Times New Roman"/>
            </a:endParaRPr>
          </a:p>
          <a:p>
            <a:pPr indent="-381000" lvl="0" marL="457200" rtl="0" algn="l">
              <a:spcBef>
                <a:spcPts val="0"/>
              </a:spcBef>
              <a:spcAft>
                <a:spcPts val="0"/>
              </a:spcAft>
              <a:buSzPts val="2400"/>
              <a:buFont typeface="Times New Roman"/>
              <a:buAutoNum type="arabicPeriod"/>
            </a:pPr>
            <a:r>
              <a:rPr lang="en-US">
                <a:latin typeface="Times New Roman"/>
                <a:ea typeface="Times New Roman"/>
                <a:cs typeface="Times New Roman"/>
                <a:sym typeface="Times New Roman"/>
              </a:rPr>
              <a:t>SDS-PAGE to </a:t>
            </a:r>
            <a:r>
              <a:rPr lang="en-US">
                <a:latin typeface="Times New Roman"/>
                <a:ea typeface="Times New Roman"/>
                <a:cs typeface="Times New Roman"/>
                <a:sym typeface="Times New Roman"/>
              </a:rPr>
              <a:t>separate</a:t>
            </a:r>
            <a:r>
              <a:rPr lang="en-US">
                <a:latin typeface="Times New Roman"/>
                <a:ea typeface="Times New Roman"/>
                <a:cs typeface="Times New Roman"/>
                <a:sym typeface="Times New Roman"/>
              </a:rPr>
              <a:t> proteins based on molecular weight</a:t>
            </a:r>
            <a:endParaRPr>
              <a:latin typeface="Times New Roman"/>
              <a:ea typeface="Times New Roman"/>
              <a:cs typeface="Times New Roman"/>
              <a:sym typeface="Times New Roman"/>
            </a:endParaRPr>
          </a:p>
          <a:p>
            <a:pPr indent="-381000" lvl="0" marL="457200" rtl="0" algn="l">
              <a:spcBef>
                <a:spcPts val="0"/>
              </a:spcBef>
              <a:spcAft>
                <a:spcPts val="0"/>
              </a:spcAft>
              <a:buSzPts val="2400"/>
              <a:buFont typeface="Times New Roman"/>
              <a:buAutoNum type="arabicPeriod"/>
            </a:pPr>
            <a:r>
              <a:rPr lang="en-US">
                <a:latin typeface="Times New Roman"/>
                <a:ea typeface="Times New Roman"/>
                <a:cs typeface="Times New Roman"/>
                <a:sym typeface="Times New Roman"/>
              </a:rPr>
              <a:t>RT-PCR to quantify DNA/RNA copy numbers</a:t>
            </a:r>
            <a:endParaRPr>
              <a:latin typeface="Times New Roman"/>
              <a:ea typeface="Times New Roman"/>
              <a:cs typeface="Times New Roman"/>
              <a:sym typeface="Times New Roman"/>
            </a:endParaRPr>
          </a:p>
          <a:p>
            <a:pPr indent="-381000" lvl="0" marL="457200" rtl="0" algn="l">
              <a:spcBef>
                <a:spcPts val="0"/>
              </a:spcBef>
              <a:spcAft>
                <a:spcPts val="0"/>
              </a:spcAft>
              <a:buSzPts val="2400"/>
              <a:buFont typeface="Times New Roman"/>
              <a:buAutoNum type="arabicPeriod"/>
            </a:pPr>
            <a:r>
              <a:rPr lang="en-US">
                <a:latin typeface="Times New Roman"/>
                <a:ea typeface="Times New Roman"/>
                <a:cs typeface="Times New Roman"/>
                <a:sym typeface="Times New Roman"/>
              </a:rPr>
              <a:t>Fluorescence Microscopy to visualize cellular processes</a:t>
            </a:r>
            <a:endParaRPr>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29981c83788_0_6"/>
          <p:cNvSpPr txBox="1"/>
          <p:nvPr>
            <p:ph idx="1" type="body"/>
          </p:nvPr>
        </p:nvSpPr>
        <p:spPr>
          <a:xfrm>
            <a:off x="461025" y="495725"/>
            <a:ext cx="11272800" cy="6266400"/>
          </a:xfrm>
          <a:prstGeom prst="rect">
            <a:avLst/>
          </a:prstGeom>
        </p:spPr>
        <p:txBody>
          <a:bodyPr anchorCtr="0" anchor="t" bIns="45700" lIns="91425" spcFirstLastPara="1" rIns="91425" wrap="square" tIns="45700">
            <a:normAutofit/>
          </a:bodyPr>
          <a:lstStyle/>
          <a:p>
            <a:pPr indent="-368300" lvl="0" marL="457200" rtl="0" algn="l">
              <a:spcBef>
                <a:spcPts val="1000"/>
              </a:spcBef>
              <a:spcAft>
                <a:spcPts val="0"/>
              </a:spcAft>
              <a:buSzPts val="2200"/>
              <a:buFont typeface="Times New Roman"/>
              <a:buChar char="•"/>
            </a:pPr>
            <a:r>
              <a:rPr lang="en-US" sz="2200">
                <a:latin typeface="Times New Roman"/>
                <a:ea typeface="Times New Roman"/>
                <a:cs typeface="Times New Roman"/>
                <a:sym typeface="Times New Roman"/>
              </a:rPr>
              <a:t>PCR is used to amplify a segment of DNA (gene). It can make thousands of copies of a gene.</a:t>
            </a:r>
            <a:endParaRPr sz="2200">
              <a:latin typeface="Times New Roman"/>
              <a:ea typeface="Times New Roman"/>
              <a:cs typeface="Times New Roman"/>
              <a:sym typeface="Times New Roman"/>
            </a:endParaRPr>
          </a:p>
          <a:p>
            <a:pPr indent="0" lvl="0" marL="0" rtl="0" algn="l">
              <a:spcBef>
                <a:spcPts val="1000"/>
              </a:spcBef>
              <a:spcAft>
                <a:spcPts val="0"/>
              </a:spcAft>
              <a:buNone/>
            </a:pPr>
            <a:r>
              <a:t/>
            </a:r>
            <a:endParaRPr sz="2200">
              <a:latin typeface="Times New Roman"/>
              <a:ea typeface="Times New Roman"/>
              <a:cs typeface="Times New Roman"/>
              <a:sym typeface="Times New Roman"/>
            </a:endParaRPr>
          </a:p>
          <a:p>
            <a:pPr indent="-368300" lvl="0" marL="457200" rtl="0" algn="l">
              <a:spcBef>
                <a:spcPts val="1000"/>
              </a:spcBef>
              <a:spcAft>
                <a:spcPts val="0"/>
              </a:spcAft>
              <a:buSzPts val="2200"/>
              <a:buFont typeface="Times New Roman"/>
              <a:buChar char="•"/>
            </a:pPr>
            <a:r>
              <a:rPr lang="en-US" sz="2200">
                <a:latin typeface="Times New Roman"/>
                <a:ea typeface="Times New Roman"/>
                <a:cs typeface="Times New Roman"/>
                <a:sym typeface="Times New Roman"/>
              </a:rPr>
              <a:t>DNA is synthesized by an enzyme called DNA polymerase. It </a:t>
            </a:r>
            <a:r>
              <a:rPr lang="en-US" sz="2200">
                <a:latin typeface="Times New Roman"/>
                <a:ea typeface="Times New Roman"/>
                <a:cs typeface="Times New Roman"/>
                <a:sym typeface="Times New Roman"/>
              </a:rPr>
              <a:t>synthesize</a:t>
            </a:r>
            <a:r>
              <a:rPr lang="en-US" sz="2200">
                <a:latin typeface="Times New Roman"/>
                <a:ea typeface="Times New Roman"/>
                <a:cs typeface="Times New Roman"/>
                <a:sym typeface="Times New Roman"/>
              </a:rPr>
              <a:t> DNA in 5’ to 3’ direction.</a:t>
            </a:r>
            <a:endParaRPr sz="2200">
              <a:latin typeface="Times New Roman"/>
              <a:ea typeface="Times New Roman"/>
              <a:cs typeface="Times New Roman"/>
              <a:sym typeface="Times New Roman"/>
            </a:endParaRPr>
          </a:p>
        </p:txBody>
      </p:sp>
      <p:sp>
        <p:nvSpPr>
          <p:cNvPr id="179" name="Google Shape;179;g29981c83788_0_6"/>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lang="en-US" sz="2000">
                <a:solidFill>
                  <a:schemeClr val="lt1"/>
                </a:solidFill>
                <a:latin typeface="Times New Roman"/>
                <a:ea typeface="Times New Roman"/>
                <a:cs typeface="Times New Roman"/>
                <a:sym typeface="Times New Roman"/>
              </a:rPr>
              <a:t>Polymerase Chain Reaction (PCR) to amplify specific gene from the genome</a:t>
            </a:r>
            <a:endParaRPr b="1" i="0" sz="2000" u="none" cap="none" strike="noStrike">
              <a:solidFill>
                <a:schemeClr val="lt1"/>
              </a:solidFill>
              <a:latin typeface="Times New Roman"/>
              <a:ea typeface="Times New Roman"/>
              <a:cs typeface="Times New Roman"/>
              <a:sym typeface="Times New Roman"/>
            </a:endParaRPr>
          </a:p>
        </p:txBody>
      </p:sp>
      <p:pic>
        <p:nvPicPr>
          <p:cNvPr id="180" name="Google Shape;180;g29981c83788_0_6"/>
          <p:cNvPicPr preferRelativeResize="0"/>
          <p:nvPr/>
        </p:nvPicPr>
        <p:blipFill>
          <a:blip r:embed="rId3">
            <a:alphaModFix/>
          </a:blip>
          <a:stretch>
            <a:fillRect/>
          </a:stretch>
        </p:blipFill>
        <p:spPr>
          <a:xfrm>
            <a:off x="5400399" y="2550970"/>
            <a:ext cx="6715399" cy="2639175"/>
          </a:xfrm>
          <a:prstGeom prst="rect">
            <a:avLst/>
          </a:prstGeom>
          <a:noFill/>
          <a:ln>
            <a:noFill/>
          </a:ln>
        </p:spPr>
      </p:pic>
      <p:pic>
        <p:nvPicPr>
          <p:cNvPr id="181" name="Google Shape;181;g29981c83788_0_6"/>
          <p:cNvPicPr preferRelativeResize="0"/>
          <p:nvPr/>
        </p:nvPicPr>
        <p:blipFill rotWithShape="1">
          <a:blip r:embed="rId4">
            <a:alphaModFix/>
          </a:blip>
          <a:srcRect b="0" l="0" r="0" t="0"/>
          <a:stretch/>
        </p:blipFill>
        <p:spPr>
          <a:xfrm>
            <a:off x="161675" y="2308450"/>
            <a:ext cx="5240225" cy="4034975"/>
          </a:xfrm>
          <a:prstGeom prst="rect">
            <a:avLst/>
          </a:prstGeom>
          <a:noFill/>
          <a:ln>
            <a:noFill/>
          </a:ln>
        </p:spPr>
      </p:pic>
      <p:sp>
        <p:nvSpPr>
          <p:cNvPr id="182" name="Google Shape;182;g29981c83788_0_6"/>
          <p:cNvSpPr txBox="1"/>
          <p:nvPr/>
        </p:nvSpPr>
        <p:spPr>
          <a:xfrm>
            <a:off x="6208900" y="2757600"/>
            <a:ext cx="538800" cy="90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latin typeface="Times New Roman"/>
                <a:ea typeface="Times New Roman"/>
                <a:cs typeface="Times New Roman"/>
                <a:sym typeface="Times New Roman"/>
              </a:rPr>
              <a:t>5’</a:t>
            </a:r>
            <a:endParaRPr>
              <a:solidFill>
                <a:schemeClr val="dk1"/>
              </a:solidFill>
              <a:latin typeface="Times New Roman"/>
              <a:ea typeface="Times New Roman"/>
              <a:cs typeface="Times New Roman"/>
              <a:sym typeface="Times New Roman"/>
            </a:endParaRPr>
          </a:p>
        </p:txBody>
      </p:sp>
      <p:sp>
        <p:nvSpPr>
          <p:cNvPr id="183" name="Google Shape;183;g29981c83788_0_6"/>
          <p:cNvSpPr txBox="1"/>
          <p:nvPr/>
        </p:nvSpPr>
        <p:spPr>
          <a:xfrm>
            <a:off x="11193650" y="3382175"/>
            <a:ext cx="538800" cy="90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latin typeface="Times New Roman"/>
                <a:ea typeface="Times New Roman"/>
                <a:cs typeface="Times New Roman"/>
                <a:sym typeface="Times New Roman"/>
              </a:rPr>
              <a:t>5’</a:t>
            </a:r>
            <a:endParaRPr>
              <a:solidFill>
                <a:schemeClr val="dk1"/>
              </a:solidFill>
              <a:latin typeface="Times New Roman"/>
              <a:ea typeface="Times New Roman"/>
              <a:cs typeface="Times New Roman"/>
              <a:sym typeface="Times New Roman"/>
            </a:endParaRPr>
          </a:p>
        </p:txBody>
      </p:sp>
      <p:sp>
        <p:nvSpPr>
          <p:cNvPr id="184" name="Google Shape;184;g29981c83788_0_6"/>
          <p:cNvSpPr txBox="1"/>
          <p:nvPr/>
        </p:nvSpPr>
        <p:spPr>
          <a:xfrm>
            <a:off x="11193650" y="2757600"/>
            <a:ext cx="538800" cy="90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latin typeface="Times New Roman"/>
                <a:ea typeface="Times New Roman"/>
                <a:cs typeface="Times New Roman"/>
                <a:sym typeface="Times New Roman"/>
              </a:rPr>
              <a:t>3</a:t>
            </a:r>
            <a:r>
              <a:rPr lang="en-US">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p:txBody>
      </p:sp>
      <p:sp>
        <p:nvSpPr>
          <p:cNvPr id="185" name="Google Shape;185;g29981c83788_0_6"/>
          <p:cNvSpPr txBox="1"/>
          <p:nvPr/>
        </p:nvSpPr>
        <p:spPr>
          <a:xfrm>
            <a:off x="6252625" y="3400300"/>
            <a:ext cx="538800" cy="90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latin typeface="Times New Roman"/>
                <a:ea typeface="Times New Roman"/>
                <a:cs typeface="Times New Roman"/>
                <a:sym typeface="Times New Roman"/>
              </a:rPr>
              <a:t>3’</a:t>
            </a:r>
            <a:endParaRPr>
              <a:solidFill>
                <a:schemeClr val="dk1"/>
              </a:solidFill>
              <a:latin typeface="Times New Roman"/>
              <a:ea typeface="Times New Roman"/>
              <a:cs typeface="Times New Roman"/>
              <a:sym typeface="Times New Roman"/>
            </a:endParaRPr>
          </a:p>
        </p:txBody>
      </p:sp>
      <p:sp>
        <p:nvSpPr>
          <p:cNvPr id="186" name="Google Shape;186;g29981c83788_0_6"/>
          <p:cNvSpPr txBox="1"/>
          <p:nvPr/>
        </p:nvSpPr>
        <p:spPr>
          <a:xfrm>
            <a:off x="7981875" y="4329350"/>
            <a:ext cx="538800" cy="90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latin typeface="Times New Roman"/>
                <a:ea typeface="Times New Roman"/>
                <a:cs typeface="Times New Roman"/>
                <a:sym typeface="Times New Roman"/>
              </a:rPr>
              <a:t>3’</a:t>
            </a:r>
            <a:endParaRPr>
              <a:solidFill>
                <a:schemeClr val="dk1"/>
              </a:solidFill>
              <a:latin typeface="Times New Roman"/>
              <a:ea typeface="Times New Roman"/>
              <a:cs typeface="Times New Roman"/>
              <a:sym typeface="Times New Roman"/>
            </a:endParaRPr>
          </a:p>
        </p:txBody>
      </p:sp>
      <p:sp>
        <p:nvSpPr>
          <p:cNvPr id="187" name="Google Shape;187;g29981c83788_0_6"/>
          <p:cNvSpPr txBox="1"/>
          <p:nvPr/>
        </p:nvSpPr>
        <p:spPr>
          <a:xfrm>
            <a:off x="9505875" y="4481750"/>
            <a:ext cx="538800" cy="90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latin typeface="Times New Roman"/>
                <a:ea typeface="Times New Roman"/>
                <a:cs typeface="Times New Roman"/>
                <a:sym typeface="Times New Roman"/>
              </a:rPr>
              <a:t>3’</a:t>
            </a:r>
            <a:endParaRPr>
              <a:solidFill>
                <a:schemeClr val="dk1"/>
              </a:solidFill>
              <a:latin typeface="Times New Roman"/>
              <a:ea typeface="Times New Roman"/>
              <a:cs typeface="Times New Roman"/>
              <a:sym typeface="Times New Roman"/>
            </a:endParaRPr>
          </a:p>
        </p:txBody>
      </p:sp>
      <p:sp>
        <p:nvSpPr>
          <p:cNvPr id="188" name="Google Shape;188;g29981c83788_0_6"/>
          <p:cNvSpPr txBox="1"/>
          <p:nvPr/>
        </p:nvSpPr>
        <p:spPr>
          <a:xfrm>
            <a:off x="10953675" y="4481750"/>
            <a:ext cx="538800" cy="90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latin typeface="Times New Roman"/>
                <a:ea typeface="Times New Roman"/>
                <a:cs typeface="Times New Roman"/>
                <a:sym typeface="Times New Roman"/>
              </a:rPr>
              <a:t>5</a:t>
            </a:r>
            <a:r>
              <a:rPr lang="en-US">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p:txBody>
      </p:sp>
      <p:sp>
        <p:nvSpPr>
          <p:cNvPr id="189" name="Google Shape;189;g29981c83788_0_6"/>
          <p:cNvSpPr txBox="1"/>
          <p:nvPr/>
        </p:nvSpPr>
        <p:spPr>
          <a:xfrm>
            <a:off x="6610275" y="4329350"/>
            <a:ext cx="538800" cy="90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latin typeface="Times New Roman"/>
                <a:ea typeface="Times New Roman"/>
                <a:cs typeface="Times New Roman"/>
                <a:sym typeface="Times New Roman"/>
              </a:rPr>
              <a:t>5’</a:t>
            </a:r>
            <a:endParaRPr>
              <a:solidFill>
                <a:schemeClr val="dk1"/>
              </a:solidFill>
              <a:latin typeface="Times New Roman"/>
              <a:ea typeface="Times New Roman"/>
              <a:cs typeface="Times New Roman"/>
              <a:sym typeface="Times New Roman"/>
            </a:endParaRPr>
          </a:p>
        </p:txBody>
      </p:sp>
      <p:sp>
        <p:nvSpPr>
          <p:cNvPr id="190" name="Google Shape;190;g29981c83788_0_6"/>
          <p:cNvSpPr txBox="1"/>
          <p:nvPr/>
        </p:nvSpPr>
        <p:spPr>
          <a:xfrm>
            <a:off x="1588275" y="4879950"/>
            <a:ext cx="1141200" cy="23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latin typeface="Times New Roman"/>
                <a:ea typeface="Times New Roman"/>
                <a:cs typeface="Times New Roman"/>
                <a:sym typeface="Times New Roman"/>
              </a:rPr>
              <a:t>Insulin</a:t>
            </a:r>
            <a:endParaRPr>
              <a:solidFill>
                <a:schemeClr val="dk1"/>
              </a:solidFill>
              <a:latin typeface="Times New Roman"/>
              <a:ea typeface="Times New Roman"/>
              <a:cs typeface="Times New Roman"/>
              <a:sym typeface="Times New Roman"/>
            </a:endParaRPr>
          </a:p>
        </p:txBody>
      </p:sp>
      <p:cxnSp>
        <p:nvCxnSpPr>
          <p:cNvPr id="191" name="Google Shape;191;g29981c83788_0_6"/>
          <p:cNvCxnSpPr/>
          <p:nvPr/>
        </p:nvCxnSpPr>
        <p:spPr>
          <a:xfrm flipH="1" rot="10800000">
            <a:off x="1323425" y="5217425"/>
            <a:ext cx="170700" cy="106500"/>
          </a:xfrm>
          <a:prstGeom prst="straightConnector1">
            <a:avLst/>
          </a:prstGeom>
          <a:noFill/>
          <a:ln cap="flat" cmpd="sng" w="19050">
            <a:solidFill>
              <a:srgbClr val="FF0000"/>
            </a:solidFill>
            <a:prstDash val="solid"/>
            <a:round/>
            <a:headEnd len="med" w="med" type="none"/>
            <a:tailEnd len="med" w="med" type="triangle"/>
          </a:ln>
        </p:spPr>
      </p:cxnSp>
      <p:cxnSp>
        <p:nvCxnSpPr>
          <p:cNvPr id="192" name="Google Shape;192;g29981c83788_0_6"/>
          <p:cNvCxnSpPr/>
          <p:nvPr/>
        </p:nvCxnSpPr>
        <p:spPr>
          <a:xfrm rot="10800000">
            <a:off x="2347350" y="4755350"/>
            <a:ext cx="213300" cy="53400"/>
          </a:xfrm>
          <a:prstGeom prst="straightConnector1">
            <a:avLst/>
          </a:prstGeom>
          <a:noFill/>
          <a:ln cap="flat" cmpd="sng" w="19050">
            <a:solidFill>
              <a:srgbClr val="FF0000"/>
            </a:solidFill>
            <a:prstDash val="solid"/>
            <a:round/>
            <a:headEnd len="med" w="med" type="none"/>
            <a:tailEnd len="med" w="med" type="triangl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pic>
        <p:nvPicPr>
          <p:cNvPr id="198" name="Google Shape;198;g3155d714b4a_0_0"/>
          <p:cNvPicPr preferRelativeResize="0"/>
          <p:nvPr/>
        </p:nvPicPr>
        <p:blipFill>
          <a:blip r:embed="rId3">
            <a:alphaModFix/>
          </a:blip>
          <a:stretch>
            <a:fillRect/>
          </a:stretch>
        </p:blipFill>
        <p:spPr>
          <a:xfrm>
            <a:off x="4357696" y="1942525"/>
            <a:ext cx="7834305" cy="4593875"/>
          </a:xfrm>
          <a:prstGeom prst="rect">
            <a:avLst/>
          </a:prstGeom>
          <a:noFill/>
          <a:ln>
            <a:noFill/>
          </a:ln>
        </p:spPr>
      </p:pic>
      <p:pic>
        <p:nvPicPr>
          <p:cNvPr id="199" name="Google Shape;199;g3155d714b4a_0_0"/>
          <p:cNvPicPr preferRelativeResize="0"/>
          <p:nvPr/>
        </p:nvPicPr>
        <p:blipFill rotWithShape="1">
          <a:blip r:embed="rId4">
            <a:alphaModFix/>
          </a:blip>
          <a:srcRect b="0" l="0" r="44558" t="0"/>
          <a:stretch/>
        </p:blipFill>
        <p:spPr>
          <a:xfrm>
            <a:off x="248475" y="943850"/>
            <a:ext cx="4307801" cy="5761751"/>
          </a:xfrm>
          <a:prstGeom prst="rect">
            <a:avLst/>
          </a:prstGeom>
          <a:noFill/>
          <a:ln>
            <a:noFill/>
          </a:ln>
        </p:spPr>
      </p:pic>
      <p:sp>
        <p:nvSpPr>
          <p:cNvPr id="200" name="Google Shape;200;g3155d714b4a_0_0"/>
          <p:cNvSpPr txBox="1"/>
          <p:nvPr/>
        </p:nvSpPr>
        <p:spPr>
          <a:xfrm>
            <a:off x="6553225" y="1481675"/>
            <a:ext cx="969000" cy="32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800">
                <a:solidFill>
                  <a:schemeClr val="dk1"/>
                </a:solidFill>
                <a:latin typeface="Times New Roman"/>
                <a:ea typeface="Times New Roman"/>
                <a:cs typeface="Times New Roman"/>
                <a:sym typeface="Times New Roman"/>
              </a:rPr>
              <a:t>95 ℃</a:t>
            </a:r>
            <a:endParaRPr sz="1800">
              <a:solidFill>
                <a:schemeClr val="dk1"/>
              </a:solidFill>
              <a:latin typeface="Times New Roman"/>
              <a:ea typeface="Times New Roman"/>
              <a:cs typeface="Times New Roman"/>
              <a:sym typeface="Times New Roman"/>
            </a:endParaRPr>
          </a:p>
          <a:p>
            <a:pPr indent="0" lvl="0" marL="0" rtl="0" algn="ctr">
              <a:spcBef>
                <a:spcPts val="0"/>
              </a:spcBef>
              <a:spcAft>
                <a:spcPts val="0"/>
              </a:spcAft>
              <a:buNone/>
            </a:pPr>
            <a:r>
              <a:rPr lang="en-US" sz="1800">
                <a:solidFill>
                  <a:schemeClr val="dk1"/>
                </a:solidFill>
                <a:latin typeface="Times New Roman"/>
                <a:ea typeface="Times New Roman"/>
                <a:cs typeface="Times New Roman"/>
                <a:sym typeface="Times New Roman"/>
              </a:rPr>
              <a:t>for 30 s</a:t>
            </a:r>
            <a:endParaRPr sz="1800">
              <a:solidFill>
                <a:schemeClr val="dk1"/>
              </a:solidFill>
              <a:latin typeface="Times New Roman"/>
              <a:ea typeface="Times New Roman"/>
              <a:cs typeface="Times New Roman"/>
              <a:sym typeface="Times New Roman"/>
            </a:endParaRPr>
          </a:p>
        </p:txBody>
      </p:sp>
      <p:sp>
        <p:nvSpPr>
          <p:cNvPr id="201" name="Google Shape;201;g3155d714b4a_0_0"/>
          <p:cNvSpPr txBox="1"/>
          <p:nvPr/>
        </p:nvSpPr>
        <p:spPr>
          <a:xfrm>
            <a:off x="10301675" y="4678500"/>
            <a:ext cx="1568700" cy="771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800">
                <a:solidFill>
                  <a:schemeClr val="dk1"/>
                </a:solidFill>
                <a:latin typeface="Times New Roman"/>
                <a:ea typeface="Times New Roman"/>
                <a:cs typeface="Times New Roman"/>
                <a:sym typeface="Times New Roman"/>
              </a:rPr>
              <a:t>repeated for </a:t>
            </a:r>
            <a:r>
              <a:rPr lang="en-US" sz="1800">
                <a:solidFill>
                  <a:schemeClr val="dk1"/>
                </a:solidFill>
                <a:latin typeface="Times New Roman"/>
                <a:ea typeface="Times New Roman"/>
                <a:cs typeface="Times New Roman"/>
                <a:sym typeface="Times New Roman"/>
              </a:rPr>
              <a:t>30 cycles</a:t>
            </a:r>
            <a:endParaRPr sz="1800">
              <a:solidFill>
                <a:schemeClr val="dk1"/>
              </a:solidFill>
              <a:latin typeface="Times New Roman"/>
              <a:ea typeface="Times New Roman"/>
              <a:cs typeface="Times New Roman"/>
              <a:sym typeface="Times New Roman"/>
            </a:endParaRPr>
          </a:p>
        </p:txBody>
      </p:sp>
      <p:sp>
        <p:nvSpPr>
          <p:cNvPr id="202" name="Google Shape;202;g3155d714b4a_0_0"/>
          <p:cNvSpPr txBox="1"/>
          <p:nvPr/>
        </p:nvSpPr>
        <p:spPr>
          <a:xfrm>
            <a:off x="10059200" y="2360250"/>
            <a:ext cx="1568700" cy="32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800">
                <a:solidFill>
                  <a:schemeClr val="dk1"/>
                </a:solidFill>
                <a:latin typeface="Times New Roman"/>
                <a:ea typeface="Times New Roman"/>
                <a:cs typeface="Times New Roman"/>
                <a:sym typeface="Times New Roman"/>
              </a:rPr>
              <a:t>72 ℃</a:t>
            </a:r>
            <a:endParaRPr sz="1800">
              <a:solidFill>
                <a:schemeClr val="dk1"/>
              </a:solidFill>
              <a:latin typeface="Times New Roman"/>
              <a:ea typeface="Times New Roman"/>
              <a:cs typeface="Times New Roman"/>
              <a:sym typeface="Times New Roman"/>
            </a:endParaRPr>
          </a:p>
          <a:p>
            <a:pPr indent="0" lvl="0" marL="0" rtl="0" algn="ctr">
              <a:spcBef>
                <a:spcPts val="0"/>
              </a:spcBef>
              <a:spcAft>
                <a:spcPts val="0"/>
              </a:spcAft>
              <a:buNone/>
            </a:pPr>
            <a:r>
              <a:rPr lang="en-US" sz="1800">
                <a:solidFill>
                  <a:schemeClr val="dk1"/>
                </a:solidFill>
                <a:latin typeface="Times New Roman"/>
                <a:ea typeface="Times New Roman"/>
                <a:cs typeface="Times New Roman"/>
                <a:sym typeface="Times New Roman"/>
              </a:rPr>
              <a:t>for 2-3 min</a:t>
            </a:r>
            <a:endParaRPr sz="1800">
              <a:solidFill>
                <a:schemeClr val="dk1"/>
              </a:solidFill>
              <a:latin typeface="Times New Roman"/>
              <a:ea typeface="Times New Roman"/>
              <a:cs typeface="Times New Roman"/>
              <a:sym typeface="Times New Roman"/>
            </a:endParaRPr>
          </a:p>
        </p:txBody>
      </p:sp>
      <p:sp>
        <p:nvSpPr>
          <p:cNvPr id="203" name="Google Shape;203;g3155d714b4a_0_0"/>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lang="en-US" sz="2000">
                <a:solidFill>
                  <a:schemeClr val="lt1"/>
                </a:solidFill>
                <a:latin typeface="Times New Roman"/>
                <a:ea typeface="Times New Roman"/>
                <a:cs typeface="Times New Roman"/>
                <a:sym typeface="Times New Roman"/>
              </a:rPr>
              <a:t>Components of the PCR reaction and amplification cycle</a:t>
            </a:r>
            <a:endParaRPr b="1" i="0" sz="2000" u="none" cap="none" strike="noStrike">
              <a:solidFill>
                <a:schemeClr val="lt1"/>
              </a:solidFill>
              <a:latin typeface="Times New Roman"/>
              <a:ea typeface="Times New Roman"/>
              <a:cs typeface="Times New Roman"/>
              <a:sym typeface="Times New Roman"/>
            </a:endParaRPr>
          </a:p>
        </p:txBody>
      </p:sp>
      <p:sp>
        <p:nvSpPr>
          <p:cNvPr id="204" name="Google Shape;204;g3155d714b4a_0_0"/>
          <p:cNvSpPr txBox="1"/>
          <p:nvPr/>
        </p:nvSpPr>
        <p:spPr>
          <a:xfrm>
            <a:off x="7900150" y="3357300"/>
            <a:ext cx="969000" cy="32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800">
                <a:solidFill>
                  <a:schemeClr val="dk1"/>
                </a:solidFill>
                <a:latin typeface="Times New Roman"/>
                <a:ea typeface="Times New Roman"/>
                <a:cs typeface="Times New Roman"/>
                <a:sym typeface="Times New Roman"/>
              </a:rPr>
              <a:t>5</a:t>
            </a:r>
            <a:r>
              <a:rPr lang="en-US" sz="1800">
                <a:solidFill>
                  <a:schemeClr val="dk1"/>
                </a:solidFill>
                <a:latin typeface="Times New Roman"/>
                <a:ea typeface="Times New Roman"/>
                <a:cs typeface="Times New Roman"/>
                <a:sym typeface="Times New Roman"/>
              </a:rPr>
              <a:t>5 ℃</a:t>
            </a:r>
            <a:endParaRPr sz="1800">
              <a:solidFill>
                <a:schemeClr val="dk1"/>
              </a:solidFill>
              <a:latin typeface="Times New Roman"/>
              <a:ea typeface="Times New Roman"/>
              <a:cs typeface="Times New Roman"/>
              <a:sym typeface="Times New Roman"/>
            </a:endParaRPr>
          </a:p>
          <a:p>
            <a:pPr indent="0" lvl="0" marL="0" rtl="0" algn="ctr">
              <a:spcBef>
                <a:spcPts val="0"/>
              </a:spcBef>
              <a:spcAft>
                <a:spcPts val="0"/>
              </a:spcAft>
              <a:buNone/>
            </a:pPr>
            <a:r>
              <a:rPr lang="en-US" sz="1800">
                <a:solidFill>
                  <a:schemeClr val="dk1"/>
                </a:solidFill>
                <a:latin typeface="Times New Roman"/>
                <a:ea typeface="Times New Roman"/>
                <a:cs typeface="Times New Roman"/>
                <a:sym typeface="Times New Roman"/>
              </a:rPr>
              <a:t>for 30 s</a:t>
            </a:r>
            <a:endParaRPr sz="1800">
              <a:solidFill>
                <a:schemeClr val="dk1"/>
              </a:solidFill>
              <a:latin typeface="Times New Roman"/>
              <a:ea typeface="Times New Roman"/>
              <a:cs typeface="Times New Roman"/>
              <a:sym typeface="Times New Roman"/>
            </a:endParaRPr>
          </a:p>
        </p:txBody>
      </p:sp>
      <p:sp>
        <p:nvSpPr>
          <p:cNvPr id="205" name="Google Shape;205;g3155d714b4a_0_0"/>
          <p:cNvSpPr txBox="1"/>
          <p:nvPr/>
        </p:nvSpPr>
        <p:spPr>
          <a:xfrm>
            <a:off x="4934425" y="625638"/>
            <a:ext cx="6890100" cy="59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chemeClr val="dk1"/>
                </a:solidFill>
                <a:latin typeface="Times New Roman"/>
                <a:ea typeface="Times New Roman"/>
                <a:cs typeface="Times New Roman"/>
                <a:sym typeface="Times New Roman"/>
              </a:rPr>
              <a:t>Taq DNA polymerase is thermostable enzyme</a:t>
            </a:r>
            <a:endParaRPr sz="20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2000">
                <a:solidFill>
                  <a:schemeClr val="dk1"/>
                </a:solidFill>
                <a:latin typeface="Times New Roman"/>
                <a:ea typeface="Times New Roman"/>
                <a:cs typeface="Times New Roman"/>
                <a:sym typeface="Times New Roman"/>
              </a:rPr>
              <a:t>Speed of DNA synthesis by Taq DNA polymerase: 2000 bp/min</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g29981c83788_0_120"/>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lang="en-US" sz="2000">
                <a:solidFill>
                  <a:schemeClr val="lt1"/>
                </a:solidFill>
                <a:latin typeface="Times New Roman"/>
                <a:ea typeface="Times New Roman"/>
                <a:cs typeface="Times New Roman"/>
                <a:sym typeface="Times New Roman"/>
              </a:rPr>
              <a:t>Exponential DNA amplification by PCR</a:t>
            </a:r>
            <a:endParaRPr b="1" i="0" sz="2000" u="none" cap="none" strike="noStrike">
              <a:solidFill>
                <a:schemeClr val="lt1"/>
              </a:solidFill>
              <a:latin typeface="Times New Roman"/>
              <a:ea typeface="Times New Roman"/>
              <a:cs typeface="Times New Roman"/>
              <a:sym typeface="Times New Roman"/>
            </a:endParaRPr>
          </a:p>
        </p:txBody>
      </p:sp>
      <p:pic>
        <p:nvPicPr>
          <p:cNvPr id="212" name="Google Shape;212;g29981c83788_0_120"/>
          <p:cNvPicPr preferRelativeResize="0"/>
          <p:nvPr/>
        </p:nvPicPr>
        <p:blipFill>
          <a:blip r:embed="rId3">
            <a:alphaModFix/>
          </a:blip>
          <a:stretch>
            <a:fillRect/>
          </a:stretch>
        </p:blipFill>
        <p:spPr>
          <a:xfrm>
            <a:off x="316550" y="517100"/>
            <a:ext cx="11411825" cy="6421751"/>
          </a:xfrm>
          <a:prstGeom prst="rect">
            <a:avLst/>
          </a:prstGeom>
          <a:noFill/>
          <a:ln>
            <a:noFill/>
          </a:ln>
        </p:spPr>
      </p:pic>
      <p:sp>
        <p:nvSpPr>
          <p:cNvPr id="213" name="Google Shape;213;g29981c83788_0_120"/>
          <p:cNvSpPr txBox="1"/>
          <p:nvPr/>
        </p:nvSpPr>
        <p:spPr>
          <a:xfrm>
            <a:off x="391225" y="6186000"/>
            <a:ext cx="4227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Watch this Youtube video for PCR reaction:</a:t>
            </a:r>
            <a:endParaRPr/>
          </a:p>
          <a:p>
            <a:pPr indent="0" lvl="0" marL="0" rtl="0" algn="l">
              <a:spcBef>
                <a:spcPts val="0"/>
              </a:spcBef>
              <a:spcAft>
                <a:spcPts val="0"/>
              </a:spcAft>
              <a:buNone/>
            </a:pPr>
            <a:r>
              <a:rPr lang="en-US" u="sng">
                <a:solidFill>
                  <a:schemeClr val="hlink"/>
                </a:solidFill>
                <a:hlinkClick r:id="rId4"/>
              </a:rPr>
              <a:t>https://www.youtube.com/watch?v=iQsu3Kz9NYo</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g3157d447c70_0_4"/>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lang="en-US" sz="2000">
                <a:solidFill>
                  <a:schemeClr val="lt1"/>
                </a:solidFill>
                <a:latin typeface="Times New Roman"/>
                <a:ea typeface="Times New Roman"/>
                <a:cs typeface="Times New Roman"/>
                <a:sym typeface="Times New Roman"/>
              </a:rPr>
              <a:t>Applications of PCR</a:t>
            </a:r>
            <a:endParaRPr b="1" i="0" sz="2000" u="none" cap="none" strike="noStrike">
              <a:solidFill>
                <a:schemeClr val="lt1"/>
              </a:solidFill>
              <a:latin typeface="Times New Roman"/>
              <a:ea typeface="Times New Roman"/>
              <a:cs typeface="Times New Roman"/>
              <a:sym typeface="Times New Roman"/>
            </a:endParaRPr>
          </a:p>
        </p:txBody>
      </p:sp>
      <p:sp>
        <p:nvSpPr>
          <p:cNvPr id="220" name="Google Shape;220;g3157d447c70_0_4"/>
          <p:cNvSpPr txBox="1"/>
          <p:nvPr>
            <p:ph idx="1" type="body"/>
          </p:nvPr>
        </p:nvSpPr>
        <p:spPr>
          <a:xfrm>
            <a:off x="461025" y="495725"/>
            <a:ext cx="11272800" cy="6266400"/>
          </a:xfrm>
          <a:prstGeom prst="rect">
            <a:avLst/>
          </a:prstGeom>
        </p:spPr>
        <p:txBody>
          <a:bodyPr anchorCtr="0" anchor="t" bIns="45700" lIns="91425" spcFirstLastPara="1" rIns="91425" wrap="square" tIns="45700">
            <a:normAutofit/>
          </a:bodyPr>
          <a:lstStyle/>
          <a:p>
            <a:pPr indent="-368300" lvl="0" marL="457200" rtl="0" algn="l">
              <a:spcBef>
                <a:spcPts val="1000"/>
              </a:spcBef>
              <a:spcAft>
                <a:spcPts val="0"/>
              </a:spcAft>
              <a:buSzPts val="2200"/>
              <a:buFont typeface="Times New Roman"/>
              <a:buChar char="•"/>
            </a:pPr>
            <a:r>
              <a:rPr lang="en-US" sz="2200">
                <a:latin typeface="Times New Roman"/>
                <a:ea typeface="Times New Roman"/>
                <a:cs typeface="Times New Roman"/>
                <a:sym typeface="Times New Roman"/>
              </a:rPr>
              <a:t>Amplify a specific fragment of DNA (a gene) for cloning purposes.</a:t>
            </a:r>
            <a:endParaRPr sz="2200">
              <a:latin typeface="Times New Roman"/>
              <a:ea typeface="Times New Roman"/>
              <a:cs typeface="Times New Roman"/>
              <a:sym typeface="Times New Roman"/>
            </a:endParaRPr>
          </a:p>
          <a:p>
            <a:pPr indent="0" lvl="0" marL="0" rtl="0" algn="l">
              <a:spcBef>
                <a:spcPts val="1000"/>
              </a:spcBef>
              <a:spcAft>
                <a:spcPts val="0"/>
              </a:spcAft>
              <a:buNone/>
            </a:pPr>
            <a:r>
              <a:t/>
            </a:r>
            <a:endParaRPr sz="2200">
              <a:latin typeface="Times New Roman"/>
              <a:ea typeface="Times New Roman"/>
              <a:cs typeface="Times New Roman"/>
              <a:sym typeface="Times New Roman"/>
            </a:endParaRPr>
          </a:p>
          <a:p>
            <a:pPr indent="-368300" lvl="0" marL="457200" rtl="0" algn="l">
              <a:spcBef>
                <a:spcPts val="1000"/>
              </a:spcBef>
              <a:spcAft>
                <a:spcPts val="0"/>
              </a:spcAft>
              <a:buSzPts val="2200"/>
              <a:buFont typeface="Times New Roman"/>
              <a:buChar char="•"/>
            </a:pPr>
            <a:r>
              <a:rPr lang="en-US" sz="2200">
                <a:latin typeface="Times New Roman"/>
                <a:ea typeface="Times New Roman"/>
                <a:cs typeface="Times New Roman"/>
                <a:sym typeface="Times New Roman"/>
              </a:rPr>
              <a:t>Diagnostic applications to detect bacterial or viral infections.</a:t>
            </a:r>
            <a:endParaRPr sz="2200">
              <a:latin typeface="Times New Roman"/>
              <a:ea typeface="Times New Roman"/>
              <a:cs typeface="Times New Roman"/>
              <a:sym typeface="Times New Roman"/>
            </a:endParaRPr>
          </a:p>
          <a:p>
            <a:pPr indent="0" lvl="0" marL="0" rtl="0" algn="l">
              <a:spcBef>
                <a:spcPts val="1000"/>
              </a:spcBef>
              <a:spcAft>
                <a:spcPts val="0"/>
              </a:spcAft>
              <a:buNone/>
            </a:pPr>
            <a:r>
              <a:t/>
            </a:r>
            <a:endParaRPr sz="2200">
              <a:latin typeface="Times New Roman"/>
              <a:ea typeface="Times New Roman"/>
              <a:cs typeface="Times New Roman"/>
              <a:sym typeface="Times New Roman"/>
            </a:endParaRPr>
          </a:p>
          <a:p>
            <a:pPr indent="-368300" lvl="0" marL="457200" rtl="0" algn="l">
              <a:spcBef>
                <a:spcPts val="1000"/>
              </a:spcBef>
              <a:spcAft>
                <a:spcPts val="0"/>
              </a:spcAft>
              <a:buSzPts val="2200"/>
              <a:buFont typeface="Times New Roman"/>
              <a:buChar char="•"/>
            </a:pPr>
            <a:r>
              <a:rPr lang="en-US" sz="2200">
                <a:latin typeface="Times New Roman"/>
                <a:ea typeface="Times New Roman"/>
                <a:cs typeface="Times New Roman"/>
                <a:sym typeface="Times New Roman"/>
              </a:rPr>
              <a:t>Forensic DNA analysis to match DNA to criminal suspects. </a:t>
            </a:r>
            <a:r>
              <a:rPr lang="en-US" sz="2200">
                <a:latin typeface="Times New Roman"/>
                <a:ea typeface="Times New Roman"/>
                <a:cs typeface="Times New Roman"/>
                <a:sym typeface="Times New Roman"/>
              </a:rPr>
              <a:t>(based on DNA fingerprinting)</a:t>
            </a:r>
            <a:endParaRPr sz="2200">
              <a:latin typeface="Times New Roman"/>
              <a:ea typeface="Times New Roman"/>
              <a:cs typeface="Times New Roman"/>
              <a:sym typeface="Times New Roman"/>
            </a:endParaRPr>
          </a:p>
          <a:p>
            <a:pPr indent="0" lvl="0" marL="0" rtl="0" algn="l">
              <a:spcBef>
                <a:spcPts val="1000"/>
              </a:spcBef>
              <a:spcAft>
                <a:spcPts val="0"/>
              </a:spcAft>
              <a:buNone/>
            </a:pPr>
            <a:r>
              <a:t/>
            </a:r>
            <a:endParaRPr sz="2200">
              <a:latin typeface="Times New Roman"/>
              <a:ea typeface="Times New Roman"/>
              <a:cs typeface="Times New Roman"/>
              <a:sym typeface="Times New Roman"/>
            </a:endParaRPr>
          </a:p>
          <a:p>
            <a:pPr indent="-368300" lvl="0" marL="457200" rtl="0" algn="l">
              <a:spcBef>
                <a:spcPts val="1000"/>
              </a:spcBef>
              <a:spcAft>
                <a:spcPts val="0"/>
              </a:spcAft>
              <a:buSzPts val="2200"/>
              <a:buFont typeface="Times New Roman"/>
              <a:buChar char="•"/>
            </a:pPr>
            <a:r>
              <a:rPr lang="en-US" sz="2200">
                <a:latin typeface="Times New Roman"/>
                <a:ea typeface="Times New Roman"/>
                <a:cs typeface="Times New Roman"/>
                <a:sym typeface="Times New Roman"/>
              </a:rPr>
              <a:t>Paternity and maternity testing. (based on DNA fingerprinting)</a:t>
            </a:r>
            <a:endParaRPr sz="2200">
              <a:latin typeface="Times New Roman"/>
              <a:ea typeface="Times New Roman"/>
              <a:cs typeface="Times New Roman"/>
              <a:sym typeface="Times New Roman"/>
            </a:endParaRPr>
          </a:p>
          <a:p>
            <a:pPr indent="0" lvl="0" marL="457200" rtl="0" algn="l">
              <a:spcBef>
                <a:spcPts val="1000"/>
              </a:spcBef>
              <a:spcAft>
                <a:spcPts val="0"/>
              </a:spcAft>
              <a:buNone/>
            </a:pPr>
            <a:r>
              <a:t/>
            </a:r>
            <a:endParaRPr sz="2200">
              <a:latin typeface="Times New Roman"/>
              <a:ea typeface="Times New Roman"/>
              <a:cs typeface="Times New Roman"/>
              <a:sym typeface="Times New Roman"/>
            </a:endParaRPr>
          </a:p>
          <a:p>
            <a:pPr indent="-368300" lvl="0" marL="457200" rtl="0" algn="l">
              <a:spcBef>
                <a:spcPts val="1000"/>
              </a:spcBef>
              <a:spcAft>
                <a:spcPts val="0"/>
              </a:spcAft>
              <a:buSzPts val="2200"/>
              <a:buFont typeface="Times New Roman"/>
              <a:buChar char="•"/>
            </a:pPr>
            <a:r>
              <a:rPr lang="en-US" sz="2200">
                <a:latin typeface="Times New Roman"/>
                <a:ea typeface="Times New Roman"/>
                <a:cs typeface="Times New Roman"/>
                <a:sym typeface="Times New Roman"/>
              </a:rPr>
              <a:t>DNA fingerprinting act as a genetic barcode to identify individuals. </a:t>
            </a:r>
            <a:endParaRPr sz="2200">
              <a:latin typeface="Times New Roman"/>
              <a:ea typeface="Times New Roman"/>
              <a:cs typeface="Times New Roman"/>
              <a:sym typeface="Times New Roman"/>
            </a:endParaRPr>
          </a:p>
          <a:p>
            <a:pPr indent="0" lvl="0" marL="0" rtl="0" algn="l">
              <a:spcBef>
                <a:spcPts val="1000"/>
              </a:spcBef>
              <a:spcAft>
                <a:spcPts val="0"/>
              </a:spcAft>
              <a:buNone/>
            </a:pPr>
            <a:r>
              <a:t/>
            </a:r>
            <a:endParaRPr sz="2200">
              <a:latin typeface="Times New Roman"/>
              <a:ea typeface="Times New Roman"/>
              <a:cs typeface="Times New Roman"/>
              <a:sym typeface="Times New Roman"/>
            </a:endParaRPr>
          </a:p>
          <a:p>
            <a:pPr indent="-368300" lvl="0" marL="457200" rtl="0" algn="l">
              <a:spcBef>
                <a:spcPts val="1000"/>
              </a:spcBef>
              <a:spcAft>
                <a:spcPts val="0"/>
              </a:spcAft>
              <a:buSzPts val="2200"/>
              <a:buFont typeface="Times New Roman"/>
              <a:buChar char="•"/>
            </a:pPr>
            <a:r>
              <a:rPr lang="en-US" sz="2200">
                <a:latin typeface="Times New Roman"/>
                <a:ea typeface="Times New Roman"/>
                <a:cs typeface="Times New Roman"/>
                <a:sym typeface="Times New Roman"/>
              </a:rPr>
              <a:t>Diagnosis of genetic disorders.</a:t>
            </a:r>
            <a:endParaRPr sz="2200">
              <a:latin typeface="Times New Roman"/>
              <a:ea typeface="Times New Roman"/>
              <a:cs typeface="Times New Roman"/>
              <a:sym typeface="Times New Roman"/>
            </a:endParaRPr>
          </a:p>
          <a:p>
            <a:pPr indent="0" lvl="0" marL="0" rtl="0" algn="l">
              <a:spcBef>
                <a:spcPts val="1000"/>
              </a:spcBef>
              <a:spcAft>
                <a:spcPts val="0"/>
              </a:spcAft>
              <a:buNone/>
            </a:pPr>
            <a:r>
              <a:t/>
            </a:r>
            <a:endParaRPr sz="2200">
              <a:latin typeface="Times New Roman"/>
              <a:ea typeface="Times New Roman"/>
              <a:cs typeface="Times New Roman"/>
              <a:sym typeface="Times New Roman"/>
            </a:endParaRPr>
          </a:p>
        </p:txBody>
      </p:sp>
      <p:pic>
        <p:nvPicPr>
          <p:cNvPr id="221" name="Google Shape;221;g3157d447c70_0_4"/>
          <p:cNvPicPr preferRelativeResize="0"/>
          <p:nvPr/>
        </p:nvPicPr>
        <p:blipFill rotWithShape="1">
          <a:blip r:embed="rId3">
            <a:alphaModFix/>
          </a:blip>
          <a:srcRect b="21494" l="16923" r="15704" t="0"/>
          <a:stretch/>
        </p:blipFill>
        <p:spPr>
          <a:xfrm>
            <a:off x="8082675" y="4385350"/>
            <a:ext cx="4045350" cy="23767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pic>
        <p:nvPicPr>
          <p:cNvPr id="227" name="Google Shape;227;g315961fba6c_0_9"/>
          <p:cNvPicPr preferRelativeResize="0"/>
          <p:nvPr/>
        </p:nvPicPr>
        <p:blipFill>
          <a:blip r:embed="rId3">
            <a:alphaModFix/>
          </a:blip>
          <a:stretch>
            <a:fillRect/>
          </a:stretch>
        </p:blipFill>
        <p:spPr>
          <a:xfrm>
            <a:off x="6291250" y="1980847"/>
            <a:ext cx="4844850" cy="3974300"/>
          </a:xfrm>
          <a:prstGeom prst="rect">
            <a:avLst/>
          </a:prstGeom>
          <a:noFill/>
          <a:ln>
            <a:noFill/>
          </a:ln>
        </p:spPr>
      </p:pic>
      <p:sp>
        <p:nvSpPr>
          <p:cNvPr id="228" name="Google Shape;228;g315961fba6c_0_9"/>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lang="en-US" sz="2000">
                <a:solidFill>
                  <a:schemeClr val="lt1"/>
                </a:solidFill>
                <a:latin typeface="Times New Roman"/>
                <a:ea typeface="Times New Roman"/>
                <a:cs typeface="Times New Roman"/>
                <a:sym typeface="Times New Roman"/>
              </a:rPr>
              <a:t>PCR tubes with reaction mixture </a:t>
            </a:r>
            <a:endParaRPr b="1" i="0" sz="2000" u="none" cap="none" strike="noStrike">
              <a:solidFill>
                <a:schemeClr val="lt1"/>
              </a:solidFill>
              <a:latin typeface="Times New Roman"/>
              <a:ea typeface="Times New Roman"/>
              <a:cs typeface="Times New Roman"/>
              <a:sym typeface="Times New Roman"/>
            </a:endParaRPr>
          </a:p>
        </p:txBody>
      </p:sp>
      <p:pic>
        <p:nvPicPr>
          <p:cNvPr id="229" name="Google Shape;229;g315961fba6c_0_9"/>
          <p:cNvPicPr preferRelativeResize="0"/>
          <p:nvPr/>
        </p:nvPicPr>
        <p:blipFill>
          <a:blip r:embed="rId3">
            <a:alphaModFix/>
          </a:blip>
          <a:stretch>
            <a:fillRect/>
          </a:stretch>
        </p:blipFill>
        <p:spPr>
          <a:xfrm>
            <a:off x="662875" y="1980847"/>
            <a:ext cx="4844850" cy="3974300"/>
          </a:xfrm>
          <a:prstGeom prst="rect">
            <a:avLst/>
          </a:prstGeom>
          <a:noFill/>
          <a:ln>
            <a:noFill/>
          </a:ln>
        </p:spPr>
      </p:pic>
      <p:sp>
        <p:nvSpPr>
          <p:cNvPr id="230" name="Google Shape;230;g315961fba6c_0_9"/>
          <p:cNvSpPr txBox="1"/>
          <p:nvPr/>
        </p:nvSpPr>
        <p:spPr>
          <a:xfrm>
            <a:off x="1053550" y="1068350"/>
            <a:ext cx="4184100" cy="72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800">
                <a:solidFill>
                  <a:schemeClr val="dk1"/>
                </a:solidFill>
                <a:latin typeface="Times New Roman"/>
                <a:ea typeface="Times New Roman"/>
                <a:cs typeface="Times New Roman"/>
                <a:sym typeface="Times New Roman"/>
              </a:rPr>
              <a:t>Before DNA amplification/</a:t>
            </a:r>
            <a:endParaRPr sz="2800">
              <a:solidFill>
                <a:schemeClr val="dk1"/>
              </a:solidFill>
              <a:latin typeface="Times New Roman"/>
              <a:ea typeface="Times New Roman"/>
              <a:cs typeface="Times New Roman"/>
              <a:sym typeface="Times New Roman"/>
            </a:endParaRPr>
          </a:p>
          <a:p>
            <a:pPr indent="0" lvl="0" marL="0" rtl="0" algn="ctr">
              <a:spcBef>
                <a:spcPts val="0"/>
              </a:spcBef>
              <a:spcAft>
                <a:spcPts val="0"/>
              </a:spcAft>
              <a:buNone/>
            </a:pPr>
            <a:r>
              <a:rPr lang="en-US" sz="2800">
                <a:solidFill>
                  <a:schemeClr val="dk1"/>
                </a:solidFill>
                <a:latin typeface="Times New Roman"/>
                <a:ea typeface="Times New Roman"/>
                <a:cs typeface="Times New Roman"/>
                <a:sym typeface="Times New Roman"/>
              </a:rPr>
              <a:t>Before PCR reaction</a:t>
            </a:r>
            <a:endParaRPr sz="2800">
              <a:solidFill>
                <a:schemeClr val="dk1"/>
              </a:solidFill>
              <a:latin typeface="Times New Roman"/>
              <a:ea typeface="Times New Roman"/>
              <a:cs typeface="Times New Roman"/>
              <a:sym typeface="Times New Roman"/>
            </a:endParaRPr>
          </a:p>
        </p:txBody>
      </p:sp>
      <p:sp>
        <p:nvSpPr>
          <p:cNvPr id="231" name="Google Shape;231;g315961fba6c_0_9"/>
          <p:cNvSpPr txBox="1"/>
          <p:nvPr/>
        </p:nvSpPr>
        <p:spPr>
          <a:xfrm>
            <a:off x="6707875" y="1026850"/>
            <a:ext cx="4063500" cy="72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800">
                <a:solidFill>
                  <a:schemeClr val="dk1"/>
                </a:solidFill>
                <a:latin typeface="Times New Roman"/>
                <a:ea typeface="Times New Roman"/>
                <a:cs typeface="Times New Roman"/>
                <a:sym typeface="Times New Roman"/>
              </a:rPr>
              <a:t>After DNA</a:t>
            </a:r>
            <a:r>
              <a:rPr lang="en-US" sz="2800">
                <a:solidFill>
                  <a:schemeClr val="dk1"/>
                </a:solidFill>
                <a:latin typeface="Times New Roman"/>
                <a:ea typeface="Times New Roman"/>
                <a:cs typeface="Times New Roman"/>
                <a:sym typeface="Times New Roman"/>
              </a:rPr>
              <a:t> amplification/</a:t>
            </a:r>
            <a:endParaRPr sz="2800">
              <a:solidFill>
                <a:schemeClr val="dk1"/>
              </a:solidFill>
              <a:latin typeface="Times New Roman"/>
              <a:ea typeface="Times New Roman"/>
              <a:cs typeface="Times New Roman"/>
              <a:sym typeface="Times New Roman"/>
            </a:endParaRPr>
          </a:p>
          <a:p>
            <a:pPr indent="0" lvl="0" marL="0" rtl="0" algn="ctr">
              <a:spcBef>
                <a:spcPts val="0"/>
              </a:spcBef>
              <a:spcAft>
                <a:spcPts val="0"/>
              </a:spcAft>
              <a:buNone/>
            </a:pPr>
            <a:r>
              <a:rPr lang="en-US" sz="2800">
                <a:solidFill>
                  <a:schemeClr val="dk1"/>
                </a:solidFill>
                <a:latin typeface="Times New Roman"/>
                <a:ea typeface="Times New Roman"/>
                <a:cs typeface="Times New Roman"/>
                <a:sym typeface="Times New Roman"/>
              </a:rPr>
              <a:t>After PCR reaction</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pic>
        <p:nvPicPr>
          <p:cNvPr id="237" name="Google Shape;237;g29981c83788_0_141"/>
          <p:cNvPicPr preferRelativeResize="0"/>
          <p:nvPr/>
        </p:nvPicPr>
        <p:blipFill rotWithShape="1">
          <a:blip r:embed="rId3">
            <a:alphaModFix/>
          </a:blip>
          <a:srcRect b="0" l="8783" r="46055" t="0"/>
          <a:stretch/>
        </p:blipFill>
        <p:spPr>
          <a:xfrm>
            <a:off x="3408075" y="1186800"/>
            <a:ext cx="4202275" cy="5234275"/>
          </a:xfrm>
          <a:prstGeom prst="rect">
            <a:avLst/>
          </a:prstGeom>
          <a:noFill/>
          <a:ln>
            <a:noFill/>
          </a:ln>
        </p:spPr>
      </p:pic>
      <p:sp>
        <p:nvSpPr>
          <p:cNvPr id="238" name="Google Shape;238;g29981c83788_0_141"/>
          <p:cNvSpPr txBox="1"/>
          <p:nvPr/>
        </p:nvSpPr>
        <p:spPr>
          <a:xfrm>
            <a:off x="3877175" y="1662900"/>
            <a:ext cx="987900" cy="18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solidFill>
                  <a:schemeClr val="lt1"/>
                </a:solidFill>
                <a:latin typeface="Calibri"/>
                <a:ea typeface="Calibri"/>
                <a:cs typeface="Calibri"/>
                <a:sym typeface="Calibri"/>
              </a:rPr>
              <a:t>-Ve</a:t>
            </a:r>
            <a:endParaRPr sz="2800">
              <a:solidFill>
                <a:schemeClr val="lt1"/>
              </a:solidFill>
              <a:latin typeface="Calibri"/>
              <a:ea typeface="Calibri"/>
              <a:cs typeface="Calibri"/>
              <a:sym typeface="Calibri"/>
            </a:endParaRPr>
          </a:p>
        </p:txBody>
      </p:sp>
      <p:sp>
        <p:nvSpPr>
          <p:cNvPr id="239" name="Google Shape;239;g29981c83788_0_141"/>
          <p:cNvSpPr txBox="1"/>
          <p:nvPr/>
        </p:nvSpPr>
        <p:spPr>
          <a:xfrm>
            <a:off x="3354300" y="4513300"/>
            <a:ext cx="987900" cy="18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solidFill>
                  <a:schemeClr val="lt1"/>
                </a:solidFill>
                <a:latin typeface="Calibri"/>
                <a:ea typeface="Calibri"/>
                <a:cs typeface="Calibri"/>
                <a:sym typeface="Calibri"/>
              </a:rPr>
              <a:t>+</a:t>
            </a:r>
            <a:r>
              <a:rPr lang="en-US" sz="2800">
                <a:solidFill>
                  <a:schemeClr val="lt1"/>
                </a:solidFill>
                <a:latin typeface="Calibri"/>
                <a:ea typeface="Calibri"/>
                <a:cs typeface="Calibri"/>
                <a:sym typeface="Calibri"/>
              </a:rPr>
              <a:t>Ve</a:t>
            </a:r>
            <a:endParaRPr sz="2800">
              <a:solidFill>
                <a:schemeClr val="lt1"/>
              </a:solidFill>
              <a:latin typeface="Calibri"/>
              <a:ea typeface="Calibri"/>
              <a:cs typeface="Calibri"/>
              <a:sym typeface="Calibri"/>
            </a:endParaRPr>
          </a:p>
        </p:txBody>
      </p:sp>
      <p:sp>
        <p:nvSpPr>
          <p:cNvPr id="240" name="Google Shape;240;g29981c83788_0_141"/>
          <p:cNvSpPr txBox="1"/>
          <p:nvPr/>
        </p:nvSpPr>
        <p:spPr>
          <a:xfrm>
            <a:off x="7610350" y="3607663"/>
            <a:ext cx="2165700" cy="31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900">
                <a:solidFill>
                  <a:schemeClr val="dk1"/>
                </a:solidFill>
                <a:latin typeface="Times New Roman"/>
                <a:ea typeface="Times New Roman"/>
                <a:cs typeface="Times New Roman"/>
                <a:sym typeface="Times New Roman"/>
              </a:rPr>
              <a:t>small DNA</a:t>
            </a:r>
            <a:endParaRPr sz="1900">
              <a:solidFill>
                <a:schemeClr val="dk1"/>
              </a:solidFill>
              <a:latin typeface="Times New Roman"/>
              <a:ea typeface="Times New Roman"/>
              <a:cs typeface="Times New Roman"/>
              <a:sym typeface="Times New Roman"/>
            </a:endParaRPr>
          </a:p>
        </p:txBody>
      </p:sp>
      <p:sp>
        <p:nvSpPr>
          <p:cNvPr id="241" name="Google Shape;241;g29981c83788_0_141"/>
          <p:cNvSpPr txBox="1"/>
          <p:nvPr/>
        </p:nvSpPr>
        <p:spPr>
          <a:xfrm>
            <a:off x="7610350" y="2674300"/>
            <a:ext cx="2165700" cy="31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900">
                <a:solidFill>
                  <a:schemeClr val="dk1"/>
                </a:solidFill>
                <a:latin typeface="Times New Roman"/>
                <a:ea typeface="Times New Roman"/>
                <a:cs typeface="Times New Roman"/>
                <a:sym typeface="Times New Roman"/>
              </a:rPr>
              <a:t>large</a:t>
            </a:r>
            <a:r>
              <a:rPr lang="en-US" sz="1900">
                <a:solidFill>
                  <a:schemeClr val="dk1"/>
                </a:solidFill>
                <a:latin typeface="Times New Roman"/>
                <a:ea typeface="Times New Roman"/>
                <a:cs typeface="Times New Roman"/>
                <a:sym typeface="Times New Roman"/>
              </a:rPr>
              <a:t> DNA</a:t>
            </a:r>
            <a:endParaRPr sz="1900">
              <a:solidFill>
                <a:schemeClr val="dk1"/>
              </a:solidFill>
              <a:latin typeface="Times New Roman"/>
              <a:ea typeface="Times New Roman"/>
              <a:cs typeface="Times New Roman"/>
              <a:sym typeface="Times New Roman"/>
            </a:endParaRPr>
          </a:p>
        </p:txBody>
      </p:sp>
      <p:cxnSp>
        <p:nvCxnSpPr>
          <p:cNvPr id="242" name="Google Shape;242;g29981c83788_0_141"/>
          <p:cNvCxnSpPr/>
          <p:nvPr/>
        </p:nvCxnSpPr>
        <p:spPr>
          <a:xfrm flipH="1">
            <a:off x="4030950" y="2384150"/>
            <a:ext cx="313500" cy="1833300"/>
          </a:xfrm>
          <a:prstGeom prst="straightConnector1">
            <a:avLst/>
          </a:prstGeom>
          <a:noFill/>
          <a:ln cap="flat" cmpd="sng" w="76200">
            <a:solidFill>
              <a:schemeClr val="lt1"/>
            </a:solidFill>
            <a:prstDash val="solid"/>
            <a:round/>
            <a:headEnd len="med" w="med" type="none"/>
            <a:tailEnd len="med" w="med" type="triangle"/>
          </a:ln>
        </p:spPr>
      </p:cxnSp>
      <p:sp>
        <p:nvSpPr>
          <p:cNvPr id="243" name="Google Shape;243;g29981c83788_0_141"/>
          <p:cNvSpPr txBox="1"/>
          <p:nvPr/>
        </p:nvSpPr>
        <p:spPr>
          <a:xfrm>
            <a:off x="4847875" y="1662125"/>
            <a:ext cx="6468600" cy="18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lt1"/>
                </a:solidFill>
                <a:latin typeface="Times New Roman"/>
                <a:ea typeface="Times New Roman"/>
                <a:cs typeface="Times New Roman"/>
                <a:sym typeface="Times New Roman"/>
              </a:rPr>
              <a:t>     1   2   3    4   5   6    7   8   </a:t>
            </a:r>
            <a:r>
              <a:rPr lang="en-US" sz="1800">
                <a:solidFill>
                  <a:schemeClr val="dk1"/>
                </a:solidFill>
                <a:latin typeface="Times New Roman"/>
                <a:ea typeface="Times New Roman"/>
                <a:cs typeface="Times New Roman"/>
                <a:sym typeface="Times New Roman"/>
              </a:rPr>
              <a:t> Samples  </a:t>
            </a:r>
            <a:endParaRPr sz="1800">
              <a:solidFill>
                <a:schemeClr val="dk1"/>
              </a:solidFill>
              <a:latin typeface="Times New Roman"/>
              <a:ea typeface="Times New Roman"/>
              <a:cs typeface="Times New Roman"/>
              <a:sym typeface="Times New Roman"/>
            </a:endParaRPr>
          </a:p>
        </p:txBody>
      </p:sp>
      <p:sp>
        <p:nvSpPr>
          <p:cNvPr id="244" name="Google Shape;244;g29981c83788_0_141"/>
          <p:cNvSpPr txBox="1"/>
          <p:nvPr/>
        </p:nvSpPr>
        <p:spPr>
          <a:xfrm rot="-5400000">
            <a:off x="4158925" y="1299650"/>
            <a:ext cx="1253700" cy="18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lt1"/>
                </a:solidFill>
                <a:latin typeface="Times New Roman"/>
                <a:ea typeface="Times New Roman"/>
                <a:cs typeface="Times New Roman"/>
                <a:sym typeface="Times New Roman"/>
              </a:rPr>
              <a:t>Ladder</a:t>
            </a:r>
            <a:endParaRPr sz="1800">
              <a:solidFill>
                <a:schemeClr val="lt1"/>
              </a:solidFill>
              <a:latin typeface="Times New Roman"/>
              <a:ea typeface="Times New Roman"/>
              <a:cs typeface="Times New Roman"/>
              <a:sym typeface="Times New Roman"/>
            </a:endParaRPr>
          </a:p>
        </p:txBody>
      </p:sp>
      <p:sp>
        <p:nvSpPr>
          <p:cNvPr id="245" name="Google Shape;245;g29981c83788_0_141"/>
          <p:cNvSpPr txBox="1"/>
          <p:nvPr/>
        </p:nvSpPr>
        <p:spPr>
          <a:xfrm>
            <a:off x="3408126" y="5686100"/>
            <a:ext cx="4202400" cy="31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800">
                <a:solidFill>
                  <a:schemeClr val="lt1"/>
                </a:solidFill>
                <a:latin typeface="Times New Roman"/>
                <a:ea typeface="Times New Roman"/>
                <a:cs typeface="Times New Roman"/>
                <a:sym typeface="Times New Roman"/>
              </a:rPr>
              <a:t>UV light</a:t>
            </a:r>
            <a:endParaRPr sz="2800">
              <a:solidFill>
                <a:schemeClr val="lt1"/>
              </a:solidFill>
              <a:latin typeface="Times New Roman"/>
              <a:ea typeface="Times New Roman"/>
              <a:cs typeface="Times New Roman"/>
              <a:sym typeface="Times New Roman"/>
            </a:endParaRPr>
          </a:p>
        </p:txBody>
      </p:sp>
      <p:sp>
        <p:nvSpPr>
          <p:cNvPr id="246" name="Google Shape;246;g29981c83788_0_141"/>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lang="en-US" sz="2000">
                <a:solidFill>
                  <a:schemeClr val="lt1"/>
                </a:solidFill>
                <a:latin typeface="Times New Roman"/>
                <a:ea typeface="Times New Roman"/>
                <a:cs typeface="Times New Roman"/>
                <a:sym typeface="Times New Roman"/>
              </a:rPr>
              <a:t>Agarose Gel Electrophoresis to separate and visualize DNA</a:t>
            </a:r>
            <a:endParaRPr b="1" i="0" sz="2000" u="none" cap="none" strike="noStrike">
              <a:solidFill>
                <a:schemeClr val="lt1"/>
              </a:solidFill>
              <a:latin typeface="Times New Roman"/>
              <a:ea typeface="Times New Roman"/>
              <a:cs typeface="Times New Roman"/>
              <a:sym typeface="Times New Roman"/>
            </a:endParaRPr>
          </a:p>
        </p:txBody>
      </p:sp>
      <p:sp>
        <p:nvSpPr>
          <p:cNvPr id="247" name="Google Shape;247;g29981c83788_0_141"/>
          <p:cNvSpPr txBox="1"/>
          <p:nvPr/>
        </p:nvSpPr>
        <p:spPr>
          <a:xfrm rot="-4783219">
            <a:off x="3073031" y="2813707"/>
            <a:ext cx="1649172" cy="180478"/>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lt1"/>
                </a:solidFill>
                <a:latin typeface="Times New Roman"/>
                <a:ea typeface="Times New Roman"/>
                <a:cs typeface="Times New Roman"/>
                <a:sym typeface="Times New Roman"/>
              </a:rPr>
              <a:t>Electric field</a:t>
            </a:r>
            <a:endParaRPr sz="1800">
              <a:solidFill>
                <a:schemeClr val="lt1"/>
              </a:solidFill>
              <a:latin typeface="Times New Roman"/>
              <a:ea typeface="Times New Roman"/>
              <a:cs typeface="Times New Roman"/>
              <a:sym typeface="Times New Roman"/>
            </a:endParaRPr>
          </a:p>
        </p:txBody>
      </p:sp>
      <p:pic>
        <p:nvPicPr>
          <p:cNvPr id="248" name="Google Shape;248;g29981c83788_0_141"/>
          <p:cNvPicPr preferRelativeResize="0"/>
          <p:nvPr/>
        </p:nvPicPr>
        <p:blipFill>
          <a:blip r:embed="rId4">
            <a:alphaModFix/>
          </a:blip>
          <a:stretch>
            <a:fillRect/>
          </a:stretch>
        </p:blipFill>
        <p:spPr>
          <a:xfrm>
            <a:off x="9776055" y="1944695"/>
            <a:ext cx="2165699" cy="1547164"/>
          </a:xfrm>
          <a:prstGeom prst="rect">
            <a:avLst/>
          </a:prstGeom>
          <a:noFill/>
          <a:ln>
            <a:noFill/>
          </a:ln>
        </p:spPr>
      </p:pic>
      <p:sp>
        <p:nvSpPr>
          <p:cNvPr id="249" name="Google Shape;249;g29981c83788_0_141"/>
          <p:cNvSpPr txBox="1"/>
          <p:nvPr/>
        </p:nvSpPr>
        <p:spPr>
          <a:xfrm>
            <a:off x="9623650" y="1570650"/>
            <a:ext cx="2415900" cy="365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800">
                <a:solidFill>
                  <a:schemeClr val="dk1"/>
                </a:solidFill>
                <a:latin typeface="Calibri"/>
                <a:ea typeface="Calibri"/>
                <a:cs typeface="Calibri"/>
                <a:sym typeface="Calibri"/>
              </a:rPr>
              <a:t>Gelatin gels that we eat</a:t>
            </a: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g29981c83788_0_14"/>
          <p:cNvSpPr txBox="1"/>
          <p:nvPr>
            <p:ph idx="1" type="body"/>
          </p:nvPr>
        </p:nvSpPr>
        <p:spPr>
          <a:xfrm>
            <a:off x="406250" y="462850"/>
            <a:ext cx="11525100" cy="3681000"/>
          </a:xfrm>
          <a:prstGeom prst="rect">
            <a:avLst/>
          </a:prstGeom>
        </p:spPr>
        <p:txBody>
          <a:bodyPr anchorCtr="0" anchor="t" bIns="45700" lIns="91425" spcFirstLastPara="1" rIns="91425" wrap="square" tIns="45700">
            <a:normAutofit lnSpcReduction="20000"/>
          </a:bodyPr>
          <a:lstStyle/>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Agarose gel electrophoresis is a method to separate a mixed population of DNA, based on their sizes (molecular weight).</a:t>
            </a:r>
            <a:endParaRPr sz="2000">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Agarose gel is a 3D matrix, in which the mixture of DNA is loaded and the electric field is applied.</a:t>
            </a:r>
            <a:endParaRPr sz="2000">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DNA migrates from negative to positive electrode and the distance it migrates depends on the size of the DNA. Small DNA molecules (e.g. 300 bp) moves faster, compared to large DNA molecules (i.e. 1000 bp).</a:t>
            </a:r>
            <a:endParaRPr sz="2000">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The agarose gel is stained with ethidium bromide (EtBr) and observed under the Ultraviolet light to see the bands of DNA.</a:t>
            </a:r>
            <a:endParaRPr sz="2000">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DNA molecular weight marker (DNA ladder) is used as a reference of molecular weight.</a:t>
            </a:r>
            <a:endParaRPr sz="2000">
              <a:latin typeface="Times New Roman"/>
              <a:ea typeface="Times New Roman"/>
              <a:cs typeface="Times New Roman"/>
              <a:sym typeface="Times New Roman"/>
            </a:endParaRPr>
          </a:p>
        </p:txBody>
      </p:sp>
      <p:sp>
        <p:nvSpPr>
          <p:cNvPr id="256" name="Google Shape;256;g29981c83788_0_14"/>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lang="en-US" sz="2000">
                <a:solidFill>
                  <a:schemeClr val="lt1"/>
                </a:solidFill>
                <a:latin typeface="Times New Roman"/>
                <a:ea typeface="Times New Roman"/>
                <a:cs typeface="Times New Roman"/>
                <a:sym typeface="Times New Roman"/>
              </a:rPr>
              <a:t>Agarose Gel Electrophoresis to separate DNA</a:t>
            </a:r>
            <a:endParaRPr b="1" i="0" sz="2000" u="none" cap="none" strike="noStrike">
              <a:solidFill>
                <a:schemeClr val="lt1"/>
              </a:solidFill>
              <a:latin typeface="Times New Roman"/>
              <a:ea typeface="Times New Roman"/>
              <a:cs typeface="Times New Roman"/>
              <a:sym typeface="Times New Roman"/>
            </a:endParaRPr>
          </a:p>
        </p:txBody>
      </p:sp>
      <p:pic>
        <p:nvPicPr>
          <p:cNvPr id="257" name="Google Shape;257;g29981c83788_0_14"/>
          <p:cNvPicPr preferRelativeResize="0"/>
          <p:nvPr/>
        </p:nvPicPr>
        <p:blipFill>
          <a:blip r:embed="rId3">
            <a:alphaModFix/>
          </a:blip>
          <a:stretch>
            <a:fillRect/>
          </a:stretch>
        </p:blipFill>
        <p:spPr>
          <a:xfrm>
            <a:off x="0" y="4373900"/>
            <a:ext cx="4416148" cy="2484101"/>
          </a:xfrm>
          <a:prstGeom prst="rect">
            <a:avLst/>
          </a:prstGeom>
          <a:noFill/>
          <a:ln>
            <a:noFill/>
          </a:ln>
        </p:spPr>
      </p:pic>
      <p:pic>
        <p:nvPicPr>
          <p:cNvPr id="258" name="Google Shape;258;g29981c83788_0_14"/>
          <p:cNvPicPr preferRelativeResize="0"/>
          <p:nvPr/>
        </p:nvPicPr>
        <p:blipFill>
          <a:blip r:embed="rId4">
            <a:alphaModFix/>
          </a:blip>
          <a:stretch>
            <a:fillRect/>
          </a:stretch>
        </p:blipFill>
        <p:spPr>
          <a:xfrm>
            <a:off x="4618175" y="5138550"/>
            <a:ext cx="3744325" cy="1719450"/>
          </a:xfrm>
          <a:prstGeom prst="rect">
            <a:avLst/>
          </a:prstGeom>
          <a:noFill/>
          <a:ln>
            <a:noFill/>
          </a:ln>
        </p:spPr>
      </p:pic>
      <p:pic>
        <p:nvPicPr>
          <p:cNvPr id="259" name="Google Shape;259;g29981c83788_0_14"/>
          <p:cNvPicPr preferRelativeResize="0"/>
          <p:nvPr/>
        </p:nvPicPr>
        <p:blipFill rotWithShape="1">
          <a:blip r:embed="rId5">
            <a:alphaModFix/>
          </a:blip>
          <a:srcRect b="11602" l="8240" r="3060" t="12113"/>
          <a:stretch/>
        </p:blipFill>
        <p:spPr>
          <a:xfrm>
            <a:off x="8800695" y="4912500"/>
            <a:ext cx="3391305" cy="1945501"/>
          </a:xfrm>
          <a:prstGeom prst="rect">
            <a:avLst/>
          </a:prstGeom>
          <a:noFill/>
          <a:ln>
            <a:noFill/>
          </a:ln>
        </p:spPr>
      </p:pic>
      <p:sp>
        <p:nvSpPr>
          <p:cNvPr id="260" name="Google Shape;260;g29981c83788_0_14"/>
          <p:cNvSpPr txBox="1"/>
          <p:nvPr/>
        </p:nvSpPr>
        <p:spPr>
          <a:xfrm>
            <a:off x="8513650" y="4452050"/>
            <a:ext cx="8325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700">
                <a:latin typeface="Times New Roman"/>
                <a:ea typeface="Times New Roman"/>
                <a:cs typeface="Times New Roman"/>
                <a:sym typeface="Times New Roman"/>
              </a:rPr>
              <a:t>-</a:t>
            </a:r>
            <a:endParaRPr sz="2700">
              <a:latin typeface="Times New Roman"/>
              <a:ea typeface="Times New Roman"/>
              <a:cs typeface="Times New Roman"/>
              <a:sym typeface="Times New Roman"/>
            </a:endParaRPr>
          </a:p>
        </p:txBody>
      </p:sp>
      <p:sp>
        <p:nvSpPr>
          <p:cNvPr id="261" name="Google Shape;261;g29981c83788_0_14"/>
          <p:cNvSpPr txBox="1"/>
          <p:nvPr/>
        </p:nvSpPr>
        <p:spPr>
          <a:xfrm>
            <a:off x="8513650" y="6433250"/>
            <a:ext cx="8325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700">
                <a:latin typeface="Times New Roman"/>
                <a:ea typeface="Times New Roman"/>
                <a:cs typeface="Times New Roman"/>
                <a:sym typeface="Times New Roman"/>
              </a:rPr>
              <a:t>+</a:t>
            </a:r>
            <a:endParaRPr sz="2700">
              <a:latin typeface="Times New Roman"/>
              <a:ea typeface="Times New Roman"/>
              <a:cs typeface="Times New Roman"/>
              <a:sym typeface="Times New Roman"/>
            </a:endParaRPr>
          </a:p>
        </p:txBody>
      </p:sp>
      <p:sp>
        <p:nvSpPr>
          <p:cNvPr id="262" name="Google Shape;262;g29981c83788_0_14"/>
          <p:cNvSpPr/>
          <p:nvPr/>
        </p:nvSpPr>
        <p:spPr>
          <a:xfrm>
            <a:off x="8613988" y="5064075"/>
            <a:ext cx="128700" cy="1369500"/>
          </a:xfrm>
          <a:prstGeom prst="down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g29981c83788_0_14"/>
          <p:cNvSpPr txBox="1"/>
          <p:nvPr/>
        </p:nvSpPr>
        <p:spPr>
          <a:xfrm rot="-5400000">
            <a:off x="8666500" y="4323500"/>
            <a:ext cx="766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Times New Roman"/>
                <a:ea typeface="Times New Roman"/>
                <a:cs typeface="Times New Roman"/>
                <a:sym typeface="Times New Roman"/>
              </a:rPr>
              <a:t>ladder</a:t>
            </a:r>
            <a:endParaRPr>
              <a:latin typeface="Times New Roman"/>
              <a:ea typeface="Times New Roman"/>
              <a:cs typeface="Times New Roman"/>
              <a:sym typeface="Times New Roman"/>
            </a:endParaRPr>
          </a:p>
        </p:txBody>
      </p:sp>
      <p:sp>
        <p:nvSpPr>
          <p:cNvPr id="264" name="Google Shape;264;g29981c83788_0_14"/>
          <p:cNvSpPr txBox="1"/>
          <p:nvPr/>
        </p:nvSpPr>
        <p:spPr>
          <a:xfrm rot="-5400000">
            <a:off x="8803750" y="4232150"/>
            <a:ext cx="949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Times New Roman"/>
                <a:ea typeface="Times New Roman"/>
                <a:cs typeface="Times New Roman"/>
                <a:sym typeface="Times New Roman"/>
              </a:rPr>
              <a:t>Sample 1</a:t>
            </a:r>
            <a:endParaRPr>
              <a:latin typeface="Times New Roman"/>
              <a:ea typeface="Times New Roman"/>
              <a:cs typeface="Times New Roman"/>
              <a:sym typeface="Times New Roman"/>
            </a:endParaRPr>
          </a:p>
        </p:txBody>
      </p:sp>
      <p:sp>
        <p:nvSpPr>
          <p:cNvPr id="265" name="Google Shape;265;g29981c83788_0_14"/>
          <p:cNvSpPr txBox="1"/>
          <p:nvPr/>
        </p:nvSpPr>
        <p:spPr>
          <a:xfrm rot="-5400000">
            <a:off x="9108550" y="4232150"/>
            <a:ext cx="949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Times New Roman"/>
                <a:ea typeface="Times New Roman"/>
                <a:cs typeface="Times New Roman"/>
                <a:sym typeface="Times New Roman"/>
              </a:rPr>
              <a:t>Sample 2</a:t>
            </a:r>
            <a:endParaRPr>
              <a:latin typeface="Times New Roman"/>
              <a:ea typeface="Times New Roman"/>
              <a:cs typeface="Times New Roman"/>
              <a:sym typeface="Times New Roman"/>
            </a:endParaRPr>
          </a:p>
        </p:txBody>
      </p:sp>
      <p:sp>
        <p:nvSpPr>
          <p:cNvPr id="266" name="Google Shape;266;g29981c83788_0_14"/>
          <p:cNvSpPr txBox="1"/>
          <p:nvPr/>
        </p:nvSpPr>
        <p:spPr>
          <a:xfrm rot="-5400000">
            <a:off x="9413350" y="4232150"/>
            <a:ext cx="949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Times New Roman"/>
                <a:ea typeface="Times New Roman"/>
                <a:cs typeface="Times New Roman"/>
                <a:sym typeface="Times New Roman"/>
              </a:rPr>
              <a:t>Sample 3</a:t>
            </a:r>
            <a:endParaRPr>
              <a:latin typeface="Times New Roman"/>
              <a:ea typeface="Times New Roman"/>
              <a:cs typeface="Times New Roman"/>
              <a:sym typeface="Times New Roman"/>
            </a:endParaRPr>
          </a:p>
        </p:txBody>
      </p:sp>
      <p:sp>
        <p:nvSpPr>
          <p:cNvPr id="267" name="Google Shape;267;g29981c83788_0_14"/>
          <p:cNvSpPr txBox="1"/>
          <p:nvPr/>
        </p:nvSpPr>
        <p:spPr>
          <a:xfrm rot="-5400000">
            <a:off x="9641950" y="4232150"/>
            <a:ext cx="949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Times New Roman"/>
                <a:ea typeface="Times New Roman"/>
                <a:cs typeface="Times New Roman"/>
                <a:sym typeface="Times New Roman"/>
              </a:rPr>
              <a:t>Sample 4</a:t>
            </a:r>
            <a:endParaRPr>
              <a:latin typeface="Times New Roman"/>
              <a:ea typeface="Times New Roman"/>
              <a:cs typeface="Times New Roman"/>
              <a:sym typeface="Times New Roman"/>
            </a:endParaRPr>
          </a:p>
        </p:txBody>
      </p:sp>
      <p:sp>
        <p:nvSpPr>
          <p:cNvPr id="268" name="Google Shape;268;g29981c83788_0_14"/>
          <p:cNvSpPr txBox="1"/>
          <p:nvPr/>
        </p:nvSpPr>
        <p:spPr>
          <a:xfrm rot="-5400000">
            <a:off x="9946750" y="4232150"/>
            <a:ext cx="949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Times New Roman"/>
                <a:ea typeface="Times New Roman"/>
                <a:cs typeface="Times New Roman"/>
                <a:sym typeface="Times New Roman"/>
              </a:rPr>
              <a:t>Sample 5</a:t>
            </a:r>
            <a:endParaRPr>
              <a:latin typeface="Times New Roman"/>
              <a:ea typeface="Times New Roman"/>
              <a:cs typeface="Times New Roman"/>
              <a:sym typeface="Times New Roman"/>
            </a:endParaRPr>
          </a:p>
        </p:txBody>
      </p:sp>
      <p:sp>
        <p:nvSpPr>
          <p:cNvPr id="269" name="Google Shape;269;g29981c83788_0_14"/>
          <p:cNvSpPr txBox="1"/>
          <p:nvPr/>
        </p:nvSpPr>
        <p:spPr>
          <a:xfrm rot="-5400000">
            <a:off x="10251550" y="4232150"/>
            <a:ext cx="949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Times New Roman"/>
                <a:ea typeface="Times New Roman"/>
                <a:cs typeface="Times New Roman"/>
                <a:sym typeface="Times New Roman"/>
              </a:rPr>
              <a:t>Sample 6</a:t>
            </a:r>
            <a:endParaRPr>
              <a:latin typeface="Times New Roman"/>
              <a:ea typeface="Times New Roman"/>
              <a:cs typeface="Times New Roman"/>
              <a:sym typeface="Times New Roman"/>
            </a:endParaRPr>
          </a:p>
        </p:txBody>
      </p:sp>
      <p:sp>
        <p:nvSpPr>
          <p:cNvPr id="270" name="Google Shape;270;g29981c83788_0_14"/>
          <p:cNvSpPr txBox="1"/>
          <p:nvPr/>
        </p:nvSpPr>
        <p:spPr>
          <a:xfrm rot="-5400000">
            <a:off x="10556350" y="4232150"/>
            <a:ext cx="949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Times New Roman"/>
                <a:ea typeface="Times New Roman"/>
                <a:cs typeface="Times New Roman"/>
                <a:sym typeface="Times New Roman"/>
              </a:rPr>
              <a:t>Sample 7</a:t>
            </a:r>
            <a:endParaRPr>
              <a:latin typeface="Times New Roman"/>
              <a:ea typeface="Times New Roman"/>
              <a:cs typeface="Times New Roman"/>
              <a:sym typeface="Times New Roman"/>
            </a:endParaRPr>
          </a:p>
        </p:txBody>
      </p:sp>
      <p:sp>
        <p:nvSpPr>
          <p:cNvPr id="271" name="Google Shape;271;g29981c83788_0_14"/>
          <p:cNvSpPr txBox="1"/>
          <p:nvPr/>
        </p:nvSpPr>
        <p:spPr>
          <a:xfrm rot="-5400000">
            <a:off x="10861150" y="4232150"/>
            <a:ext cx="949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Times New Roman"/>
                <a:ea typeface="Times New Roman"/>
                <a:cs typeface="Times New Roman"/>
                <a:sym typeface="Times New Roman"/>
              </a:rPr>
              <a:t>Sample 8</a:t>
            </a:r>
            <a:endParaRPr>
              <a:latin typeface="Times New Roman"/>
              <a:ea typeface="Times New Roman"/>
              <a:cs typeface="Times New Roman"/>
              <a:sym typeface="Times New Roman"/>
            </a:endParaRPr>
          </a:p>
        </p:txBody>
      </p:sp>
      <p:sp>
        <p:nvSpPr>
          <p:cNvPr id="272" name="Google Shape;272;g29981c83788_0_14"/>
          <p:cNvSpPr txBox="1"/>
          <p:nvPr/>
        </p:nvSpPr>
        <p:spPr>
          <a:xfrm rot="-5400000">
            <a:off x="11089750" y="4232150"/>
            <a:ext cx="949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Times New Roman"/>
                <a:ea typeface="Times New Roman"/>
                <a:cs typeface="Times New Roman"/>
                <a:sym typeface="Times New Roman"/>
              </a:rPr>
              <a:t>Sample 9</a:t>
            </a:r>
            <a:endParaRPr>
              <a:latin typeface="Times New Roman"/>
              <a:ea typeface="Times New Roman"/>
              <a:cs typeface="Times New Roman"/>
              <a:sym typeface="Times New Roman"/>
            </a:endParaRPr>
          </a:p>
        </p:txBody>
      </p:sp>
      <p:sp>
        <p:nvSpPr>
          <p:cNvPr id="273" name="Google Shape;273;g29981c83788_0_14"/>
          <p:cNvSpPr txBox="1"/>
          <p:nvPr/>
        </p:nvSpPr>
        <p:spPr>
          <a:xfrm rot="-5400000">
            <a:off x="11394550" y="4232150"/>
            <a:ext cx="949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Times New Roman"/>
                <a:ea typeface="Times New Roman"/>
                <a:cs typeface="Times New Roman"/>
                <a:sym typeface="Times New Roman"/>
              </a:rPr>
              <a:t>Sample 10</a:t>
            </a:r>
            <a:endParaRPr>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pic>
        <p:nvPicPr>
          <p:cNvPr id="279" name="Google Shape;279;g315961fba6c_0_40"/>
          <p:cNvPicPr preferRelativeResize="0"/>
          <p:nvPr/>
        </p:nvPicPr>
        <p:blipFill>
          <a:blip r:embed="rId3">
            <a:alphaModFix/>
          </a:blip>
          <a:stretch>
            <a:fillRect/>
          </a:stretch>
        </p:blipFill>
        <p:spPr>
          <a:xfrm>
            <a:off x="7434925" y="3552325"/>
            <a:ext cx="4757175" cy="3218576"/>
          </a:xfrm>
          <a:prstGeom prst="rect">
            <a:avLst/>
          </a:prstGeom>
          <a:noFill/>
          <a:ln>
            <a:noFill/>
          </a:ln>
        </p:spPr>
      </p:pic>
      <p:sp>
        <p:nvSpPr>
          <p:cNvPr id="280" name="Google Shape;280;g315961fba6c_0_40"/>
          <p:cNvSpPr txBox="1"/>
          <p:nvPr>
            <p:ph idx="1" type="body"/>
          </p:nvPr>
        </p:nvSpPr>
        <p:spPr>
          <a:xfrm>
            <a:off x="132625" y="446675"/>
            <a:ext cx="6692700" cy="6068700"/>
          </a:xfrm>
          <a:prstGeom prst="rect">
            <a:avLst/>
          </a:prstGeom>
        </p:spPr>
        <p:txBody>
          <a:bodyPr anchorCtr="0" anchor="t" bIns="45700" lIns="91425" spcFirstLastPara="1" rIns="91425" wrap="square" tIns="45700">
            <a:noAutofit/>
          </a:bodyPr>
          <a:lstStyle/>
          <a:p>
            <a:pPr indent="-317500" lvl="0" marL="457200" rtl="0" algn="l">
              <a:lnSpc>
                <a:spcPct val="115000"/>
              </a:lnSpc>
              <a:spcBef>
                <a:spcPts val="1400"/>
              </a:spcBef>
              <a:spcAft>
                <a:spcPts val="0"/>
              </a:spcAft>
              <a:buSzPts val="1400"/>
              <a:buFont typeface="Times New Roman"/>
              <a:buChar char="•"/>
            </a:pPr>
            <a:r>
              <a:rPr lang="en-US" sz="1400">
                <a:latin typeface="Times New Roman"/>
                <a:ea typeface="Times New Roman"/>
                <a:cs typeface="Times New Roman"/>
                <a:sym typeface="Times New Roman"/>
              </a:rPr>
              <a:t>DNA Fingerprinting is a method in which specific DNA sequences are amplified from the whole genome by PCR, followed by restriction digestion and agarose gel electrophoresis to visualize the fragmentation patterns to identify individuals.</a:t>
            </a:r>
            <a:endParaRPr sz="1400">
              <a:latin typeface="Times New Roman"/>
              <a:ea typeface="Times New Roman"/>
              <a:cs typeface="Times New Roman"/>
              <a:sym typeface="Times New Roman"/>
            </a:endParaRPr>
          </a:p>
          <a:p>
            <a:pPr indent="0" lvl="0" marL="457200" rtl="0" algn="l">
              <a:lnSpc>
                <a:spcPct val="115000"/>
              </a:lnSpc>
              <a:spcBef>
                <a:spcPts val="1400"/>
              </a:spcBef>
              <a:spcAft>
                <a:spcPts val="0"/>
              </a:spcAft>
              <a:buNone/>
            </a:pPr>
            <a:r>
              <a:t/>
            </a:r>
            <a:endParaRPr sz="1400">
              <a:latin typeface="Times New Roman"/>
              <a:ea typeface="Times New Roman"/>
              <a:cs typeface="Times New Roman"/>
              <a:sym typeface="Times New Roman"/>
            </a:endParaRPr>
          </a:p>
          <a:p>
            <a:pPr indent="-317500" lvl="0" marL="457200" rtl="0" algn="l">
              <a:lnSpc>
                <a:spcPct val="115000"/>
              </a:lnSpc>
              <a:spcBef>
                <a:spcPts val="1400"/>
              </a:spcBef>
              <a:spcAft>
                <a:spcPts val="0"/>
              </a:spcAft>
              <a:buSzPts val="1400"/>
              <a:buFont typeface="Times New Roman"/>
              <a:buChar char="•"/>
            </a:pPr>
            <a:r>
              <a:rPr lang="en-US" sz="1400">
                <a:latin typeface="Times New Roman"/>
                <a:ea typeface="Times New Roman"/>
                <a:cs typeface="Times New Roman"/>
                <a:sym typeface="Times New Roman"/>
              </a:rPr>
              <a:t>DNA Fingerprinting is also called Restriction Fragment Length Polymorphisms (RFLPs) Analysis and Random Amplified Polymorphic DNA (RAPD).</a:t>
            </a:r>
            <a:endParaRPr sz="1400">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t/>
            </a:r>
            <a:endParaRPr sz="1400">
              <a:latin typeface="Times New Roman"/>
              <a:ea typeface="Times New Roman"/>
              <a:cs typeface="Times New Roman"/>
              <a:sym typeface="Times New Roman"/>
            </a:endParaRPr>
          </a:p>
          <a:p>
            <a:pPr indent="-317500" lvl="0" marL="457200" rtl="0" algn="l">
              <a:lnSpc>
                <a:spcPct val="115000"/>
              </a:lnSpc>
              <a:spcBef>
                <a:spcPts val="1400"/>
              </a:spcBef>
              <a:spcAft>
                <a:spcPts val="0"/>
              </a:spcAft>
              <a:buSzPts val="1400"/>
              <a:buFont typeface="Times New Roman"/>
              <a:buChar char="•"/>
            </a:pPr>
            <a:r>
              <a:rPr lang="en-US" sz="1400">
                <a:latin typeface="Times New Roman"/>
                <a:ea typeface="Times New Roman"/>
                <a:cs typeface="Times New Roman"/>
                <a:sym typeface="Times New Roman"/>
              </a:rPr>
              <a:t>For DNA Fingerprinting, microsatellite DNA is amplified using PCR from </a:t>
            </a:r>
            <a:r>
              <a:rPr lang="en-US" sz="1400">
                <a:latin typeface="Times New Roman"/>
                <a:ea typeface="Times New Roman"/>
                <a:cs typeface="Times New Roman"/>
                <a:sym typeface="Times New Roman"/>
              </a:rPr>
              <a:t>the</a:t>
            </a:r>
            <a:r>
              <a:rPr lang="en-US" sz="1400">
                <a:latin typeface="Times New Roman"/>
                <a:ea typeface="Times New Roman"/>
                <a:cs typeface="Times New Roman"/>
                <a:sym typeface="Times New Roman"/>
              </a:rPr>
              <a:t> genome. The number of repeated segments within a microsatellite sequence often varies among people, which makes them </a:t>
            </a:r>
            <a:r>
              <a:rPr b="1" lang="en-US" sz="1400">
                <a:latin typeface="Times New Roman"/>
                <a:ea typeface="Times New Roman"/>
                <a:cs typeface="Times New Roman"/>
                <a:sym typeface="Times New Roman"/>
              </a:rPr>
              <a:t>useful as polymorphic markers for studying inheritance patterns in families or for creating a DNA fingerprint from crime scene samples</a:t>
            </a:r>
            <a:r>
              <a:rPr lang="en-US" sz="1400">
                <a:latin typeface="Times New Roman"/>
                <a:ea typeface="Times New Roman"/>
                <a:cs typeface="Times New Roman"/>
                <a:sym typeface="Times New Roman"/>
              </a:rPr>
              <a:t>.</a:t>
            </a:r>
            <a:endParaRPr sz="1400">
              <a:latin typeface="Times New Roman"/>
              <a:ea typeface="Times New Roman"/>
              <a:cs typeface="Times New Roman"/>
              <a:sym typeface="Times New Roman"/>
            </a:endParaRPr>
          </a:p>
          <a:p>
            <a:pPr indent="0" lvl="0" marL="0" rtl="0" algn="l">
              <a:lnSpc>
                <a:spcPct val="115000"/>
              </a:lnSpc>
              <a:spcBef>
                <a:spcPts val="1000"/>
              </a:spcBef>
              <a:spcAft>
                <a:spcPts val="0"/>
              </a:spcAft>
              <a:buNone/>
            </a:pPr>
            <a:r>
              <a:t/>
            </a:r>
            <a:endParaRPr sz="1400">
              <a:latin typeface="Times New Roman"/>
              <a:ea typeface="Times New Roman"/>
              <a:cs typeface="Times New Roman"/>
              <a:sym typeface="Times New Roman"/>
            </a:endParaRPr>
          </a:p>
          <a:p>
            <a:pPr indent="-317500" lvl="0" marL="457200" rtl="0" algn="l">
              <a:lnSpc>
                <a:spcPct val="115000"/>
              </a:lnSpc>
              <a:spcBef>
                <a:spcPts val="1200"/>
              </a:spcBef>
              <a:spcAft>
                <a:spcPts val="0"/>
              </a:spcAft>
              <a:buSzPts val="1400"/>
              <a:buFont typeface="Times New Roman"/>
              <a:buChar char="•"/>
            </a:pPr>
            <a:r>
              <a:rPr lang="en-US" sz="1400">
                <a:latin typeface="Times New Roman"/>
                <a:ea typeface="Times New Roman"/>
                <a:cs typeface="Times New Roman"/>
                <a:sym typeface="Times New Roman"/>
              </a:rPr>
              <a:t>DNA fingerprinting has four main steps:</a:t>
            </a:r>
            <a:endParaRPr sz="1400">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rPr lang="en-US" sz="1400">
                <a:latin typeface="Times New Roman"/>
                <a:ea typeface="Times New Roman"/>
                <a:cs typeface="Times New Roman"/>
                <a:sym typeface="Times New Roman"/>
              </a:rPr>
              <a:t>Step 1: DNA extraction from cells.</a:t>
            </a:r>
            <a:endParaRPr sz="1400">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rPr lang="en-US" sz="1400">
                <a:latin typeface="Times New Roman"/>
                <a:ea typeface="Times New Roman"/>
                <a:cs typeface="Times New Roman"/>
                <a:sym typeface="Times New Roman"/>
              </a:rPr>
              <a:t>Step 2: PCR to amplify the extracted DNA.</a:t>
            </a:r>
            <a:endParaRPr sz="1400">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rPr lang="en-US" sz="1400">
                <a:latin typeface="Times New Roman"/>
                <a:ea typeface="Times New Roman"/>
                <a:cs typeface="Times New Roman"/>
                <a:sym typeface="Times New Roman"/>
              </a:rPr>
              <a:t>Step 3: Restriction enzyme treatment to cut the DNA at specific sequences, resulting </a:t>
            </a:r>
            <a:endParaRPr sz="1400">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rPr lang="en-US" sz="1400">
                <a:latin typeface="Times New Roman"/>
                <a:ea typeface="Times New Roman"/>
                <a:cs typeface="Times New Roman"/>
                <a:sym typeface="Times New Roman"/>
              </a:rPr>
              <a:t>in fragments that are unique in size to each person.</a:t>
            </a:r>
            <a:endParaRPr sz="1400">
              <a:latin typeface="Times New Roman"/>
              <a:ea typeface="Times New Roman"/>
              <a:cs typeface="Times New Roman"/>
              <a:sym typeface="Times New Roman"/>
            </a:endParaRPr>
          </a:p>
          <a:p>
            <a:pPr indent="0" lvl="0" marL="457200" rtl="0" algn="l">
              <a:lnSpc>
                <a:spcPct val="115000"/>
              </a:lnSpc>
              <a:spcBef>
                <a:spcPts val="1200"/>
              </a:spcBef>
              <a:spcAft>
                <a:spcPts val="1200"/>
              </a:spcAft>
              <a:buNone/>
            </a:pPr>
            <a:r>
              <a:rPr lang="en-US" sz="1400">
                <a:latin typeface="Times New Roman"/>
                <a:ea typeface="Times New Roman"/>
                <a:cs typeface="Times New Roman"/>
                <a:sym typeface="Times New Roman"/>
              </a:rPr>
              <a:t>Step 4: Gel electrophoresis to separate these DNA fragments by size for comparison.</a:t>
            </a:r>
            <a:endParaRPr sz="1400">
              <a:latin typeface="Times New Roman"/>
              <a:ea typeface="Times New Roman"/>
              <a:cs typeface="Times New Roman"/>
              <a:sym typeface="Times New Roman"/>
            </a:endParaRPr>
          </a:p>
        </p:txBody>
      </p:sp>
      <p:sp>
        <p:nvSpPr>
          <p:cNvPr id="281" name="Google Shape;281;g315961fba6c_0_40"/>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lang="en-US" sz="2000">
                <a:solidFill>
                  <a:schemeClr val="lt1"/>
                </a:solidFill>
                <a:latin typeface="Times New Roman"/>
                <a:ea typeface="Times New Roman"/>
                <a:cs typeface="Times New Roman"/>
                <a:sym typeface="Times New Roman"/>
              </a:rPr>
              <a:t>DNA Fingerprinting/RFLP (Restriction Fragment Length Polymorphism)</a:t>
            </a:r>
            <a:endParaRPr b="1" i="0" sz="2000" u="none" cap="none" strike="noStrike">
              <a:solidFill>
                <a:schemeClr val="lt1"/>
              </a:solidFill>
              <a:latin typeface="Times New Roman"/>
              <a:ea typeface="Times New Roman"/>
              <a:cs typeface="Times New Roman"/>
              <a:sym typeface="Times New Roman"/>
            </a:endParaRPr>
          </a:p>
        </p:txBody>
      </p:sp>
      <p:pic>
        <p:nvPicPr>
          <p:cNvPr descr="The history of fingerprinting" id="282" name="Google Shape;282;g315961fba6c_0_40"/>
          <p:cNvPicPr preferRelativeResize="0"/>
          <p:nvPr/>
        </p:nvPicPr>
        <p:blipFill>
          <a:blip r:embed="rId4">
            <a:alphaModFix/>
          </a:blip>
          <a:stretch>
            <a:fillRect/>
          </a:stretch>
        </p:blipFill>
        <p:spPr>
          <a:xfrm>
            <a:off x="6861850" y="1279400"/>
            <a:ext cx="2508775" cy="1543857"/>
          </a:xfrm>
          <a:prstGeom prst="rect">
            <a:avLst/>
          </a:prstGeom>
          <a:noFill/>
          <a:ln>
            <a:noFill/>
          </a:ln>
        </p:spPr>
      </p:pic>
      <p:pic>
        <p:nvPicPr>
          <p:cNvPr id="283" name="Google Shape;283;g315961fba6c_0_40"/>
          <p:cNvPicPr preferRelativeResize="0"/>
          <p:nvPr/>
        </p:nvPicPr>
        <p:blipFill rotWithShape="1">
          <a:blip r:embed="rId5">
            <a:alphaModFix/>
          </a:blip>
          <a:srcRect b="16697" l="26300" r="26267" t="11514"/>
          <a:stretch/>
        </p:blipFill>
        <p:spPr>
          <a:xfrm>
            <a:off x="9189213" y="849675"/>
            <a:ext cx="3002787" cy="2557476"/>
          </a:xfrm>
          <a:prstGeom prst="rect">
            <a:avLst/>
          </a:prstGeom>
          <a:noFill/>
          <a:ln>
            <a:noFill/>
          </a:ln>
        </p:spPr>
      </p:pic>
      <p:sp>
        <p:nvSpPr>
          <p:cNvPr id="284" name="Google Shape;284;g315961fba6c_0_40"/>
          <p:cNvSpPr txBox="1"/>
          <p:nvPr/>
        </p:nvSpPr>
        <p:spPr>
          <a:xfrm>
            <a:off x="7170225" y="474675"/>
            <a:ext cx="1866600" cy="298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600">
                <a:solidFill>
                  <a:schemeClr val="dk1"/>
                </a:solidFill>
                <a:latin typeface="Times New Roman"/>
                <a:ea typeface="Times New Roman"/>
                <a:cs typeface="Times New Roman"/>
                <a:sym typeface="Times New Roman"/>
              </a:rPr>
              <a:t>Fingerprints</a:t>
            </a:r>
            <a:endParaRPr sz="1600">
              <a:solidFill>
                <a:schemeClr val="dk1"/>
              </a:solidFill>
              <a:latin typeface="Times New Roman"/>
              <a:ea typeface="Times New Roman"/>
              <a:cs typeface="Times New Roman"/>
              <a:sym typeface="Times New Roman"/>
            </a:endParaRPr>
          </a:p>
        </p:txBody>
      </p:sp>
      <p:sp>
        <p:nvSpPr>
          <p:cNvPr id="285" name="Google Shape;285;g315961fba6c_0_40"/>
          <p:cNvSpPr txBox="1"/>
          <p:nvPr/>
        </p:nvSpPr>
        <p:spPr>
          <a:xfrm>
            <a:off x="10034875" y="474675"/>
            <a:ext cx="1866600" cy="298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600">
                <a:solidFill>
                  <a:schemeClr val="dk1"/>
                </a:solidFill>
                <a:latin typeface="Times New Roman"/>
                <a:ea typeface="Times New Roman"/>
                <a:cs typeface="Times New Roman"/>
                <a:sym typeface="Times New Roman"/>
              </a:rPr>
              <a:t>DNA </a:t>
            </a:r>
            <a:r>
              <a:rPr lang="en-US" sz="1600">
                <a:solidFill>
                  <a:schemeClr val="dk1"/>
                </a:solidFill>
                <a:latin typeface="Times New Roman"/>
                <a:ea typeface="Times New Roman"/>
                <a:cs typeface="Times New Roman"/>
                <a:sym typeface="Times New Roman"/>
              </a:rPr>
              <a:t>Fingerprints</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pic>
        <p:nvPicPr>
          <p:cNvPr id="291" name="Google Shape;291;g315961fba6c_0_23"/>
          <p:cNvPicPr preferRelativeResize="0"/>
          <p:nvPr/>
        </p:nvPicPr>
        <p:blipFill>
          <a:blip r:embed="rId3">
            <a:alphaModFix/>
          </a:blip>
          <a:stretch>
            <a:fillRect/>
          </a:stretch>
        </p:blipFill>
        <p:spPr>
          <a:xfrm>
            <a:off x="2635300" y="1613727"/>
            <a:ext cx="7295300" cy="5015525"/>
          </a:xfrm>
          <a:prstGeom prst="rect">
            <a:avLst/>
          </a:prstGeom>
          <a:noFill/>
          <a:ln>
            <a:noFill/>
          </a:ln>
        </p:spPr>
      </p:pic>
      <p:sp>
        <p:nvSpPr>
          <p:cNvPr id="292" name="Google Shape;292;g315961fba6c_0_23"/>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lang="en-US" sz="2000">
                <a:solidFill>
                  <a:schemeClr val="lt1"/>
                </a:solidFill>
                <a:latin typeface="Times New Roman"/>
                <a:ea typeface="Times New Roman"/>
                <a:cs typeface="Times New Roman"/>
                <a:sym typeface="Times New Roman"/>
              </a:rPr>
              <a:t>Identify the father of this baby from this DNA Fingerprinting Gel </a:t>
            </a:r>
            <a:endParaRPr b="1" i="0" sz="20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pic>
        <p:nvPicPr>
          <p:cNvPr id="298" name="Google Shape;298;g315961fba6c_0_31"/>
          <p:cNvPicPr preferRelativeResize="0"/>
          <p:nvPr/>
        </p:nvPicPr>
        <p:blipFill>
          <a:blip r:embed="rId3">
            <a:alphaModFix/>
          </a:blip>
          <a:stretch>
            <a:fillRect/>
          </a:stretch>
        </p:blipFill>
        <p:spPr>
          <a:xfrm>
            <a:off x="1802075" y="1871675"/>
            <a:ext cx="7464941" cy="4351200"/>
          </a:xfrm>
          <a:prstGeom prst="rect">
            <a:avLst/>
          </a:prstGeom>
          <a:noFill/>
          <a:ln>
            <a:noFill/>
          </a:ln>
        </p:spPr>
      </p:pic>
      <p:sp>
        <p:nvSpPr>
          <p:cNvPr id="299" name="Google Shape;299;g315961fba6c_0_31"/>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lang="en-US" sz="2000">
                <a:solidFill>
                  <a:schemeClr val="lt1"/>
                </a:solidFill>
                <a:latin typeface="Times New Roman"/>
                <a:ea typeface="Times New Roman"/>
                <a:cs typeface="Times New Roman"/>
                <a:sym typeface="Times New Roman"/>
              </a:rPr>
              <a:t>Identify the real child of these </a:t>
            </a:r>
            <a:r>
              <a:rPr b="1" lang="en-US" sz="2000">
                <a:solidFill>
                  <a:schemeClr val="lt1"/>
                </a:solidFill>
                <a:latin typeface="Times New Roman"/>
                <a:ea typeface="Times New Roman"/>
                <a:cs typeface="Times New Roman"/>
                <a:sym typeface="Times New Roman"/>
              </a:rPr>
              <a:t>mother</a:t>
            </a:r>
            <a:r>
              <a:rPr b="1" lang="en-US" sz="2000">
                <a:solidFill>
                  <a:schemeClr val="lt1"/>
                </a:solidFill>
                <a:latin typeface="Times New Roman"/>
                <a:ea typeface="Times New Roman"/>
                <a:cs typeface="Times New Roman"/>
                <a:sym typeface="Times New Roman"/>
              </a:rPr>
              <a:t> and father from this DNA Fingerprinting Gel </a:t>
            </a:r>
            <a:endParaRPr b="1" i="0" sz="20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g3157d447c70_0_451"/>
          <p:cNvSpPr txBox="1"/>
          <p:nvPr/>
        </p:nvSpPr>
        <p:spPr>
          <a:xfrm>
            <a:off x="647453" y="515576"/>
            <a:ext cx="10626300" cy="14775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1800">
                <a:solidFill>
                  <a:schemeClr val="dk1"/>
                </a:solidFill>
                <a:latin typeface="Times New Roman"/>
                <a:ea typeface="Times New Roman"/>
                <a:cs typeface="Times New Roman"/>
                <a:sym typeface="Times New Roman"/>
              </a:rPr>
              <a:t>RT-PCR or </a:t>
            </a:r>
            <a:r>
              <a:rPr b="1" lang="en-US" sz="1800">
                <a:solidFill>
                  <a:schemeClr val="dk1"/>
                </a:solidFill>
                <a:latin typeface="Times New Roman"/>
                <a:ea typeface="Times New Roman"/>
                <a:cs typeface="Times New Roman"/>
                <a:sym typeface="Times New Roman"/>
              </a:rPr>
              <a:t>qPCR: It is performed in the same way as PCR</a:t>
            </a:r>
            <a:r>
              <a:rPr lang="en-US" sz="1800">
                <a:solidFill>
                  <a:schemeClr val="dk1"/>
                </a:solidFill>
                <a:latin typeface="Times New Roman"/>
                <a:ea typeface="Times New Roman"/>
                <a:cs typeface="Times New Roman"/>
                <a:sym typeface="Times New Roman"/>
              </a:rPr>
              <a:t>, however, a fluorescent dye is added to the tube that gives fluorescence proportional to the amount of double stranded DNA in the tube. So, the </a:t>
            </a:r>
            <a:r>
              <a:rPr lang="en-US" sz="1800">
                <a:solidFill>
                  <a:schemeClr val="dk1"/>
                </a:solidFill>
                <a:latin typeface="Times New Roman"/>
                <a:ea typeface="Times New Roman"/>
                <a:cs typeface="Times New Roman"/>
                <a:sym typeface="Times New Roman"/>
              </a:rPr>
              <a:t>quantify</a:t>
            </a:r>
            <a:r>
              <a:rPr lang="en-US" sz="1800">
                <a:solidFill>
                  <a:schemeClr val="dk1"/>
                </a:solidFill>
                <a:latin typeface="Times New Roman"/>
                <a:ea typeface="Times New Roman"/>
                <a:cs typeface="Times New Roman"/>
                <a:sym typeface="Times New Roman"/>
              </a:rPr>
              <a:t> of the double stranded DNA is measure in real-time while the PCR is going on.</a:t>
            </a:r>
            <a:endParaRPr sz="18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rPr lang="en-US" sz="1800">
                <a:solidFill>
                  <a:schemeClr val="dk1"/>
                </a:solidFill>
                <a:latin typeface="Times New Roman"/>
                <a:ea typeface="Times New Roman"/>
                <a:cs typeface="Times New Roman"/>
                <a:sym typeface="Times New Roman"/>
              </a:rPr>
              <a:t>This technique is used to </a:t>
            </a:r>
            <a:r>
              <a:rPr lang="en-US" sz="1800">
                <a:solidFill>
                  <a:schemeClr val="dk1"/>
                </a:solidFill>
                <a:latin typeface="Times New Roman"/>
                <a:ea typeface="Times New Roman"/>
                <a:cs typeface="Times New Roman"/>
                <a:sym typeface="Times New Roman"/>
              </a:rPr>
              <a:t>quantify</a:t>
            </a:r>
            <a:r>
              <a:rPr lang="en-US" sz="1800">
                <a:solidFill>
                  <a:schemeClr val="dk1"/>
                </a:solidFill>
                <a:latin typeface="Times New Roman"/>
                <a:ea typeface="Times New Roman"/>
                <a:cs typeface="Times New Roman"/>
                <a:sym typeface="Times New Roman"/>
              </a:rPr>
              <a:t> the number of DNA molecules present in the tube/sample.</a:t>
            </a:r>
            <a:endParaRPr/>
          </a:p>
        </p:txBody>
      </p:sp>
      <p:pic>
        <p:nvPicPr>
          <p:cNvPr id="305" name="Google Shape;305;g3157d447c70_0_451"/>
          <p:cNvPicPr preferRelativeResize="0"/>
          <p:nvPr/>
        </p:nvPicPr>
        <p:blipFill rotWithShape="1">
          <a:blip r:embed="rId3">
            <a:alphaModFix/>
          </a:blip>
          <a:srcRect b="0" l="0" r="0" t="0"/>
          <a:stretch/>
        </p:blipFill>
        <p:spPr>
          <a:xfrm>
            <a:off x="4100136" y="2527953"/>
            <a:ext cx="4194358" cy="3096229"/>
          </a:xfrm>
          <a:prstGeom prst="rect">
            <a:avLst/>
          </a:prstGeom>
          <a:noFill/>
          <a:ln>
            <a:noFill/>
          </a:ln>
        </p:spPr>
      </p:pic>
      <p:pic>
        <p:nvPicPr>
          <p:cNvPr id="306" name="Google Shape;306;g3157d447c70_0_451"/>
          <p:cNvPicPr preferRelativeResize="0"/>
          <p:nvPr/>
        </p:nvPicPr>
        <p:blipFill rotWithShape="1">
          <a:blip r:embed="rId4">
            <a:alphaModFix/>
          </a:blip>
          <a:srcRect b="0" l="0" r="0" t="0"/>
          <a:stretch/>
        </p:blipFill>
        <p:spPr>
          <a:xfrm>
            <a:off x="564862" y="3016712"/>
            <a:ext cx="2803705" cy="2134724"/>
          </a:xfrm>
          <a:prstGeom prst="rect">
            <a:avLst/>
          </a:prstGeom>
          <a:noFill/>
          <a:ln>
            <a:noFill/>
          </a:ln>
        </p:spPr>
      </p:pic>
      <p:sp>
        <p:nvSpPr>
          <p:cNvPr id="307" name="Google Shape;307;g3157d447c70_0_451"/>
          <p:cNvSpPr txBox="1"/>
          <p:nvPr/>
        </p:nvSpPr>
        <p:spPr>
          <a:xfrm>
            <a:off x="1399092" y="5151436"/>
            <a:ext cx="14865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latin typeface="Times New Roman"/>
                <a:ea typeface="Times New Roman"/>
                <a:cs typeface="Times New Roman"/>
                <a:sym typeface="Times New Roman"/>
              </a:rPr>
              <a:t>+</a:t>
            </a:r>
            <a:endParaRPr/>
          </a:p>
          <a:p>
            <a:pPr indent="0" lvl="0" marL="0" marR="0" rtl="0" algn="ctr">
              <a:spcBef>
                <a:spcPts val="0"/>
              </a:spcBef>
              <a:spcAft>
                <a:spcPts val="0"/>
              </a:spcAft>
              <a:buNone/>
            </a:pPr>
            <a:r>
              <a:rPr b="1" lang="en-US" sz="1800">
                <a:solidFill>
                  <a:schemeClr val="dk1"/>
                </a:solidFill>
                <a:latin typeface="Times New Roman"/>
                <a:ea typeface="Times New Roman"/>
                <a:cs typeface="Times New Roman"/>
                <a:sym typeface="Times New Roman"/>
              </a:rPr>
              <a:t>Syber green</a:t>
            </a:r>
            <a:endParaRPr/>
          </a:p>
        </p:txBody>
      </p:sp>
      <p:grpSp>
        <p:nvGrpSpPr>
          <p:cNvPr id="308" name="Google Shape;308;g3157d447c70_0_451"/>
          <p:cNvGrpSpPr/>
          <p:nvPr/>
        </p:nvGrpSpPr>
        <p:grpSpPr>
          <a:xfrm>
            <a:off x="8585748" y="2070562"/>
            <a:ext cx="3041391" cy="4682141"/>
            <a:chOff x="8585748" y="2070562"/>
            <a:chExt cx="3041391" cy="4682141"/>
          </a:xfrm>
        </p:grpSpPr>
        <p:pic>
          <p:nvPicPr>
            <p:cNvPr id="309" name="Google Shape;309;g3157d447c70_0_451"/>
            <p:cNvPicPr preferRelativeResize="0"/>
            <p:nvPr/>
          </p:nvPicPr>
          <p:blipFill rotWithShape="1">
            <a:blip r:embed="rId5">
              <a:alphaModFix/>
            </a:blip>
            <a:srcRect b="0" l="0" r="0" t="0"/>
            <a:stretch/>
          </p:blipFill>
          <p:spPr>
            <a:xfrm>
              <a:off x="8585748" y="2070562"/>
              <a:ext cx="3041391" cy="4682141"/>
            </a:xfrm>
            <a:prstGeom prst="rect">
              <a:avLst/>
            </a:prstGeom>
            <a:noFill/>
            <a:ln>
              <a:noFill/>
            </a:ln>
          </p:spPr>
        </p:pic>
        <p:sp>
          <p:nvSpPr>
            <p:cNvPr id="310" name="Google Shape;310;g3157d447c70_0_451"/>
            <p:cNvSpPr/>
            <p:nvPr/>
          </p:nvSpPr>
          <p:spPr>
            <a:xfrm>
              <a:off x="8807737" y="2249305"/>
              <a:ext cx="271500" cy="2787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Twentieth Century"/>
                <a:ea typeface="Twentieth Century"/>
                <a:cs typeface="Twentieth Century"/>
                <a:sym typeface="Twentieth Century"/>
              </a:endParaRPr>
            </a:p>
          </p:txBody>
        </p:sp>
      </p:grpSp>
      <p:sp>
        <p:nvSpPr>
          <p:cNvPr id="311" name="Google Shape;311;g3157d447c70_0_451"/>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lang="en-US" sz="2000">
                <a:solidFill>
                  <a:schemeClr val="lt1"/>
                </a:solidFill>
                <a:latin typeface="Times New Roman"/>
                <a:ea typeface="Times New Roman"/>
                <a:cs typeface="Times New Roman"/>
                <a:sym typeface="Times New Roman"/>
              </a:rPr>
              <a:t>Real-Time PCR (RT-PCR) or Quantitative PCR (q-PCR)</a:t>
            </a:r>
            <a:endParaRPr b="1" i="0" sz="20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pic>
        <p:nvPicPr>
          <p:cNvPr id="317" name="Google Shape;317;g3157d447c70_0_688"/>
          <p:cNvPicPr preferRelativeResize="0"/>
          <p:nvPr/>
        </p:nvPicPr>
        <p:blipFill rotWithShape="1">
          <a:blip r:embed="rId3">
            <a:alphaModFix/>
          </a:blip>
          <a:srcRect b="12480" l="0" r="0" t="0"/>
          <a:stretch/>
        </p:blipFill>
        <p:spPr>
          <a:xfrm>
            <a:off x="0" y="1622950"/>
            <a:ext cx="5822800" cy="3221025"/>
          </a:xfrm>
          <a:prstGeom prst="rect">
            <a:avLst/>
          </a:prstGeom>
          <a:noFill/>
          <a:ln>
            <a:noFill/>
          </a:ln>
        </p:spPr>
      </p:pic>
      <p:pic>
        <p:nvPicPr>
          <p:cNvPr id="318" name="Google Shape;318;g3157d447c70_0_688"/>
          <p:cNvPicPr preferRelativeResize="0"/>
          <p:nvPr/>
        </p:nvPicPr>
        <p:blipFill rotWithShape="1">
          <a:blip r:embed="rId4">
            <a:alphaModFix/>
          </a:blip>
          <a:srcRect b="10418" l="0" r="0" t="0"/>
          <a:stretch/>
        </p:blipFill>
        <p:spPr>
          <a:xfrm>
            <a:off x="5985850" y="1538950"/>
            <a:ext cx="6206150" cy="3433000"/>
          </a:xfrm>
          <a:prstGeom prst="rect">
            <a:avLst/>
          </a:prstGeom>
          <a:noFill/>
          <a:ln>
            <a:noFill/>
          </a:ln>
        </p:spPr>
      </p:pic>
      <p:sp>
        <p:nvSpPr>
          <p:cNvPr id="319" name="Google Shape;319;g3157d447c70_0_688"/>
          <p:cNvSpPr txBox="1"/>
          <p:nvPr/>
        </p:nvSpPr>
        <p:spPr>
          <a:xfrm>
            <a:off x="555500" y="983025"/>
            <a:ext cx="5162100" cy="7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000">
                <a:solidFill>
                  <a:schemeClr val="dk1"/>
                </a:solidFill>
                <a:latin typeface="Times New Roman"/>
                <a:ea typeface="Times New Roman"/>
                <a:cs typeface="Times New Roman"/>
                <a:sym typeface="Times New Roman"/>
              </a:rPr>
              <a:t>Phases of a RT-PCR amplification curve</a:t>
            </a:r>
            <a:endParaRPr sz="2000">
              <a:solidFill>
                <a:schemeClr val="dk1"/>
              </a:solidFill>
              <a:latin typeface="Times New Roman"/>
              <a:ea typeface="Times New Roman"/>
              <a:cs typeface="Times New Roman"/>
              <a:sym typeface="Times New Roman"/>
            </a:endParaRPr>
          </a:p>
        </p:txBody>
      </p:sp>
      <p:sp>
        <p:nvSpPr>
          <p:cNvPr id="320" name="Google Shape;320;g3157d447c70_0_688"/>
          <p:cNvSpPr txBox="1"/>
          <p:nvPr/>
        </p:nvSpPr>
        <p:spPr>
          <a:xfrm>
            <a:off x="6575300" y="983025"/>
            <a:ext cx="5162100" cy="7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000">
                <a:solidFill>
                  <a:schemeClr val="dk1"/>
                </a:solidFill>
                <a:latin typeface="Times New Roman"/>
                <a:ea typeface="Times New Roman"/>
                <a:cs typeface="Times New Roman"/>
                <a:sym typeface="Times New Roman"/>
              </a:rPr>
              <a:t>Amplification curve obtained from serial dilutions of a target DNA</a:t>
            </a:r>
            <a:endParaRPr sz="2000">
              <a:solidFill>
                <a:schemeClr val="dk1"/>
              </a:solidFill>
              <a:latin typeface="Times New Roman"/>
              <a:ea typeface="Times New Roman"/>
              <a:cs typeface="Times New Roman"/>
              <a:sym typeface="Times New Roman"/>
            </a:endParaRPr>
          </a:p>
        </p:txBody>
      </p:sp>
      <p:cxnSp>
        <p:nvCxnSpPr>
          <p:cNvPr id="321" name="Google Shape;321;g3157d447c70_0_688"/>
          <p:cNvCxnSpPr/>
          <p:nvPr/>
        </p:nvCxnSpPr>
        <p:spPr>
          <a:xfrm>
            <a:off x="6634900" y="4182700"/>
            <a:ext cx="5364900" cy="0"/>
          </a:xfrm>
          <a:prstGeom prst="straightConnector1">
            <a:avLst/>
          </a:prstGeom>
          <a:noFill/>
          <a:ln cap="flat" cmpd="sng" w="9525">
            <a:solidFill>
              <a:schemeClr val="dk2"/>
            </a:solidFill>
            <a:prstDash val="solid"/>
            <a:round/>
            <a:headEnd len="med" w="med" type="none"/>
            <a:tailEnd len="med" w="med" type="none"/>
          </a:ln>
        </p:spPr>
      </p:cxnSp>
      <p:cxnSp>
        <p:nvCxnSpPr>
          <p:cNvPr id="322" name="Google Shape;322;g3157d447c70_0_688"/>
          <p:cNvCxnSpPr/>
          <p:nvPr/>
        </p:nvCxnSpPr>
        <p:spPr>
          <a:xfrm>
            <a:off x="8458725" y="3820075"/>
            <a:ext cx="288000" cy="320100"/>
          </a:xfrm>
          <a:prstGeom prst="straightConnector1">
            <a:avLst/>
          </a:prstGeom>
          <a:noFill/>
          <a:ln cap="flat" cmpd="sng" w="9525">
            <a:solidFill>
              <a:schemeClr val="dk2"/>
            </a:solidFill>
            <a:prstDash val="solid"/>
            <a:round/>
            <a:headEnd len="med" w="med" type="none"/>
            <a:tailEnd len="med" w="med" type="triangle"/>
          </a:ln>
        </p:spPr>
      </p:cxnSp>
      <p:sp>
        <p:nvSpPr>
          <p:cNvPr id="323" name="Google Shape;323;g3157d447c70_0_688"/>
          <p:cNvSpPr txBox="1"/>
          <p:nvPr/>
        </p:nvSpPr>
        <p:spPr>
          <a:xfrm>
            <a:off x="7594825" y="3457425"/>
            <a:ext cx="14826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dk1"/>
                </a:solidFill>
                <a:latin typeface="Times New Roman"/>
                <a:ea typeface="Times New Roman"/>
                <a:cs typeface="Times New Roman"/>
                <a:sym typeface="Times New Roman"/>
              </a:rPr>
              <a:t>Ct value</a:t>
            </a:r>
            <a:endParaRPr sz="1800">
              <a:solidFill>
                <a:schemeClr val="dk1"/>
              </a:solidFill>
              <a:latin typeface="Times New Roman"/>
              <a:ea typeface="Times New Roman"/>
              <a:cs typeface="Times New Roman"/>
              <a:sym typeface="Times New Roman"/>
            </a:endParaRPr>
          </a:p>
        </p:txBody>
      </p:sp>
      <p:sp>
        <p:nvSpPr>
          <p:cNvPr id="324" name="Google Shape;324;g3157d447c70_0_688"/>
          <p:cNvSpPr txBox="1"/>
          <p:nvPr/>
        </p:nvSpPr>
        <p:spPr>
          <a:xfrm>
            <a:off x="419925" y="5177675"/>
            <a:ext cx="11014500" cy="143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dk1"/>
                </a:solidFill>
                <a:latin typeface="Times New Roman"/>
                <a:ea typeface="Times New Roman"/>
                <a:cs typeface="Times New Roman"/>
                <a:sym typeface="Times New Roman"/>
              </a:rPr>
              <a:t>Ct value (Critical Threshold Value): It is the number of PCR cycle at which the </a:t>
            </a:r>
            <a:r>
              <a:rPr lang="en-US" sz="1800">
                <a:solidFill>
                  <a:schemeClr val="dk1"/>
                </a:solidFill>
                <a:latin typeface="Times New Roman"/>
                <a:ea typeface="Times New Roman"/>
                <a:cs typeface="Times New Roman"/>
                <a:sym typeface="Times New Roman"/>
              </a:rPr>
              <a:t>fluorescence</a:t>
            </a:r>
            <a:r>
              <a:rPr lang="en-US" sz="1800">
                <a:solidFill>
                  <a:schemeClr val="dk1"/>
                </a:solidFill>
                <a:latin typeface="Times New Roman"/>
                <a:ea typeface="Times New Roman"/>
                <a:cs typeface="Times New Roman"/>
                <a:sym typeface="Times New Roman"/>
              </a:rPr>
              <a:t> intensity of SyBR green dye became so high that the detector can see green fluorescence in the tube.</a:t>
            </a:r>
            <a:endParaRPr sz="1800">
              <a:solidFill>
                <a:schemeClr val="dk1"/>
              </a:solidFill>
              <a:latin typeface="Times New Roman"/>
              <a:ea typeface="Times New Roman"/>
              <a:cs typeface="Times New Roman"/>
              <a:sym typeface="Times New Roman"/>
            </a:endParaRPr>
          </a:p>
        </p:txBody>
      </p:sp>
      <p:sp>
        <p:nvSpPr>
          <p:cNvPr id="325" name="Google Shape;325;g3157d447c70_0_688"/>
          <p:cNvSpPr txBox="1"/>
          <p:nvPr/>
        </p:nvSpPr>
        <p:spPr>
          <a:xfrm>
            <a:off x="8422125" y="2641550"/>
            <a:ext cx="20403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latin typeface="Times New Roman"/>
                <a:ea typeface="Times New Roman"/>
                <a:cs typeface="Times New Roman"/>
                <a:sym typeface="Times New Roman"/>
              </a:rPr>
              <a:t>More initial target</a:t>
            </a:r>
            <a:endParaRPr>
              <a:solidFill>
                <a:schemeClr val="dk1"/>
              </a:solidFill>
              <a:latin typeface="Times New Roman"/>
              <a:ea typeface="Times New Roman"/>
              <a:cs typeface="Times New Roman"/>
              <a:sym typeface="Times New Roman"/>
            </a:endParaRPr>
          </a:p>
        </p:txBody>
      </p:sp>
      <p:sp>
        <p:nvSpPr>
          <p:cNvPr id="326" name="Google Shape;326;g3157d447c70_0_688"/>
          <p:cNvSpPr txBox="1"/>
          <p:nvPr/>
        </p:nvSpPr>
        <p:spPr>
          <a:xfrm>
            <a:off x="10674125" y="4227775"/>
            <a:ext cx="20403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latin typeface="Times New Roman"/>
                <a:ea typeface="Times New Roman"/>
                <a:cs typeface="Times New Roman"/>
                <a:sym typeface="Times New Roman"/>
              </a:rPr>
              <a:t>Less </a:t>
            </a:r>
            <a:r>
              <a:rPr lang="en-US">
                <a:solidFill>
                  <a:schemeClr val="dk1"/>
                </a:solidFill>
                <a:latin typeface="Times New Roman"/>
                <a:ea typeface="Times New Roman"/>
                <a:cs typeface="Times New Roman"/>
                <a:sym typeface="Times New Roman"/>
              </a:rPr>
              <a:t>initial target</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g315961fba6c_0_58"/>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lang="en-US" sz="2000">
                <a:solidFill>
                  <a:schemeClr val="lt1"/>
                </a:solidFill>
                <a:latin typeface="Times New Roman"/>
                <a:ea typeface="Times New Roman"/>
                <a:cs typeface="Times New Roman"/>
                <a:sym typeface="Times New Roman"/>
              </a:rPr>
              <a:t>RT-PCR for Covid19 detection</a:t>
            </a:r>
            <a:endParaRPr b="1" i="0" sz="2000" u="none" cap="none" strike="noStrike">
              <a:solidFill>
                <a:schemeClr val="lt1"/>
              </a:solidFill>
              <a:latin typeface="Times New Roman"/>
              <a:ea typeface="Times New Roman"/>
              <a:cs typeface="Times New Roman"/>
              <a:sym typeface="Times New Roman"/>
            </a:endParaRPr>
          </a:p>
        </p:txBody>
      </p:sp>
      <p:pic>
        <p:nvPicPr>
          <p:cNvPr id="333" name="Google Shape;333;g315961fba6c_0_58"/>
          <p:cNvPicPr preferRelativeResize="0"/>
          <p:nvPr/>
        </p:nvPicPr>
        <p:blipFill>
          <a:blip r:embed="rId3">
            <a:alphaModFix/>
          </a:blip>
          <a:stretch>
            <a:fillRect/>
          </a:stretch>
        </p:blipFill>
        <p:spPr>
          <a:xfrm>
            <a:off x="1019453" y="2938550"/>
            <a:ext cx="4394300" cy="2865325"/>
          </a:xfrm>
          <a:prstGeom prst="rect">
            <a:avLst/>
          </a:prstGeom>
          <a:noFill/>
          <a:ln>
            <a:noFill/>
          </a:ln>
        </p:spPr>
      </p:pic>
      <p:pic>
        <p:nvPicPr>
          <p:cNvPr id="334" name="Google Shape;334;g315961fba6c_0_58"/>
          <p:cNvPicPr preferRelativeResize="0"/>
          <p:nvPr/>
        </p:nvPicPr>
        <p:blipFill>
          <a:blip r:embed="rId4">
            <a:alphaModFix/>
          </a:blip>
          <a:stretch>
            <a:fillRect/>
          </a:stretch>
        </p:blipFill>
        <p:spPr>
          <a:xfrm>
            <a:off x="5800728" y="3137400"/>
            <a:ext cx="4188475" cy="2666475"/>
          </a:xfrm>
          <a:prstGeom prst="rect">
            <a:avLst/>
          </a:prstGeom>
          <a:noFill/>
          <a:ln>
            <a:noFill/>
          </a:ln>
        </p:spPr>
      </p:pic>
      <p:pic>
        <p:nvPicPr>
          <p:cNvPr id="335" name="Google Shape;335;g315961fba6c_0_58"/>
          <p:cNvPicPr preferRelativeResize="0"/>
          <p:nvPr/>
        </p:nvPicPr>
        <p:blipFill>
          <a:blip r:embed="rId5">
            <a:alphaModFix/>
          </a:blip>
          <a:stretch>
            <a:fillRect/>
          </a:stretch>
        </p:blipFill>
        <p:spPr>
          <a:xfrm>
            <a:off x="1886438" y="1181925"/>
            <a:ext cx="6886575" cy="1809750"/>
          </a:xfrm>
          <a:prstGeom prst="rect">
            <a:avLst/>
          </a:prstGeom>
          <a:noFill/>
          <a:ln>
            <a:noFill/>
          </a:ln>
        </p:spPr>
      </p:pic>
      <p:sp>
        <p:nvSpPr>
          <p:cNvPr id="336" name="Google Shape;336;g315961fba6c_0_58"/>
          <p:cNvSpPr txBox="1"/>
          <p:nvPr/>
        </p:nvSpPr>
        <p:spPr>
          <a:xfrm>
            <a:off x="630150" y="492400"/>
            <a:ext cx="3989100" cy="49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solidFill>
                  <a:schemeClr val="dk1"/>
                </a:solidFill>
                <a:latin typeface="Calibri"/>
                <a:ea typeface="Calibri"/>
                <a:cs typeface="Calibri"/>
                <a:sym typeface="Calibri"/>
              </a:rPr>
              <a:t>Genome of Covid19 virus</a:t>
            </a:r>
            <a:endParaRPr sz="2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g29981c83788_0_37"/>
          <p:cNvSpPr txBox="1"/>
          <p:nvPr>
            <p:ph idx="1" type="body"/>
          </p:nvPr>
        </p:nvSpPr>
        <p:spPr>
          <a:xfrm>
            <a:off x="428175" y="495725"/>
            <a:ext cx="11327700" cy="5992500"/>
          </a:xfrm>
          <a:prstGeom prst="rect">
            <a:avLst/>
          </a:prstGeom>
        </p:spPr>
        <p:txBody>
          <a:bodyPr anchorCtr="0" anchor="t" bIns="45700" lIns="91425" spcFirstLastPara="1" rIns="91425" wrap="square" tIns="45700">
            <a:normAutofit/>
          </a:bodyPr>
          <a:lstStyle/>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SDS-PAGE or </a:t>
            </a:r>
            <a:r>
              <a:rPr lang="en-US" sz="2000">
                <a:solidFill>
                  <a:srgbClr val="0000FF"/>
                </a:solidFill>
                <a:latin typeface="Times New Roman"/>
                <a:ea typeface="Times New Roman"/>
                <a:cs typeface="Times New Roman"/>
                <a:sym typeface="Times New Roman"/>
              </a:rPr>
              <a:t>S</a:t>
            </a:r>
            <a:r>
              <a:rPr lang="en-US" sz="2000">
                <a:latin typeface="Times New Roman"/>
                <a:ea typeface="Times New Roman"/>
                <a:cs typeface="Times New Roman"/>
                <a:sym typeface="Times New Roman"/>
              </a:rPr>
              <a:t>odium </a:t>
            </a:r>
            <a:r>
              <a:rPr lang="en-US" sz="2000">
                <a:solidFill>
                  <a:srgbClr val="0000FF"/>
                </a:solidFill>
                <a:latin typeface="Times New Roman"/>
                <a:ea typeface="Times New Roman"/>
                <a:cs typeface="Times New Roman"/>
                <a:sym typeface="Times New Roman"/>
              </a:rPr>
              <a:t>D</a:t>
            </a:r>
            <a:r>
              <a:rPr lang="en-US" sz="2000">
                <a:latin typeface="Times New Roman"/>
                <a:ea typeface="Times New Roman"/>
                <a:cs typeface="Times New Roman"/>
                <a:sym typeface="Times New Roman"/>
              </a:rPr>
              <a:t>odecyl </a:t>
            </a:r>
            <a:r>
              <a:rPr lang="en-US" sz="2000">
                <a:solidFill>
                  <a:srgbClr val="0000FF"/>
                </a:solidFill>
                <a:latin typeface="Times New Roman"/>
                <a:ea typeface="Times New Roman"/>
                <a:cs typeface="Times New Roman"/>
                <a:sym typeface="Times New Roman"/>
              </a:rPr>
              <a:t>S</a:t>
            </a:r>
            <a:r>
              <a:rPr lang="en-US" sz="2000">
                <a:latin typeface="Times New Roman"/>
                <a:ea typeface="Times New Roman"/>
                <a:cs typeface="Times New Roman"/>
                <a:sym typeface="Times New Roman"/>
              </a:rPr>
              <a:t>ulphate-</a:t>
            </a:r>
            <a:r>
              <a:rPr lang="en-US" sz="2000">
                <a:solidFill>
                  <a:srgbClr val="0000FF"/>
                </a:solidFill>
                <a:latin typeface="Times New Roman"/>
                <a:ea typeface="Times New Roman"/>
                <a:cs typeface="Times New Roman"/>
                <a:sym typeface="Times New Roman"/>
              </a:rPr>
              <a:t>P</a:t>
            </a:r>
            <a:r>
              <a:rPr lang="en-US" sz="2000">
                <a:latin typeface="Times New Roman"/>
                <a:ea typeface="Times New Roman"/>
                <a:cs typeface="Times New Roman"/>
                <a:sym typeface="Times New Roman"/>
              </a:rPr>
              <a:t>oly</a:t>
            </a:r>
            <a:r>
              <a:rPr lang="en-US" sz="2000">
                <a:solidFill>
                  <a:srgbClr val="0000FF"/>
                </a:solidFill>
                <a:latin typeface="Times New Roman"/>
                <a:ea typeface="Times New Roman"/>
                <a:cs typeface="Times New Roman"/>
                <a:sym typeface="Times New Roman"/>
              </a:rPr>
              <a:t>A</a:t>
            </a:r>
            <a:r>
              <a:rPr lang="en-US" sz="2000">
                <a:latin typeface="Times New Roman"/>
                <a:ea typeface="Times New Roman"/>
                <a:cs typeface="Times New Roman"/>
                <a:sym typeface="Times New Roman"/>
              </a:rPr>
              <a:t>crylamide </a:t>
            </a:r>
            <a:r>
              <a:rPr lang="en-US" sz="2000">
                <a:solidFill>
                  <a:srgbClr val="0000FF"/>
                </a:solidFill>
                <a:latin typeface="Times New Roman"/>
                <a:ea typeface="Times New Roman"/>
                <a:cs typeface="Times New Roman"/>
                <a:sym typeface="Times New Roman"/>
              </a:rPr>
              <a:t>G</a:t>
            </a:r>
            <a:r>
              <a:rPr lang="en-US" sz="2000">
                <a:latin typeface="Times New Roman"/>
                <a:ea typeface="Times New Roman"/>
                <a:cs typeface="Times New Roman"/>
                <a:sym typeface="Times New Roman"/>
              </a:rPr>
              <a:t>el </a:t>
            </a:r>
            <a:r>
              <a:rPr lang="en-US" sz="2000">
                <a:solidFill>
                  <a:srgbClr val="0000FF"/>
                </a:solidFill>
                <a:latin typeface="Times New Roman"/>
                <a:ea typeface="Times New Roman"/>
                <a:cs typeface="Times New Roman"/>
                <a:sym typeface="Times New Roman"/>
              </a:rPr>
              <a:t>E</a:t>
            </a:r>
            <a:r>
              <a:rPr lang="en-US" sz="2000">
                <a:latin typeface="Times New Roman"/>
                <a:ea typeface="Times New Roman"/>
                <a:cs typeface="Times New Roman"/>
                <a:sym typeface="Times New Roman"/>
              </a:rPr>
              <a:t>lectrophoresis is a method used for separation of proteins based on their molecular weight.</a:t>
            </a:r>
            <a:endParaRPr sz="2000">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SDS imparts negative charge to the proteins.</a:t>
            </a:r>
            <a:endParaRPr sz="2000">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Gel is made up of Polyacrylamide and protein mixture is loaded on the top. </a:t>
            </a:r>
            <a:endParaRPr sz="2000">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Electric field is applied, so the proteins migrate from negative to positive direction. The smaller proteins migrate faster compared to the larger proteins.</a:t>
            </a:r>
            <a:endParaRPr sz="2000">
              <a:latin typeface="Times New Roman"/>
              <a:ea typeface="Times New Roman"/>
              <a:cs typeface="Times New Roman"/>
              <a:sym typeface="Times New Roman"/>
            </a:endParaRPr>
          </a:p>
        </p:txBody>
      </p:sp>
      <p:sp>
        <p:nvSpPr>
          <p:cNvPr id="343" name="Google Shape;343;g29981c83788_0_37"/>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lang="en-US" sz="2000">
                <a:solidFill>
                  <a:schemeClr val="lt1"/>
                </a:solidFill>
                <a:latin typeface="Times New Roman"/>
                <a:ea typeface="Times New Roman"/>
                <a:cs typeface="Times New Roman"/>
                <a:sym typeface="Times New Roman"/>
              </a:rPr>
              <a:t>Polyacrylamide Gel Electrophoresis to separate proteins (SDS-PAGE)</a:t>
            </a:r>
            <a:endParaRPr b="1" i="0" sz="2000" u="none" cap="none" strike="noStrike">
              <a:solidFill>
                <a:schemeClr val="lt1"/>
              </a:solidFill>
              <a:latin typeface="Times New Roman"/>
              <a:ea typeface="Times New Roman"/>
              <a:cs typeface="Times New Roman"/>
              <a:sym typeface="Times New Roman"/>
            </a:endParaRPr>
          </a:p>
        </p:txBody>
      </p:sp>
      <p:pic>
        <p:nvPicPr>
          <p:cNvPr id="344" name="Google Shape;344;g29981c83788_0_37"/>
          <p:cNvPicPr preferRelativeResize="0"/>
          <p:nvPr/>
        </p:nvPicPr>
        <p:blipFill>
          <a:blip r:embed="rId3">
            <a:alphaModFix/>
          </a:blip>
          <a:stretch>
            <a:fillRect/>
          </a:stretch>
        </p:blipFill>
        <p:spPr>
          <a:xfrm>
            <a:off x="7138724" y="4012375"/>
            <a:ext cx="4519875" cy="2845626"/>
          </a:xfrm>
          <a:prstGeom prst="rect">
            <a:avLst/>
          </a:prstGeom>
          <a:noFill/>
          <a:ln>
            <a:noFill/>
          </a:ln>
        </p:spPr>
      </p:pic>
      <p:pic>
        <p:nvPicPr>
          <p:cNvPr id="345" name="Google Shape;345;g29981c83788_0_37"/>
          <p:cNvPicPr preferRelativeResize="0"/>
          <p:nvPr/>
        </p:nvPicPr>
        <p:blipFill>
          <a:blip r:embed="rId4">
            <a:alphaModFix/>
          </a:blip>
          <a:stretch>
            <a:fillRect/>
          </a:stretch>
        </p:blipFill>
        <p:spPr>
          <a:xfrm>
            <a:off x="885375" y="3737600"/>
            <a:ext cx="2443025" cy="3120400"/>
          </a:xfrm>
          <a:prstGeom prst="rect">
            <a:avLst/>
          </a:prstGeom>
          <a:noFill/>
          <a:ln>
            <a:noFill/>
          </a:ln>
        </p:spPr>
      </p:pic>
      <p:sp>
        <p:nvSpPr>
          <p:cNvPr id="346" name="Google Shape;346;g29981c83788_0_37"/>
          <p:cNvSpPr txBox="1"/>
          <p:nvPr/>
        </p:nvSpPr>
        <p:spPr>
          <a:xfrm>
            <a:off x="11625300" y="3755575"/>
            <a:ext cx="987900" cy="18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solidFill>
                  <a:schemeClr val="dk1"/>
                </a:solidFill>
                <a:latin typeface="Calibri"/>
                <a:ea typeface="Calibri"/>
                <a:cs typeface="Calibri"/>
                <a:sym typeface="Calibri"/>
              </a:rPr>
              <a:t>-Ve</a:t>
            </a:r>
            <a:endParaRPr sz="2800">
              <a:solidFill>
                <a:schemeClr val="dk1"/>
              </a:solidFill>
              <a:latin typeface="Calibri"/>
              <a:ea typeface="Calibri"/>
              <a:cs typeface="Calibri"/>
              <a:sym typeface="Calibri"/>
            </a:endParaRPr>
          </a:p>
        </p:txBody>
      </p:sp>
      <p:sp>
        <p:nvSpPr>
          <p:cNvPr id="347" name="Google Shape;347;g29981c83788_0_37"/>
          <p:cNvSpPr txBox="1"/>
          <p:nvPr/>
        </p:nvSpPr>
        <p:spPr>
          <a:xfrm>
            <a:off x="11530300" y="6033075"/>
            <a:ext cx="987900" cy="18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solidFill>
                  <a:schemeClr val="dk1"/>
                </a:solidFill>
                <a:latin typeface="Calibri"/>
                <a:ea typeface="Calibri"/>
                <a:cs typeface="Calibri"/>
                <a:sym typeface="Calibri"/>
              </a:rPr>
              <a:t>+Ve</a:t>
            </a:r>
            <a:endParaRPr sz="2800">
              <a:solidFill>
                <a:schemeClr val="dk1"/>
              </a:solidFill>
              <a:latin typeface="Calibri"/>
              <a:ea typeface="Calibri"/>
              <a:cs typeface="Calibri"/>
              <a:sym typeface="Calibri"/>
            </a:endParaRPr>
          </a:p>
        </p:txBody>
      </p:sp>
      <p:cxnSp>
        <p:nvCxnSpPr>
          <p:cNvPr id="348" name="Google Shape;348;g29981c83788_0_37"/>
          <p:cNvCxnSpPr/>
          <p:nvPr/>
        </p:nvCxnSpPr>
        <p:spPr>
          <a:xfrm>
            <a:off x="11981600" y="4228275"/>
            <a:ext cx="5700" cy="1804800"/>
          </a:xfrm>
          <a:prstGeom prst="straightConnector1">
            <a:avLst/>
          </a:prstGeom>
          <a:noFill/>
          <a:ln cap="flat" cmpd="sng" w="76200">
            <a:solidFill>
              <a:schemeClr val="dk1"/>
            </a:solidFill>
            <a:prstDash val="solid"/>
            <a:round/>
            <a:headEnd len="med" w="med" type="none"/>
            <a:tailEnd len="med" w="med" type="triangl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g12196808087_0_94"/>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lang="en-US" sz="2000">
                <a:solidFill>
                  <a:schemeClr val="lt1"/>
                </a:solidFill>
                <a:latin typeface="Times New Roman"/>
                <a:ea typeface="Times New Roman"/>
                <a:cs typeface="Times New Roman"/>
                <a:sym typeface="Times New Roman"/>
              </a:rPr>
              <a:t>Fluorescence Microscopy to visualize the cellular processes</a:t>
            </a:r>
            <a:endParaRPr b="1" i="0" sz="2000" u="none" cap="none" strike="noStrike">
              <a:solidFill>
                <a:schemeClr val="lt1"/>
              </a:solidFill>
              <a:latin typeface="Times New Roman"/>
              <a:ea typeface="Times New Roman"/>
              <a:cs typeface="Times New Roman"/>
              <a:sym typeface="Times New Roman"/>
            </a:endParaRPr>
          </a:p>
        </p:txBody>
      </p:sp>
      <p:pic>
        <p:nvPicPr>
          <p:cNvPr id="355" name="Google Shape;355;g12196808087_0_94"/>
          <p:cNvPicPr preferRelativeResize="0"/>
          <p:nvPr/>
        </p:nvPicPr>
        <p:blipFill rotWithShape="1">
          <a:blip r:embed="rId3">
            <a:alphaModFix/>
          </a:blip>
          <a:srcRect b="0" l="0" r="0" t="0"/>
          <a:stretch/>
        </p:blipFill>
        <p:spPr>
          <a:xfrm>
            <a:off x="221792" y="1311988"/>
            <a:ext cx="2451000" cy="2451000"/>
          </a:xfrm>
          <a:prstGeom prst="roundRect">
            <a:avLst>
              <a:gd fmla="val 16667" name="adj"/>
            </a:avLst>
          </a:prstGeom>
          <a:noFill/>
          <a:ln>
            <a:noFill/>
          </a:ln>
          <a:effectLst>
            <a:outerShdw blurRad="76200" rotWithShape="0" algn="tl" dir="7800000" dist="38100">
              <a:srgbClr val="000000">
                <a:alpha val="40000"/>
              </a:srgbClr>
            </a:outerShdw>
          </a:effectLst>
        </p:spPr>
      </p:pic>
      <p:sp>
        <p:nvSpPr>
          <p:cNvPr id="356" name="Google Shape;356;g12196808087_0_94"/>
          <p:cNvSpPr txBox="1"/>
          <p:nvPr/>
        </p:nvSpPr>
        <p:spPr>
          <a:xfrm>
            <a:off x="109846" y="3801594"/>
            <a:ext cx="27510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Times New Roman"/>
                <a:ea typeface="Times New Roman"/>
                <a:cs typeface="Times New Roman"/>
                <a:sym typeface="Times New Roman"/>
              </a:rPr>
              <a:t>How cell divides and chromosomes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Times New Roman"/>
                <a:ea typeface="Times New Roman"/>
                <a:cs typeface="Times New Roman"/>
                <a:sym typeface="Times New Roman"/>
              </a:rPr>
              <a:t>Segregate?</a:t>
            </a:r>
            <a:endParaRPr b="0" i="0" sz="1400" u="none" cap="none" strike="noStrike">
              <a:solidFill>
                <a:schemeClr val="dk1"/>
              </a:solidFill>
              <a:latin typeface="Times New Roman"/>
              <a:ea typeface="Times New Roman"/>
              <a:cs typeface="Times New Roman"/>
              <a:sym typeface="Times New Roman"/>
            </a:endParaRPr>
          </a:p>
        </p:txBody>
      </p:sp>
      <p:pic>
        <p:nvPicPr>
          <p:cNvPr id="357" name="Google Shape;357;g12196808087_0_94"/>
          <p:cNvPicPr preferRelativeResize="0"/>
          <p:nvPr/>
        </p:nvPicPr>
        <p:blipFill rotWithShape="1">
          <a:blip r:embed="rId4">
            <a:alphaModFix/>
          </a:blip>
          <a:srcRect b="0" l="0" r="0" t="0"/>
          <a:stretch/>
        </p:blipFill>
        <p:spPr>
          <a:xfrm>
            <a:off x="9681614" y="1184716"/>
            <a:ext cx="2307341" cy="2631810"/>
          </a:xfrm>
          <a:prstGeom prst="rect">
            <a:avLst/>
          </a:prstGeom>
          <a:noFill/>
          <a:ln>
            <a:noFill/>
          </a:ln>
        </p:spPr>
      </p:pic>
      <p:sp>
        <p:nvSpPr>
          <p:cNvPr id="358" name="Google Shape;358;g12196808087_0_94"/>
          <p:cNvSpPr/>
          <p:nvPr/>
        </p:nvSpPr>
        <p:spPr>
          <a:xfrm rot="-2002909">
            <a:off x="10056886" y="1235409"/>
            <a:ext cx="1608460" cy="2396755"/>
          </a:xfrm>
          <a:prstGeom prst="ellipse">
            <a:avLst/>
          </a:prstGeom>
          <a:noFill/>
          <a:ln cap="flat" cmpd="sng" w="1905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59" name="Google Shape;359;g12196808087_0_94"/>
          <p:cNvSpPr txBox="1"/>
          <p:nvPr/>
        </p:nvSpPr>
        <p:spPr>
          <a:xfrm>
            <a:off x="9736301" y="3790095"/>
            <a:ext cx="2332800" cy="738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Times New Roman"/>
                <a:ea typeface="Times New Roman"/>
                <a:cs typeface="Times New Roman"/>
                <a:sym typeface="Times New Roman"/>
              </a:rPr>
              <a:t>Single-Molecule Imaging of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Times New Roman"/>
                <a:ea typeface="Times New Roman"/>
                <a:cs typeface="Times New Roman"/>
                <a:sym typeface="Times New Roman"/>
              </a:rPr>
              <a:t>transcription factor (TF)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Times New Roman"/>
                <a:ea typeface="Times New Roman"/>
                <a:cs typeface="Times New Roman"/>
                <a:sym typeface="Times New Roman"/>
              </a:rPr>
              <a:t>in human cell nucleus</a:t>
            </a:r>
            <a:endParaRPr b="0" i="0" sz="1400" u="none" cap="none" strike="noStrike">
              <a:solidFill>
                <a:srgbClr val="000000"/>
              </a:solidFill>
              <a:latin typeface="Arial"/>
              <a:ea typeface="Arial"/>
              <a:cs typeface="Arial"/>
              <a:sym typeface="Arial"/>
            </a:endParaRPr>
          </a:p>
        </p:txBody>
      </p:sp>
      <p:sp>
        <p:nvSpPr>
          <p:cNvPr id="360" name="Google Shape;360;g12196808087_0_94"/>
          <p:cNvSpPr txBox="1"/>
          <p:nvPr/>
        </p:nvSpPr>
        <p:spPr>
          <a:xfrm>
            <a:off x="10614132" y="1133405"/>
            <a:ext cx="13692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Times New Roman"/>
                <a:ea typeface="Times New Roman"/>
                <a:cs typeface="Times New Roman"/>
                <a:sym typeface="Times New Roman"/>
              </a:rPr>
              <a:t>TF-Halo-JF646</a:t>
            </a:r>
            <a:endParaRPr b="1" i="0" sz="1400" u="none" cap="none" strike="noStrike">
              <a:solidFill>
                <a:schemeClr val="lt1"/>
              </a:solidFill>
              <a:latin typeface="Times New Roman"/>
              <a:ea typeface="Times New Roman"/>
              <a:cs typeface="Times New Roman"/>
              <a:sym typeface="Times New Roman"/>
            </a:endParaRPr>
          </a:p>
        </p:txBody>
      </p:sp>
      <p:sp>
        <p:nvSpPr>
          <p:cNvPr id="361" name="Google Shape;361;g12196808087_0_94"/>
          <p:cNvSpPr txBox="1"/>
          <p:nvPr/>
        </p:nvSpPr>
        <p:spPr>
          <a:xfrm>
            <a:off x="9783334" y="3481561"/>
            <a:ext cx="5085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FFC000"/>
                </a:solidFill>
                <a:latin typeface="Times New Roman"/>
                <a:ea typeface="Times New Roman"/>
                <a:cs typeface="Times New Roman"/>
                <a:sym typeface="Times New Roman"/>
              </a:rPr>
              <a:t>5 µm</a:t>
            </a:r>
            <a:endParaRPr b="0" i="0" sz="1400" u="none" cap="none" strike="noStrike">
              <a:solidFill>
                <a:srgbClr val="000000"/>
              </a:solidFill>
              <a:latin typeface="Arial"/>
              <a:ea typeface="Arial"/>
              <a:cs typeface="Arial"/>
              <a:sym typeface="Arial"/>
            </a:endParaRPr>
          </a:p>
        </p:txBody>
      </p:sp>
      <p:cxnSp>
        <p:nvCxnSpPr>
          <p:cNvPr id="362" name="Google Shape;362;g12196808087_0_94"/>
          <p:cNvCxnSpPr/>
          <p:nvPr/>
        </p:nvCxnSpPr>
        <p:spPr>
          <a:xfrm>
            <a:off x="9773745" y="3734919"/>
            <a:ext cx="518100" cy="0"/>
          </a:xfrm>
          <a:prstGeom prst="straightConnector1">
            <a:avLst/>
          </a:prstGeom>
          <a:noFill/>
          <a:ln cap="flat" cmpd="sng" w="19050">
            <a:solidFill>
              <a:schemeClr val="accent4"/>
            </a:solidFill>
            <a:prstDash val="solid"/>
            <a:miter lim="800000"/>
            <a:headEnd len="sm" w="sm" type="none"/>
            <a:tailEnd len="sm" w="sm" type="none"/>
          </a:ln>
        </p:spPr>
      </p:cxnSp>
      <p:pic>
        <p:nvPicPr>
          <p:cNvPr descr="A picture containing dark&#10;&#10;Description automatically generated" id="363" name="Google Shape;363;g12196808087_0_94"/>
          <p:cNvPicPr preferRelativeResize="0"/>
          <p:nvPr/>
        </p:nvPicPr>
        <p:blipFill rotWithShape="1">
          <a:blip r:embed="rId5">
            <a:alphaModFix/>
          </a:blip>
          <a:srcRect b="4585" l="18817" r="20984" t="5324"/>
          <a:stretch/>
        </p:blipFill>
        <p:spPr>
          <a:xfrm rot="5400000">
            <a:off x="6702741" y="773028"/>
            <a:ext cx="2265044" cy="3389805"/>
          </a:xfrm>
          <a:prstGeom prst="rect">
            <a:avLst/>
          </a:prstGeom>
          <a:noFill/>
          <a:ln>
            <a:noFill/>
          </a:ln>
        </p:spPr>
      </p:pic>
      <p:sp>
        <p:nvSpPr>
          <p:cNvPr id="364" name="Google Shape;364;g12196808087_0_94"/>
          <p:cNvSpPr txBox="1"/>
          <p:nvPr/>
        </p:nvSpPr>
        <p:spPr>
          <a:xfrm>
            <a:off x="122754" y="5006454"/>
            <a:ext cx="9660600" cy="1477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Mouse retina, confocal 3D microscopy: </a:t>
            </a:r>
            <a:r>
              <a:rPr b="0" i="0" lang="en-US" sz="1800" u="sng" cap="none" strike="noStrike">
                <a:solidFill>
                  <a:schemeClr val="dk1"/>
                </a:solidFill>
                <a:latin typeface="Times New Roman"/>
                <a:ea typeface="Times New Roman"/>
                <a:cs typeface="Times New Roman"/>
                <a:sym typeface="Times New Roman"/>
                <a:hlinkClick r:id="rId6">
                  <a:extLst>
                    <a:ext uri="{A12FA001-AC4F-418D-AE19-62706E023703}">
                      <ahyp:hlinkClr val="tx"/>
                    </a:ext>
                  </a:extLst>
                </a:hlinkClick>
              </a:rPr>
              <a:t>https://youtu.be/Jo7MvM_IXa8</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3D imaging of collagen fibre network: </a:t>
            </a:r>
            <a:r>
              <a:rPr b="0" i="0" lang="en-US" sz="1800" u="sng" cap="none" strike="noStrike">
                <a:solidFill>
                  <a:schemeClr val="dk1"/>
                </a:solidFill>
                <a:latin typeface="Times New Roman"/>
                <a:ea typeface="Times New Roman"/>
                <a:cs typeface="Times New Roman"/>
                <a:sym typeface="Times New Roman"/>
                <a:hlinkClick r:id="rId7">
                  <a:extLst>
                    <a:ext uri="{A12FA001-AC4F-418D-AE19-62706E023703}">
                      <ahyp:hlinkClr val="tx"/>
                    </a:ext>
                  </a:extLst>
                </a:hlinkClick>
              </a:rPr>
              <a:t>https://youtu.be/pof6ywsTK6Y</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Kidney cells mitosis: </a:t>
            </a:r>
            <a:r>
              <a:rPr b="0" i="0" lang="en-US" sz="1800" u="sng" cap="none" strike="noStrike">
                <a:solidFill>
                  <a:schemeClr val="dk1"/>
                </a:solidFill>
                <a:latin typeface="Times New Roman"/>
                <a:ea typeface="Times New Roman"/>
                <a:cs typeface="Times New Roman"/>
                <a:sym typeface="Times New Roman"/>
                <a:hlinkClick r:id="rId8">
                  <a:extLst>
                    <a:ext uri="{A12FA001-AC4F-418D-AE19-62706E023703}">
                      <ahyp:hlinkClr val="tx"/>
                    </a:ext>
                  </a:extLst>
                </a:hlinkClick>
              </a:rPr>
              <a:t>https://youtu.be/ed6OkXi6M5Q</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Zebrafish embryonic development at single-cell resolution: </a:t>
            </a:r>
            <a:r>
              <a:rPr b="0" i="0" lang="en-US" sz="1800" u="sng" cap="none" strike="noStrike">
                <a:solidFill>
                  <a:schemeClr val="dk1"/>
                </a:solidFill>
                <a:latin typeface="Times New Roman"/>
                <a:ea typeface="Times New Roman"/>
                <a:cs typeface="Times New Roman"/>
                <a:sym typeface="Times New Roman"/>
                <a:hlinkClick r:id="rId9">
                  <a:extLst>
                    <a:ext uri="{A12FA001-AC4F-418D-AE19-62706E023703}">
                      <ahyp:hlinkClr val="tx"/>
                    </a:ext>
                  </a:extLst>
                </a:hlinkClick>
              </a:rPr>
              <a:t>https://youtu.be/RQ6vkDr_Dec</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pic>
        <p:nvPicPr>
          <p:cNvPr id="365" name="Google Shape;365;g12196808087_0_94"/>
          <p:cNvPicPr preferRelativeResize="0"/>
          <p:nvPr/>
        </p:nvPicPr>
        <p:blipFill rotWithShape="1">
          <a:blip r:embed="rId10">
            <a:alphaModFix/>
          </a:blip>
          <a:srcRect b="0" l="0" r="0" t="0"/>
          <a:stretch/>
        </p:blipFill>
        <p:spPr>
          <a:xfrm>
            <a:off x="2846070" y="1335405"/>
            <a:ext cx="3147149" cy="2360362"/>
          </a:xfrm>
          <a:prstGeom prst="rect">
            <a:avLst/>
          </a:prstGeom>
          <a:noFill/>
          <a:ln>
            <a:noFill/>
          </a:ln>
        </p:spPr>
      </p:pic>
      <p:sp>
        <p:nvSpPr>
          <p:cNvPr id="366" name="Google Shape;366;g12196808087_0_94"/>
          <p:cNvSpPr txBox="1"/>
          <p:nvPr/>
        </p:nvSpPr>
        <p:spPr>
          <a:xfrm>
            <a:off x="0" y="612844"/>
            <a:ext cx="121920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FF0000"/>
                </a:solidFill>
                <a:latin typeface="Times New Roman"/>
                <a:ea typeface="Times New Roman"/>
                <a:cs typeface="Times New Roman"/>
                <a:sym typeface="Times New Roman"/>
              </a:rPr>
              <a:t>Seeing is believing</a:t>
            </a:r>
            <a:endParaRPr b="1" i="0" sz="2400" u="none" cap="none" strike="noStrike">
              <a:solidFill>
                <a:srgbClr val="FF0000"/>
              </a:solidFill>
              <a:latin typeface="Times New Roman"/>
              <a:ea typeface="Times New Roman"/>
              <a:cs typeface="Times New Roman"/>
              <a:sym typeface="Times New Roman"/>
            </a:endParaRPr>
          </a:p>
        </p:txBody>
      </p:sp>
      <p:sp>
        <p:nvSpPr>
          <p:cNvPr id="367" name="Google Shape;367;g12196808087_0_94"/>
          <p:cNvSpPr txBox="1"/>
          <p:nvPr/>
        </p:nvSpPr>
        <p:spPr>
          <a:xfrm>
            <a:off x="2822860" y="3715869"/>
            <a:ext cx="31704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Times New Roman"/>
                <a:ea typeface="Times New Roman"/>
                <a:cs typeface="Times New Roman"/>
                <a:sym typeface="Times New Roman"/>
              </a:rPr>
              <a:t>How SARS-CoV-2 causes cell fusion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Times New Roman"/>
                <a:ea typeface="Times New Roman"/>
                <a:cs typeface="Times New Roman"/>
                <a:sym typeface="Times New Roman"/>
              </a:rPr>
              <a:t>and death in bat brain cells?</a:t>
            </a:r>
            <a:endParaRPr b="0" i="0" sz="1400" u="none" cap="none" strike="noStrike">
              <a:solidFill>
                <a:schemeClr val="dk1"/>
              </a:solidFill>
              <a:latin typeface="Times New Roman"/>
              <a:ea typeface="Times New Roman"/>
              <a:cs typeface="Times New Roman"/>
              <a:sym typeface="Times New Roman"/>
            </a:endParaRPr>
          </a:p>
        </p:txBody>
      </p:sp>
      <p:sp>
        <p:nvSpPr>
          <p:cNvPr id="368" name="Google Shape;368;g12196808087_0_94"/>
          <p:cNvSpPr txBox="1"/>
          <p:nvPr/>
        </p:nvSpPr>
        <p:spPr>
          <a:xfrm>
            <a:off x="6140360" y="3686837"/>
            <a:ext cx="34077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Times New Roman"/>
                <a:ea typeface="Times New Roman"/>
                <a:cs typeface="Times New Roman"/>
                <a:sym typeface="Times New Roman"/>
              </a:rPr>
              <a:t>HeLa cells stained for DNA (blue), microtubules (green) and F-actin (red)</a:t>
            </a:r>
            <a:endParaRPr b="0" i="0" sz="1400" u="none" cap="none" strike="noStrike">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55"/>
                                        </p:tgtEl>
                                        <p:attrNameLst>
                                          <p:attrName>style.visibility</p:attrName>
                                        </p:attrNameLst>
                                      </p:cBhvr>
                                      <p:to>
                                        <p:strVal val="visible"/>
                                      </p:to>
                                    </p:set>
                                    <p:animEffect filter="fade" transition="in">
                                      <p:cBhvr>
                                        <p:cTn dur="4250"/>
                                        <p:tgtEl>
                                          <p:spTgt spid="3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5"/>
                                        </p:tgtEl>
                                        <p:attrNameLst>
                                          <p:attrName>style.visibility</p:attrName>
                                        </p:attrNameLst>
                                      </p:cBhvr>
                                      <p:to>
                                        <p:strVal val="visible"/>
                                      </p:to>
                                    </p:set>
                                    <p:animEffect filter="fade" transition="in">
                                      <p:cBhvr>
                                        <p:cTn dur="5000"/>
                                        <p:tgtEl>
                                          <p:spTgt spid="3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g12196808087_0_272"/>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Times New Roman"/>
                <a:ea typeface="Times New Roman"/>
                <a:cs typeface="Times New Roman"/>
                <a:sym typeface="Times New Roman"/>
              </a:rPr>
              <a:t>What is fluorescence?</a:t>
            </a:r>
            <a:endParaRPr b="1" i="0" sz="2000" u="none" cap="none" strike="noStrike">
              <a:solidFill>
                <a:schemeClr val="lt1"/>
              </a:solidFill>
              <a:latin typeface="Times New Roman"/>
              <a:ea typeface="Times New Roman"/>
              <a:cs typeface="Times New Roman"/>
              <a:sym typeface="Times New Roman"/>
            </a:endParaRPr>
          </a:p>
        </p:txBody>
      </p:sp>
      <p:sp>
        <p:nvSpPr>
          <p:cNvPr id="374" name="Google Shape;374;g12196808087_0_272"/>
          <p:cNvSpPr txBox="1"/>
          <p:nvPr/>
        </p:nvSpPr>
        <p:spPr>
          <a:xfrm>
            <a:off x="2619739" y="578380"/>
            <a:ext cx="7404600" cy="14775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Fluorescence is the emission of light by a molecule that has absorbed light.</a:t>
            </a:r>
            <a:endParaRPr b="0" i="0" sz="14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Fluorescence has higher wavelength than absorbed light.</a:t>
            </a:r>
            <a:endParaRPr b="0" i="0" sz="14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pic>
        <p:nvPicPr>
          <p:cNvPr id="375" name="Google Shape;375;g12196808087_0_272"/>
          <p:cNvPicPr preferRelativeResize="0"/>
          <p:nvPr/>
        </p:nvPicPr>
        <p:blipFill rotWithShape="1">
          <a:blip r:embed="rId3">
            <a:alphaModFix/>
          </a:blip>
          <a:srcRect b="0" l="0" r="0" t="0"/>
          <a:stretch/>
        </p:blipFill>
        <p:spPr>
          <a:xfrm>
            <a:off x="12192000" y="5723021"/>
            <a:ext cx="3410832" cy="1011154"/>
          </a:xfrm>
          <a:prstGeom prst="rect">
            <a:avLst/>
          </a:prstGeom>
          <a:noFill/>
          <a:ln>
            <a:noFill/>
          </a:ln>
        </p:spPr>
      </p:pic>
      <p:pic>
        <p:nvPicPr>
          <p:cNvPr id="376" name="Google Shape;376;g12196808087_0_272"/>
          <p:cNvPicPr preferRelativeResize="0"/>
          <p:nvPr/>
        </p:nvPicPr>
        <p:blipFill rotWithShape="1">
          <a:blip r:embed="rId4">
            <a:alphaModFix/>
          </a:blip>
          <a:srcRect b="0" l="0" r="0" t="0"/>
          <a:stretch/>
        </p:blipFill>
        <p:spPr>
          <a:xfrm>
            <a:off x="2438399" y="2541069"/>
            <a:ext cx="6699387" cy="3946358"/>
          </a:xfrm>
          <a:prstGeom prst="rect">
            <a:avLst/>
          </a:prstGeom>
          <a:noFill/>
          <a:ln>
            <a:noFill/>
          </a:ln>
        </p:spPr>
      </p:pic>
      <p:sp>
        <p:nvSpPr>
          <p:cNvPr id="377" name="Google Shape;377;g12196808087_0_272"/>
          <p:cNvSpPr txBox="1"/>
          <p:nvPr/>
        </p:nvSpPr>
        <p:spPr>
          <a:xfrm>
            <a:off x="2490537" y="2171737"/>
            <a:ext cx="69933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Jablonski diagram</a:t>
            </a:r>
            <a:endParaRPr b="0" i="0" sz="1400" u="none" cap="none" strike="noStrike">
              <a:solidFill>
                <a:srgbClr val="000000"/>
              </a:solidFill>
              <a:latin typeface="Arial"/>
              <a:ea typeface="Arial"/>
              <a:cs typeface="Arial"/>
              <a:sym typeface="Arial"/>
            </a:endParaRPr>
          </a:p>
        </p:txBody>
      </p:sp>
      <p:sp>
        <p:nvSpPr>
          <p:cNvPr id="378" name="Google Shape;378;g12196808087_0_272"/>
          <p:cNvSpPr/>
          <p:nvPr/>
        </p:nvSpPr>
        <p:spPr>
          <a:xfrm>
            <a:off x="6880108" y="2998619"/>
            <a:ext cx="1911000" cy="156900"/>
          </a:xfrm>
          <a:prstGeom prst="rect">
            <a:avLst/>
          </a:prstGeom>
          <a:no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g12196808087_0_466"/>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Times New Roman"/>
                <a:ea typeface="Times New Roman"/>
                <a:cs typeface="Times New Roman"/>
                <a:sym typeface="Times New Roman"/>
              </a:rPr>
              <a:t>Discovery of Green Fluorescent Protein (GFP) leads to revolution in fluorescence microscopy</a:t>
            </a:r>
            <a:endParaRPr b="1" i="0" sz="2000" u="none" cap="none" strike="noStrike">
              <a:solidFill>
                <a:schemeClr val="lt1"/>
              </a:solidFill>
              <a:latin typeface="Times New Roman"/>
              <a:ea typeface="Times New Roman"/>
              <a:cs typeface="Times New Roman"/>
              <a:sym typeface="Times New Roman"/>
            </a:endParaRPr>
          </a:p>
        </p:txBody>
      </p:sp>
      <p:sp>
        <p:nvSpPr>
          <p:cNvPr id="385" name="Google Shape;385;g12196808087_0_466"/>
          <p:cNvSpPr txBox="1"/>
          <p:nvPr/>
        </p:nvSpPr>
        <p:spPr>
          <a:xfrm>
            <a:off x="389164" y="468086"/>
            <a:ext cx="7198200" cy="42483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The prospects of fluorescence microscopy changed dramatically with the discovery of fluorescent proteins in the 1950s. </a:t>
            </a:r>
            <a:endParaRPr b="0" i="0" sz="14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GFP was first discovered in the jellyfish </a:t>
            </a:r>
            <a:r>
              <a:rPr b="0" i="1" lang="en-US" sz="1800" u="none" cap="none" strike="noStrike">
                <a:solidFill>
                  <a:schemeClr val="dk1"/>
                </a:solidFill>
                <a:latin typeface="Times New Roman"/>
                <a:ea typeface="Times New Roman"/>
                <a:cs typeface="Times New Roman"/>
                <a:sym typeface="Times New Roman"/>
              </a:rPr>
              <a:t>Aequorea victoria</a:t>
            </a:r>
            <a:r>
              <a:rPr b="0" i="0" lang="en-US" sz="1800" u="none" cap="none" strike="noStrike">
                <a:solidFill>
                  <a:schemeClr val="dk1"/>
                </a:solidFill>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Nobel prize awarded to Roger Tsien, Osamu Shimomura and Martin Chalfie in 2008 for their discovery of GFP.</a:t>
            </a:r>
            <a:endParaRPr b="0" i="0" sz="14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Fluorescence due to three amino acids at positions S65, T66, G67.</a:t>
            </a:r>
            <a:endParaRPr b="0" i="0" sz="14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Major excitation peak at </a:t>
            </a:r>
            <a:r>
              <a:rPr lang="en-US" sz="1800">
                <a:solidFill>
                  <a:schemeClr val="dk1"/>
                </a:solidFill>
                <a:latin typeface="Times New Roman"/>
                <a:ea typeface="Times New Roman"/>
                <a:cs typeface="Times New Roman"/>
                <a:sym typeface="Times New Roman"/>
              </a:rPr>
              <a:t>488</a:t>
            </a:r>
            <a:r>
              <a:rPr b="0" i="0" lang="en-US" sz="1800" u="none" cap="none" strike="noStrike">
                <a:solidFill>
                  <a:schemeClr val="dk1"/>
                </a:solidFill>
                <a:latin typeface="Times New Roman"/>
                <a:ea typeface="Times New Roman"/>
                <a:cs typeface="Times New Roman"/>
                <a:sym typeface="Times New Roman"/>
              </a:rPr>
              <a:t> nm (blue light)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     Emission peak is at 5</a:t>
            </a:r>
            <a:r>
              <a:rPr lang="en-US" sz="1800">
                <a:solidFill>
                  <a:schemeClr val="dk1"/>
                </a:solidFill>
                <a:latin typeface="Times New Roman"/>
                <a:ea typeface="Times New Roman"/>
                <a:cs typeface="Times New Roman"/>
                <a:sym typeface="Times New Roman"/>
              </a:rPr>
              <a:t>10</a:t>
            </a:r>
            <a:r>
              <a:rPr b="0" i="0" lang="en-US" sz="1800" u="none" cap="none" strike="noStrike">
                <a:solidFill>
                  <a:schemeClr val="dk1"/>
                </a:solidFill>
                <a:latin typeface="Times New Roman"/>
                <a:ea typeface="Times New Roman"/>
                <a:cs typeface="Times New Roman"/>
                <a:sym typeface="Times New Roman"/>
              </a:rPr>
              <a:t> nm (</a:t>
            </a:r>
            <a:r>
              <a:rPr lang="en-US" sz="1800">
                <a:solidFill>
                  <a:schemeClr val="dk1"/>
                </a:solidFill>
                <a:latin typeface="Times New Roman"/>
                <a:ea typeface="Times New Roman"/>
                <a:cs typeface="Times New Roman"/>
                <a:sym typeface="Times New Roman"/>
              </a:rPr>
              <a:t>green light)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     Molecular weight ~27 kD</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     Amino Acids: 238</a:t>
            </a:r>
            <a:endParaRPr b="0" i="0" sz="1800" u="none" cap="none" strike="noStrike">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0" i="0" sz="1800" u="none" cap="none" strike="noStrike">
              <a:solidFill>
                <a:schemeClr val="dk1"/>
              </a:solidFill>
              <a:latin typeface="Times New Roman"/>
              <a:ea typeface="Times New Roman"/>
              <a:cs typeface="Times New Roman"/>
              <a:sym typeface="Times New Roman"/>
            </a:endParaRPr>
          </a:p>
        </p:txBody>
      </p:sp>
      <p:grpSp>
        <p:nvGrpSpPr>
          <p:cNvPr id="386" name="Google Shape;386;g12196808087_0_466"/>
          <p:cNvGrpSpPr/>
          <p:nvPr/>
        </p:nvGrpSpPr>
        <p:grpSpPr>
          <a:xfrm>
            <a:off x="6922607" y="696686"/>
            <a:ext cx="5233671" cy="3736016"/>
            <a:chOff x="6988198" y="905227"/>
            <a:chExt cx="5233671" cy="3736016"/>
          </a:xfrm>
        </p:grpSpPr>
        <p:sp>
          <p:nvSpPr>
            <p:cNvPr id="387" name="Google Shape;387;g12196808087_0_466"/>
            <p:cNvSpPr/>
            <p:nvPr/>
          </p:nvSpPr>
          <p:spPr>
            <a:xfrm>
              <a:off x="9428153" y="4382043"/>
              <a:ext cx="1390200" cy="259200"/>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388" name="Google Shape;388;g12196808087_0_466"/>
            <p:cNvPicPr preferRelativeResize="0"/>
            <p:nvPr/>
          </p:nvPicPr>
          <p:blipFill rotWithShape="1">
            <a:blip r:embed="rId3">
              <a:alphaModFix/>
            </a:blip>
            <a:srcRect b="0" l="0" r="0" t="0"/>
            <a:stretch/>
          </p:blipFill>
          <p:spPr>
            <a:xfrm>
              <a:off x="7737848" y="1289150"/>
              <a:ext cx="2355842" cy="2355842"/>
            </a:xfrm>
            <a:prstGeom prst="rect">
              <a:avLst/>
            </a:prstGeom>
            <a:noFill/>
            <a:ln>
              <a:noFill/>
            </a:ln>
          </p:spPr>
        </p:pic>
        <p:sp>
          <p:nvSpPr>
            <p:cNvPr id="389" name="Google Shape;389;g12196808087_0_466"/>
            <p:cNvSpPr txBox="1"/>
            <p:nvPr/>
          </p:nvSpPr>
          <p:spPr>
            <a:xfrm>
              <a:off x="7669429" y="3310387"/>
              <a:ext cx="24339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1" lang="en-US" sz="1600" u="none" cap="none" strike="noStrike">
                  <a:solidFill>
                    <a:schemeClr val="lt1"/>
                  </a:solidFill>
                  <a:latin typeface="Times New Roman"/>
                  <a:ea typeface="Times New Roman"/>
                  <a:cs typeface="Times New Roman"/>
                  <a:sym typeface="Times New Roman"/>
                </a:rPr>
                <a:t>Aequorea victoria</a:t>
              </a:r>
              <a:r>
                <a:rPr b="0" i="0" lang="en-US" sz="1600" u="none" cap="none" strike="noStrike">
                  <a:solidFill>
                    <a:schemeClr val="lt1"/>
                  </a:solidFill>
                  <a:latin typeface="Times New Roman"/>
                  <a:ea typeface="Times New Roman"/>
                  <a:cs typeface="Times New Roman"/>
                  <a:sym typeface="Times New Roman"/>
                </a:rPr>
                <a:t> jellyfish</a:t>
              </a:r>
              <a:endParaRPr b="0" i="0" sz="1600" u="none" cap="none" strike="noStrike">
                <a:solidFill>
                  <a:schemeClr val="lt1"/>
                </a:solidFill>
                <a:latin typeface="Times New Roman"/>
                <a:ea typeface="Times New Roman"/>
                <a:cs typeface="Times New Roman"/>
                <a:sym typeface="Times New Roman"/>
              </a:endParaRPr>
            </a:p>
          </p:txBody>
        </p:sp>
        <p:pic>
          <p:nvPicPr>
            <p:cNvPr id="390" name="Google Shape;390;g12196808087_0_466"/>
            <p:cNvPicPr preferRelativeResize="0"/>
            <p:nvPr/>
          </p:nvPicPr>
          <p:blipFill rotWithShape="1">
            <a:blip r:embed="rId4">
              <a:alphaModFix/>
            </a:blip>
            <a:srcRect b="0" l="0" r="0" t="0"/>
            <a:stretch/>
          </p:blipFill>
          <p:spPr>
            <a:xfrm>
              <a:off x="10550464" y="1511697"/>
              <a:ext cx="1671405" cy="1671405"/>
            </a:xfrm>
            <a:prstGeom prst="rect">
              <a:avLst/>
            </a:prstGeom>
            <a:noFill/>
            <a:ln>
              <a:noFill/>
            </a:ln>
          </p:spPr>
        </p:pic>
        <p:cxnSp>
          <p:nvCxnSpPr>
            <p:cNvPr id="391" name="Google Shape;391;g12196808087_0_466"/>
            <p:cNvCxnSpPr/>
            <p:nvPr/>
          </p:nvCxnSpPr>
          <p:spPr>
            <a:xfrm flipH="1" rot="10800000">
              <a:off x="7021387" y="2380739"/>
              <a:ext cx="1101600" cy="870000"/>
            </a:xfrm>
            <a:prstGeom prst="straightConnector1">
              <a:avLst/>
            </a:prstGeom>
            <a:noFill/>
            <a:ln cap="flat" cmpd="sng" w="76200">
              <a:solidFill>
                <a:srgbClr val="0000FF"/>
              </a:solidFill>
              <a:prstDash val="solid"/>
              <a:miter lim="800000"/>
              <a:headEnd len="sm" w="sm" type="none"/>
              <a:tailEnd len="med" w="med" type="triangle"/>
            </a:ln>
          </p:spPr>
        </p:cxnSp>
        <p:cxnSp>
          <p:nvCxnSpPr>
            <p:cNvPr id="392" name="Google Shape;392;g12196808087_0_466"/>
            <p:cNvCxnSpPr/>
            <p:nvPr/>
          </p:nvCxnSpPr>
          <p:spPr>
            <a:xfrm flipH="1" rot="10800000">
              <a:off x="7083853" y="2456379"/>
              <a:ext cx="1101600" cy="870000"/>
            </a:xfrm>
            <a:prstGeom prst="straightConnector1">
              <a:avLst/>
            </a:prstGeom>
            <a:noFill/>
            <a:ln cap="flat" cmpd="sng" w="76200">
              <a:solidFill>
                <a:srgbClr val="0000FF"/>
              </a:solidFill>
              <a:prstDash val="solid"/>
              <a:miter lim="800000"/>
              <a:headEnd len="sm" w="sm" type="none"/>
              <a:tailEnd len="med" w="med" type="triangle"/>
            </a:ln>
          </p:spPr>
        </p:cxnSp>
        <p:cxnSp>
          <p:nvCxnSpPr>
            <p:cNvPr id="393" name="Google Shape;393;g12196808087_0_466"/>
            <p:cNvCxnSpPr/>
            <p:nvPr/>
          </p:nvCxnSpPr>
          <p:spPr>
            <a:xfrm flipH="1" rot="10800000">
              <a:off x="7146319" y="2542466"/>
              <a:ext cx="1101600" cy="870000"/>
            </a:xfrm>
            <a:prstGeom prst="straightConnector1">
              <a:avLst/>
            </a:prstGeom>
            <a:noFill/>
            <a:ln cap="flat" cmpd="sng" w="76200">
              <a:solidFill>
                <a:srgbClr val="0000FF"/>
              </a:solidFill>
              <a:prstDash val="solid"/>
              <a:miter lim="800000"/>
              <a:headEnd len="sm" w="sm" type="none"/>
              <a:tailEnd len="med" w="med" type="triangle"/>
            </a:ln>
          </p:spPr>
        </p:cxnSp>
        <p:cxnSp>
          <p:nvCxnSpPr>
            <p:cNvPr id="394" name="Google Shape;394;g12196808087_0_466"/>
            <p:cNvCxnSpPr/>
            <p:nvPr/>
          </p:nvCxnSpPr>
          <p:spPr>
            <a:xfrm flipH="1" rot="-5820418">
              <a:off x="9665573" y="2542375"/>
              <a:ext cx="1101728" cy="870168"/>
            </a:xfrm>
            <a:prstGeom prst="straightConnector1">
              <a:avLst/>
            </a:prstGeom>
            <a:noFill/>
            <a:ln cap="flat" cmpd="sng" w="76200">
              <a:solidFill>
                <a:srgbClr val="00FF00"/>
              </a:solidFill>
              <a:prstDash val="solid"/>
              <a:miter lim="800000"/>
              <a:headEnd len="sm" w="sm" type="none"/>
              <a:tailEnd len="med" w="med" type="triangle"/>
            </a:ln>
          </p:spPr>
        </p:cxnSp>
        <p:cxnSp>
          <p:nvCxnSpPr>
            <p:cNvPr id="395" name="Google Shape;395;g12196808087_0_466"/>
            <p:cNvCxnSpPr/>
            <p:nvPr/>
          </p:nvCxnSpPr>
          <p:spPr>
            <a:xfrm flipH="1" rot="-5820418">
              <a:off x="9745030" y="2481941"/>
              <a:ext cx="1101728" cy="870168"/>
            </a:xfrm>
            <a:prstGeom prst="straightConnector1">
              <a:avLst/>
            </a:prstGeom>
            <a:noFill/>
            <a:ln cap="flat" cmpd="sng" w="76200">
              <a:solidFill>
                <a:srgbClr val="00FF00"/>
              </a:solidFill>
              <a:prstDash val="solid"/>
              <a:miter lim="800000"/>
              <a:headEnd len="sm" w="sm" type="none"/>
              <a:tailEnd len="med" w="med" type="triangle"/>
            </a:ln>
          </p:spPr>
        </p:cxnSp>
        <p:cxnSp>
          <p:nvCxnSpPr>
            <p:cNvPr id="396" name="Google Shape;396;g12196808087_0_466"/>
            <p:cNvCxnSpPr/>
            <p:nvPr/>
          </p:nvCxnSpPr>
          <p:spPr>
            <a:xfrm flipH="1" rot="-5820418">
              <a:off x="9586119" y="2610180"/>
              <a:ext cx="1101728" cy="870168"/>
            </a:xfrm>
            <a:prstGeom prst="straightConnector1">
              <a:avLst/>
            </a:prstGeom>
            <a:noFill/>
            <a:ln cap="flat" cmpd="sng" w="76200">
              <a:solidFill>
                <a:srgbClr val="00FF00"/>
              </a:solidFill>
              <a:prstDash val="solid"/>
              <a:miter lim="800000"/>
              <a:headEnd len="sm" w="sm" type="none"/>
              <a:tailEnd len="med" w="med" type="triangle"/>
            </a:ln>
          </p:spPr>
        </p:cxnSp>
        <p:sp>
          <p:nvSpPr>
            <p:cNvPr id="397" name="Google Shape;397;g12196808087_0_466"/>
            <p:cNvSpPr txBox="1"/>
            <p:nvPr/>
          </p:nvSpPr>
          <p:spPr>
            <a:xfrm rot="-2370921">
              <a:off x="7002907" y="2611102"/>
              <a:ext cx="727976" cy="3077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Times New Roman"/>
                  <a:ea typeface="Times New Roman"/>
                  <a:cs typeface="Times New Roman"/>
                  <a:sym typeface="Times New Roman"/>
                </a:rPr>
                <a:t>488 nm</a:t>
              </a:r>
              <a:endParaRPr b="0" i="0" sz="1400" u="none" cap="none" strike="noStrike">
                <a:solidFill>
                  <a:srgbClr val="000000"/>
                </a:solidFill>
                <a:latin typeface="Arial"/>
                <a:ea typeface="Arial"/>
                <a:cs typeface="Arial"/>
                <a:sym typeface="Arial"/>
              </a:endParaRPr>
            </a:p>
          </p:txBody>
        </p:sp>
        <p:sp>
          <p:nvSpPr>
            <p:cNvPr id="398" name="Google Shape;398;g12196808087_0_466"/>
            <p:cNvSpPr txBox="1"/>
            <p:nvPr/>
          </p:nvSpPr>
          <p:spPr>
            <a:xfrm rot="2581780">
              <a:off x="10007756" y="2630763"/>
              <a:ext cx="728043" cy="3077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Times New Roman"/>
                  <a:ea typeface="Times New Roman"/>
                  <a:cs typeface="Times New Roman"/>
                  <a:sym typeface="Times New Roman"/>
                </a:rPr>
                <a:t>510 nm</a:t>
              </a:r>
              <a:endParaRPr b="0" i="0" sz="1400" u="none" cap="none" strike="noStrike">
                <a:solidFill>
                  <a:srgbClr val="000000"/>
                </a:solidFill>
                <a:latin typeface="Arial"/>
                <a:ea typeface="Arial"/>
                <a:cs typeface="Arial"/>
                <a:sym typeface="Arial"/>
              </a:endParaRPr>
            </a:p>
          </p:txBody>
        </p:sp>
        <p:sp>
          <p:nvSpPr>
            <p:cNvPr id="399" name="Google Shape;399;g12196808087_0_466"/>
            <p:cNvSpPr txBox="1"/>
            <p:nvPr/>
          </p:nvSpPr>
          <p:spPr>
            <a:xfrm>
              <a:off x="8145921" y="905227"/>
              <a:ext cx="2728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Green Fluorescence Protein (GFP)</a:t>
              </a:r>
              <a:endParaRPr b="1" i="0" sz="1800" u="none" cap="none" strike="noStrike">
                <a:solidFill>
                  <a:schemeClr val="dk1"/>
                </a:solidFill>
                <a:latin typeface="Times New Roman"/>
                <a:ea typeface="Times New Roman"/>
                <a:cs typeface="Times New Roman"/>
                <a:sym typeface="Times New Roman"/>
              </a:endParaRPr>
            </a:p>
          </p:txBody>
        </p:sp>
      </p:grpSp>
      <p:pic>
        <p:nvPicPr>
          <p:cNvPr id="400" name="Google Shape;400;g12196808087_0_466"/>
          <p:cNvPicPr preferRelativeResize="0"/>
          <p:nvPr/>
        </p:nvPicPr>
        <p:blipFill rotWithShape="1">
          <a:blip r:embed="rId5">
            <a:alphaModFix/>
          </a:blip>
          <a:srcRect b="0" l="39824" r="0" t="0"/>
          <a:stretch/>
        </p:blipFill>
        <p:spPr>
          <a:xfrm>
            <a:off x="9758702" y="5037217"/>
            <a:ext cx="1452342" cy="1776081"/>
          </a:xfrm>
          <a:prstGeom prst="rect">
            <a:avLst/>
          </a:prstGeom>
          <a:noFill/>
          <a:ln>
            <a:noFill/>
          </a:ln>
        </p:spPr>
      </p:pic>
      <p:pic>
        <p:nvPicPr>
          <p:cNvPr id="401" name="Google Shape;401;g12196808087_0_466"/>
          <p:cNvPicPr preferRelativeResize="0"/>
          <p:nvPr/>
        </p:nvPicPr>
        <p:blipFill rotWithShape="1">
          <a:blip r:embed="rId6">
            <a:alphaModFix/>
          </a:blip>
          <a:srcRect b="0" l="0" r="0" t="0"/>
          <a:stretch/>
        </p:blipFill>
        <p:spPr>
          <a:xfrm>
            <a:off x="7587511" y="3428391"/>
            <a:ext cx="3292741" cy="1479348"/>
          </a:xfrm>
          <a:prstGeom prst="rect">
            <a:avLst/>
          </a:prstGeom>
          <a:noFill/>
          <a:ln>
            <a:noFill/>
          </a:ln>
        </p:spPr>
      </p:pic>
      <p:pic>
        <p:nvPicPr>
          <p:cNvPr id="402" name="Google Shape;402;g12196808087_0_466"/>
          <p:cNvPicPr preferRelativeResize="0"/>
          <p:nvPr/>
        </p:nvPicPr>
        <p:blipFill rotWithShape="1">
          <a:blip r:embed="rId7">
            <a:alphaModFix/>
          </a:blip>
          <a:srcRect b="52293" l="3916" r="6877" t="27529"/>
          <a:stretch/>
        </p:blipFill>
        <p:spPr>
          <a:xfrm>
            <a:off x="2429025" y="5096262"/>
            <a:ext cx="4493575" cy="1710937"/>
          </a:xfrm>
          <a:prstGeom prst="rect">
            <a:avLst/>
          </a:prstGeom>
          <a:noFill/>
          <a:ln>
            <a:noFill/>
          </a:ln>
        </p:spPr>
      </p:pic>
      <p:sp>
        <p:nvSpPr>
          <p:cNvPr id="403" name="Google Shape;403;g12196808087_0_466"/>
          <p:cNvSpPr txBox="1"/>
          <p:nvPr/>
        </p:nvSpPr>
        <p:spPr>
          <a:xfrm>
            <a:off x="2560650" y="4672125"/>
            <a:ext cx="4703400" cy="36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dk1"/>
                </a:solidFill>
                <a:latin typeface="Times New Roman"/>
                <a:ea typeface="Times New Roman"/>
                <a:cs typeface="Times New Roman"/>
                <a:sym typeface="Times New Roman"/>
              </a:rPr>
              <a:t>Yeast cells </a:t>
            </a:r>
            <a:r>
              <a:rPr lang="en-US" sz="1800">
                <a:solidFill>
                  <a:schemeClr val="dk1"/>
                </a:solidFill>
                <a:latin typeface="Times New Roman"/>
                <a:ea typeface="Times New Roman"/>
                <a:cs typeface="Times New Roman"/>
                <a:sym typeface="Times New Roman"/>
              </a:rPr>
              <a:t>expressing</a:t>
            </a:r>
            <a:r>
              <a:rPr lang="en-US" sz="1800">
                <a:solidFill>
                  <a:schemeClr val="dk1"/>
                </a:solidFill>
                <a:latin typeface="Times New Roman"/>
                <a:ea typeface="Times New Roman"/>
                <a:cs typeface="Times New Roman"/>
                <a:sym typeface="Times New Roman"/>
              </a:rPr>
              <a:t> GFP labelled protein</a:t>
            </a:r>
            <a:endParaRPr sz="18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g3157d447c70_0_24"/>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Times New Roman"/>
                <a:ea typeface="Times New Roman"/>
                <a:cs typeface="Times New Roman"/>
                <a:sym typeface="Times New Roman"/>
              </a:rPr>
              <a:t>Protein engineering</a:t>
            </a:r>
            <a:r>
              <a:rPr b="1" lang="en-US" sz="2000">
                <a:solidFill>
                  <a:schemeClr val="lt1"/>
                </a:solidFill>
                <a:latin typeface="Times New Roman"/>
                <a:ea typeface="Times New Roman"/>
                <a:cs typeface="Times New Roman"/>
                <a:sym typeface="Times New Roman"/>
              </a:rPr>
              <a:t> to change the spectral and physical properties of GFP</a:t>
            </a:r>
            <a:endParaRPr b="1" sz="2000">
              <a:solidFill>
                <a:schemeClr val="lt1"/>
              </a:solidFill>
              <a:latin typeface="Times New Roman"/>
              <a:ea typeface="Times New Roman"/>
              <a:cs typeface="Times New Roman"/>
              <a:sym typeface="Times New Roman"/>
            </a:endParaRPr>
          </a:p>
        </p:txBody>
      </p:sp>
      <p:sp>
        <p:nvSpPr>
          <p:cNvPr id="410" name="Google Shape;410;g3157d447c70_0_24"/>
          <p:cNvSpPr txBox="1"/>
          <p:nvPr/>
        </p:nvSpPr>
        <p:spPr>
          <a:xfrm>
            <a:off x="502920" y="370350"/>
            <a:ext cx="11384400" cy="5356500"/>
          </a:xfrm>
          <a:prstGeom prst="rect">
            <a:avLst/>
          </a:prstGeom>
          <a:noFill/>
          <a:ln>
            <a:noFill/>
          </a:ln>
        </p:spPr>
        <p:txBody>
          <a:bodyPr anchorCtr="0" anchor="t" bIns="45700" lIns="91425" spcFirstLastPara="1" rIns="91425" wrap="square" tIns="45700">
            <a:spAutoFit/>
          </a:bodyPr>
          <a:lstStyle/>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Times New Roman"/>
                <a:ea typeface="Times New Roman"/>
                <a:cs typeface="Times New Roman"/>
                <a:sym typeface="Times New Roman"/>
              </a:rPr>
              <a:t>EGFP: </a:t>
            </a:r>
            <a:r>
              <a:rPr lang="en-US" sz="1800">
                <a:solidFill>
                  <a:schemeClr val="dk1"/>
                </a:solidFill>
                <a:latin typeface="Times New Roman"/>
                <a:ea typeface="Times New Roman"/>
                <a:cs typeface="Times New Roman"/>
                <a:sym typeface="Times New Roman"/>
              </a:rPr>
              <a:t>S65T mutation leads to five times brighter GFP than original GFP. Ex: 488 nm, Em: 510 nm</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Times New Roman"/>
                <a:ea typeface="Times New Roman"/>
                <a:cs typeface="Times New Roman"/>
                <a:sym typeface="Times New Roman"/>
              </a:rPr>
              <a:t>Sapphire:</a:t>
            </a:r>
            <a:r>
              <a:rPr lang="en-US" sz="1800">
                <a:solidFill>
                  <a:schemeClr val="dk1"/>
                </a:solidFill>
                <a:latin typeface="Times New Roman"/>
                <a:ea typeface="Times New Roman"/>
                <a:cs typeface="Times New Roman"/>
                <a:sym typeface="Times New Roman"/>
              </a:rPr>
              <a:t> T203I mutation leads to change in excitation and emission. Ex: 399 nm, Em: 511 nm. </a:t>
            </a:r>
            <a:endParaRPr sz="1800">
              <a:solidFill>
                <a:schemeClr val="dk1"/>
              </a:solidFill>
              <a:latin typeface="Times New Roman"/>
              <a:ea typeface="Times New Roman"/>
              <a:cs typeface="Times New Roman"/>
              <a:sym typeface="Times New Roman"/>
            </a:endParaRPr>
          </a:p>
          <a:p>
            <a:pPr indent="0" lvl="0" marL="45720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Times New Roman"/>
                <a:ea typeface="Times New Roman"/>
                <a:cs typeface="Times New Roman"/>
                <a:sym typeface="Times New Roman"/>
              </a:rPr>
              <a:t>BFP</a:t>
            </a:r>
            <a:r>
              <a:rPr lang="en-US" sz="1800">
                <a:solidFill>
                  <a:schemeClr val="dk1"/>
                </a:solidFill>
                <a:latin typeface="Times New Roman"/>
                <a:ea typeface="Times New Roman"/>
                <a:cs typeface="Times New Roman"/>
                <a:sym typeface="Times New Roman"/>
              </a:rPr>
              <a:t> (Blue Fluroescent Protein): Y66H, Ex: 380 nm, Em: 448 nm</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Times New Roman"/>
                <a:ea typeface="Times New Roman"/>
                <a:cs typeface="Times New Roman"/>
                <a:sym typeface="Times New Roman"/>
              </a:rPr>
              <a:t>CFP</a:t>
            </a:r>
            <a:r>
              <a:rPr lang="en-US" sz="1800">
                <a:solidFill>
                  <a:schemeClr val="dk1"/>
                </a:solidFill>
                <a:latin typeface="Times New Roman"/>
                <a:ea typeface="Times New Roman"/>
                <a:cs typeface="Times New Roman"/>
                <a:sym typeface="Times New Roman"/>
              </a:rPr>
              <a:t> (Cyan Fluorescent Protein): Y66W, Ex: 433/445 nm, Em: 475/503 nm </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Times New Roman"/>
                <a:ea typeface="Times New Roman"/>
                <a:cs typeface="Times New Roman"/>
                <a:sym typeface="Times New Roman"/>
              </a:rPr>
              <a:t>YFP</a:t>
            </a:r>
            <a:r>
              <a:rPr lang="en-US" sz="1800">
                <a:solidFill>
                  <a:schemeClr val="dk1"/>
                </a:solidFill>
                <a:latin typeface="Times New Roman"/>
                <a:ea typeface="Times New Roman"/>
                <a:cs typeface="Times New Roman"/>
                <a:sym typeface="Times New Roman"/>
              </a:rPr>
              <a:t> (Yellow Fluroescent Protein): T203Y, Ex: 514 nm, Em: 527 nm</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Times New Roman"/>
                <a:ea typeface="Times New Roman"/>
                <a:cs typeface="Times New Roman"/>
                <a:sym typeface="Times New Roman"/>
              </a:rPr>
              <a:t>GFP</a:t>
            </a:r>
            <a:r>
              <a:rPr lang="en-US" sz="1800">
                <a:solidFill>
                  <a:schemeClr val="dk1"/>
                </a:solidFill>
                <a:latin typeface="Times New Roman"/>
                <a:ea typeface="Times New Roman"/>
                <a:cs typeface="Times New Roman"/>
                <a:sym typeface="Times New Roman"/>
              </a:rPr>
              <a:t> and its variants covered the entire lower wavelength spectra of the visible light.</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1800"/>
              <a:buChar char="•"/>
            </a:pPr>
            <a:r>
              <a:rPr b="1" lang="en-US" sz="1800">
                <a:solidFill>
                  <a:schemeClr val="dk1"/>
                </a:solidFill>
                <a:latin typeface="Times New Roman"/>
                <a:ea typeface="Times New Roman"/>
                <a:cs typeface="Times New Roman"/>
                <a:sym typeface="Times New Roman"/>
              </a:rPr>
              <a:t>Red FPs are missing.</a:t>
            </a:r>
            <a:endParaRPr b="1"/>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Times New Roman"/>
              <a:ea typeface="Times New Roman"/>
              <a:cs typeface="Times New Roman"/>
              <a:sym typeface="Times New Roman"/>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Times New Roman"/>
              <a:ea typeface="Times New Roman"/>
              <a:cs typeface="Times New Roman"/>
              <a:sym typeface="Times New Roman"/>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Times New Roman"/>
              <a:ea typeface="Times New Roman"/>
              <a:cs typeface="Times New Roman"/>
              <a:sym typeface="Times New Roman"/>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Times New Roman"/>
              <a:ea typeface="Times New Roman"/>
              <a:cs typeface="Times New Roman"/>
              <a:sym typeface="Times New Roman"/>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Times New Roman"/>
              <a:ea typeface="Times New Roman"/>
              <a:cs typeface="Times New Roman"/>
              <a:sym typeface="Times New Roman"/>
            </a:endParaRPr>
          </a:p>
        </p:txBody>
      </p:sp>
      <p:pic>
        <p:nvPicPr>
          <p:cNvPr id="411" name="Google Shape;411;g3157d447c70_0_24"/>
          <p:cNvPicPr preferRelativeResize="0"/>
          <p:nvPr/>
        </p:nvPicPr>
        <p:blipFill rotWithShape="1">
          <a:blip r:embed="rId3">
            <a:alphaModFix/>
          </a:blip>
          <a:srcRect b="29001" l="0" r="970" t="27964"/>
          <a:stretch/>
        </p:blipFill>
        <p:spPr>
          <a:xfrm>
            <a:off x="3158833" y="5204258"/>
            <a:ext cx="7873340" cy="1178252"/>
          </a:xfrm>
          <a:prstGeom prst="rect">
            <a:avLst/>
          </a:prstGeom>
          <a:noFill/>
          <a:ln>
            <a:noFill/>
          </a:ln>
        </p:spPr>
      </p:pic>
      <p:sp>
        <p:nvSpPr>
          <p:cNvPr id="412" name="Google Shape;412;g3157d447c70_0_24"/>
          <p:cNvSpPr/>
          <p:nvPr/>
        </p:nvSpPr>
        <p:spPr>
          <a:xfrm>
            <a:off x="7148942" y="5104410"/>
            <a:ext cx="3883200" cy="1278000"/>
          </a:xfrm>
          <a:prstGeom prst="rect">
            <a:avLst/>
          </a:prstGeom>
          <a:solidFill>
            <a:srgbClr val="4472C4">
              <a:alpha val="49800"/>
            </a:srgbClr>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3" name="Google Shape;413;g3157d447c70_0_24"/>
          <p:cNvSpPr txBox="1"/>
          <p:nvPr/>
        </p:nvSpPr>
        <p:spPr>
          <a:xfrm>
            <a:off x="0" y="6462040"/>
            <a:ext cx="121920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u="sng">
                <a:solidFill>
                  <a:schemeClr val="dk1"/>
                </a:solidFill>
                <a:latin typeface="Times New Roman"/>
                <a:ea typeface="Times New Roman"/>
                <a:cs typeface="Times New Roman"/>
                <a:sym typeface="Times New Roman"/>
                <a:hlinkClick r:id="rId4">
                  <a:extLst>
                    <a:ext uri="{A12FA001-AC4F-418D-AE19-62706E023703}">
                      <ahyp:hlinkClr val="tx"/>
                    </a:ext>
                  </a:extLst>
                </a:hlinkClick>
              </a:rPr>
              <a:t>https://www.leica-microsystems.com/science-lab/fluorescent-proteins-introduction-and-photo-spectral-characteristics/</a:t>
            </a:r>
            <a:endParaRPr sz="1800">
              <a:solidFill>
                <a:schemeClr val="dk1"/>
              </a:solidFill>
              <a:latin typeface="Times New Roman"/>
              <a:ea typeface="Times New Roman"/>
              <a:cs typeface="Times New Roman"/>
              <a:sym typeface="Times New Roman"/>
            </a:endParaRPr>
          </a:p>
        </p:txBody>
      </p:sp>
      <p:pic>
        <p:nvPicPr>
          <p:cNvPr id="414" name="Google Shape;414;g3157d447c70_0_24"/>
          <p:cNvPicPr preferRelativeResize="0"/>
          <p:nvPr/>
        </p:nvPicPr>
        <p:blipFill rotWithShape="1">
          <a:blip r:embed="rId5">
            <a:alphaModFix/>
          </a:blip>
          <a:srcRect b="14444" l="57733" r="27032" t="41111"/>
          <a:stretch/>
        </p:blipFill>
        <p:spPr>
          <a:xfrm>
            <a:off x="9105900" y="2666999"/>
            <a:ext cx="2781298" cy="2282090"/>
          </a:xfrm>
          <a:prstGeom prst="rect">
            <a:avLst/>
          </a:prstGeom>
          <a:noFill/>
          <a:ln>
            <a:noFill/>
          </a:ln>
        </p:spPr>
      </p:pic>
      <p:sp>
        <p:nvSpPr>
          <p:cNvPr id="415" name="Google Shape;415;g3157d447c70_0_24"/>
          <p:cNvSpPr txBox="1"/>
          <p:nvPr/>
        </p:nvSpPr>
        <p:spPr>
          <a:xfrm>
            <a:off x="8851035" y="2406822"/>
            <a:ext cx="32910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Times New Roman"/>
                <a:ea typeface="Times New Roman"/>
                <a:cs typeface="Times New Roman"/>
                <a:sym typeface="Times New Roman"/>
              </a:rPr>
              <a:t>Colors of GFP mutants expressed in </a:t>
            </a:r>
            <a:r>
              <a:rPr i="1" lang="en-US" sz="1400">
                <a:solidFill>
                  <a:schemeClr val="dk1"/>
                </a:solidFill>
                <a:latin typeface="Times New Roman"/>
                <a:ea typeface="Times New Roman"/>
                <a:cs typeface="Times New Roman"/>
                <a:sym typeface="Times New Roman"/>
              </a:rPr>
              <a:t>E. coli</a:t>
            </a:r>
            <a:endParaRPr i="1" sz="1400">
              <a:solidFill>
                <a:schemeClr val="dk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pic>
        <p:nvPicPr>
          <p:cNvPr id="421" name="Google Shape;421;g3157d447c70_0_35"/>
          <p:cNvPicPr preferRelativeResize="0"/>
          <p:nvPr/>
        </p:nvPicPr>
        <p:blipFill>
          <a:blip r:embed="rId3">
            <a:alphaModFix/>
          </a:blip>
          <a:stretch>
            <a:fillRect/>
          </a:stretch>
        </p:blipFill>
        <p:spPr>
          <a:xfrm>
            <a:off x="3319906" y="0"/>
            <a:ext cx="5552190" cy="685800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g3157d447c70_0_115"/>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Times New Roman"/>
                <a:ea typeface="Times New Roman"/>
                <a:cs typeface="Times New Roman"/>
                <a:sym typeface="Times New Roman"/>
              </a:rPr>
              <a:t>Fluorescent Proteins from Anthozoa (Red spectrum)</a:t>
            </a:r>
            <a:endParaRPr b="1" sz="2000">
              <a:solidFill>
                <a:schemeClr val="lt1"/>
              </a:solidFill>
              <a:latin typeface="Times New Roman"/>
              <a:ea typeface="Times New Roman"/>
              <a:cs typeface="Times New Roman"/>
              <a:sym typeface="Times New Roman"/>
            </a:endParaRPr>
          </a:p>
        </p:txBody>
      </p:sp>
      <p:sp>
        <p:nvSpPr>
          <p:cNvPr id="427" name="Google Shape;427;g3157d447c70_0_115"/>
          <p:cNvSpPr txBox="1"/>
          <p:nvPr/>
        </p:nvSpPr>
        <p:spPr>
          <a:xfrm>
            <a:off x="502920" y="370350"/>
            <a:ext cx="9643500" cy="563370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Russian scientist Sergey Kukyanov discovered Red Fluorescent Protein (RFP) in </a:t>
            </a:r>
            <a:r>
              <a:rPr b="1" lang="en-US" sz="1800">
                <a:solidFill>
                  <a:schemeClr val="dk1"/>
                </a:solidFill>
                <a:latin typeface="Times New Roman"/>
                <a:ea typeface="Times New Roman"/>
                <a:cs typeface="Times New Roman"/>
                <a:sym typeface="Times New Roman"/>
              </a:rPr>
              <a:t>Anthozoa</a:t>
            </a:r>
            <a:r>
              <a:rPr lang="en-US" sz="1800">
                <a:solidFill>
                  <a:schemeClr val="dk1"/>
                </a:solidFill>
                <a:latin typeface="Times New Roman"/>
                <a:ea typeface="Times New Roman"/>
                <a:cs typeface="Times New Roman"/>
                <a:sym typeface="Times New Roman"/>
              </a:rPr>
              <a:t>.</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Times New Roman"/>
                <a:ea typeface="Times New Roman"/>
                <a:cs typeface="Times New Roman"/>
                <a:sym typeface="Times New Roman"/>
              </a:rPr>
              <a:t>DsRed: </a:t>
            </a:r>
            <a:r>
              <a:rPr lang="en-US" sz="1800">
                <a:solidFill>
                  <a:schemeClr val="dk1"/>
                </a:solidFill>
                <a:latin typeface="Times New Roman"/>
                <a:ea typeface="Times New Roman"/>
                <a:cs typeface="Times New Roman"/>
                <a:sym typeface="Times New Roman"/>
              </a:rPr>
              <a:t>Ex: 558, Em: 583. </a:t>
            </a:r>
            <a:endParaRPr sz="1800">
              <a:solidFill>
                <a:schemeClr val="dk1"/>
              </a:solidFill>
              <a:latin typeface="Times New Roman"/>
              <a:ea typeface="Times New Roman"/>
              <a:cs typeface="Times New Roman"/>
              <a:sym typeface="Times New Roman"/>
            </a:endParaRPr>
          </a:p>
          <a:p>
            <a:pPr indent="0" lvl="0" marL="45720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Times New Roman"/>
                <a:ea typeface="Times New Roman"/>
                <a:cs typeface="Times New Roman"/>
                <a:sym typeface="Times New Roman"/>
              </a:rPr>
              <a:t>DsRed2: </a:t>
            </a:r>
            <a:r>
              <a:rPr lang="en-US" sz="1800">
                <a:solidFill>
                  <a:schemeClr val="dk1"/>
                </a:solidFill>
                <a:latin typeface="Times New Roman"/>
                <a:ea typeface="Times New Roman"/>
                <a:cs typeface="Times New Roman"/>
                <a:sym typeface="Times New Roman"/>
              </a:rPr>
              <a:t>Faster maturation and reduced oligomerization.</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Times New Roman"/>
                <a:ea typeface="Times New Roman"/>
                <a:cs typeface="Times New Roman"/>
                <a:sym typeface="Times New Roman"/>
              </a:rPr>
              <a:t>mRFP1:</a:t>
            </a:r>
            <a:r>
              <a:rPr lang="en-US" sz="1800">
                <a:solidFill>
                  <a:schemeClr val="dk1"/>
                </a:solidFill>
                <a:latin typeface="Times New Roman"/>
                <a:ea typeface="Times New Roman"/>
                <a:cs typeface="Times New Roman"/>
                <a:sym typeface="Times New Roman"/>
              </a:rPr>
              <a:t> first monomeric RFP</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Further genetic manipulations to mRFP1 leads to six mFruit FPs (mHoneydew, mBanana, mOrange, mTangerine, mStrawberry, mCherry).</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Times New Roman"/>
                <a:ea typeface="Times New Roman"/>
                <a:cs typeface="Times New Roman"/>
                <a:sym typeface="Times New Roman"/>
              </a:rPr>
              <a:t>mCherry</a:t>
            </a:r>
            <a:r>
              <a:rPr lang="en-US" sz="1800">
                <a:solidFill>
                  <a:schemeClr val="dk1"/>
                </a:solidFill>
                <a:latin typeface="Times New Roman"/>
                <a:ea typeface="Times New Roman"/>
                <a:cs typeface="Times New Roman"/>
                <a:sym typeface="Times New Roman"/>
              </a:rPr>
              <a:t> is widely used: Em: 610 nm, brightness 50% of EGFP</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Times New Roman"/>
                <a:ea typeface="Times New Roman"/>
                <a:cs typeface="Times New Roman"/>
                <a:sym typeface="Times New Roman"/>
              </a:rPr>
              <a:t>mPlum:</a:t>
            </a:r>
            <a:r>
              <a:rPr lang="en-US" sz="1800">
                <a:solidFill>
                  <a:schemeClr val="dk1"/>
                </a:solidFill>
                <a:latin typeface="Times New Roman"/>
                <a:ea typeface="Times New Roman"/>
                <a:cs typeface="Times New Roman"/>
                <a:sym typeface="Times New Roman"/>
              </a:rPr>
              <a:t> Em: 649 nm (Red FP with highest emission wavelength)</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Times New Roman"/>
                <a:ea typeface="Times New Roman"/>
                <a:cs typeface="Times New Roman"/>
                <a:sym typeface="Times New Roman"/>
              </a:rPr>
              <a:t>mKate2:</a:t>
            </a:r>
            <a:r>
              <a:rPr lang="en-US" sz="1800">
                <a:solidFill>
                  <a:schemeClr val="dk1"/>
                </a:solidFill>
                <a:latin typeface="Times New Roman"/>
                <a:ea typeface="Times New Roman"/>
                <a:cs typeface="Times New Roman"/>
                <a:sym typeface="Times New Roman"/>
              </a:rPr>
              <a:t> Em: 635 nm (Brightest Red FP)</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Times New Roman"/>
              <a:ea typeface="Times New Roman"/>
              <a:cs typeface="Times New Roman"/>
              <a:sym typeface="Times New Roman"/>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Times New Roman"/>
              <a:ea typeface="Times New Roman"/>
              <a:cs typeface="Times New Roman"/>
              <a:sym typeface="Times New Roman"/>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Times New Roman"/>
              <a:ea typeface="Times New Roman"/>
              <a:cs typeface="Times New Roman"/>
              <a:sym typeface="Times New Roman"/>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Times New Roman"/>
              <a:ea typeface="Times New Roman"/>
              <a:cs typeface="Times New Roman"/>
              <a:sym typeface="Times New Roman"/>
            </a:endParaRPr>
          </a:p>
        </p:txBody>
      </p:sp>
      <p:pic>
        <p:nvPicPr>
          <p:cNvPr id="428" name="Google Shape;428;g3157d447c70_0_115"/>
          <p:cNvPicPr preferRelativeResize="0"/>
          <p:nvPr/>
        </p:nvPicPr>
        <p:blipFill rotWithShape="1">
          <a:blip r:embed="rId3">
            <a:alphaModFix/>
          </a:blip>
          <a:srcRect b="0" l="0" r="0" t="0"/>
          <a:stretch/>
        </p:blipFill>
        <p:spPr>
          <a:xfrm>
            <a:off x="10059272" y="419555"/>
            <a:ext cx="1637200" cy="2160362"/>
          </a:xfrm>
          <a:prstGeom prst="rect">
            <a:avLst/>
          </a:prstGeom>
          <a:noFill/>
          <a:ln>
            <a:noFill/>
          </a:ln>
        </p:spPr>
      </p:pic>
      <p:pic>
        <p:nvPicPr>
          <p:cNvPr id="429" name="Google Shape;429;g3157d447c70_0_115"/>
          <p:cNvPicPr preferRelativeResize="0"/>
          <p:nvPr>
            <p:ph idx="1" type="body"/>
          </p:nvPr>
        </p:nvPicPr>
        <p:blipFill rotWithShape="1">
          <a:blip r:embed="rId4">
            <a:alphaModFix/>
          </a:blip>
          <a:srcRect b="0" l="0" r="0" t="0"/>
          <a:stretch/>
        </p:blipFill>
        <p:spPr>
          <a:xfrm>
            <a:off x="9568543" y="2614155"/>
            <a:ext cx="2505300" cy="2446800"/>
          </a:xfrm>
          <a:prstGeom prst="rect">
            <a:avLst/>
          </a:prstGeom>
          <a:noFill/>
          <a:ln>
            <a:noFill/>
          </a:ln>
        </p:spPr>
      </p:pic>
      <p:sp>
        <p:nvSpPr>
          <p:cNvPr id="430" name="Google Shape;430;g3157d447c70_0_115"/>
          <p:cNvSpPr txBox="1"/>
          <p:nvPr/>
        </p:nvSpPr>
        <p:spPr>
          <a:xfrm>
            <a:off x="9290469" y="5039145"/>
            <a:ext cx="2857500" cy="11697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400">
                <a:solidFill>
                  <a:schemeClr val="dk1"/>
                </a:solidFill>
                <a:latin typeface="Times New Roman"/>
                <a:ea typeface="Times New Roman"/>
                <a:cs typeface="Times New Roman"/>
                <a:sym typeface="Times New Roman"/>
              </a:rPr>
              <a:t>The diversity of genetic mutations is illustrated by living bacteria expressing 8 different colors of fluorescent proteins (derived from GFP and dsRed).</a:t>
            </a:r>
            <a:endParaRPr sz="1400">
              <a:solidFill>
                <a:schemeClr val="dk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pic>
        <p:nvPicPr>
          <p:cNvPr descr="https://www.laserglow.com/newsite/image/november-banner15.jpg" id="435" name="Google Shape;435;g3157d447c70_0_124"/>
          <p:cNvPicPr preferRelativeResize="0"/>
          <p:nvPr/>
        </p:nvPicPr>
        <p:blipFill rotWithShape="1">
          <a:blip r:embed="rId3">
            <a:alphaModFix/>
          </a:blip>
          <a:srcRect b="0" l="0" r="0" t="0"/>
          <a:stretch/>
        </p:blipFill>
        <p:spPr>
          <a:xfrm>
            <a:off x="751699" y="-1"/>
            <a:ext cx="10607300" cy="66965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pic>
        <p:nvPicPr>
          <p:cNvPr id="440" name="Google Shape;440;g12196808087_0_659"/>
          <p:cNvPicPr preferRelativeResize="0"/>
          <p:nvPr/>
        </p:nvPicPr>
        <p:blipFill rotWithShape="1">
          <a:blip r:embed="rId3">
            <a:alphaModFix/>
          </a:blip>
          <a:srcRect b="0" l="0" r="0" t="0"/>
          <a:stretch/>
        </p:blipFill>
        <p:spPr>
          <a:xfrm>
            <a:off x="-20466" y="0"/>
            <a:ext cx="9316143" cy="6762750"/>
          </a:xfrm>
          <a:prstGeom prst="rect">
            <a:avLst/>
          </a:prstGeom>
          <a:noFill/>
          <a:ln>
            <a:noFill/>
          </a:ln>
        </p:spPr>
      </p:pic>
      <p:pic>
        <p:nvPicPr>
          <p:cNvPr id="441" name="Google Shape;441;g12196808087_0_659"/>
          <p:cNvPicPr preferRelativeResize="0"/>
          <p:nvPr/>
        </p:nvPicPr>
        <p:blipFill>
          <a:blip r:embed="rId4">
            <a:alphaModFix/>
          </a:blip>
          <a:stretch>
            <a:fillRect/>
          </a:stretch>
        </p:blipFill>
        <p:spPr>
          <a:xfrm>
            <a:off x="8868425" y="1653475"/>
            <a:ext cx="3189876" cy="4508649"/>
          </a:xfrm>
          <a:prstGeom prst="rect">
            <a:avLst/>
          </a:prstGeom>
          <a:noFill/>
          <a:ln>
            <a:noFill/>
          </a:ln>
        </p:spPr>
      </p:pic>
      <p:sp>
        <p:nvSpPr>
          <p:cNvPr id="442" name="Google Shape;442;g12196808087_0_659"/>
          <p:cNvSpPr txBox="1"/>
          <p:nvPr/>
        </p:nvSpPr>
        <p:spPr>
          <a:xfrm>
            <a:off x="8868425" y="871750"/>
            <a:ext cx="3189900" cy="55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Blue</a:t>
            </a:r>
            <a:r>
              <a:rPr lang="en-US">
                <a:solidFill>
                  <a:schemeClr val="dk1"/>
                </a:solidFill>
                <a:latin typeface="Times New Roman"/>
                <a:ea typeface="Times New Roman"/>
                <a:cs typeface="Times New Roman"/>
                <a:sym typeface="Times New Roman"/>
              </a:rPr>
              <a:t>: DAPI stained cell nucleus</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a:solidFill>
                  <a:srgbClr val="00FF00"/>
                </a:solidFill>
                <a:latin typeface="Times New Roman"/>
                <a:ea typeface="Times New Roman"/>
                <a:cs typeface="Times New Roman"/>
                <a:sym typeface="Times New Roman"/>
              </a:rPr>
              <a:t>Green:</a:t>
            </a:r>
            <a:r>
              <a:rPr lang="en-US">
                <a:solidFill>
                  <a:schemeClr val="dk1"/>
                </a:solidFill>
                <a:latin typeface="Times New Roman"/>
                <a:ea typeface="Times New Roman"/>
                <a:cs typeface="Times New Roman"/>
                <a:sym typeface="Times New Roman"/>
              </a:rPr>
              <a:t> GFP labelled tubulin protein</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a:solidFill>
                  <a:srgbClr val="FF0000"/>
                </a:solidFill>
                <a:latin typeface="Times New Roman"/>
                <a:ea typeface="Times New Roman"/>
                <a:cs typeface="Times New Roman"/>
                <a:sym typeface="Times New Roman"/>
              </a:rPr>
              <a:t>Red:</a:t>
            </a:r>
            <a:r>
              <a:rPr lang="en-US">
                <a:solidFill>
                  <a:schemeClr val="dk1"/>
                </a:solidFill>
                <a:latin typeface="Times New Roman"/>
                <a:ea typeface="Times New Roman"/>
                <a:cs typeface="Times New Roman"/>
                <a:sym typeface="Times New Roman"/>
              </a:rPr>
              <a:t> RFP labelled actin protein</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cxnSp>
        <p:nvCxnSpPr>
          <p:cNvPr id="447" name="Google Shape;447;g12196808087_0_738"/>
          <p:cNvCxnSpPr/>
          <p:nvPr/>
        </p:nvCxnSpPr>
        <p:spPr>
          <a:xfrm>
            <a:off x="936172" y="1257300"/>
            <a:ext cx="2952900" cy="0"/>
          </a:xfrm>
          <a:prstGeom prst="straightConnector1">
            <a:avLst/>
          </a:prstGeom>
          <a:noFill/>
          <a:ln cap="flat" cmpd="sng" w="19050">
            <a:solidFill>
              <a:schemeClr val="dk1"/>
            </a:solidFill>
            <a:prstDash val="solid"/>
            <a:miter lim="800000"/>
            <a:headEnd len="sm" w="sm" type="none"/>
            <a:tailEnd len="sm" w="sm" type="none"/>
          </a:ln>
        </p:spPr>
      </p:cxnSp>
      <p:sp>
        <p:nvSpPr>
          <p:cNvPr id="448" name="Google Shape;448;g12196808087_0_738"/>
          <p:cNvSpPr txBox="1"/>
          <p:nvPr>
            <p:ph idx="1" type="body"/>
          </p:nvPr>
        </p:nvSpPr>
        <p:spPr>
          <a:xfrm>
            <a:off x="361950" y="587374"/>
            <a:ext cx="11373000" cy="60420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lang="en-US" sz="2000">
                <a:latin typeface="Times New Roman"/>
                <a:ea typeface="Times New Roman"/>
                <a:cs typeface="Times New Roman"/>
                <a:sym typeface="Times New Roman"/>
              </a:rPr>
              <a:t>Genetic encoding: C-terminal or N-terminal fusion of a gene of interest with a gene of fluorescent protein.</a:t>
            </a:r>
            <a:endParaRPr/>
          </a:p>
          <a:p>
            <a:pPr indent="-101600" lvl="0" marL="228600" rtl="0" algn="l">
              <a:lnSpc>
                <a:spcPct val="90000"/>
              </a:lnSpc>
              <a:spcBef>
                <a:spcPts val="1000"/>
              </a:spcBef>
              <a:spcAft>
                <a:spcPts val="0"/>
              </a:spcAft>
              <a:buClr>
                <a:schemeClr val="dk1"/>
              </a:buClr>
              <a:buSzPts val="2000"/>
              <a:buNone/>
            </a:pPr>
            <a:r>
              <a:t/>
            </a:r>
            <a:endParaRPr sz="2000">
              <a:latin typeface="Times New Roman"/>
              <a:ea typeface="Times New Roman"/>
              <a:cs typeface="Times New Roman"/>
              <a:sym typeface="Times New Roman"/>
            </a:endParaRPr>
          </a:p>
          <a:p>
            <a:pPr indent="-101600" lvl="0" marL="228600" rtl="0" algn="l">
              <a:lnSpc>
                <a:spcPct val="90000"/>
              </a:lnSpc>
              <a:spcBef>
                <a:spcPts val="1000"/>
              </a:spcBef>
              <a:spcAft>
                <a:spcPts val="0"/>
              </a:spcAft>
              <a:buClr>
                <a:schemeClr val="dk1"/>
              </a:buClr>
              <a:buSzPts val="2000"/>
              <a:buNone/>
            </a:pPr>
            <a:r>
              <a:t/>
            </a:r>
            <a:endParaRPr sz="2000">
              <a:latin typeface="Times New Roman"/>
              <a:ea typeface="Times New Roman"/>
              <a:cs typeface="Times New Roman"/>
              <a:sym typeface="Times New Roman"/>
            </a:endParaRPr>
          </a:p>
          <a:p>
            <a:pPr indent="-101600" lvl="0" marL="228600" rtl="0" algn="l">
              <a:lnSpc>
                <a:spcPct val="90000"/>
              </a:lnSpc>
              <a:spcBef>
                <a:spcPts val="1000"/>
              </a:spcBef>
              <a:spcAft>
                <a:spcPts val="0"/>
              </a:spcAft>
              <a:buClr>
                <a:schemeClr val="dk1"/>
              </a:buClr>
              <a:buSzPts val="2000"/>
              <a:buNone/>
            </a:pPr>
            <a:r>
              <a:t/>
            </a:r>
            <a:endParaRPr sz="20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000"/>
              <a:buChar char="•"/>
            </a:pPr>
            <a:r>
              <a:rPr lang="en-US" sz="2000">
                <a:latin typeface="Times New Roman"/>
                <a:ea typeface="Times New Roman"/>
                <a:cs typeface="Times New Roman"/>
                <a:sym typeface="Times New Roman"/>
              </a:rPr>
              <a:t>Antibody based detection:</a:t>
            </a:r>
            <a:endParaRPr/>
          </a:p>
          <a:p>
            <a:pPr indent="-101600" lvl="0" marL="228600" rtl="0" algn="l">
              <a:lnSpc>
                <a:spcPct val="90000"/>
              </a:lnSpc>
              <a:spcBef>
                <a:spcPts val="1000"/>
              </a:spcBef>
              <a:spcAft>
                <a:spcPts val="0"/>
              </a:spcAft>
              <a:buClr>
                <a:schemeClr val="dk1"/>
              </a:buClr>
              <a:buSzPts val="2000"/>
              <a:buNone/>
            </a:pPr>
            <a:r>
              <a:t/>
            </a:r>
            <a:endParaRPr sz="2000">
              <a:latin typeface="Times New Roman"/>
              <a:ea typeface="Times New Roman"/>
              <a:cs typeface="Times New Roman"/>
              <a:sym typeface="Times New Roman"/>
            </a:endParaRPr>
          </a:p>
          <a:p>
            <a:pPr indent="-101600" lvl="0" marL="228600" rtl="0" algn="l">
              <a:lnSpc>
                <a:spcPct val="90000"/>
              </a:lnSpc>
              <a:spcBef>
                <a:spcPts val="1000"/>
              </a:spcBef>
              <a:spcAft>
                <a:spcPts val="0"/>
              </a:spcAft>
              <a:buClr>
                <a:schemeClr val="dk1"/>
              </a:buClr>
              <a:buSzPts val="2000"/>
              <a:buNone/>
            </a:pPr>
            <a:r>
              <a:t/>
            </a:r>
            <a:endParaRPr sz="2000">
              <a:latin typeface="Times New Roman"/>
              <a:ea typeface="Times New Roman"/>
              <a:cs typeface="Times New Roman"/>
              <a:sym typeface="Times New Roman"/>
            </a:endParaRPr>
          </a:p>
          <a:p>
            <a:pPr indent="-101600" lvl="0" marL="228600" rtl="0" algn="l">
              <a:lnSpc>
                <a:spcPct val="90000"/>
              </a:lnSpc>
              <a:spcBef>
                <a:spcPts val="1000"/>
              </a:spcBef>
              <a:spcAft>
                <a:spcPts val="0"/>
              </a:spcAft>
              <a:buClr>
                <a:schemeClr val="dk1"/>
              </a:buClr>
              <a:buSzPts val="2000"/>
              <a:buNone/>
            </a:pPr>
            <a:r>
              <a:t/>
            </a:r>
            <a:endParaRPr sz="2000">
              <a:latin typeface="Times New Roman"/>
              <a:ea typeface="Times New Roman"/>
              <a:cs typeface="Times New Roman"/>
              <a:sym typeface="Times New Roman"/>
            </a:endParaRPr>
          </a:p>
          <a:p>
            <a:pPr indent="-101600" lvl="0" marL="228600" rtl="0" algn="l">
              <a:lnSpc>
                <a:spcPct val="90000"/>
              </a:lnSpc>
              <a:spcBef>
                <a:spcPts val="1000"/>
              </a:spcBef>
              <a:spcAft>
                <a:spcPts val="0"/>
              </a:spcAft>
              <a:buClr>
                <a:schemeClr val="dk1"/>
              </a:buClr>
              <a:buSzPts val="2000"/>
              <a:buNone/>
            </a:pPr>
            <a:r>
              <a:t/>
            </a:r>
            <a:endParaRPr sz="2000">
              <a:latin typeface="Times New Roman"/>
              <a:ea typeface="Times New Roman"/>
              <a:cs typeface="Times New Roman"/>
              <a:sym typeface="Times New Roman"/>
            </a:endParaRPr>
          </a:p>
          <a:p>
            <a:pPr indent="-101600" lvl="0" marL="228600" rtl="0" algn="l">
              <a:lnSpc>
                <a:spcPct val="90000"/>
              </a:lnSpc>
              <a:spcBef>
                <a:spcPts val="1000"/>
              </a:spcBef>
              <a:spcAft>
                <a:spcPts val="0"/>
              </a:spcAft>
              <a:buClr>
                <a:schemeClr val="dk1"/>
              </a:buClr>
              <a:buSzPts val="2000"/>
              <a:buNone/>
            </a:pPr>
            <a:r>
              <a:t/>
            </a:r>
            <a:endParaRPr sz="2000">
              <a:latin typeface="Times New Roman"/>
              <a:ea typeface="Times New Roman"/>
              <a:cs typeface="Times New Roman"/>
              <a:sym typeface="Times New Roman"/>
            </a:endParaRPr>
          </a:p>
          <a:p>
            <a:pPr indent="0" lvl="0" marL="0" rtl="0" algn="l">
              <a:lnSpc>
                <a:spcPct val="90000"/>
              </a:lnSpc>
              <a:spcBef>
                <a:spcPts val="1000"/>
              </a:spcBef>
              <a:spcAft>
                <a:spcPts val="0"/>
              </a:spcAft>
              <a:buNone/>
            </a:pPr>
            <a:r>
              <a:t/>
            </a:r>
            <a:endParaRPr sz="2000">
              <a:latin typeface="Times New Roman"/>
              <a:ea typeface="Times New Roman"/>
              <a:cs typeface="Times New Roman"/>
              <a:sym typeface="Times New Roman"/>
            </a:endParaRPr>
          </a:p>
        </p:txBody>
      </p:sp>
      <p:sp>
        <p:nvSpPr>
          <p:cNvPr id="449" name="Google Shape;449;g12196808087_0_738"/>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lang="en-US" sz="2000">
                <a:solidFill>
                  <a:schemeClr val="lt1"/>
                </a:solidFill>
                <a:latin typeface="Times New Roman"/>
                <a:ea typeface="Times New Roman"/>
                <a:cs typeface="Times New Roman"/>
                <a:sym typeface="Times New Roman"/>
              </a:rPr>
              <a:t>Strategies for labelling p</a:t>
            </a:r>
            <a:r>
              <a:rPr b="1" i="0" lang="en-US" sz="2000" u="none" cap="none" strike="noStrike">
                <a:solidFill>
                  <a:schemeClr val="lt1"/>
                </a:solidFill>
                <a:latin typeface="Times New Roman"/>
                <a:ea typeface="Times New Roman"/>
                <a:cs typeface="Times New Roman"/>
                <a:sym typeface="Times New Roman"/>
              </a:rPr>
              <a:t>roteins with fluorescence</a:t>
            </a:r>
            <a:endParaRPr b="1" i="0" sz="2000" u="none" cap="none" strike="noStrike">
              <a:solidFill>
                <a:schemeClr val="lt1"/>
              </a:solidFill>
              <a:latin typeface="Times New Roman"/>
              <a:ea typeface="Times New Roman"/>
              <a:cs typeface="Times New Roman"/>
              <a:sym typeface="Times New Roman"/>
            </a:endParaRPr>
          </a:p>
        </p:txBody>
      </p:sp>
      <p:sp>
        <p:nvSpPr>
          <p:cNvPr id="450" name="Google Shape;450;g12196808087_0_738"/>
          <p:cNvSpPr/>
          <p:nvPr/>
        </p:nvSpPr>
        <p:spPr>
          <a:xfrm>
            <a:off x="1107622" y="1133475"/>
            <a:ext cx="1200300" cy="247500"/>
          </a:xfrm>
          <a:prstGeom prst="rect">
            <a:avLst/>
          </a:prstGeom>
          <a:solidFill>
            <a:schemeClr val="accent4"/>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Gene X</a:t>
            </a:r>
            <a:endParaRPr b="0" i="0" sz="1800" u="none" cap="none" strike="noStrike">
              <a:solidFill>
                <a:schemeClr val="dk1"/>
              </a:solidFill>
              <a:latin typeface="Times New Roman"/>
              <a:ea typeface="Times New Roman"/>
              <a:cs typeface="Times New Roman"/>
              <a:sym typeface="Times New Roman"/>
            </a:endParaRPr>
          </a:p>
        </p:txBody>
      </p:sp>
      <p:sp>
        <p:nvSpPr>
          <p:cNvPr id="451" name="Google Shape;451;g12196808087_0_738"/>
          <p:cNvSpPr/>
          <p:nvPr/>
        </p:nvSpPr>
        <p:spPr>
          <a:xfrm>
            <a:off x="2460172" y="1133475"/>
            <a:ext cx="1200300" cy="247500"/>
          </a:xfrm>
          <a:prstGeom prst="rect">
            <a:avLst/>
          </a:prstGeom>
          <a:solidFill>
            <a:srgbClr val="00FF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GFP</a:t>
            </a:r>
            <a:endParaRPr b="0" i="0" sz="1800" u="none" cap="none" strike="noStrike">
              <a:solidFill>
                <a:schemeClr val="dk1"/>
              </a:solidFill>
              <a:latin typeface="Times New Roman"/>
              <a:ea typeface="Times New Roman"/>
              <a:cs typeface="Times New Roman"/>
              <a:sym typeface="Times New Roman"/>
            </a:endParaRPr>
          </a:p>
        </p:txBody>
      </p:sp>
      <p:cxnSp>
        <p:nvCxnSpPr>
          <p:cNvPr id="452" name="Google Shape;452;g12196808087_0_738"/>
          <p:cNvCxnSpPr/>
          <p:nvPr/>
        </p:nvCxnSpPr>
        <p:spPr>
          <a:xfrm>
            <a:off x="936172" y="1600200"/>
            <a:ext cx="2952900" cy="0"/>
          </a:xfrm>
          <a:prstGeom prst="straightConnector1">
            <a:avLst/>
          </a:prstGeom>
          <a:noFill/>
          <a:ln cap="flat" cmpd="sng" w="19050">
            <a:solidFill>
              <a:schemeClr val="dk1"/>
            </a:solidFill>
            <a:prstDash val="solid"/>
            <a:miter lim="800000"/>
            <a:headEnd len="sm" w="sm" type="none"/>
            <a:tailEnd len="sm" w="sm" type="none"/>
          </a:ln>
        </p:spPr>
      </p:cxnSp>
      <p:sp>
        <p:nvSpPr>
          <p:cNvPr id="453" name="Google Shape;453;g12196808087_0_738"/>
          <p:cNvSpPr/>
          <p:nvPr/>
        </p:nvSpPr>
        <p:spPr>
          <a:xfrm>
            <a:off x="1107622" y="1476375"/>
            <a:ext cx="1200300" cy="247500"/>
          </a:xfrm>
          <a:prstGeom prst="rect">
            <a:avLst/>
          </a:prstGeom>
          <a:solidFill>
            <a:srgbClr val="00FF0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GFP</a:t>
            </a:r>
            <a:endParaRPr b="0" i="0" sz="1800" u="none" cap="none" strike="noStrike">
              <a:solidFill>
                <a:schemeClr val="dk1"/>
              </a:solidFill>
              <a:latin typeface="Times New Roman"/>
              <a:ea typeface="Times New Roman"/>
              <a:cs typeface="Times New Roman"/>
              <a:sym typeface="Times New Roman"/>
            </a:endParaRPr>
          </a:p>
        </p:txBody>
      </p:sp>
      <p:sp>
        <p:nvSpPr>
          <p:cNvPr id="454" name="Google Shape;454;g12196808087_0_738"/>
          <p:cNvSpPr/>
          <p:nvPr/>
        </p:nvSpPr>
        <p:spPr>
          <a:xfrm>
            <a:off x="2460172" y="1476375"/>
            <a:ext cx="1200300" cy="247500"/>
          </a:xfrm>
          <a:prstGeom prst="rect">
            <a:avLst/>
          </a:prstGeom>
          <a:solidFill>
            <a:srgbClr val="FFC0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Gene X</a:t>
            </a:r>
            <a:endParaRPr b="0" i="0" sz="1800" u="none" cap="none" strike="noStrike">
              <a:solidFill>
                <a:schemeClr val="dk1"/>
              </a:solidFill>
              <a:latin typeface="Times New Roman"/>
              <a:ea typeface="Times New Roman"/>
              <a:cs typeface="Times New Roman"/>
              <a:sym typeface="Times New Roman"/>
            </a:endParaRPr>
          </a:p>
        </p:txBody>
      </p:sp>
      <p:sp>
        <p:nvSpPr>
          <p:cNvPr id="455" name="Google Shape;455;g12196808087_0_738"/>
          <p:cNvSpPr txBox="1"/>
          <p:nvPr/>
        </p:nvSpPr>
        <p:spPr>
          <a:xfrm>
            <a:off x="3907972" y="1081554"/>
            <a:ext cx="18285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C-terminal fusion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N-terminal fusion</a:t>
            </a:r>
            <a:endParaRPr b="0" i="0" sz="1800" u="none" cap="none" strike="noStrike">
              <a:solidFill>
                <a:schemeClr val="dk1"/>
              </a:solidFill>
              <a:latin typeface="Times New Roman"/>
              <a:ea typeface="Times New Roman"/>
              <a:cs typeface="Times New Roman"/>
              <a:sym typeface="Times New Roman"/>
            </a:endParaRPr>
          </a:p>
        </p:txBody>
      </p:sp>
      <p:pic>
        <p:nvPicPr>
          <p:cNvPr id="456" name="Google Shape;456;g12196808087_0_738"/>
          <p:cNvPicPr preferRelativeResize="0"/>
          <p:nvPr/>
        </p:nvPicPr>
        <p:blipFill rotWithShape="1">
          <a:blip r:embed="rId3">
            <a:alphaModFix/>
          </a:blip>
          <a:srcRect b="47157" l="0" r="3992" t="0"/>
          <a:stretch/>
        </p:blipFill>
        <p:spPr>
          <a:xfrm>
            <a:off x="519996" y="2498486"/>
            <a:ext cx="6107637" cy="1819499"/>
          </a:xfrm>
          <a:prstGeom prst="rect">
            <a:avLst/>
          </a:prstGeom>
          <a:noFill/>
          <a:ln>
            <a:noFill/>
          </a:ln>
        </p:spPr>
      </p:pic>
      <p:pic>
        <p:nvPicPr>
          <p:cNvPr id="457" name="Google Shape;457;g12196808087_0_738"/>
          <p:cNvPicPr preferRelativeResize="0"/>
          <p:nvPr/>
        </p:nvPicPr>
        <p:blipFill rotWithShape="1">
          <a:blip r:embed="rId4">
            <a:alphaModFix/>
          </a:blip>
          <a:srcRect b="0" l="0" r="0" t="0"/>
          <a:stretch/>
        </p:blipFill>
        <p:spPr>
          <a:xfrm>
            <a:off x="12137973" y="2540685"/>
            <a:ext cx="4648038" cy="1735099"/>
          </a:xfrm>
          <a:prstGeom prst="rect">
            <a:avLst/>
          </a:prstGeom>
          <a:noFill/>
          <a:ln>
            <a:noFill/>
          </a:ln>
        </p:spPr>
      </p:pic>
      <p:sp>
        <p:nvSpPr>
          <p:cNvPr id="458" name="Google Shape;458;g12196808087_0_738"/>
          <p:cNvSpPr/>
          <p:nvPr/>
        </p:nvSpPr>
        <p:spPr>
          <a:xfrm>
            <a:off x="4822196" y="4174805"/>
            <a:ext cx="2099400" cy="185400"/>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59" name="Google Shape;459;g12196808087_0_738"/>
          <p:cNvSpPr txBox="1"/>
          <p:nvPr/>
        </p:nvSpPr>
        <p:spPr>
          <a:xfrm>
            <a:off x="3324225" y="2180104"/>
            <a:ext cx="4592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(Immunofluorescence, immunohistochemistry)</a:t>
            </a:r>
            <a:endParaRPr b="0" i="0" sz="1800" u="none" cap="none" strike="noStrike">
              <a:solidFill>
                <a:schemeClr val="dk1"/>
              </a:solidFill>
              <a:latin typeface="Times New Roman"/>
              <a:ea typeface="Times New Roman"/>
              <a:cs typeface="Times New Roman"/>
              <a:sym typeface="Times New Roman"/>
            </a:endParaRPr>
          </a:p>
        </p:txBody>
      </p:sp>
      <p:sp>
        <p:nvSpPr>
          <p:cNvPr id="460" name="Google Shape;460;g12196808087_0_738"/>
          <p:cNvSpPr txBox="1"/>
          <p:nvPr/>
        </p:nvSpPr>
        <p:spPr>
          <a:xfrm>
            <a:off x="6096000" y="1136219"/>
            <a:ext cx="6019500" cy="6465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Pros: Specificity of labeling, essential for live cell imaging</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Cons: Time required for genetic engineering</a:t>
            </a:r>
            <a:endParaRPr b="0" i="0" sz="1800" u="none" cap="none" strike="noStrike">
              <a:solidFill>
                <a:schemeClr val="dk1"/>
              </a:solidFill>
              <a:latin typeface="Times New Roman"/>
              <a:ea typeface="Times New Roman"/>
              <a:cs typeface="Times New Roman"/>
              <a:sym typeface="Times New Roman"/>
            </a:endParaRPr>
          </a:p>
        </p:txBody>
      </p:sp>
      <p:sp>
        <p:nvSpPr>
          <p:cNvPr id="461" name="Google Shape;461;g12196808087_0_738"/>
          <p:cNvSpPr txBox="1"/>
          <p:nvPr/>
        </p:nvSpPr>
        <p:spPr>
          <a:xfrm>
            <a:off x="6422223" y="2923584"/>
            <a:ext cx="5737500" cy="12006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Pros: No genetic engineering is required if antibody is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	available commercially. So, less time consuming.</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Cons: suitable for fixed cells (not for live cells)</a:t>
            </a:r>
            <a:endParaRPr b="0" i="0" sz="1400" u="none" cap="none" strike="noStrike">
              <a:solidFill>
                <a:srgbClr val="000000"/>
              </a:solidFill>
              <a:latin typeface="Arial"/>
              <a:ea typeface="Arial"/>
              <a:cs typeface="Arial"/>
              <a:sym typeface="Arial"/>
            </a:endParaRPr>
          </a:p>
          <a:p>
            <a:pPr indent="0" lvl="2" marL="91440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Non-specific binding may occur. </a:t>
            </a:r>
            <a:endParaRPr b="0" i="0" sz="1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g12196808087_0_832"/>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lang="en-US" sz="2000">
                <a:solidFill>
                  <a:schemeClr val="lt1"/>
                </a:solidFill>
                <a:latin typeface="Times New Roman"/>
                <a:ea typeface="Times New Roman"/>
                <a:cs typeface="Times New Roman"/>
                <a:sym typeface="Times New Roman"/>
              </a:rPr>
              <a:t>A cell is a 3D structure, so it should be imaged in </a:t>
            </a:r>
            <a:r>
              <a:rPr b="1" i="0" lang="en-US" sz="2000" u="none" cap="none" strike="noStrike">
                <a:solidFill>
                  <a:schemeClr val="lt1"/>
                </a:solidFill>
                <a:latin typeface="Times New Roman"/>
                <a:ea typeface="Times New Roman"/>
                <a:cs typeface="Times New Roman"/>
                <a:sym typeface="Times New Roman"/>
              </a:rPr>
              <a:t>3D</a:t>
            </a:r>
            <a:endParaRPr b="1" i="0" sz="2000" u="none" cap="none" strike="noStrike">
              <a:solidFill>
                <a:schemeClr val="lt1"/>
              </a:solidFill>
              <a:latin typeface="Times New Roman"/>
              <a:ea typeface="Times New Roman"/>
              <a:cs typeface="Times New Roman"/>
              <a:sym typeface="Times New Roman"/>
            </a:endParaRPr>
          </a:p>
        </p:txBody>
      </p:sp>
      <p:sp>
        <p:nvSpPr>
          <p:cNvPr id="467" name="Google Shape;467;g12196808087_0_832"/>
          <p:cNvSpPr/>
          <p:nvPr/>
        </p:nvSpPr>
        <p:spPr>
          <a:xfrm>
            <a:off x="2890157" y="2399393"/>
            <a:ext cx="2656200" cy="511500"/>
          </a:xfrm>
          <a:prstGeom prst="rect">
            <a:avLst/>
          </a:prstGeom>
          <a:solidFill>
            <a:srgbClr val="B3C6E7"/>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468" name="Google Shape;468;g12196808087_0_832"/>
          <p:cNvPicPr preferRelativeResize="0"/>
          <p:nvPr>
            <p:ph idx="1" type="body"/>
          </p:nvPr>
        </p:nvPicPr>
        <p:blipFill rotWithShape="1">
          <a:blip r:embed="rId3">
            <a:alphaModFix/>
          </a:blip>
          <a:srcRect b="0" l="0" r="0" t="0"/>
          <a:stretch/>
        </p:blipFill>
        <p:spPr>
          <a:xfrm>
            <a:off x="3627843" y="1629576"/>
            <a:ext cx="1091100" cy="1091100"/>
          </a:xfrm>
          <a:prstGeom prst="rect">
            <a:avLst/>
          </a:prstGeom>
          <a:noFill/>
          <a:ln>
            <a:noFill/>
          </a:ln>
        </p:spPr>
      </p:pic>
      <p:pic>
        <p:nvPicPr>
          <p:cNvPr id="469" name="Google Shape;469;g12196808087_0_832"/>
          <p:cNvPicPr preferRelativeResize="0"/>
          <p:nvPr/>
        </p:nvPicPr>
        <p:blipFill rotWithShape="1">
          <a:blip r:embed="rId4">
            <a:alphaModFix/>
          </a:blip>
          <a:srcRect b="0" l="0" r="0" t="0"/>
          <a:stretch/>
        </p:blipFill>
        <p:spPr>
          <a:xfrm rot="10800000">
            <a:off x="3554187" y="2911021"/>
            <a:ext cx="1219200" cy="1219200"/>
          </a:xfrm>
          <a:prstGeom prst="rect">
            <a:avLst/>
          </a:prstGeom>
          <a:noFill/>
          <a:ln>
            <a:noFill/>
          </a:ln>
        </p:spPr>
      </p:pic>
      <p:sp>
        <p:nvSpPr>
          <p:cNvPr id="470" name="Google Shape;470;g12196808087_0_832"/>
          <p:cNvSpPr/>
          <p:nvPr/>
        </p:nvSpPr>
        <p:spPr>
          <a:xfrm rot="10800000">
            <a:off x="3434484" y="1622737"/>
            <a:ext cx="1415100" cy="1506000"/>
          </a:xfrm>
          <a:prstGeom prst="triangle">
            <a:avLst>
              <a:gd fmla="val 50000" name="adj"/>
            </a:avLst>
          </a:prstGeom>
          <a:solidFill>
            <a:srgbClr val="0000FF">
              <a:alpha val="3647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71" name="Google Shape;471;g12196808087_0_832"/>
          <p:cNvSpPr txBox="1"/>
          <p:nvPr/>
        </p:nvSpPr>
        <p:spPr>
          <a:xfrm>
            <a:off x="5578929" y="1760082"/>
            <a:ext cx="5694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Cell</a:t>
            </a:r>
            <a:endParaRPr b="0" i="0" sz="1800" u="none" cap="none" strike="noStrike">
              <a:solidFill>
                <a:schemeClr val="dk1"/>
              </a:solidFill>
              <a:latin typeface="Times New Roman"/>
              <a:ea typeface="Times New Roman"/>
              <a:cs typeface="Times New Roman"/>
              <a:sym typeface="Times New Roman"/>
            </a:endParaRPr>
          </a:p>
        </p:txBody>
      </p:sp>
      <p:sp>
        <p:nvSpPr>
          <p:cNvPr id="472" name="Google Shape;472;g12196808087_0_832"/>
          <p:cNvSpPr txBox="1"/>
          <p:nvPr/>
        </p:nvSpPr>
        <p:spPr>
          <a:xfrm>
            <a:off x="5538714" y="2470541"/>
            <a:ext cx="1191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Glass slide</a:t>
            </a:r>
            <a:endParaRPr b="0" i="0" sz="1800" u="none" cap="none" strike="noStrike">
              <a:solidFill>
                <a:schemeClr val="dk1"/>
              </a:solidFill>
              <a:latin typeface="Times New Roman"/>
              <a:ea typeface="Times New Roman"/>
              <a:cs typeface="Times New Roman"/>
              <a:sym typeface="Times New Roman"/>
            </a:endParaRPr>
          </a:p>
        </p:txBody>
      </p:sp>
      <p:sp>
        <p:nvSpPr>
          <p:cNvPr id="473" name="Google Shape;473;g12196808087_0_832"/>
          <p:cNvSpPr txBox="1"/>
          <p:nvPr/>
        </p:nvSpPr>
        <p:spPr>
          <a:xfrm>
            <a:off x="5546271" y="3335955"/>
            <a:ext cx="1512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Objective lens</a:t>
            </a:r>
            <a:endParaRPr b="0" i="0" sz="1800" u="none" cap="none" strike="noStrike">
              <a:solidFill>
                <a:schemeClr val="dk1"/>
              </a:solidFill>
              <a:latin typeface="Times New Roman"/>
              <a:ea typeface="Times New Roman"/>
              <a:cs typeface="Times New Roman"/>
              <a:sym typeface="Times New Roman"/>
            </a:endParaRPr>
          </a:p>
        </p:txBody>
      </p:sp>
      <p:sp>
        <p:nvSpPr>
          <p:cNvPr id="474" name="Google Shape;474;g12196808087_0_832"/>
          <p:cNvSpPr txBox="1"/>
          <p:nvPr/>
        </p:nvSpPr>
        <p:spPr>
          <a:xfrm>
            <a:off x="3016220" y="908503"/>
            <a:ext cx="2454600" cy="646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Epifluorescence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(wide field illumination)</a:t>
            </a:r>
            <a:endParaRPr b="0" i="0" sz="1800" u="none" cap="none" strike="noStrike">
              <a:solidFill>
                <a:schemeClr val="dk1"/>
              </a:solidFill>
              <a:latin typeface="Times New Roman"/>
              <a:ea typeface="Times New Roman"/>
              <a:cs typeface="Times New Roman"/>
              <a:sym typeface="Times New Roman"/>
            </a:endParaRPr>
          </a:p>
        </p:txBody>
      </p:sp>
      <p:grpSp>
        <p:nvGrpSpPr>
          <p:cNvPr id="475" name="Google Shape;475;g12196808087_0_832"/>
          <p:cNvGrpSpPr/>
          <p:nvPr/>
        </p:nvGrpSpPr>
        <p:grpSpPr>
          <a:xfrm>
            <a:off x="3858987" y="1802844"/>
            <a:ext cx="655200" cy="676970"/>
            <a:chOff x="2558143" y="2571194"/>
            <a:chExt cx="655200" cy="676970"/>
          </a:xfrm>
        </p:grpSpPr>
        <p:sp>
          <p:nvSpPr>
            <p:cNvPr id="476" name="Google Shape;476;g12196808087_0_832"/>
            <p:cNvSpPr/>
            <p:nvPr/>
          </p:nvSpPr>
          <p:spPr>
            <a:xfrm>
              <a:off x="2558143" y="2897764"/>
              <a:ext cx="45600" cy="45600"/>
            </a:xfrm>
            <a:prstGeom prst="ellipse">
              <a:avLst/>
            </a:prstGeom>
            <a:solidFill>
              <a:srgbClr val="00FF00"/>
            </a:solidFill>
            <a:ln cap="flat" cmpd="sng" w="12700">
              <a:solidFill>
                <a:srgbClr val="00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77" name="Google Shape;477;g12196808087_0_832"/>
            <p:cNvSpPr/>
            <p:nvPr/>
          </p:nvSpPr>
          <p:spPr>
            <a:xfrm>
              <a:off x="2710543" y="3050164"/>
              <a:ext cx="45600" cy="45600"/>
            </a:xfrm>
            <a:prstGeom prst="ellipse">
              <a:avLst/>
            </a:prstGeom>
            <a:solidFill>
              <a:srgbClr val="00FF00"/>
            </a:solidFill>
            <a:ln cap="flat" cmpd="sng" w="12700">
              <a:solidFill>
                <a:srgbClr val="00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78" name="Google Shape;478;g12196808087_0_832"/>
            <p:cNvSpPr/>
            <p:nvPr/>
          </p:nvSpPr>
          <p:spPr>
            <a:xfrm>
              <a:off x="2862943" y="3202564"/>
              <a:ext cx="45600" cy="45600"/>
            </a:xfrm>
            <a:prstGeom prst="ellipse">
              <a:avLst/>
            </a:prstGeom>
            <a:solidFill>
              <a:srgbClr val="00FF00"/>
            </a:solidFill>
            <a:ln cap="flat" cmpd="sng" w="12700">
              <a:solidFill>
                <a:srgbClr val="00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79" name="Google Shape;479;g12196808087_0_832"/>
            <p:cNvSpPr/>
            <p:nvPr/>
          </p:nvSpPr>
          <p:spPr>
            <a:xfrm>
              <a:off x="3015343" y="2571195"/>
              <a:ext cx="45600" cy="45600"/>
            </a:xfrm>
            <a:prstGeom prst="ellipse">
              <a:avLst/>
            </a:prstGeom>
            <a:solidFill>
              <a:srgbClr val="00FF00"/>
            </a:solidFill>
            <a:ln cap="flat" cmpd="sng" w="12700">
              <a:solidFill>
                <a:srgbClr val="00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80" name="Google Shape;480;g12196808087_0_832"/>
            <p:cNvSpPr/>
            <p:nvPr/>
          </p:nvSpPr>
          <p:spPr>
            <a:xfrm>
              <a:off x="3167743" y="2843338"/>
              <a:ext cx="45600" cy="45600"/>
            </a:xfrm>
            <a:prstGeom prst="ellipse">
              <a:avLst/>
            </a:prstGeom>
            <a:solidFill>
              <a:srgbClr val="00FF00"/>
            </a:solidFill>
            <a:ln cap="flat" cmpd="sng" w="12700">
              <a:solidFill>
                <a:srgbClr val="00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81" name="Google Shape;481;g12196808087_0_832"/>
            <p:cNvSpPr/>
            <p:nvPr/>
          </p:nvSpPr>
          <p:spPr>
            <a:xfrm>
              <a:off x="2623457" y="2614739"/>
              <a:ext cx="45600" cy="45600"/>
            </a:xfrm>
            <a:prstGeom prst="ellipse">
              <a:avLst/>
            </a:prstGeom>
            <a:solidFill>
              <a:srgbClr val="00FF00"/>
            </a:solidFill>
            <a:ln cap="flat" cmpd="sng" w="12700">
              <a:solidFill>
                <a:srgbClr val="00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82" name="Google Shape;482;g12196808087_0_832"/>
            <p:cNvSpPr/>
            <p:nvPr/>
          </p:nvSpPr>
          <p:spPr>
            <a:xfrm>
              <a:off x="2775857" y="2767139"/>
              <a:ext cx="45600" cy="45600"/>
            </a:xfrm>
            <a:prstGeom prst="ellipse">
              <a:avLst/>
            </a:prstGeom>
            <a:solidFill>
              <a:srgbClr val="00FF00"/>
            </a:solidFill>
            <a:ln cap="flat" cmpd="sng" w="12700">
              <a:solidFill>
                <a:srgbClr val="00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83" name="Google Shape;483;g12196808087_0_832"/>
            <p:cNvSpPr/>
            <p:nvPr/>
          </p:nvSpPr>
          <p:spPr>
            <a:xfrm>
              <a:off x="2928257" y="2919539"/>
              <a:ext cx="45600" cy="45600"/>
            </a:xfrm>
            <a:prstGeom prst="ellipse">
              <a:avLst/>
            </a:prstGeom>
            <a:solidFill>
              <a:srgbClr val="00FF00"/>
            </a:solidFill>
            <a:ln cap="flat" cmpd="sng" w="12700">
              <a:solidFill>
                <a:srgbClr val="00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84" name="Google Shape;484;g12196808087_0_832"/>
            <p:cNvSpPr/>
            <p:nvPr/>
          </p:nvSpPr>
          <p:spPr>
            <a:xfrm>
              <a:off x="3080657" y="3071939"/>
              <a:ext cx="45600" cy="45600"/>
            </a:xfrm>
            <a:prstGeom prst="ellipse">
              <a:avLst/>
            </a:prstGeom>
            <a:solidFill>
              <a:srgbClr val="00FF00"/>
            </a:solidFill>
            <a:ln cap="flat" cmpd="sng" w="12700">
              <a:solidFill>
                <a:srgbClr val="00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85" name="Google Shape;485;g12196808087_0_832"/>
            <p:cNvSpPr/>
            <p:nvPr/>
          </p:nvSpPr>
          <p:spPr>
            <a:xfrm>
              <a:off x="2830285" y="2571194"/>
              <a:ext cx="45600" cy="45600"/>
            </a:xfrm>
            <a:prstGeom prst="ellipse">
              <a:avLst/>
            </a:prstGeom>
            <a:solidFill>
              <a:srgbClr val="00FF00"/>
            </a:solidFill>
            <a:ln cap="flat" cmpd="sng" w="12700">
              <a:solidFill>
                <a:srgbClr val="00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nvGrpSpPr>
          <p:cNvPr id="486" name="Google Shape;486;g12196808087_0_832"/>
          <p:cNvGrpSpPr/>
          <p:nvPr/>
        </p:nvGrpSpPr>
        <p:grpSpPr>
          <a:xfrm>
            <a:off x="2128157" y="1945139"/>
            <a:ext cx="2899711" cy="369300"/>
            <a:chOff x="794657" y="2713489"/>
            <a:chExt cx="2899711" cy="369300"/>
          </a:xfrm>
        </p:grpSpPr>
        <p:sp>
          <p:nvSpPr>
            <p:cNvPr id="487" name="Google Shape;487;g12196808087_0_832"/>
            <p:cNvSpPr/>
            <p:nvPr/>
          </p:nvSpPr>
          <p:spPr>
            <a:xfrm>
              <a:off x="2079168" y="2821569"/>
              <a:ext cx="1615200" cy="171900"/>
            </a:xfrm>
            <a:prstGeom prst="rect">
              <a:avLst/>
            </a:prstGeom>
            <a:solidFill>
              <a:srgbClr val="FFFF00">
                <a:alpha val="40000"/>
              </a:srgbClr>
            </a:solidFill>
            <a:ln cap="flat" cmpd="sng" w="127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88" name="Google Shape;488;g12196808087_0_832"/>
            <p:cNvSpPr txBox="1"/>
            <p:nvPr/>
          </p:nvSpPr>
          <p:spPr>
            <a:xfrm>
              <a:off x="794657" y="2713489"/>
              <a:ext cx="12555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Focal plane</a:t>
              </a:r>
              <a:endParaRPr b="0" i="0" sz="1800" u="none" cap="none" strike="noStrike">
                <a:solidFill>
                  <a:schemeClr val="dk1"/>
                </a:solidFill>
                <a:latin typeface="Times New Roman"/>
                <a:ea typeface="Times New Roman"/>
                <a:cs typeface="Times New Roman"/>
                <a:sym typeface="Times New Roman"/>
              </a:endParaRPr>
            </a:p>
          </p:txBody>
        </p:sp>
      </p:grpSp>
      <p:grpSp>
        <p:nvGrpSpPr>
          <p:cNvPr id="489" name="Google Shape;489;g12196808087_0_832"/>
          <p:cNvGrpSpPr/>
          <p:nvPr/>
        </p:nvGrpSpPr>
        <p:grpSpPr>
          <a:xfrm>
            <a:off x="2010821" y="4171950"/>
            <a:ext cx="4292042" cy="1917699"/>
            <a:chOff x="677321" y="4610100"/>
            <a:chExt cx="4292042" cy="1917699"/>
          </a:xfrm>
        </p:grpSpPr>
        <p:sp>
          <p:nvSpPr>
            <p:cNvPr id="490" name="Google Shape;490;g12196808087_0_832"/>
            <p:cNvSpPr/>
            <p:nvPr/>
          </p:nvSpPr>
          <p:spPr>
            <a:xfrm>
              <a:off x="677321" y="5003799"/>
              <a:ext cx="1896900" cy="15240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491" name="Google Shape;491;g12196808087_0_832"/>
            <p:cNvGrpSpPr/>
            <p:nvPr/>
          </p:nvGrpSpPr>
          <p:grpSpPr>
            <a:xfrm>
              <a:off x="1300846" y="5528478"/>
              <a:ext cx="655200" cy="676970"/>
              <a:chOff x="2558143" y="2571194"/>
              <a:chExt cx="655200" cy="676970"/>
            </a:xfrm>
          </p:grpSpPr>
          <p:sp>
            <p:nvSpPr>
              <p:cNvPr id="492" name="Google Shape;492;g12196808087_0_832"/>
              <p:cNvSpPr/>
              <p:nvPr/>
            </p:nvSpPr>
            <p:spPr>
              <a:xfrm>
                <a:off x="2558143" y="2897764"/>
                <a:ext cx="45600" cy="45600"/>
              </a:xfrm>
              <a:prstGeom prst="ellipse">
                <a:avLst/>
              </a:prstGeom>
              <a:solidFill>
                <a:srgbClr val="00FF00"/>
              </a:solidFill>
              <a:ln cap="flat" cmpd="sng" w="12700">
                <a:solidFill>
                  <a:srgbClr val="00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93" name="Google Shape;493;g12196808087_0_832"/>
              <p:cNvSpPr/>
              <p:nvPr/>
            </p:nvSpPr>
            <p:spPr>
              <a:xfrm>
                <a:off x="2710543" y="3050164"/>
                <a:ext cx="45600" cy="45600"/>
              </a:xfrm>
              <a:prstGeom prst="ellipse">
                <a:avLst/>
              </a:prstGeom>
              <a:solidFill>
                <a:srgbClr val="00FF00"/>
              </a:solidFill>
              <a:ln cap="flat" cmpd="sng" w="12700">
                <a:solidFill>
                  <a:srgbClr val="00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94" name="Google Shape;494;g12196808087_0_832"/>
              <p:cNvSpPr/>
              <p:nvPr/>
            </p:nvSpPr>
            <p:spPr>
              <a:xfrm>
                <a:off x="2862943" y="3202564"/>
                <a:ext cx="45600" cy="45600"/>
              </a:xfrm>
              <a:prstGeom prst="ellipse">
                <a:avLst/>
              </a:prstGeom>
              <a:solidFill>
                <a:srgbClr val="00FF00"/>
              </a:solidFill>
              <a:ln cap="flat" cmpd="sng" w="12700">
                <a:solidFill>
                  <a:srgbClr val="00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95" name="Google Shape;495;g12196808087_0_832"/>
              <p:cNvSpPr/>
              <p:nvPr/>
            </p:nvSpPr>
            <p:spPr>
              <a:xfrm>
                <a:off x="3015343" y="2571195"/>
                <a:ext cx="45600" cy="45600"/>
              </a:xfrm>
              <a:prstGeom prst="ellipse">
                <a:avLst/>
              </a:prstGeom>
              <a:solidFill>
                <a:srgbClr val="00FF00"/>
              </a:solidFill>
              <a:ln cap="flat" cmpd="sng" w="12700">
                <a:solidFill>
                  <a:srgbClr val="00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96" name="Google Shape;496;g12196808087_0_832"/>
              <p:cNvSpPr/>
              <p:nvPr/>
            </p:nvSpPr>
            <p:spPr>
              <a:xfrm>
                <a:off x="3167743" y="2843338"/>
                <a:ext cx="45600" cy="45600"/>
              </a:xfrm>
              <a:prstGeom prst="ellipse">
                <a:avLst/>
              </a:prstGeom>
              <a:solidFill>
                <a:srgbClr val="00FF00"/>
              </a:solidFill>
              <a:ln cap="flat" cmpd="sng" w="12700">
                <a:solidFill>
                  <a:srgbClr val="00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97" name="Google Shape;497;g12196808087_0_832"/>
              <p:cNvSpPr/>
              <p:nvPr/>
            </p:nvSpPr>
            <p:spPr>
              <a:xfrm>
                <a:off x="2623457" y="2614739"/>
                <a:ext cx="45600" cy="45600"/>
              </a:xfrm>
              <a:prstGeom prst="ellipse">
                <a:avLst/>
              </a:prstGeom>
              <a:solidFill>
                <a:srgbClr val="00FF00"/>
              </a:solidFill>
              <a:ln cap="flat" cmpd="sng" w="12700">
                <a:solidFill>
                  <a:srgbClr val="00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98" name="Google Shape;498;g12196808087_0_832"/>
              <p:cNvSpPr/>
              <p:nvPr/>
            </p:nvSpPr>
            <p:spPr>
              <a:xfrm>
                <a:off x="2775857" y="2767139"/>
                <a:ext cx="45600" cy="45600"/>
              </a:xfrm>
              <a:prstGeom prst="ellipse">
                <a:avLst/>
              </a:prstGeom>
              <a:solidFill>
                <a:srgbClr val="00FF00"/>
              </a:solidFill>
              <a:ln cap="flat" cmpd="sng" w="12700">
                <a:solidFill>
                  <a:srgbClr val="00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99" name="Google Shape;499;g12196808087_0_832"/>
              <p:cNvSpPr/>
              <p:nvPr/>
            </p:nvSpPr>
            <p:spPr>
              <a:xfrm>
                <a:off x="2928257" y="2919539"/>
                <a:ext cx="45600" cy="45600"/>
              </a:xfrm>
              <a:prstGeom prst="ellipse">
                <a:avLst/>
              </a:prstGeom>
              <a:solidFill>
                <a:srgbClr val="00FF00"/>
              </a:solidFill>
              <a:ln cap="flat" cmpd="sng" w="12700">
                <a:solidFill>
                  <a:srgbClr val="00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00" name="Google Shape;500;g12196808087_0_832"/>
              <p:cNvSpPr/>
              <p:nvPr/>
            </p:nvSpPr>
            <p:spPr>
              <a:xfrm>
                <a:off x="3080657" y="3071939"/>
                <a:ext cx="45600" cy="45600"/>
              </a:xfrm>
              <a:prstGeom prst="ellipse">
                <a:avLst/>
              </a:prstGeom>
              <a:solidFill>
                <a:srgbClr val="00FF00"/>
              </a:solidFill>
              <a:ln cap="flat" cmpd="sng" w="12700">
                <a:solidFill>
                  <a:srgbClr val="00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01" name="Google Shape;501;g12196808087_0_832"/>
              <p:cNvSpPr/>
              <p:nvPr/>
            </p:nvSpPr>
            <p:spPr>
              <a:xfrm>
                <a:off x="2830285" y="2571194"/>
                <a:ext cx="45600" cy="45600"/>
              </a:xfrm>
              <a:prstGeom prst="ellipse">
                <a:avLst/>
              </a:prstGeom>
              <a:solidFill>
                <a:srgbClr val="00FF00"/>
              </a:solidFill>
              <a:ln cap="flat" cmpd="sng" w="12700">
                <a:solidFill>
                  <a:srgbClr val="00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502" name="Google Shape;502;g12196808087_0_832"/>
            <p:cNvSpPr/>
            <p:nvPr/>
          </p:nvSpPr>
          <p:spPr>
            <a:xfrm>
              <a:off x="3072463" y="5003799"/>
              <a:ext cx="1896900" cy="15240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03" name="Google Shape;503;g12196808087_0_832"/>
            <p:cNvSpPr/>
            <p:nvPr/>
          </p:nvSpPr>
          <p:spPr>
            <a:xfrm>
              <a:off x="3717230" y="5850968"/>
              <a:ext cx="45600" cy="45600"/>
            </a:xfrm>
            <a:prstGeom prst="ellipse">
              <a:avLst/>
            </a:prstGeom>
            <a:solidFill>
              <a:srgbClr val="00FF00"/>
            </a:solidFill>
            <a:ln cap="flat" cmpd="sng" w="12700">
              <a:solidFill>
                <a:srgbClr val="00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04" name="Google Shape;504;g12196808087_0_832"/>
            <p:cNvSpPr/>
            <p:nvPr/>
          </p:nvSpPr>
          <p:spPr>
            <a:xfrm>
              <a:off x="4022030" y="6155768"/>
              <a:ext cx="45600" cy="45600"/>
            </a:xfrm>
            <a:prstGeom prst="ellipse">
              <a:avLst/>
            </a:prstGeom>
            <a:solidFill>
              <a:srgbClr val="00FF00">
                <a:alpha val="50588"/>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05" name="Google Shape;505;g12196808087_0_832"/>
            <p:cNvSpPr/>
            <p:nvPr/>
          </p:nvSpPr>
          <p:spPr>
            <a:xfrm>
              <a:off x="4326830" y="5796542"/>
              <a:ext cx="45600" cy="45600"/>
            </a:xfrm>
            <a:prstGeom prst="ellipse">
              <a:avLst/>
            </a:prstGeom>
            <a:solidFill>
              <a:srgbClr val="00FF00"/>
            </a:solidFill>
            <a:ln cap="flat" cmpd="sng" w="12700">
              <a:solidFill>
                <a:srgbClr val="00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06" name="Google Shape;506;g12196808087_0_832"/>
            <p:cNvSpPr/>
            <p:nvPr/>
          </p:nvSpPr>
          <p:spPr>
            <a:xfrm>
              <a:off x="4087344" y="5872743"/>
              <a:ext cx="45600" cy="45600"/>
            </a:xfrm>
            <a:prstGeom prst="ellipse">
              <a:avLst/>
            </a:prstGeom>
            <a:solidFill>
              <a:srgbClr val="00FF00"/>
            </a:solidFill>
            <a:ln cap="flat" cmpd="sng" w="12700">
              <a:solidFill>
                <a:srgbClr val="00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07" name="Google Shape;507;g12196808087_0_832"/>
            <p:cNvSpPr/>
            <p:nvPr/>
          </p:nvSpPr>
          <p:spPr>
            <a:xfrm>
              <a:off x="4239744" y="6025143"/>
              <a:ext cx="45600" cy="45600"/>
            </a:xfrm>
            <a:prstGeom prst="ellipse">
              <a:avLst/>
            </a:prstGeom>
            <a:solidFill>
              <a:srgbClr val="00FF00">
                <a:alpha val="50588"/>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08" name="Google Shape;508;g12196808087_0_832"/>
            <p:cNvSpPr/>
            <p:nvPr/>
          </p:nvSpPr>
          <p:spPr>
            <a:xfrm>
              <a:off x="3773673" y="5568945"/>
              <a:ext cx="45600" cy="45600"/>
            </a:xfrm>
            <a:prstGeom prst="ellipse">
              <a:avLst/>
            </a:prstGeom>
            <a:solidFill>
              <a:srgbClr val="00FF00">
                <a:alpha val="50588"/>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09" name="Google Shape;509;g12196808087_0_832"/>
            <p:cNvSpPr/>
            <p:nvPr/>
          </p:nvSpPr>
          <p:spPr>
            <a:xfrm>
              <a:off x="4038542" y="5535529"/>
              <a:ext cx="45600" cy="45600"/>
            </a:xfrm>
            <a:prstGeom prst="ellipse">
              <a:avLst/>
            </a:prstGeom>
            <a:solidFill>
              <a:srgbClr val="00FF00">
                <a:alpha val="50588"/>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10" name="Google Shape;510;g12196808087_0_832"/>
            <p:cNvSpPr/>
            <p:nvPr/>
          </p:nvSpPr>
          <p:spPr>
            <a:xfrm>
              <a:off x="4230062" y="5526560"/>
              <a:ext cx="45600" cy="45600"/>
            </a:xfrm>
            <a:prstGeom prst="ellipse">
              <a:avLst/>
            </a:prstGeom>
            <a:solidFill>
              <a:srgbClr val="00FF00">
                <a:alpha val="50588"/>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11" name="Google Shape;511;g12196808087_0_832"/>
            <p:cNvSpPr/>
            <p:nvPr/>
          </p:nvSpPr>
          <p:spPr>
            <a:xfrm>
              <a:off x="3996161" y="5722970"/>
              <a:ext cx="45600" cy="45600"/>
            </a:xfrm>
            <a:prstGeom prst="ellipse">
              <a:avLst/>
            </a:prstGeom>
            <a:solidFill>
              <a:srgbClr val="00FF00">
                <a:alpha val="50588"/>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12" name="Google Shape;512;g12196808087_0_832"/>
            <p:cNvSpPr/>
            <p:nvPr/>
          </p:nvSpPr>
          <p:spPr>
            <a:xfrm>
              <a:off x="3885928" y="5956096"/>
              <a:ext cx="45600" cy="45600"/>
            </a:xfrm>
            <a:prstGeom prst="ellipse">
              <a:avLst/>
            </a:prstGeom>
            <a:solidFill>
              <a:srgbClr val="00FF00">
                <a:alpha val="50588"/>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13" name="Google Shape;513;g12196808087_0_832"/>
            <p:cNvSpPr txBox="1"/>
            <p:nvPr/>
          </p:nvSpPr>
          <p:spPr>
            <a:xfrm flipH="1">
              <a:off x="3072429" y="4610100"/>
              <a:ext cx="18969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Actual 2D Image</a:t>
              </a:r>
              <a:endParaRPr b="0" i="0" sz="1800" u="none" cap="none" strike="noStrike">
                <a:solidFill>
                  <a:schemeClr val="dk1"/>
                </a:solidFill>
                <a:latin typeface="Times New Roman"/>
                <a:ea typeface="Times New Roman"/>
                <a:cs typeface="Times New Roman"/>
                <a:sym typeface="Times New Roman"/>
              </a:endParaRPr>
            </a:p>
          </p:txBody>
        </p:sp>
        <p:sp>
          <p:nvSpPr>
            <p:cNvPr id="514" name="Google Shape;514;g12196808087_0_832"/>
            <p:cNvSpPr txBox="1"/>
            <p:nvPr/>
          </p:nvSpPr>
          <p:spPr>
            <a:xfrm flipH="1">
              <a:off x="684393" y="4621818"/>
              <a:ext cx="18969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Ideal Image</a:t>
              </a:r>
              <a:endParaRPr b="0" i="0" sz="1800" u="none" cap="none" strike="noStrike">
                <a:solidFill>
                  <a:schemeClr val="dk1"/>
                </a:solidFill>
                <a:latin typeface="Times New Roman"/>
                <a:ea typeface="Times New Roman"/>
                <a:cs typeface="Times New Roman"/>
                <a:sym typeface="Times New Roman"/>
              </a:endParaRPr>
            </a:p>
          </p:txBody>
        </p:sp>
      </p:grpSp>
      <p:sp>
        <p:nvSpPr>
          <p:cNvPr id="515" name="Google Shape;515;g12196808087_0_832"/>
          <p:cNvSpPr/>
          <p:nvPr/>
        </p:nvSpPr>
        <p:spPr>
          <a:xfrm>
            <a:off x="3411493" y="1710846"/>
            <a:ext cx="1615200" cy="171900"/>
          </a:xfrm>
          <a:prstGeom prst="rect">
            <a:avLst/>
          </a:prstGeom>
          <a:solidFill>
            <a:srgbClr val="FFFF00">
              <a:alpha val="40000"/>
            </a:srgbClr>
          </a:solidFill>
          <a:ln cap="flat" cmpd="sng" w="127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16" name="Google Shape;516;g12196808087_0_832"/>
          <p:cNvSpPr/>
          <p:nvPr/>
        </p:nvSpPr>
        <p:spPr>
          <a:xfrm>
            <a:off x="3412668" y="1881213"/>
            <a:ext cx="1615200" cy="171900"/>
          </a:xfrm>
          <a:prstGeom prst="rect">
            <a:avLst/>
          </a:prstGeom>
          <a:solidFill>
            <a:srgbClr val="FFFF00">
              <a:alpha val="40000"/>
            </a:srgbClr>
          </a:solidFill>
          <a:ln cap="flat" cmpd="sng" w="127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17" name="Google Shape;517;g12196808087_0_832"/>
          <p:cNvSpPr/>
          <p:nvPr/>
        </p:nvSpPr>
        <p:spPr>
          <a:xfrm>
            <a:off x="3410676" y="2224956"/>
            <a:ext cx="1615200" cy="171900"/>
          </a:xfrm>
          <a:prstGeom prst="rect">
            <a:avLst/>
          </a:prstGeom>
          <a:solidFill>
            <a:srgbClr val="FFFF00">
              <a:alpha val="40000"/>
            </a:srgbClr>
          </a:solidFill>
          <a:ln cap="flat" cmpd="sng" w="127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18" name="Google Shape;518;g12196808087_0_832"/>
          <p:cNvSpPr/>
          <p:nvPr/>
        </p:nvSpPr>
        <p:spPr>
          <a:xfrm>
            <a:off x="3410676" y="2396406"/>
            <a:ext cx="1615200" cy="171900"/>
          </a:xfrm>
          <a:prstGeom prst="rect">
            <a:avLst/>
          </a:prstGeom>
          <a:solidFill>
            <a:srgbClr val="FFFF00">
              <a:alpha val="40000"/>
            </a:srgbClr>
          </a:solidFill>
          <a:ln cap="flat" cmpd="sng" w="127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519" name="Google Shape;519;g12196808087_0_832"/>
          <p:cNvGrpSpPr/>
          <p:nvPr/>
        </p:nvGrpSpPr>
        <p:grpSpPr>
          <a:xfrm>
            <a:off x="5679300" y="4171950"/>
            <a:ext cx="3731400" cy="2199500"/>
            <a:chOff x="5679300" y="4171950"/>
            <a:chExt cx="3731400" cy="2199500"/>
          </a:xfrm>
        </p:grpSpPr>
        <p:grpSp>
          <p:nvGrpSpPr>
            <p:cNvPr id="520" name="Google Shape;520;g12196808087_0_832"/>
            <p:cNvGrpSpPr/>
            <p:nvPr/>
          </p:nvGrpSpPr>
          <p:grpSpPr>
            <a:xfrm>
              <a:off x="5679300" y="4171950"/>
              <a:ext cx="3731400" cy="2199500"/>
              <a:chOff x="5679300" y="4171950"/>
              <a:chExt cx="3731400" cy="2199500"/>
            </a:xfrm>
          </p:grpSpPr>
          <p:sp>
            <p:nvSpPr>
              <p:cNvPr id="521" name="Google Shape;521;g12196808087_0_832"/>
              <p:cNvSpPr txBox="1"/>
              <p:nvPr/>
            </p:nvSpPr>
            <p:spPr>
              <a:xfrm flipH="1">
                <a:off x="6648671" y="4171950"/>
                <a:ext cx="18969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MIP 3D Image</a:t>
                </a:r>
                <a:endParaRPr b="0" i="0" sz="1800" u="none" cap="none" strike="noStrike">
                  <a:solidFill>
                    <a:schemeClr val="dk1"/>
                  </a:solidFill>
                  <a:latin typeface="Times New Roman"/>
                  <a:ea typeface="Times New Roman"/>
                  <a:cs typeface="Times New Roman"/>
                  <a:sym typeface="Times New Roman"/>
                </a:endParaRPr>
              </a:p>
            </p:txBody>
          </p:sp>
          <p:sp>
            <p:nvSpPr>
              <p:cNvPr id="522" name="Google Shape;522;g12196808087_0_832"/>
              <p:cNvSpPr/>
              <p:nvPr/>
            </p:nvSpPr>
            <p:spPr>
              <a:xfrm>
                <a:off x="6659307" y="4565649"/>
                <a:ext cx="1896900" cy="15240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23" name="Google Shape;523;g12196808087_0_832"/>
              <p:cNvSpPr txBox="1"/>
              <p:nvPr/>
            </p:nvSpPr>
            <p:spPr>
              <a:xfrm flipH="1">
                <a:off x="5679300" y="6094550"/>
                <a:ext cx="3731400" cy="27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Times New Roman"/>
                    <a:ea typeface="Times New Roman"/>
                    <a:cs typeface="Times New Roman"/>
                    <a:sym typeface="Times New Roman"/>
                  </a:rPr>
                  <a:t>MIP=Maximum Intensity Projection</a:t>
                </a:r>
                <a:endParaRPr b="0" i="0" sz="1200" u="none" cap="none" strike="noStrike">
                  <a:solidFill>
                    <a:schemeClr val="dk1"/>
                  </a:solidFill>
                  <a:latin typeface="Times New Roman"/>
                  <a:ea typeface="Times New Roman"/>
                  <a:cs typeface="Times New Roman"/>
                  <a:sym typeface="Times New Roman"/>
                </a:endParaRPr>
              </a:p>
            </p:txBody>
          </p:sp>
        </p:grpSp>
        <p:sp>
          <p:nvSpPr>
            <p:cNvPr id="524" name="Google Shape;524;g12196808087_0_832"/>
            <p:cNvSpPr/>
            <p:nvPr/>
          </p:nvSpPr>
          <p:spPr>
            <a:xfrm>
              <a:off x="7301596" y="5397848"/>
              <a:ext cx="45600" cy="45600"/>
            </a:xfrm>
            <a:prstGeom prst="ellipse">
              <a:avLst/>
            </a:prstGeom>
            <a:solidFill>
              <a:srgbClr val="00FF00"/>
            </a:solidFill>
            <a:ln cap="flat" cmpd="sng" w="12700">
              <a:solidFill>
                <a:srgbClr val="00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25" name="Google Shape;525;g12196808087_0_832"/>
            <p:cNvSpPr/>
            <p:nvPr/>
          </p:nvSpPr>
          <p:spPr>
            <a:xfrm>
              <a:off x="7453996" y="5550248"/>
              <a:ext cx="45600" cy="45600"/>
            </a:xfrm>
            <a:prstGeom prst="ellipse">
              <a:avLst/>
            </a:prstGeom>
            <a:solidFill>
              <a:srgbClr val="00FF00"/>
            </a:solidFill>
            <a:ln cap="flat" cmpd="sng" w="12700">
              <a:solidFill>
                <a:srgbClr val="00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26" name="Google Shape;526;g12196808087_0_832"/>
            <p:cNvSpPr/>
            <p:nvPr/>
          </p:nvSpPr>
          <p:spPr>
            <a:xfrm>
              <a:off x="7606396" y="5702648"/>
              <a:ext cx="45600" cy="45600"/>
            </a:xfrm>
            <a:prstGeom prst="ellipse">
              <a:avLst/>
            </a:prstGeom>
            <a:solidFill>
              <a:srgbClr val="00FF00"/>
            </a:solidFill>
            <a:ln cap="flat" cmpd="sng" w="12700">
              <a:solidFill>
                <a:srgbClr val="00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27" name="Google Shape;527;g12196808087_0_832"/>
            <p:cNvSpPr/>
            <p:nvPr/>
          </p:nvSpPr>
          <p:spPr>
            <a:xfrm>
              <a:off x="7911196" y="5343422"/>
              <a:ext cx="45600" cy="45600"/>
            </a:xfrm>
            <a:prstGeom prst="ellipse">
              <a:avLst/>
            </a:prstGeom>
            <a:solidFill>
              <a:srgbClr val="00FF00"/>
            </a:solidFill>
            <a:ln cap="flat" cmpd="sng" w="12700">
              <a:solidFill>
                <a:srgbClr val="00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28" name="Google Shape;528;g12196808087_0_832"/>
            <p:cNvSpPr/>
            <p:nvPr/>
          </p:nvSpPr>
          <p:spPr>
            <a:xfrm>
              <a:off x="7671710" y="5419623"/>
              <a:ext cx="45600" cy="45600"/>
            </a:xfrm>
            <a:prstGeom prst="ellipse">
              <a:avLst/>
            </a:prstGeom>
            <a:solidFill>
              <a:srgbClr val="00FF00"/>
            </a:solidFill>
            <a:ln cap="flat" cmpd="sng" w="12700">
              <a:solidFill>
                <a:srgbClr val="00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29" name="Google Shape;529;g12196808087_0_832"/>
            <p:cNvSpPr/>
            <p:nvPr/>
          </p:nvSpPr>
          <p:spPr>
            <a:xfrm>
              <a:off x="7824110" y="5572023"/>
              <a:ext cx="45600" cy="45600"/>
            </a:xfrm>
            <a:prstGeom prst="ellipse">
              <a:avLst/>
            </a:prstGeom>
            <a:solidFill>
              <a:srgbClr val="00FF00"/>
            </a:solidFill>
            <a:ln cap="flat" cmpd="sng" w="12700">
              <a:solidFill>
                <a:srgbClr val="00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30" name="Google Shape;530;g12196808087_0_832"/>
            <p:cNvSpPr/>
            <p:nvPr/>
          </p:nvSpPr>
          <p:spPr>
            <a:xfrm>
              <a:off x="7768321" y="5118904"/>
              <a:ext cx="45600" cy="45600"/>
            </a:xfrm>
            <a:prstGeom prst="ellipse">
              <a:avLst/>
            </a:prstGeom>
            <a:solidFill>
              <a:srgbClr val="00FF00"/>
            </a:solidFill>
            <a:ln cap="flat" cmpd="sng" w="12700">
              <a:solidFill>
                <a:srgbClr val="00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31" name="Google Shape;531;g12196808087_0_832"/>
            <p:cNvSpPr/>
            <p:nvPr/>
          </p:nvSpPr>
          <p:spPr>
            <a:xfrm>
              <a:off x="7376435" y="5162448"/>
              <a:ext cx="45600" cy="45600"/>
            </a:xfrm>
            <a:prstGeom prst="ellipse">
              <a:avLst/>
            </a:prstGeom>
            <a:solidFill>
              <a:srgbClr val="00FF00"/>
            </a:solidFill>
            <a:ln cap="flat" cmpd="sng" w="12700">
              <a:solidFill>
                <a:srgbClr val="00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32" name="Google Shape;532;g12196808087_0_832"/>
            <p:cNvSpPr/>
            <p:nvPr/>
          </p:nvSpPr>
          <p:spPr>
            <a:xfrm>
              <a:off x="7528835" y="5314848"/>
              <a:ext cx="45600" cy="45600"/>
            </a:xfrm>
            <a:prstGeom prst="ellipse">
              <a:avLst/>
            </a:prstGeom>
            <a:solidFill>
              <a:srgbClr val="00FF00"/>
            </a:solidFill>
            <a:ln cap="flat" cmpd="sng" w="12700">
              <a:solidFill>
                <a:srgbClr val="00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33" name="Google Shape;533;g12196808087_0_832"/>
            <p:cNvSpPr/>
            <p:nvPr/>
          </p:nvSpPr>
          <p:spPr>
            <a:xfrm>
              <a:off x="7583263" y="5118903"/>
              <a:ext cx="45600" cy="45600"/>
            </a:xfrm>
            <a:prstGeom prst="ellipse">
              <a:avLst/>
            </a:prstGeom>
            <a:solidFill>
              <a:srgbClr val="00FF00"/>
            </a:solidFill>
            <a:ln cap="flat" cmpd="sng" w="12700">
              <a:solidFill>
                <a:srgbClr val="00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534" name="Google Shape;534;g12196808087_0_832"/>
          <p:cNvSpPr txBox="1"/>
          <p:nvPr/>
        </p:nvSpPr>
        <p:spPr>
          <a:xfrm>
            <a:off x="6667976" y="1705353"/>
            <a:ext cx="1172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FF"/>
                </a:solidFill>
                <a:latin typeface="Times New Roman"/>
                <a:ea typeface="Times New Roman"/>
                <a:cs typeface="Times New Roman"/>
                <a:sym typeface="Times New Roman"/>
              </a:rPr>
              <a:t>Z-stacking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FF"/>
                </a:solidFill>
                <a:latin typeface="Times New Roman"/>
                <a:ea typeface="Times New Roman"/>
                <a:cs typeface="Times New Roman"/>
                <a:sym typeface="Times New Roman"/>
              </a:rPr>
              <a:t>Z steps= 5</a:t>
            </a:r>
            <a:endParaRPr b="0" i="0" sz="1800" u="none" cap="none" strike="noStrike">
              <a:solidFill>
                <a:srgbClr val="0000FF"/>
              </a:solidFill>
              <a:latin typeface="Times New Roman"/>
              <a:ea typeface="Times New Roman"/>
              <a:cs typeface="Times New Roman"/>
              <a:sym typeface="Times New Roman"/>
            </a:endParaRPr>
          </a:p>
        </p:txBody>
      </p:sp>
      <p:pic>
        <p:nvPicPr>
          <p:cNvPr id="535" name="Google Shape;535;g12196808087_0_832"/>
          <p:cNvPicPr preferRelativeResize="0"/>
          <p:nvPr/>
        </p:nvPicPr>
        <p:blipFill rotWithShape="1">
          <a:blip r:embed="rId5">
            <a:alphaModFix/>
          </a:blip>
          <a:srcRect b="45429" l="49348" r="0" t="5345"/>
          <a:stretch/>
        </p:blipFill>
        <p:spPr>
          <a:xfrm>
            <a:off x="8311758" y="831787"/>
            <a:ext cx="3685646" cy="2443523"/>
          </a:xfrm>
          <a:prstGeom prst="rect">
            <a:avLst/>
          </a:prstGeom>
          <a:noFill/>
          <a:ln>
            <a:noFill/>
          </a:ln>
        </p:spPr>
      </p:pic>
      <p:sp>
        <p:nvSpPr>
          <p:cNvPr id="536" name="Google Shape;536;g12196808087_0_832"/>
          <p:cNvSpPr/>
          <p:nvPr/>
        </p:nvSpPr>
        <p:spPr>
          <a:xfrm>
            <a:off x="8410575" y="908503"/>
            <a:ext cx="1076400" cy="4413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g1219bf80b5f_0_0"/>
          <p:cNvSpPr txBox="1"/>
          <p:nvPr>
            <p:ph idx="1" type="body"/>
          </p:nvPr>
        </p:nvSpPr>
        <p:spPr>
          <a:xfrm>
            <a:off x="838200" y="902835"/>
            <a:ext cx="10515600" cy="4351200"/>
          </a:xfrm>
          <a:prstGeom prst="rect">
            <a:avLst/>
          </a:prstGeom>
          <a:noFill/>
          <a:ln>
            <a:noFill/>
          </a:ln>
        </p:spPr>
        <p:txBody>
          <a:bodyPr anchorCtr="0" anchor="t" bIns="45700" lIns="91425" spcFirstLastPara="1" rIns="91425" wrap="square" tIns="45700">
            <a:noAutofit/>
          </a:bodyPr>
          <a:lstStyle/>
          <a:p>
            <a:pPr indent="-228600" lvl="0" marL="228600" rtl="0" algn="l">
              <a:lnSpc>
                <a:spcPct val="115000"/>
              </a:lnSpc>
              <a:spcBef>
                <a:spcPts val="0"/>
              </a:spcBef>
              <a:spcAft>
                <a:spcPts val="0"/>
              </a:spcAft>
              <a:buClr>
                <a:schemeClr val="dk1"/>
              </a:buClr>
              <a:buSzPts val="1860"/>
              <a:buChar char="•"/>
            </a:pPr>
            <a:r>
              <a:rPr lang="en-US" sz="1860">
                <a:latin typeface="Times New Roman"/>
                <a:ea typeface="Times New Roman"/>
                <a:cs typeface="Times New Roman"/>
                <a:sym typeface="Times New Roman"/>
              </a:rPr>
              <a:t>Book: Fundamentals of Light Microscopy and Electronic Imaging by Douglas Murphy and Michael Davidson, 2</a:t>
            </a:r>
            <a:r>
              <a:rPr baseline="30000" lang="en-US" sz="1860">
                <a:latin typeface="Times New Roman"/>
                <a:ea typeface="Times New Roman"/>
                <a:cs typeface="Times New Roman"/>
                <a:sym typeface="Times New Roman"/>
              </a:rPr>
              <a:t>nd</a:t>
            </a:r>
            <a:r>
              <a:rPr lang="en-US" sz="1860">
                <a:latin typeface="Times New Roman"/>
                <a:ea typeface="Times New Roman"/>
                <a:cs typeface="Times New Roman"/>
                <a:sym typeface="Times New Roman"/>
              </a:rPr>
              <a:t> edition, Wiley-Blackwell publisher, </a:t>
            </a:r>
            <a:r>
              <a:rPr b="1" lang="en-US" sz="1860">
                <a:latin typeface="Times New Roman"/>
                <a:ea typeface="Times New Roman"/>
                <a:cs typeface="Times New Roman"/>
                <a:sym typeface="Times New Roman"/>
              </a:rPr>
              <a:t>eBook ISBN </a:t>
            </a:r>
            <a:r>
              <a:rPr lang="en-US" sz="1860">
                <a:latin typeface="Times New Roman"/>
                <a:ea typeface="Times New Roman"/>
                <a:cs typeface="Times New Roman"/>
                <a:sym typeface="Times New Roman"/>
              </a:rPr>
              <a:t>9781118382912</a:t>
            </a:r>
            <a:endParaRPr sz="2560"/>
          </a:p>
          <a:p>
            <a:pPr indent="-228600" lvl="0" marL="228600" rtl="0" algn="l">
              <a:lnSpc>
                <a:spcPct val="115000"/>
              </a:lnSpc>
              <a:spcBef>
                <a:spcPts val="1000"/>
              </a:spcBef>
              <a:spcAft>
                <a:spcPts val="0"/>
              </a:spcAft>
              <a:buClr>
                <a:schemeClr val="dk1"/>
              </a:buClr>
              <a:buSzPts val="1860"/>
              <a:buChar char="•"/>
            </a:pPr>
            <a:r>
              <a:rPr lang="en-US" sz="1860">
                <a:latin typeface="Times New Roman"/>
                <a:ea typeface="Times New Roman"/>
                <a:cs typeface="Times New Roman"/>
                <a:sym typeface="Times New Roman"/>
              </a:rPr>
              <a:t>Book: Fluorescence Microscopy: From Principles to Biological Applications by Ulrich Kubitscheck, 2</a:t>
            </a:r>
            <a:r>
              <a:rPr baseline="30000" lang="en-US" sz="1860">
                <a:latin typeface="Times New Roman"/>
                <a:ea typeface="Times New Roman"/>
                <a:cs typeface="Times New Roman"/>
                <a:sym typeface="Times New Roman"/>
              </a:rPr>
              <a:t>nd</a:t>
            </a:r>
            <a:r>
              <a:rPr lang="en-US" sz="1860">
                <a:latin typeface="Times New Roman"/>
                <a:ea typeface="Times New Roman"/>
                <a:cs typeface="Times New Roman"/>
                <a:sym typeface="Times New Roman"/>
              </a:rPr>
              <a:t> edition, John Wiley &amp; Sons publisher, </a:t>
            </a:r>
            <a:r>
              <a:rPr b="1" lang="en-US" sz="1860">
                <a:latin typeface="Times New Roman"/>
                <a:ea typeface="Times New Roman"/>
                <a:cs typeface="Times New Roman"/>
                <a:sym typeface="Times New Roman"/>
              </a:rPr>
              <a:t>eBook ISBN </a:t>
            </a:r>
            <a:r>
              <a:rPr lang="en-US" sz="1860">
                <a:latin typeface="Times New Roman"/>
                <a:ea typeface="Times New Roman"/>
                <a:cs typeface="Times New Roman"/>
                <a:sym typeface="Times New Roman"/>
              </a:rPr>
              <a:t>9783527687725</a:t>
            </a:r>
            <a:endParaRPr sz="2560"/>
          </a:p>
          <a:p>
            <a:pPr indent="-114300" lvl="0" marL="228600" rtl="0" algn="l">
              <a:lnSpc>
                <a:spcPct val="115000"/>
              </a:lnSpc>
              <a:spcBef>
                <a:spcPts val="1000"/>
              </a:spcBef>
              <a:spcAft>
                <a:spcPts val="0"/>
              </a:spcAft>
              <a:buClr>
                <a:schemeClr val="dk1"/>
              </a:buClr>
              <a:buSzPts val="1260"/>
              <a:buNone/>
            </a:pPr>
            <a:r>
              <a:t/>
            </a:r>
            <a:endParaRPr sz="1860">
              <a:latin typeface="Times New Roman"/>
              <a:ea typeface="Times New Roman"/>
              <a:cs typeface="Times New Roman"/>
              <a:sym typeface="Times New Roman"/>
            </a:endParaRPr>
          </a:p>
          <a:p>
            <a:pPr indent="-228600" lvl="0" marL="228600" rtl="0" algn="l">
              <a:lnSpc>
                <a:spcPct val="115000"/>
              </a:lnSpc>
              <a:spcBef>
                <a:spcPts val="1000"/>
              </a:spcBef>
              <a:spcAft>
                <a:spcPts val="0"/>
              </a:spcAft>
              <a:buClr>
                <a:schemeClr val="dk1"/>
              </a:buClr>
              <a:buSzPts val="1860"/>
              <a:buChar char="•"/>
            </a:pPr>
            <a:r>
              <a:rPr lang="en-US" sz="1860">
                <a:latin typeface="Times New Roman"/>
                <a:ea typeface="Times New Roman"/>
                <a:cs typeface="Times New Roman"/>
                <a:sym typeface="Times New Roman"/>
              </a:rPr>
              <a:t>e-resource: </a:t>
            </a:r>
            <a:r>
              <a:rPr lang="en-US" sz="1860" u="sng">
                <a:solidFill>
                  <a:schemeClr val="hlink"/>
                </a:solidFill>
                <a:latin typeface="Times New Roman"/>
                <a:ea typeface="Times New Roman"/>
                <a:cs typeface="Times New Roman"/>
                <a:sym typeface="Times New Roman"/>
                <a:hlinkClick r:id="rId3"/>
              </a:rPr>
              <a:t>https://www.microscopyu.com/</a:t>
            </a:r>
            <a:endParaRPr sz="1860">
              <a:latin typeface="Times New Roman"/>
              <a:ea typeface="Times New Roman"/>
              <a:cs typeface="Times New Roman"/>
              <a:sym typeface="Times New Roman"/>
            </a:endParaRPr>
          </a:p>
          <a:p>
            <a:pPr indent="-228600" lvl="0" marL="228600" rtl="0" algn="l">
              <a:lnSpc>
                <a:spcPct val="115000"/>
              </a:lnSpc>
              <a:spcBef>
                <a:spcPts val="1000"/>
              </a:spcBef>
              <a:spcAft>
                <a:spcPts val="0"/>
              </a:spcAft>
              <a:buClr>
                <a:schemeClr val="dk1"/>
              </a:buClr>
              <a:buSzPts val="1860"/>
              <a:buChar char="•"/>
            </a:pPr>
            <a:r>
              <a:rPr lang="en-US" sz="1860">
                <a:latin typeface="Times New Roman"/>
                <a:ea typeface="Times New Roman"/>
                <a:cs typeface="Times New Roman"/>
                <a:sym typeface="Times New Roman"/>
              </a:rPr>
              <a:t>e-resource: </a:t>
            </a:r>
            <a:r>
              <a:rPr lang="en-US" sz="1860" u="sng">
                <a:solidFill>
                  <a:schemeClr val="hlink"/>
                </a:solidFill>
                <a:latin typeface="Times New Roman"/>
                <a:ea typeface="Times New Roman"/>
                <a:cs typeface="Times New Roman"/>
                <a:sym typeface="Times New Roman"/>
                <a:hlinkClick r:id="rId4"/>
              </a:rPr>
              <a:t>https://www.ibiology.org/online-biology-courses/microscopy-series/</a:t>
            </a:r>
            <a:endParaRPr sz="1860">
              <a:latin typeface="Times New Roman"/>
              <a:ea typeface="Times New Roman"/>
              <a:cs typeface="Times New Roman"/>
              <a:sym typeface="Times New Roman"/>
            </a:endParaRPr>
          </a:p>
          <a:p>
            <a:pPr indent="-228600" lvl="0" marL="228600" rtl="0" algn="l">
              <a:lnSpc>
                <a:spcPct val="115000"/>
              </a:lnSpc>
              <a:spcBef>
                <a:spcPts val="1000"/>
              </a:spcBef>
              <a:spcAft>
                <a:spcPts val="0"/>
              </a:spcAft>
              <a:buClr>
                <a:schemeClr val="dk1"/>
              </a:buClr>
              <a:buSzPts val="1860"/>
              <a:buChar char="•"/>
            </a:pPr>
            <a:r>
              <a:rPr lang="en-US" sz="1860">
                <a:latin typeface="Times New Roman"/>
                <a:ea typeface="Times New Roman"/>
                <a:cs typeface="Times New Roman"/>
                <a:sym typeface="Times New Roman"/>
              </a:rPr>
              <a:t>e-resource: </a:t>
            </a:r>
            <a:r>
              <a:rPr lang="en-US" sz="1860" u="sng">
                <a:solidFill>
                  <a:schemeClr val="hlink"/>
                </a:solidFill>
                <a:latin typeface="Times New Roman"/>
                <a:ea typeface="Times New Roman"/>
                <a:cs typeface="Times New Roman"/>
                <a:sym typeface="Times New Roman"/>
                <a:hlinkClick r:id="rId5"/>
              </a:rPr>
              <a:t>http://zeiss-campus.magnet.fsu.edu/index.html</a:t>
            </a:r>
            <a:endParaRPr sz="1860">
              <a:latin typeface="Times New Roman"/>
              <a:ea typeface="Times New Roman"/>
              <a:cs typeface="Times New Roman"/>
              <a:sym typeface="Times New Roman"/>
            </a:endParaRPr>
          </a:p>
          <a:p>
            <a:pPr indent="-228600" lvl="0" marL="228600" rtl="0" algn="l">
              <a:lnSpc>
                <a:spcPct val="115000"/>
              </a:lnSpc>
              <a:spcBef>
                <a:spcPts val="1000"/>
              </a:spcBef>
              <a:spcAft>
                <a:spcPts val="0"/>
              </a:spcAft>
              <a:buClr>
                <a:schemeClr val="dk1"/>
              </a:buClr>
              <a:buSzPts val="1860"/>
              <a:buChar char="•"/>
            </a:pPr>
            <a:r>
              <a:rPr lang="en-US" sz="1860">
                <a:latin typeface="Times New Roman"/>
                <a:ea typeface="Times New Roman"/>
                <a:cs typeface="Times New Roman"/>
                <a:sym typeface="Times New Roman"/>
              </a:rPr>
              <a:t>e-resource: </a:t>
            </a:r>
            <a:r>
              <a:rPr lang="en-US" sz="1860" u="sng">
                <a:solidFill>
                  <a:schemeClr val="hlink"/>
                </a:solidFill>
                <a:latin typeface="Times New Roman"/>
                <a:ea typeface="Times New Roman"/>
                <a:cs typeface="Times New Roman"/>
                <a:sym typeface="Times New Roman"/>
                <a:hlinkClick r:id="rId6"/>
              </a:rPr>
              <a:t>https://www.leica-microsystems.com/science-lab/topics/basics-in-microscopy/</a:t>
            </a:r>
            <a:endParaRPr sz="1860">
              <a:latin typeface="Times New Roman"/>
              <a:ea typeface="Times New Roman"/>
              <a:cs typeface="Times New Roman"/>
              <a:sym typeface="Times New Roman"/>
            </a:endParaRPr>
          </a:p>
          <a:p>
            <a:pPr indent="-228600" lvl="0" marL="228600" rtl="0" algn="l">
              <a:lnSpc>
                <a:spcPct val="115000"/>
              </a:lnSpc>
              <a:spcBef>
                <a:spcPts val="1000"/>
              </a:spcBef>
              <a:spcAft>
                <a:spcPts val="0"/>
              </a:spcAft>
              <a:buClr>
                <a:schemeClr val="dk1"/>
              </a:buClr>
              <a:buSzPts val="1860"/>
              <a:buChar char="•"/>
            </a:pPr>
            <a:r>
              <a:rPr lang="en-US" sz="1860">
                <a:latin typeface="Times New Roman"/>
                <a:ea typeface="Times New Roman"/>
                <a:cs typeface="Times New Roman"/>
                <a:sym typeface="Times New Roman"/>
              </a:rPr>
              <a:t>e-resource: </a:t>
            </a:r>
            <a:r>
              <a:rPr lang="en-US" sz="1860" u="sng">
                <a:solidFill>
                  <a:schemeClr val="hlink"/>
                </a:solidFill>
                <a:latin typeface="Times New Roman"/>
                <a:ea typeface="Times New Roman"/>
                <a:cs typeface="Times New Roman"/>
                <a:sym typeface="Times New Roman"/>
                <a:hlinkClick r:id="rId7"/>
              </a:rPr>
              <a:t>https://www.olympus-lifescience.com/en/microscope-resource/</a:t>
            </a:r>
            <a:endParaRPr sz="1860">
              <a:latin typeface="Times New Roman"/>
              <a:ea typeface="Times New Roman"/>
              <a:cs typeface="Times New Roman"/>
              <a:sym typeface="Times New Roman"/>
            </a:endParaRPr>
          </a:p>
          <a:p>
            <a:pPr indent="-228600" lvl="0" marL="228600" rtl="0" algn="l">
              <a:lnSpc>
                <a:spcPct val="115000"/>
              </a:lnSpc>
              <a:spcBef>
                <a:spcPts val="1000"/>
              </a:spcBef>
              <a:spcAft>
                <a:spcPts val="0"/>
              </a:spcAft>
              <a:buClr>
                <a:schemeClr val="dk1"/>
              </a:buClr>
              <a:buSzPts val="1860"/>
              <a:buChar char="•"/>
            </a:pPr>
            <a:r>
              <a:rPr lang="en-US" sz="1860">
                <a:latin typeface="Times New Roman"/>
                <a:ea typeface="Times New Roman"/>
                <a:cs typeface="Times New Roman"/>
                <a:sym typeface="Times New Roman"/>
              </a:rPr>
              <a:t>e-resource: </a:t>
            </a:r>
            <a:r>
              <a:rPr lang="en-US" sz="1860" u="sng">
                <a:solidFill>
                  <a:schemeClr val="hlink"/>
                </a:solidFill>
                <a:latin typeface="Times New Roman"/>
                <a:ea typeface="Times New Roman"/>
                <a:cs typeface="Times New Roman"/>
                <a:sym typeface="Times New Roman"/>
                <a:hlinkClick r:id="rId8"/>
              </a:rPr>
              <a:t>https://imagej.nih.gov/ij/docs/examples/index.html</a:t>
            </a:r>
            <a:endParaRPr sz="1860">
              <a:latin typeface="Times New Roman"/>
              <a:ea typeface="Times New Roman"/>
              <a:cs typeface="Times New Roman"/>
              <a:sym typeface="Times New Roman"/>
            </a:endParaRPr>
          </a:p>
          <a:p>
            <a:pPr indent="-228600" lvl="0" marL="228600" rtl="0" algn="l">
              <a:lnSpc>
                <a:spcPct val="115000"/>
              </a:lnSpc>
              <a:spcBef>
                <a:spcPts val="1000"/>
              </a:spcBef>
              <a:spcAft>
                <a:spcPts val="0"/>
              </a:spcAft>
              <a:buClr>
                <a:schemeClr val="dk1"/>
              </a:buClr>
              <a:buSzPts val="1860"/>
              <a:buChar char="•"/>
            </a:pPr>
            <a:r>
              <a:rPr lang="en-US" sz="1860">
                <a:latin typeface="Times New Roman"/>
                <a:ea typeface="Times New Roman"/>
                <a:cs typeface="Times New Roman"/>
                <a:sym typeface="Times New Roman"/>
              </a:rPr>
              <a:t>e-resource: </a:t>
            </a:r>
            <a:r>
              <a:rPr lang="en-US" sz="1860" u="sng">
                <a:solidFill>
                  <a:schemeClr val="hlink"/>
                </a:solidFill>
                <a:latin typeface="Times New Roman"/>
                <a:ea typeface="Times New Roman"/>
                <a:cs typeface="Times New Roman"/>
                <a:sym typeface="Times New Roman"/>
                <a:hlinkClick r:id="rId9"/>
              </a:rPr>
              <a:t>https://www.youtube.com/playlist?list=PL5ESQNfM5lc7SAMstEu082ivW4BDMvd0U</a:t>
            </a:r>
            <a:endParaRPr sz="1860">
              <a:latin typeface="Times New Roman"/>
              <a:ea typeface="Times New Roman"/>
              <a:cs typeface="Times New Roman"/>
              <a:sym typeface="Times New Roman"/>
            </a:endParaRPr>
          </a:p>
          <a:p>
            <a:pPr indent="-114300" lvl="0" marL="228600" rtl="0" algn="l">
              <a:lnSpc>
                <a:spcPct val="115000"/>
              </a:lnSpc>
              <a:spcBef>
                <a:spcPts val="1000"/>
              </a:spcBef>
              <a:spcAft>
                <a:spcPts val="0"/>
              </a:spcAft>
              <a:buClr>
                <a:schemeClr val="dk1"/>
              </a:buClr>
              <a:buSzPts val="1260"/>
              <a:buNone/>
            </a:pPr>
            <a:r>
              <a:t/>
            </a:r>
            <a:endParaRPr sz="1860">
              <a:latin typeface="Times New Roman"/>
              <a:ea typeface="Times New Roman"/>
              <a:cs typeface="Times New Roman"/>
              <a:sym typeface="Times New Roman"/>
            </a:endParaRPr>
          </a:p>
          <a:p>
            <a:pPr indent="-114300" lvl="0" marL="228600" rtl="0" algn="l">
              <a:lnSpc>
                <a:spcPct val="115000"/>
              </a:lnSpc>
              <a:spcBef>
                <a:spcPts val="1000"/>
              </a:spcBef>
              <a:spcAft>
                <a:spcPts val="0"/>
              </a:spcAft>
              <a:buClr>
                <a:schemeClr val="dk1"/>
              </a:buClr>
              <a:buSzPts val="1260"/>
              <a:buNone/>
            </a:pPr>
            <a:r>
              <a:t/>
            </a:r>
            <a:endParaRPr sz="1860">
              <a:latin typeface="Times New Roman"/>
              <a:ea typeface="Times New Roman"/>
              <a:cs typeface="Times New Roman"/>
              <a:sym typeface="Times New Roman"/>
            </a:endParaRPr>
          </a:p>
          <a:p>
            <a:pPr indent="-114300" lvl="0" marL="228600" rtl="0" algn="l">
              <a:lnSpc>
                <a:spcPct val="115000"/>
              </a:lnSpc>
              <a:spcBef>
                <a:spcPts val="1000"/>
              </a:spcBef>
              <a:spcAft>
                <a:spcPts val="0"/>
              </a:spcAft>
              <a:buClr>
                <a:schemeClr val="dk1"/>
              </a:buClr>
              <a:buSzPts val="1260"/>
              <a:buNone/>
            </a:pPr>
            <a:r>
              <a:t/>
            </a:r>
            <a:endParaRPr sz="1860">
              <a:latin typeface="Times New Roman"/>
              <a:ea typeface="Times New Roman"/>
              <a:cs typeface="Times New Roman"/>
              <a:sym typeface="Times New Roman"/>
            </a:endParaRPr>
          </a:p>
          <a:p>
            <a:pPr indent="-114300" lvl="0" marL="228600" rtl="0" algn="l">
              <a:lnSpc>
                <a:spcPct val="115000"/>
              </a:lnSpc>
              <a:spcBef>
                <a:spcPts val="1000"/>
              </a:spcBef>
              <a:spcAft>
                <a:spcPts val="0"/>
              </a:spcAft>
              <a:buClr>
                <a:schemeClr val="dk1"/>
              </a:buClr>
              <a:buSzPts val="1260"/>
              <a:buNone/>
            </a:pPr>
            <a:r>
              <a:t/>
            </a:r>
            <a:endParaRPr sz="1860">
              <a:latin typeface="Times New Roman"/>
              <a:ea typeface="Times New Roman"/>
              <a:cs typeface="Times New Roman"/>
              <a:sym typeface="Times New Roman"/>
            </a:endParaRPr>
          </a:p>
          <a:p>
            <a:pPr indent="-114300" lvl="0" marL="228600" rtl="0" algn="l">
              <a:lnSpc>
                <a:spcPct val="115000"/>
              </a:lnSpc>
              <a:spcBef>
                <a:spcPts val="1000"/>
              </a:spcBef>
              <a:spcAft>
                <a:spcPts val="0"/>
              </a:spcAft>
              <a:buClr>
                <a:schemeClr val="dk1"/>
              </a:buClr>
              <a:buSzPts val="1260"/>
              <a:buNone/>
            </a:pPr>
            <a:r>
              <a:t/>
            </a:r>
            <a:endParaRPr sz="1860">
              <a:latin typeface="Times New Roman"/>
              <a:ea typeface="Times New Roman"/>
              <a:cs typeface="Times New Roman"/>
              <a:sym typeface="Times New Roman"/>
            </a:endParaRPr>
          </a:p>
        </p:txBody>
      </p:sp>
      <p:sp>
        <p:nvSpPr>
          <p:cNvPr id="542" name="Google Shape;542;g1219bf80b5f_0_0"/>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Times New Roman"/>
                <a:ea typeface="Times New Roman"/>
                <a:cs typeface="Times New Roman"/>
                <a:sym typeface="Times New Roman"/>
              </a:rPr>
              <a:t>Further reading</a:t>
            </a:r>
            <a:endParaRPr b="1" i="0" sz="20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g3a2fdaac686_0_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sz="3000"/>
              <a:t>Slide no. 29 onwards are not a part of your syllabus for the exam on 17/11/2025.</a:t>
            </a:r>
            <a:endParaRPr sz="30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pic>
        <p:nvPicPr>
          <p:cNvPr id="554" name="Google Shape;554;g12196808087_0_1669"/>
          <p:cNvPicPr preferRelativeResize="0"/>
          <p:nvPr/>
        </p:nvPicPr>
        <p:blipFill rotWithShape="1">
          <a:blip r:embed="rId3">
            <a:alphaModFix/>
          </a:blip>
          <a:srcRect b="0" l="0" r="0" t="0"/>
          <a:stretch/>
        </p:blipFill>
        <p:spPr>
          <a:xfrm>
            <a:off x="0" y="517500"/>
            <a:ext cx="4346025" cy="3165850"/>
          </a:xfrm>
          <a:prstGeom prst="rect">
            <a:avLst/>
          </a:prstGeom>
          <a:noFill/>
          <a:ln>
            <a:noFill/>
          </a:ln>
        </p:spPr>
      </p:pic>
      <p:pic>
        <p:nvPicPr>
          <p:cNvPr id="555" name="Google Shape;555;g12196808087_0_1669"/>
          <p:cNvPicPr preferRelativeResize="0"/>
          <p:nvPr/>
        </p:nvPicPr>
        <p:blipFill rotWithShape="1">
          <a:blip r:embed="rId4">
            <a:alphaModFix/>
          </a:blip>
          <a:srcRect b="0" l="0" r="0" t="0"/>
          <a:stretch/>
        </p:blipFill>
        <p:spPr>
          <a:xfrm>
            <a:off x="0" y="4032825"/>
            <a:ext cx="3168975" cy="2825175"/>
          </a:xfrm>
          <a:prstGeom prst="rect">
            <a:avLst/>
          </a:prstGeom>
          <a:noFill/>
          <a:ln>
            <a:noFill/>
          </a:ln>
        </p:spPr>
      </p:pic>
      <p:pic>
        <p:nvPicPr>
          <p:cNvPr id="556" name="Google Shape;556;g12196808087_0_1669"/>
          <p:cNvPicPr preferRelativeResize="0"/>
          <p:nvPr/>
        </p:nvPicPr>
        <p:blipFill rotWithShape="1">
          <a:blip r:embed="rId5">
            <a:alphaModFix/>
          </a:blip>
          <a:srcRect b="0" l="52454" r="0" t="0"/>
          <a:stretch/>
        </p:blipFill>
        <p:spPr>
          <a:xfrm>
            <a:off x="3752171" y="4032825"/>
            <a:ext cx="4775878" cy="2825175"/>
          </a:xfrm>
          <a:prstGeom prst="rect">
            <a:avLst/>
          </a:prstGeom>
          <a:noFill/>
          <a:ln>
            <a:noFill/>
          </a:ln>
        </p:spPr>
      </p:pic>
      <p:sp>
        <p:nvSpPr>
          <p:cNvPr id="557" name="Google Shape;557;g12196808087_0_1669"/>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Times New Roman"/>
                <a:ea typeface="Times New Roman"/>
                <a:cs typeface="Times New Roman"/>
                <a:sym typeface="Times New Roman"/>
              </a:rPr>
              <a:t>Bright field / Dark Field / Phase Contrast Microscopy</a:t>
            </a:r>
            <a:endParaRPr b="1" i="0" sz="2000" u="none" cap="none" strike="noStrike">
              <a:solidFill>
                <a:schemeClr val="lt1"/>
              </a:solidFill>
              <a:latin typeface="Times New Roman"/>
              <a:ea typeface="Times New Roman"/>
              <a:cs typeface="Times New Roman"/>
              <a:sym typeface="Times New Roman"/>
            </a:endParaRPr>
          </a:p>
        </p:txBody>
      </p:sp>
      <p:pic>
        <p:nvPicPr>
          <p:cNvPr id="558" name="Google Shape;558;g12196808087_0_1669"/>
          <p:cNvPicPr preferRelativeResize="0"/>
          <p:nvPr/>
        </p:nvPicPr>
        <p:blipFill rotWithShape="1">
          <a:blip r:embed="rId6">
            <a:alphaModFix/>
          </a:blip>
          <a:srcRect b="0" l="0" r="0" t="0"/>
          <a:stretch/>
        </p:blipFill>
        <p:spPr>
          <a:xfrm>
            <a:off x="8654525" y="495350"/>
            <a:ext cx="3537475" cy="3537475"/>
          </a:xfrm>
          <a:prstGeom prst="rect">
            <a:avLst/>
          </a:prstGeom>
          <a:noFill/>
          <a:ln>
            <a:noFill/>
          </a:ln>
        </p:spPr>
      </p:pic>
      <p:pic>
        <p:nvPicPr>
          <p:cNvPr id="559" name="Google Shape;559;g12196808087_0_1669"/>
          <p:cNvPicPr preferRelativeResize="0"/>
          <p:nvPr/>
        </p:nvPicPr>
        <p:blipFill rotWithShape="1">
          <a:blip r:embed="rId7">
            <a:alphaModFix/>
          </a:blip>
          <a:srcRect b="0" l="0" r="0" t="0"/>
          <a:stretch/>
        </p:blipFill>
        <p:spPr>
          <a:xfrm>
            <a:off x="4506530" y="517500"/>
            <a:ext cx="4071795" cy="3165850"/>
          </a:xfrm>
          <a:prstGeom prst="rect">
            <a:avLst/>
          </a:prstGeom>
          <a:noFill/>
          <a:ln>
            <a:noFill/>
          </a:ln>
        </p:spPr>
      </p:pic>
      <p:pic>
        <p:nvPicPr>
          <p:cNvPr id="560" name="Google Shape;560;g12196808087_0_1669"/>
          <p:cNvPicPr preferRelativeResize="0"/>
          <p:nvPr/>
        </p:nvPicPr>
        <p:blipFill>
          <a:blip r:embed="rId8">
            <a:alphaModFix/>
          </a:blip>
          <a:stretch>
            <a:fillRect/>
          </a:stretch>
        </p:blipFill>
        <p:spPr>
          <a:xfrm>
            <a:off x="8957200" y="4109300"/>
            <a:ext cx="2960150" cy="27487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pic>
        <p:nvPicPr>
          <p:cNvPr id="565" name="Google Shape;565;g12196808087_0_385"/>
          <p:cNvPicPr preferRelativeResize="0"/>
          <p:nvPr/>
        </p:nvPicPr>
        <p:blipFill rotWithShape="1">
          <a:blip r:embed="rId3">
            <a:alphaModFix/>
          </a:blip>
          <a:srcRect b="0" l="0" r="0" t="0"/>
          <a:stretch/>
        </p:blipFill>
        <p:spPr>
          <a:xfrm>
            <a:off x="66676" y="608508"/>
            <a:ext cx="6534149" cy="5753239"/>
          </a:xfrm>
          <a:prstGeom prst="rect">
            <a:avLst/>
          </a:prstGeom>
          <a:noFill/>
          <a:ln>
            <a:noFill/>
          </a:ln>
        </p:spPr>
      </p:pic>
      <p:sp>
        <p:nvSpPr>
          <p:cNvPr id="566" name="Google Shape;566;g12196808087_0_385"/>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Times New Roman"/>
                <a:ea typeface="Times New Roman"/>
                <a:cs typeface="Times New Roman"/>
                <a:sym typeface="Times New Roman"/>
              </a:rPr>
              <a:t>Anatomy of the Fluorescence Microscope</a:t>
            </a:r>
            <a:endParaRPr b="1" i="0" sz="2000" u="none" cap="none" strike="noStrike">
              <a:solidFill>
                <a:schemeClr val="lt1"/>
              </a:solidFill>
              <a:latin typeface="Times New Roman"/>
              <a:ea typeface="Times New Roman"/>
              <a:cs typeface="Times New Roman"/>
              <a:sym typeface="Times New Roman"/>
            </a:endParaRPr>
          </a:p>
        </p:txBody>
      </p:sp>
      <p:sp>
        <p:nvSpPr>
          <p:cNvPr id="567" name="Google Shape;567;g12196808087_0_385"/>
          <p:cNvSpPr txBox="1"/>
          <p:nvPr/>
        </p:nvSpPr>
        <p:spPr>
          <a:xfrm>
            <a:off x="0" y="6550223"/>
            <a:ext cx="94869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Times New Roman"/>
                <a:ea typeface="Times New Roman"/>
                <a:cs typeface="Times New Roman"/>
                <a:sym typeface="Times New Roman"/>
              </a:rPr>
              <a:t>https://www.olympus-lifescience.com/en/microscope-resource/primer/techniques/fluorescence/anatomy/fluoromicroanatomy/</a:t>
            </a:r>
            <a:endParaRPr b="0" i="0" sz="1400" u="none" cap="none" strike="noStrike">
              <a:solidFill>
                <a:schemeClr val="dk1"/>
              </a:solidFill>
              <a:latin typeface="Times New Roman"/>
              <a:ea typeface="Times New Roman"/>
              <a:cs typeface="Times New Roman"/>
              <a:sym typeface="Times New Roman"/>
            </a:endParaRPr>
          </a:p>
        </p:txBody>
      </p:sp>
      <p:pic>
        <p:nvPicPr>
          <p:cNvPr id="568" name="Google Shape;568;g12196808087_0_385"/>
          <p:cNvPicPr preferRelativeResize="0"/>
          <p:nvPr/>
        </p:nvPicPr>
        <p:blipFill>
          <a:blip r:embed="rId4">
            <a:alphaModFix/>
          </a:blip>
          <a:stretch>
            <a:fillRect/>
          </a:stretch>
        </p:blipFill>
        <p:spPr>
          <a:xfrm>
            <a:off x="7210426" y="974700"/>
            <a:ext cx="4676775" cy="2638425"/>
          </a:xfrm>
          <a:prstGeom prst="rect">
            <a:avLst/>
          </a:prstGeom>
          <a:noFill/>
          <a:ln>
            <a:noFill/>
          </a:ln>
        </p:spPr>
      </p:pic>
      <p:pic>
        <p:nvPicPr>
          <p:cNvPr id="569" name="Google Shape;569;g12196808087_0_385"/>
          <p:cNvPicPr preferRelativeResize="0"/>
          <p:nvPr/>
        </p:nvPicPr>
        <p:blipFill>
          <a:blip r:embed="rId5">
            <a:alphaModFix/>
          </a:blip>
          <a:stretch>
            <a:fillRect/>
          </a:stretch>
        </p:blipFill>
        <p:spPr>
          <a:xfrm>
            <a:off x="7504051" y="4094800"/>
            <a:ext cx="4495800" cy="22669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g12196808087_0_981"/>
          <p:cNvSpPr txBox="1"/>
          <p:nvPr>
            <p:ph idx="1" type="body"/>
          </p:nvPr>
        </p:nvSpPr>
        <p:spPr>
          <a:xfrm>
            <a:off x="838200" y="619125"/>
            <a:ext cx="10515600" cy="55578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lang="en-US" sz="2000">
                <a:latin typeface="Times New Roman"/>
                <a:ea typeface="Times New Roman"/>
                <a:cs typeface="Times New Roman"/>
                <a:sym typeface="Times New Roman"/>
              </a:rPr>
              <a:t>FRAP was established by Axelrod et al. (1976) to study protein mobility/dynamics in living cells.</a:t>
            </a:r>
            <a:endParaRPr/>
          </a:p>
          <a:p>
            <a:pPr indent="-101600" lvl="0" marL="228600" rtl="0" algn="l">
              <a:lnSpc>
                <a:spcPct val="90000"/>
              </a:lnSpc>
              <a:spcBef>
                <a:spcPts val="1000"/>
              </a:spcBef>
              <a:spcAft>
                <a:spcPts val="0"/>
              </a:spcAft>
              <a:buClr>
                <a:schemeClr val="dk1"/>
              </a:buClr>
              <a:buSzPts val="2000"/>
              <a:buNone/>
            </a:pPr>
            <a:r>
              <a:t/>
            </a:r>
            <a:endParaRPr sz="20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000"/>
              <a:buChar char="•"/>
            </a:pPr>
            <a:r>
              <a:rPr lang="en-US" sz="2000">
                <a:latin typeface="Times New Roman"/>
                <a:ea typeface="Times New Roman"/>
                <a:cs typeface="Times New Roman"/>
                <a:sym typeface="Times New Roman"/>
              </a:rPr>
              <a:t>It can be used to measure the diffusion dynamics of proteins in live cells.</a:t>
            </a:r>
            <a:endParaRPr sz="2000">
              <a:latin typeface="Times New Roman"/>
              <a:ea typeface="Times New Roman"/>
              <a:cs typeface="Times New Roman"/>
              <a:sym typeface="Times New Roman"/>
            </a:endParaRPr>
          </a:p>
        </p:txBody>
      </p:sp>
      <p:sp>
        <p:nvSpPr>
          <p:cNvPr id="575" name="Google Shape;575;g12196808087_0_981"/>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Times New Roman"/>
                <a:ea typeface="Times New Roman"/>
                <a:cs typeface="Times New Roman"/>
                <a:sym typeface="Times New Roman"/>
              </a:rPr>
              <a:t>Fluorescence Recovery After Photobleaching (FRAP) to study protein dynamics</a:t>
            </a:r>
            <a:endParaRPr b="1" i="0" sz="2000" u="none" cap="none" strike="noStrike">
              <a:solidFill>
                <a:schemeClr val="lt1"/>
              </a:solidFill>
              <a:latin typeface="Times New Roman"/>
              <a:ea typeface="Times New Roman"/>
              <a:cs typeface="Times New Roman"/>
              <a:sym typeface="Times New Roman"/>
            </a:endParaRPr>
          </a:p>
        </p:txBody>
      </p:sp>
      <p:pic>
        <p:nvPicPr>
          <p:cNvPr id="576" name="Google Shape;576;g12196808087_0_981"/>
          <p:cNvPicPr preferRelativeResize="0"/>
          <p:nvPr/>
        </p:nvPicPr>
        <p:blipFill rotWithShape="1">
          <a:blip r:embed="rId3">
            <a:alphaModFix/>
          </a:blip>
          <a:srcRect b="48827" l="7406" r="10934" t="26612"/>
          <a:stretch/>
        </p:blipFill>
        <p:spPr>
          <a:xfrm>
            <a:off x="838200" y="3829050"/>
            <a:ext cx="7505700" cy="1270239"/>
          </a:xfrm>
          <a:prstGeom prst="rect">
            <a:avLst/>
          </a:prstGeom>
          <a:noFill/>
          <a:ln>
            <a:noFill/>
          </a:ln>
        </p:spPr>
      </p:pic>
      <p:sp>
        <p:nvSpPr>
          <p:cNvPr id="577" name="Google Shape;577;g12196808087_0_981"/>
          <p:cNvSpPr txBox="1"/>
          <p:nvPr/>
        </p:nvSpPr>
        <p:spPr>
          <a:xfrm>
            <a:off x="1047750" y="3541713"/>
            <a:ext cx="1056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POI-GFP</a:t>
            </a:r>
            <a:endParaRPr b="0" i="0" sz="1800" u="none" cap="none" strike="noStrike">
              <a:solidFill>
                <a:schemeClr val="dk1"/>
              </a:solidFill>
              <a:latin typeface="Times New Roman"/>
              <a:ea typeface="Times New Roman"/>
              <a:cs typeface="Times New Roman"/>
              <a:sym typeface="Times New Roman"/>
            </a:endParaRPr>
          </a:p>
        </p:txBody>
      </p:sp>
      <p:sp>
        <p:nvSpPr>
          <p:cNvPr id="578" name="Google Shape;578;g12196808087_0_981"/>
          <p:cNvSpPr txBox="1"/>
          <p:nvPr/>
        </p:nvSpPr>
        <p:spPr>
          <a:xfrm>
            <a:off x="838200" y="2384425"/>
            <a:ext cx="18693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Times New Roman"/>
                <a:ea typeface="Times New Roman"/>
                <a:cs typeface="Times New Roman"/>
                <a:sym typeface="Times New Roman"/>
              </a:rPr>
              <a:t>POI=Protein of Interest</a:t>
            </a:r>
            <a:endParaRPr b="0" i="0" sz="1400" u="none" cap="none" strike="noStrike">
              <a:solidFill>
                <a:schemeClr val="dk1"/>
              </a:solidFill>
              <a:latin typeface="Times New Roman"/>
              <a:ea typeface="Times New Roman"/>
              <a:cs typeface="Times New Roman"/>
              <a:sym typeface="Times New Roman"/>
            </a:endParaRPr>
          </a:p>
        </p:txBody>
      </p:sp>
      <p:cxnSp>
        <p:nvCxnSpPr>
          <p:cNvPr id="579" name="Google Shape;579;g12196808087_0_981"/>
          <p:cNvCxnSpPr/>
          <p:nvPr/>
        </p:nvCxnSpPr>
        <p:spPr>
          <a:xfrm>
            <a:off x="4162425" y="3409950"/>
            <a:ext cx="4010100" cy="0"/>
          </a:xfrm>
          <a:prstGeom prst="straightConnector1">
            <a:avLst/>
          </a:prstGeom>
          <a:noFill/>
          <a:ln cap="flat" cmpd="sng" w="19050">
            <a:solidFill>
              <a:schemeClr val="dk1"/>
            </a:solidFill>
            <a:prstDash val="solid"/>
            <a:miter lim="800000"/>
            <a:headEnd len="sm" w="sm" type="none"/>
            <a:tailEnd len="sm" w="sm" type="none"/>
          </a:ln>
        </p:spPr>
      </p:cxnSp>
      <p:sp>
        <p:nvSpPr>
          <p:cNvPr id="580" name="Google Shape;580;g12196808087_0_981"/>
          <p:cNvSpPr txBox="1"/>
          <p:nvPr/>
        </p:nvSpPr>
        <p:spPr>
          <a:xfrm>
            <a:off x="2572038" y="2878693"/>
            <a:ext cx="1346700" cy="738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Times New Roman"/>
                <a:ea typeface="Times New Roman"/>
                <a:cs typeface="Times New Roman"/>
                <a:sym typeface="Times New Roman"/>
              </a:rPr>
              <a:t>Photobleaching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Times New Roman"/>
                <a:ea typeface="Times New Roman"/>
                <a:cs typeface="Times New Roman"/>
                <a:sym typeface="Times New Roman"/>
              </a:rPr>
              <a:t>using high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Times New Roman"/>
                <a:ea typeface="Times New Roman"/>
                <a:cs typeface="Times New Roman"/>
                <a:sym typeface="Times New Roman"/>
              </a:rPr>
              <a:t>laser power</a:t>
            </a:r>
            <a:endParaRPr b="0" i="0" sz="1400" u="none" cap="none" strike="noStrike">
              <a:solidFill>
                <a:schemeClr val="dk1"/>
              </a:solidFill>
              <a:latin typeface="Times New Roman"/>
              <a:ea typeface="Times New Roman"/>
              <a:cs typeface="Times New Roman"/>
              <a:sym typeface="Times New Roman"/>
            </a:endParaRPr>
          </a:p>
        </p:txBody>
      </p:sp>
      <p:sp>
        <p:nvSpPr>
          <p:cNvPr id="581" name="Google Shape;581;g12196808087_0_981"/>
          <p:cNvSpPr txBox="1"/>
          <p:nvPr/>
        </p:nvSpPr>
        <p:spPr>
          <a:xfrm>
            <a:off x="4382117" y="3556516"/>
            <a:ext cx="561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50 s</a:t>
            </a:r>
            <a:endParaRPr b="0" i="0" sz="1800" u="none" cap="none" strike="noStrike">
              <a:solidFill>
                <a:schemeClr val="dk1"/>
              </a:solidFill>
              <a:latin typeface="Times New Roman"/>
              <a:ea typeface="Times New Roman"/>
              <a:cs typeface="Times New Roman"/>
              <a:sym typeface="Times New Roman"/>
            </a:endParaRPr>
          </a:p>
        </p:txBody>
      </p:sp>
      <p:sp>
        <p:nvSpPr>
          <p:cNvPr id="582" name="Google Shape;582;g12196808087_0_981"/>
          <p:cNvSpPr txBox="1"/>
          <p:nvPr/>
        </p:nvSpPr>
        <p:spPr>
          <a:xfrm>
            <a:off x="5849187" y="3550404"/>
            <a:ext cx="678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100 s</a:t>
            </a:r>
            <a:endParaRPr b="0" i="0" sz="1800" u="none" cap="none" strike="noStrike">
              <a:solidFill>
                <a:schemeClr val="dk1"/>
              </a:solidFill>
              <a:latin typeface="Times New Roman"/>
              <a:ea typeface="Times New Roman"/>
              <a:cs typeface="Times New Roman"/>
              <a:sym typeface="Times New Roman"/>
            </a:endParaRPr>
          </a:p>
        </p:txBody>
      </p:sp>
      <p:sp>
        <p:nvSpPr>
          <p:cNvPr id="583" name="Google Shape;583;g12196808087_0_981"/>
          <p:cNvSpPr txBox="1"/>
          <p:nvPr/>
        </p:nvSpPr>
        <p:spPr>
          <a:xfrm>
            <a:off x="7427651" y="3556516"/>
            <a:ext cx="678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150 s</a:t>
            </a:r>
            <a:endParaRPr b="0" i="0" sz="1800" u="none" cap="none" strike="noStrike">
              <a:solidFill>
                <a:schemeClr val="dk1"/>
              </a:solidFill>
              <a:latin typeface="Times New Roman"/>
              <a:ea typeface="Times New Roman"/>
              <a:cs typeface="Times New Roman"/>
              <a:sym typeface="Times New Roman"/>
            </a:endParaRPr>
          </a:p>
        </p:txBody>
      </p:sp>
      <p:sp>
        <p:nvSpPr>
          <p:cNvPr id="584" name="Google Shape;584;g12196808087_0_981"/>
          <p:cNvSpPr txBox="1"/>
          <p:nvPr/>
        </p:nvSpPr>
        <p:spPr>
          <a:xfrm>
            <a:off x="4034756" y="3050143"/>
            <a:ext cx="42384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Times New Roman"/>
                <a:ea typeface="Times New Roman"/>
                <a:cs typeface="Times New Roman"/>
                <a:sym typeface="Times New Roman"/>
              </a:rPr>
              <a:t>Recovery Time</a:t>
            </a:r>
            <a:endParaRPr b="0" i="0" sz="1400" u="none" cap="none" strike="noStrike">
              <a:solidFill>
                <a:schemeClr val="dk1"/>
              </a:solidFill>
              <a:latin typeface="Times New Roman"/>
              <a:ea typeface="Times New Roman"/>
              <a:cs typeface="Times New Roman"/>
              <a:sym typeface="Times New Roman"/>
            </a:endParaRPr>
          </a:p>
        </p:txBody>
      </p:sp>
      <p:pic>
        <p:nvPicPr>
          <p:cNvPr id="585" name="Google Shape;585;g12196808087_0_981"/>
          <p:cNvPicPr preferRelativeResize="0"/>
          <p:nvPr/>
        </p:nvPicPr>
        <p:blipFill rotWithShape="1">
          <a:blip r:embed="rId3">
            <a:alphaModFix/>
          </a:blip>
          <a:srcRect b="48827" l="7406" r="10934" t="26612"/>
          <a:stretch/>
        </p:blipFill>
        <p:spPr>
          <a:xfrm>
            <a:off x="809625" y="5286375"/>
            <a:ext cx="7505700" cy="1270239"/>
          </a:xfrm>
          <a:prstGeom prst="rect">
            <a:avLst/>
          </a:prstGeom>
          <a:noFill/>
          <a:ln>
            <a:noFill/>
          </a:ln>
        </p:spPr>
      </p:pic>
      <p:pic>
        <p:nvPicPr>
          <p:cNvPr id="586" name="Google Shape;586;g12196808087_0_981"/>
          <p:cNvPicPr preferRelativeResize="0"/>
          <p:nvPr/>
        </p:nvPicPr>
        <p:blipFill rotWithShape="1">
          <a:blip r:embed="rId3">
            <a:alphaModFix/>
          </a:blip>
          <a:srcRect b="48827" l="72694" r="10931" t="26612"/>
          <a:stretch/>
        </p:blipFill>
        <p:spPr>
          <a:xfrm>
            <a:off x="9910763" y="5286375"/>
            <a:ext cx="1504949" cy="1270239"/>
          </a:xfrm>
          <a:prstGeom prst="rect">
            <a:avLst/>
          </a:prstGeom>
          <a:noFill/>
          <a:ln>
            <a:noFill/>
          </a:ln>
        </p:spPr>
      </p:pic>
      <p:pic>
        <p:nvPicPr>
          <p:cNvPr id="587" name="Google Shape;587;g12196808087_0_981"/>
          <p:cNvPicPr preferRelativeResize="0"/>
          <p:nvPr/>
        </p:nvPicPr>
        <p:blipFill rotWithShape="1">
          <a:blip r:embed="rId3">
            <a:alphaModFix/>
          </a:blip>
          <a:srcRect b="48827" l="72694" r="10931" t="26612"/>
          <a:stretch/>
        </p:blipFill>
        <p:spPr>
          <a:xfrm>
            <a:off x="8343900" y="5286375"/>
            <a:ext cx="1504949" cy="1270239"/>
          </a:xfrm>
          <a:prstGeom prst="rect">
            <a:avLst/>
          </a:prstGeom>
          <a:noFill/>
          <a:ln>
            <a:noFill/>
          </a:ln>
        </p:spPr>
      </p:pic>
      <p:sp>
        <p:nvSpPr>
          <p:cNvPr id="588" name="Google Shape;588;g12196808087_0_981"/>
          <p:cNvSpPr/>
          <p:nvPr/>
        </p:nvSpPr>
        <p:spPr>
          <a:xfrm>
            <a:off x="9063038" y="5730987"/>
            <a:ext cx="381000" cy="381000"/>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89" name="Google Shape;589;g12196808087_0_981"/>
          <p:cNvSpPr/>
          <p:nvPr/>
        </p:nvSpPr>
        <p:spPr>
          <a:xfrm>
            <a:off x="7427651" y="5706984"/>
            <a:ext cx="511500" cy="511500"/>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0" name="Google Shape;590;g12196808087_0_981"/>
          <p:cNvSpPr/>
          <p:nvPr/>
        </p:nvSpPr>
        <p:spPr>
          <a:xfrm>
            <a:off x="5885031" y="5642564"/>
            <a:ext cx="594900" cy="594900"/>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1" name="Google Shape;591;g12196808087_0_981"/>
          <p:cNvSpPr txBox="1"/>
          <p:nvPr/>
        </p:nvSpPr>
        <p:spPr>
          <a:xfrm>
            <a:off x="4382117" y="5061466"/>
            <a:ext cx="561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50 s</a:t>
            </a:r>
            <a:endParaRPr b="0" i="0" sz="1800" u="none" cap="none" strike="noStrike">
              <a:solidFill>
                <a:schemeClr val="dk1"/>
              </a:solidFill>
              <a:latin typeface="Times New Roman"/>
              <a:ea typeface="Times New Roman"/>
              <a:cs typeface="Times New Roman"/>
              <a:sym typeface="Times New Roman"/>
            </a:endParaRPr>
          </a:p>
        </p:txBody>
      </p:sp>
      <p:sp>
        <p:nvSpPr>
          <p:cNvPr id="592" name="Google Shape;592;g12196808087_0_981"/>
          <p:cNvSpPr txBox="1"/>
          <p:nvPr/>
        </p:nvSpPr>
        <p:spPr>
          <a:xfrm>
            <a:off x="5849187" y="5055354"/>
            <a:ext cx="678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100 s</a:t>
            </a:r>
            <a:endParaRPr b="0" i="0" sz="1800" u="none" cap="none" strike="noStrike">
              <a:solidFill>
                <a:schemeClr val="dk1"/>
              </a:solidFill>
              <a:latin typeface="Times New Roman"/>
              <a:ea typeface="Times New Roman"/>
              <a:cs typeface="Times New Roman"/>
              <a:sym typeface="Times New Roman"/>
            </a:endParaRPr>
          </a:p>
        </p:txBody>
      </p:sp>
      <p:sp>
        <p:nvSpPr>
          <p:cNvPr id="593" name="Google Shape;593;g12196808087_0_981"/>
          <p:cNvSpPr txBox="1"/>
          <p:nvPr/>
        </p:nvSpPr>
        <p:spPr>
          <a:xfrm>
            <a:off x="7427651" y="5061466"/>
            <a:ext cx="678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150 s</a:t>
            </a:r>
            <a:endParaRPr b="0" i="0" sz="1800" u="none" cap="none" strike="noStrike">
              <a:solidFill>
                <a:schemeClr val="dk1"/>
              </a:solidFill>
              <a:latin typeface="Times New Roman"/>
              <a:ea typeface="Times New Roman"/>
              <a:cs typeface="Times New Roman"/>
              <a:sym typeface="Times New Roman"/>
            </a:endParaRPr>
          </a:p>
        </p:txBody>
      </p:sp>
      <p:sp>
        <p:nvSpPr>
          <p:cNvPr id="594" name="Google Shape;594;g12196808087_0_981"/>
          <p:cNvSpPr txBox="1"/>
          <p:nvPr/>
        </p:nvSpPr>
        <p:spPr>
          <a:xfrm>
            <a:off x="8948965" y="5045829"/>
            <a:ext cx="678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200 s</a:t>
            </a:r>
            <a:endParaRPr b="0" i="0" sz="1800" u="none" cap="none" strike="noStrike">
              <a:solidFill>
                <a:schemeClr val="dk1"/>
              </a:solidFill>
              <a:latin typeface="Times New Roman"/>
              <a:ea typeface="Times New Roman"/>
              <a:cs typeface="Times New Roman"/>
              <a:sym typeface="Times New Roman"/>
            </a:endParaRPr>
          </a:p>
        </p:txBody>
      </p:sp>
      <p:sp>
        <p:nvSpPr>
          <p:cNvPr id="595" name="Google Shape;595;g12196808087_0_981"/>
          <p:cNvSpPr txBox="1"/>
          <p:nvPr/>
        </p:nvSpPr>
        <p:spPr>
          <a:xfrm>
            <a:off x="10501760" y="5049242"/>
            <a:ext cx="678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250 s</a:t>
            </a:r>
            <a:endParaRPr b="0" i="0" sz="1800" u="none" cap="none" strike="noStrike">
              <a:solidFill>
                <a:schemeClr val="dk1"/>
              </a:solidFill>
              <a:latin typeface="Times New Roman"/>
              <a:ea typeface="Times New Roman"/>
              <a:cs typeface="Times New Roman"/>
              <a:sym typeface="Times New Roman"/>
            </a:endParaRPr>
          </a:p>
        </p:txBody>
      </p:sp>
      <p:sp>
        <p:nvSpPr>
          <p:cNvPr id="596" name="Google Shape;596;g12196808087_0_981"/>
          <p:cNvSpPr txBox="1"/>
          <p:nvPr/>
        </p:nvSpPr>
        <p:spPr>
          <a:xfrm>
            <a:off x="23812" y="4165799"/>
            <a:ext cx="918900" cy="738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Times New Roman"/>
                <a:ea typeface="Times New Roman"/>
                <a:cs typeface="Times New Roman"/>
                <a:sym typeface="Times New Roman"/>
              </a:rPr>
              <a:t>Fast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Times New Roman"/>
                <a:ea typeface="Times New Roman"/>
                <a:cs typeface="Times New Roman"/>
                <a:sym typeface="Times New Roman"/>
              </a:rPr>
              <a:t> diffusing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Times New Roman"/>
                <a:ea typeface="Times New Roman"/>
                <a:cs typeface="Times New Roman"/>
                <a:sym typeface="Times New Roman"/>
              </a:rPr>
              <a:t>protein</a:t>
            </a:r>
            <a:endParaRPr b="0" i="0" sz="1400" u="none" cap="none" strike="noStrike">
              <a:solidFill>
                <a:schemeClr val="dk1"/>
              </a:solidFill>
              <a:latin typeface="Times New Roman"/>
              <a:ea typeface="Times New Roman"/>
              <a:cs typeface="Times New Roman"/>
              <a:sym typeface="Times New Roman"/>
            </a:endParaRPr>
          </a:p>
        </p:txBody>
      </p:sp>
      <p:sp>
        <p:nvSpPr>
          <p:cNvPr id="597" name="Google Shape;597;g12196808087_0_981"/>
          <p:cNvSpPr txBox="1"/>
          <p:nvPr/>
        </p:nvSpPr>
        <p:spPr>
          <a:xfrm>
            <a:off x="23812" y="5583318"/>
            <a:ext cx="918900" cy="738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Times New Roman"/>
                <a:ea typeface="Times New Roman"/>
                <a:cs typeface="Times New Roman"/>
                <a:sym typeface="Times New Roman"/>
              </a:rPr>
              <a:t>Slow</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Times New Roman"/>
                <a:ea typeface="Times New Roman"/>
                <a:cs typeface="Times New Roman"/>
                <a:sym typeface="Times New Roman"/>
              </a:rPr>
              <a:t> diffusing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Times New Roman"/>
                <a:ea typeface="Times New Roman"/>
                <a:cs typeface="Times New Roman"/>
                <a:sym typeface="Times New Roman"/>
              </a:rPr>
              <a:t>protein</a:t>
            </a:r>
            <a:endParaRPr b="0" i="0" sz="1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pic>
        <p:nvPicPr>
          <p:cNvPr id="602" name="Google Shape;602;g12196808087_0_1008"/>
          <p:cNvPicPr preferRelativeResize="0"/>
          <p:nvPr>
            <p:ph idx="1" type="body"/>
          </p:nvPr>
        </p:nvPicPr>
        <p:blipFill rotWithShape="1">
          <a:blip r:embed="rId3">
            <a:alphaModFix/>
          </a:blip>
          <a:srcRect b="0" l="0" r="0" t="0"/>
          <a:stretch/>
        </p:blipFill>
        <p:spPr>
          <a:xfrm>
            <a:off x="102617" y="76200"/>
            <a:ext cx="8192700" cy="4857900"/>
          </a:xfrm>
          <a:prstGeom prst="rect">
            <a:avLst/>
          </a:prstGeom>
          <a:noFill/>
          <a:ln>
            <a:noFill/>
          </a:ln>
        </p:spPr>
      </p:pic>
      <p:sp>
        <p:nvSpPr>
          <p:cNvPr id="603" name="Google Shape;603;g12196808087_0_1008"/>
          <p:cNvSpPr/>
          <p:nvPr/>
        </p:nvSpPr>
        <p:spPr>
          <a:xfrm>
            <a:off x="7610475" y="2886075"/>
            <a:ext cx="190500" cy="266700"/>
          </a:xfrm>
          <a:prstGeom prst="rightBrace">
            <a:avLst>
              <a:gd fmla="val 8333" name="adj1"/>
              <a:gd fmla="val 50000" name="adj2"/>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04" name="Google Shape;604;g12196808087_0_1008"/>
          <p:cNvSpPr txBox="1"/>
          <p:nvPr/>
        </p:nvSpPr>
        <p:spPr>
          <a:xfrm>
            <a:off x="7800975" y="2825234"/>
            <a:ext cx="16788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Times New Roman"/>
                <a:ea typeface="Times New Roman"/>
                <a:cs typeface="Times New Roman"/>
                <a:sym typeface="Times New Roman"/>
              </a:rPr>
              <a:t>Immobile fraction</a:t>
            </a:r>
            <a:endParaRPr b="0" i="0" sz="1600" u="none" cap="none" strike="noStrike">
              <a:solidFill>
                <a:schemeClr val="dk1"/>
              </a:solidFill>
              <a:latin typeface="Times New Roman"/>
              <a:ea typeface="Times New Roman"/>
              <a:cs typeface="Times New Roman"/>
              <a:sym typeface="Times New Roman"/>
            </a:endParaRPr>
          </a:p>
        </p:txBody>
      </p:sp>
      <p:pic>
        <p:nvPicPr>
          <p:cNvPr id="605" name="Google Shape;605;g12196808087_0_1008"/>
          <p:cNvPicPr preferRelativeResize="0"/>
          <p:nvPr/>
        </p:nvPicPr>
        <p:blipFill rotWithShape="1">
          <a:blip r:embed="rId4">
            <a:alphaModFix/>
          </a:blip>
          <a:srcRect b="41110" l="4140" r="67267" t="33890"/>
          <a:stretch/>
        </p:blipFill>
        <p:spPr>
          <a:xfrm>
            <a:off x="7869170" y="3324226"/>
            <a:ext cx="4102729" cy="1008867"/>
          </a:xfrm>
          <a:prstGeom prst="rect">
            <a:avLst/>
          </a:prstGeom>
          <a:noFill/>
          <a:ln>
            <a:noFill/>
          </a:ln>
        </p:spPr>
      </p:pic>
      <p:sp>
        <p:nvSpPr>
          <p:cNvPr id="606" name="Google Shape;606;g12196808087_0_1008"/>
          <p:cNvSpPr txBox="1"/>
          <p:nvPr/>
        </p:nvSpPr>
        <p:spPr>
          <a:xfrm>
            <a:off x="228600" y="5025509"/>
            <a:ext cx="12073500" cy="1816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Times New Roman"/>
                <a:ea typeface="Times New Roman"/>
                <a:cs typeface="Times New Roman"/>
                <a:sym typeface="Times New Roman"/>
              </a:rPr>
              <a:t>Mobile fraction: fraction of fluorescent protein diffusing into bleached region during the time course of the experiment.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Times New Roman"/>
                <a:ea typeface="Times New Roman"/>
                <a:cs typeface="Times New Roman"/>
                <a:sym typeface="Times New Roman"/>
              </a:rPr>
              <a:t>Immobile fraction: fraction of immobile bleached molecules within the bleach spot that don’t allow fluorescent molecules to occupy their space.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Times New Roman"/>
                <a:ea typeface="Times New Roman"/>
                <a:cs typeface="Times New Roman"/>
                <a:sym typeface="Times New Roman"/>
              </a:rPr>
              <a:t>Aggregation of proteins, binding and diffusional barriers reduces mobile fraction.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Times New Roman"/>
                <a:ea typeface="Times New Roman"/>
                <a:cs typeface="Times New Roman"/>
                <a:sym typeface="Times New Roman"/>
              </a:rPr>
              <a:t>Diffusion coefficient: Rate of movement of proteins</a:t>
            </a:r>
            <a:endParaRPr b="0" i="0" sz="1600" u="none" cap="none" strike="noStrike">
              <a:solidFill>
                <a:schemeClr val="dk1"/>
              </a:solidFill>
              <a:latin typeface="Times New Roman"/>
              <a:ea typeface="Times New Roman"/>
              <a:cs typeface="Times New Roman"/>
              <a:sym typeface="Times New Roman"/>
            </a:endParaRPr>
          </a:p>
        </p:txBody>
      </p:sp>
      <p:cxnSp>
        <p:nvCxnSpPr>
          <p:cNvPr id="607" name="Google Shape;607;g12196808087_0_1008"/>
          <p:cNvCxnSpPr/>
          <p:nvPr/>
        </p:nvCxnSpPr>
        <p:spPr>
          <a:xfrm>
            <a:off x="819150" y="3619500"/>
            <a:ext cx="2809800" cy="0"/>
          </a:xfrm>
          <a:prstGeom prst="straightConnector1">
            <a:avLst/>
          </a:prstGeom>
          <a:noFill/>
          <a:ln cap="flat" cmpd="sng" w="9525">
            <a:solidFill>
              <a:schemeClr val="dk1"/>
            </a:solidFill>
            <a:prstDash val="lgDash"/>
            <a:miter lim="800000"/>
            <a:headEnd len="sm" w="sm" type="none"/>
            <a:tailEnd len="sm" w="sm" type="none"/>
          </a:ln>
        </p:spPr>
      </p:cxnSp>
      <p:cxnSp>
        <p:nvCxnSpPr>
          <p:cNvPr id="608" name="Google Shape;608;g12196808087_0_1008"/>
          <p:cNvCxnSpPr/>
          <p:nvPr/>
        </p:nvCxnSpPr>
        <p:spPr>
          <a:xfrm>
            <a:off x="3629025" y="3638550"/>
            <a:ext cx="0" cy="876300"/>
          </a:xfrm>
          <a:prstGeom prst="straightConnector1">
            <a:avLst/>
          </a:prstGeom>
          <a:noFill/>
          <a:ln cap="flat" cmpd="sng" w="9525">
            <a:solidFill>
              <a:schemeClr val="dk1"/>
            </a:solidFill>
            <a:prstDash val="lgDash"/>
            <a:miter lim="800000"/>
            <a:headEnd len="sm" w="sm" type="none"/>
            <a:tailEnd len="sm" w="sm" type="none"/>
          </a:ln>
        </p:spPr>
      </p:cxnSp>
      <p:sp>
        <p:nvSpPr>
          <p:cNvPr id="609" name="Google Shape;609;g12196808087_0_1008"/>
          <p:cNvSpPr txBox="1"/>
          <p:nvPr/>
        </p:nvSpPr>
        <p:spPr>
          <a:xfrm>
            <a:off x="3157235" y="4106644"/>
            <a:ext cx="490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τ</a:t>
            </a:r>
            <a:r>
              <a:rPr b="0" baseline="-25000" i="0" lang="en-US" sz="1800" u="none" cap="none" strike="noStrike">
                <a:solidFill>
                  <a:schemeClr val="dk1"/>
                </a:solidFill>
                <a:latin typeface="Calibri"/>
                <a:ea typeface="Calibri"/>
                <a:cs typeface="Calibri"/>
                <a:sym typeface="Calibri"/>
              </a:rPr>
              <a:t>1/2</a:t>
            </a:r>
            <a:endParaRPr b="0" baseline="-2500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g12196808087_0_1146"/>
          <p:cNvSpPr txBox="1"/>
          <p:nvPr>
            <p:ph idx="1" type="body"/>
          </p:nvPr>
        </p:nvSpPr>
        <p:spPr>
          <a:xfrm>
            <a:off x="685799" y="463550"/>
            <a:ext cx="81723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600"/>
              <a:buChar char="•"/>
            </a:pPr>
            <a:r>
              <a:rPr lang="en-US" sz="1600">
                <a:latin typeface="Times New Roman"/>
                <a:ea typeface="Times New Roman"/>
                <a:cs typeface="Times New Roman"/>
                <a:sym typeface="Times New Roman"/>
              </a:rPr>
              <a:t>Forster or Fluorescence Resonance Energy Transfer (FRET) is a mechanism describing energy transfer between two light-sensitive molecules (chromophores).</a:t>
            </a:r>
            <a:endParaRPr/>
          </a:p>
          <a:p>
            <a:pPr indent="-127000" lvl="0" marL="228600" rtl="0" algn="l">
              <a:lnSpc>
                <a:spcPct val="90000"/>
              </a:lnSpc>
              <a:spcBef>
                <a:spcPts val="1000"/>
              </a:spcBef>
              <a:spcAft>
                <a:spcPts val="0"/>
              </a:spcAft>
              <a:buClr>
                <a:schemeClr val="dk1"/>
              </a:buClr>
              <a:buSzPts val="1600"/>
              <a:buNone/>
            </a:pPr>
            <a:r>
              <a:t/>
            </a:r>
            <a:endParaRPr sz="16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1600"/>
              <a:buChar char="•"/>
            </a:pPr>
            <a:r>
              <a:rPr lang="en-US" sz="1600">
                <a:latin typeface="Times New Roman"/>
                <a:ea typeface="Times New Roman"/>
                <a:cs typeface="Times New Roman"/>
                <a:sym typeface="Times New Roman"/>
              </a:rPr>
              <a:t>A donor chromophore in its excited state, transfer energy to an acceptor chromophore through nonradiative dipole-dipole coupling.</a:t>
            </a:r>
            <a:endParaRPr/>
          </a:p>
          <a:p>
            <a:pPr indent="-127000" lvl="0" marL="228600" rtl="0" algn="l">
              <a:lnSpc>
                <a:spcPct val="90000"/>
              </a:lnSpc>
              <a:spcBef>
                <a:spcPts val="1000"/>
              </a:spcBef>
              <a:spcAft>
                <a:spcPts val="0"/>
              </a:spcAft>
              <a:buClr>
                <a:schemeClr val="dk1"/>
              </a:buClr>
              <a:buSzPts val="1600"/>
              <a:buNone/>
            </a:pPr>
            <a:r>
              <a:t/>
            </a:r>
            <a:endParaRPr sz="16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1600"/>
              <a:buChar char="•"/>
            </a:pPr>
            <a:r>
              <a:rPr lang="en-US" sz="1600">
                <a:latin typeface="Times New Roman"/>
                <a:ea typeface="Times New Roman"/>
                <a:cs typeface="Times New Roman"/>
                <a:sym typeface="Times New Roman"/>
              </a:rPr>
              <a:t>The efficiency of this energy transfer is inversely proportional to the 6</a:t>
            </a:r>
            <a:r>
              <a:rPr baseline="30000" lang="en-US" sz="1600">
                <a:latin typeface="Times New Roman"/>
                <a:ea typeface="Times New Roman"/>
                <a:cs typeface="Times New Roman"/>
                <a:sym typeface="Times New Roman"/>
              </a:rPr>
              <a:t>th</a:t>
            </a:r>
            <a:r>
              <a:rPr lang="en-US" sz="1600">
                <a:latin typeface="Times New Roman"/>
                <a:ea typeface="Times New Roman"/>
                <a:cs typeface="Times New Roman"/>
                <a:sym typeface="Times New Roman"/>
              </a:rPr>
              <a:t> power of the distance between donor and acceptor, making FRET extremely sensitive to small change in distance (within 1-10 nm).</a:t>
            </a:r>
            <a:endParaRPr/>
          </a:p>
          <a:p>
            <a:pPr indent="-127000" lvl="0" marL="228600" rtl="0" algn="l">
              <a:lnSpc>
                <a:spcPct val="90000"/>
              </a:lnSpc>
              <a:spcBef>
                <a:spcPts val="1000"/>
              </a:spcBef>
              <a:spcAft>
                <a:spcPts val="0"/>
              </a:spcAft>
              <a:buClr>
                <a:schemeClr val="dk1"/>
              </a:buClr>
              <a:buSzPts val="1600"/>
              <a:buNone/>
            </a:pPr>
            <a:r>
              <a:t/>
            </a:r>
            <a:endParaRPr sz="16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1600"/>
              <a:buChar char="•"/>
            </a:pPr>
            <a:r>
              <a:rPr lang="en-US" sz="1600">
                <a:latin typeface="Times New Roman"/>
                <a:ea typeface="Times New Roman"/>
                <a:cs typeface="Times New Roman"/>
                <a:sym typeface="Times New Roman"/>
              </a:rPr>
              <a:t>FRET is used to check protein-protein, protein-DNA  interactions and protein conformation dynamics.</a:t>
            </a:r>
            <a:endParaRPr sz="1600">
              <a:latin typeface="Times New Roman"/>
              <a:ea typeface="Times New Roman"/>
              <a:cs typeface="Times New Roman"/>
              <a:sym typeface="Times New Roman"/>
            </a:endParaRPr>
          </a:p>
        </p:txBody>
      </p:sp>
      <p:sp>
        <p:nvSpPr>
          <p:cNvPr id="615" name="Google Shape;615;g12196808087_0_1146"/>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Times New Roman"/>
                <a:ea typeface="Times New Roman"/>
                <a:cs typeface="Times New Roman"/>
                <a:sym typeface="Times New Roman"/>
              </a:rPr>
              <a:t>Fluorescence Resonance Energy Transfer (FRET) to study protein-protein interactions</a:t>
            </a:r>
            <a:endParaRPr b="1" i="0" sz="2000" u="none" cap="none" strike="noStrike">
              <a:solidFill>
                <a:schemeClr val="lt1"/>
              </a:solidFill>
              <a:latin typeface="Times New Roman"/>
              <a:ea typeface="Times New Roman"/>
              <a:cs typeface="Times New Roman"/>
              <a:sym typeface="Times New Roman"/>
            </a:endParaRPr>
          </a:p>
        </p:txBody>
      </p:sp>
      <p:pic>
        <p:nvPicPr>
          <p:cNvPr id="616" name="Google Shape;616;g12196808087_0_1146"/>
          <p:cNvPicPr preferRelativeResize="0"/>
          <p:nvPr/>
        </p:nvPicPr>
        <p:blipFill rotWithShape="1">
          <a:blip r:embed="rId3">
            <a:alphaModFix/>
          </a:blip>
          <a:srcRect b="0" l="0" r="0" t="0"/>
          <a:stretch/>
        </p:blipFill>
        <p:spPr>
          <a:xfrm>
            <a:off x="8858249" y="574205"/>
            <a:ext cx="3333751" cy="3257984"/>
          </a:xfrm>
          <a:prstGeom prst="rect">
            <a:avLst/>
          </a:prstGeom>
          <a:noFill/>
          <a:ln>
            <a:noFill/>
          </a:ln>
        </p:spPr>
      </p:pic>
      <p:pic>
        <p:nvPicPr>
          <p:cNvPr id="617" name="Google Shape;617;g12196808087_0_1146"/>
          <p:cNvPicPr preferRelativeResize="0"/>
          <p:nvPr/>
        </p:nvPicPr>
        <p:blipFill rotWithShape="1">
          <a:blip r:embed="rId4">
            <a:alphaModFix/>
          </a:blip>
          <a:srcRect b="0" l="0" r="0" t="0"/>
          <a:stretch/>
        </p:blipFill>
        <p:spPr>
          <a:xfrm>
            <a:off x="8763000" y="4495800"/>
            <a:ext cx="3333750" cy="2362200"/>
          </a:xfrm>
          <a:prstGeom prst="rect">
            <a:avLst/>
          </a:prstGeom>
          <a:noFill/>
          <a:ln>
            <a:noFill/>
          </a:ln>
        </p:spPr>
      </p:pic>
      <p:pic>
        <p:nvPicPr>
          <p:cNvPr id="618" name="Google Shape;618;g12196808087_0_1146"/>
          <p:cNvPicPr preferRelativeResize="0"/>
          <p:nvPr/>
        </p:nvPicPr>
        <p:blipFill rotWithShape="1">
          <a:blip r:embed="rId5">
            <a:alphaModFix/>
          </a:blip>
          <a:srcRect b="0" l="0" r="0" t="0"/>
          <a:stretch/>
        </p:blipFill>
        <p:spPr>
          <a:xfrm>
            <a:off x="3267075" y="3669411"/>
            <a:ext cx="4152900" cy="3218751"/>
          </a:xfrm>
          <a:prstGeom prst="rect">
            <a:avLst/>
          </a:prstGeom>
          <a:noFill/>
          <a:ln>
            <a:noFill/>
          </a:ln>
        </p:spPr>
      </p:pic>
      <p:sp>
        <p:nvSpPr>
          <p:cNvPr id="619" name="Google Shape;619;g12196808087_0_1146"/>
          <p:cNvSpPr txBox="1"/>
          <p:nvPr/>
        </p:nvSpPr>
        <p:spPr>
          <a:xfrm>
            <a:off x="3952875" y="3914775"/>
            <a:ext cx="6432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Times New Roman"/>
                <a:ea typeface="Times New Roman"/>
                <a:cs typeface="Times New Roman"/>
                <a:sym typeface="Times New Roman"/>
              </a:rPr>
              <a:t>Donor</a:t>
            </a:r>
            <a:endParaRPr b="0" i="0" sz="1400" u="none" cap="none" strike="noStrike">
              <a:solidFill>
                <a:schemeClr val="dk1"/>
              </a:solidFill>
              <a:latin typeface="Times New Roman"/>
              <a:ea typeface="Times New Roman"/>
              <a:cs typeface="Times New Roman"/>
              <a:sym typeface="Times New Roman"/>
            </a:endParaRPr>
          </a:p>
        </p:txBody>
      </p:sp>
      <p:sp>
        <p:nvSpPr>
          <p:cNvPr id="620" name="Google Shape;620;g12196808087_0_1146"/>
          <p:cNvSpPr txBox="1"/>
          <p:nvPr/>
        </p:nvSpPr>
        <p:spPr>
          <a:xfrm>
            <a:off x="6005700" y="3914775"/>
            <a:ext cx="8436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Times New Roman"/>
                <a:ea typeface="Times New Roman"/>
                <a:cs typeface="Times New Roman"/>
                <a:sym typeface="Times New Roman"/>
              </a:rPr>
              <a:t>Acceptor</a:t>
            </a:r>
            <a:endParaRPr b="0" i="0" sz="1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g12196808087_0_1391"/>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Times New Roman"/>
                <a:ea typeface="Times New Roman"/>
                <a:cs typeface="Times New Roman"/>
                <a:sym typeface="Times New Roman"/>
              </a:rPr>
              <a:t>Single-Molecule Imaging to study protein dynamics</a:t>
            </a:r>
            <a:endParaRPr b="1" i="0" sz="2000" u="none" cap="none" strike="noStrike">
              <a:solidFill>
                <a:schemeClr val="lt1"/>
              </a:solidFill>
              <a:latin typeface="Times New Roman"/>
              <a:ea typeface="Times New Roman"/>
              <a:cs typeface="Times New Roman"/>
              <a:sym typeface="Times New Roman"/>
            </a:endParaRPr>
          </a:p>
        </p:txBody>
      </p:sp>
      <p:sp>
        <p:nvSpPr>
          <p:cNvPr id="626" name="Google Shape;626;g12196808087_0_1391"/>
          <p:cNvSpPr txBox="1"/>
          <p:nvPr/>
        </p:nvSpPr>
        <p:spPr>
          <a:xfrm>
            <a:off x="207950" y="420535"/>
            <a:ext cx="11232300" cy="2709000"/>
          </a:xfrm>
          <a:prstGeom prst="rect">
            <a:avLst/>
          </a:prstGeom>
          <a:noFill/>
          <a:ln>
            <a:noFill/>
          </a:ln>
        </p:spPr>
        <p:txBody>
          <a:bodyPr anchorCtr="0" anchor="t" bIns="91425" lIns="91425" spcFirstLastPara="1" rIns="91425" wrap="square" tIns="91425">
            <a:spAutoFit/>
          </a:bodyPr>
          <a:lstStyle/>
          <a:p>
            <a:pPr indent="-285750" lvl="0" marL="285750" marR="0" rtl="0" algn="l">
              <a:lnSpc>
                <a:spcPct val="100000"/>
              </a:lnSpc>
              <a:spcBef>
                <a:spcPts val="0"/>
              </a:spcBef>
              <a:spcAft>
                <a:spcPts val="0"/>
              </a:spcAft>
              <a:buClr>
                <a:srgbClr val="000000"/>
              </a:buClr>
              <a:buSzPts val="1500"/>
              <a:buFont typeface="Arial"/>
              <a:buChar char="•"/>
            </a:pPr>
            <a:r>
              <a:rPr b="0" i="0" lang="en-US" sz="1500" u="none" cap="none" strike="noStrike">
                <a:solidFill>
                  <a:srgbClr val="000000"/>
                </a:solidFill>
                <a:latin typeface="Times New Roman"/>
                <a:ea typeface="Times New Roman"/>
                <a:cs typeface="Times New Roman"/>
                <a:sym typeface="Times New Roman"/>
              </a:rPr>
              <a:t>Single-Molecule Imaging (SMI) is a method of visualizing and quantifying the dynamics of the biomolecules at the single-molecule level, either </a:t>
            </a:r>
            <a:r>
              <a:rPr b="0" i="1" lang="en-US" sz="1500" u="none" cap="none" strike="noStrike">
                <a:solidFill>
                  <a:srgbClr val="000000"/>
                </a:solidFill>
                <a:latin typeface="Times New Roman"/>
                <a:ea typeface="Times New Roman"/>
                <a:cs typeface="Times New Roman"/>
                <a:sym typeface="Times New Roman"/>
              </a:rPr>
              <a:t>in-vivo</a:t>
            </a:r>
            <a:r>
              <a:rPr b="0" i="0" lang="en-US" sz="1500" u="none" cap="none" strike="noStrike">
                <a:solidFill>
                  <a:srgbClr val="000000"/>
                </a:solidFill>
                <a:latin typeface="Times New Roman"/>
                <a:ea typeface="Times New Roman"/>
                <a:cs typeface="Times New Roman"/>
                <a:sym typeface="Times New Roman"/>
              </a:rPr>
              <a:t> or </a:t>
            </a:r>
            <a:r>
              <a:rPr b="0" i="1" lang="en-US" sz="1500" u="none" cap="none" strike="noStrike">
                <a:solidFill>
                  <a:srgbClr val="000000"/>
                </a:solidFill>
                <a:latin typeface="Times New Roman"/>
                <a:ea typeface="Times New Roman"/>
                <a:cs typeface="Times New Roman"/>
                <a:sym typeface="Times New Roman"/>
              </a:rPr>
              <a:t>in-vitro</a:t>
            </a:r>
            <a:r>
              <a:rPr b="0" i="0" lang="en-US" sz="1500" u="none" cap="none" strike="noStrike">
                <a:solidFill>
                  <a:srgbClr val="0000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190500" lvl="0" marL="28575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rgbClr val="000000"/>
              </a:buClr>
              <a:buSzPts val="1500"/>
              <a:buFont typeface="Arial"/>
              <a:buChar char="•"/>
            </a:pPr>
            <a:r>
              <a:rPr b="0" i="0" lang="en-US" sz="1500" u="none" cap="none" strike="noStrike">
                <a:solidFill>
                  <a:srgbClr val="000000"/>
                </a:solidFill>
                <a:latin typeface="Times New Roman"/>
                <a:ea typeface="Times New Roman"/>
                <a:cs typeface="Times New Roman"/>
                <a:sym typeface="Times New Roman"/>
              </a:rPr>
              <a:t>Classical biochemical/microscopy methods (such as IF, Western Blot, ChIP, Proteomics, FRAP etc.) describe the average behavior of biomolecules from 1000s of cells/1000s of molecules within a cell.</a:t>
            </a:r>
            <a:endParaRPr b="0" i="0" sz="1400" u="none" cap="none" strike="noStrike">
              <a:solidFill>
                <a:srgbClr val="000000"/>
              </a:solidFill>
              <a:latin typeface="Arial"/>
              <a:ea typeface="Arial"/>
              <a:cs typeface="Arial"/>
              <a:sym typeface="Arial"/>
            </a:endParaRPr>
          </a:p>
          <a:p>
            <a:pPr indent="-190500" lvl="0" marL="28575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rgbClr val="000000"/>
              </a:buClr>
              <a:buSzPts val="1500"/>
              <a:buFont typeface="Arial"/>
              <a:buChar char="•"/>
            </a:pPr>
            <a:r>
              <a:rPr b="0" i="0" lang="en-US" sz="1500" u="none" cap="none" strike="noStrike">
                <a:solidFill>
                  <a:srgbClr val="000000"/>
                </a:solidFill>
                <a:latin typeface="Times New Roman"/>
                <a:ea typeface="Times New Roman"/>
                <a:cs typeface="Times New Roman"/>
                <a:sym typeface="Times New Roman"/>
              </a:rPr>
              <a:t>Such methods don’t allow the identification of subpopulations of biomolecules.</a:t>
            </a:r>
            <a:endParaRPr b="0" i="0" sz="1400" u="none" cap="none" strike="noStrike">
              <a:solidFill>
                <a:srgbClr val="000000"/>
              </a:solidFill>
              <a:latin typeface="Arial"/>
              <a:ea typeface="Arial"/>
              <a:cs typeface="Arial"/>
              <a:sym typeface="Arial"/>
            </a:endParaRPr>
          </a:p>
          <a:p>
            <a:pPr indent="-190500" lvl="0" marL="28575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rgbClr val="000000"/>
              </a:buClr>
              <a:buSzPts val="1500"/>
              <a:buFont typeface="Arial"/>
              <a:buChar char="•"/>
            </a:pPr>
            <a:r>
              <a:rPr b="0" i="0" lang="en-US" sz="1500" u="none" cap="none" strike="noStrike">
                <a:solidFill>
                  <a:srgbClr val="000000"/>
                </a:solidFill>
                <a:latin typeface="Times New Roman"/>
                <a:ea typeface="Times New Roman"/>
                <a:cs typeface="Times New Roman"/>
                <a:sym typeface="Times New Roman"/>
              </a:rPr>
              <a:t>SMI visualizes the activity of single-molecules and record it with high spatiotemporal resolution.</a:t>
            </a:r>
            <a:endParaRPr b="0" i="0" sz="1400" u="none" cap="none" strike="noStrike">
              <a:solidFill>
                <a:srgbClr val="000000"/>
              </a:solidFill>
              <a:latin typeface="Arial"/>
              <a:ea typeface="Arial"/>
              <a:cs typeface="Arial"/>
              <a:sym typeface="Arial"/>
            </a:endParaRPr>
          </a:p>
          <a:p>
            <a:pPr indent="-190500" lvl="0" marL="28575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Times New Roman"/>
              <a:ea typeface="Times New Roman"/>
              <a:cs typeface="Times New Roman"/>
              <a:sym typeface="Times New Roman"/>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pic>
        <p:nvPicPr>
          <p:cNvPr id="627" name="Google Shape;627;g12196808087_0_1391"/>
          <p:cNvPicPr preferRelativeResize="0"/>
          <p:nvPr/>
        </p:nvPicPr>
        <p:blipFill rotWithShape="1">
          <a:blip r:embed="rId3">
            <a:alphaModFix/>
          </a:blip>
          <a:srcRect b="0" l="0" r="0" t="0"/>
          <a:stretch/>
        </p:blipFill>
        <p:spPr>
          <a:xfrm>
            <a:off x="381332" y="3408027"/>
            <a:ext cx="2957338" cy="3373213"/>
          </a:xfrm>
          <a:prstGeom prst="rect">
            <a:avLst/>
          </a:prstGeom>
          <a:noFill/>
          <a:ln>
            <a:noFill/>
          </a:ln>
        </p:spPr>
      </p:pic>
      <p:pic>
        <p:nvPicPr>
          <p:cNvPr id="628" name="Google Shape;628;g12196808087_0_1391"/>
          <p:cNvPicPr preferRelativeResize="0"/>
          <p:nvPr/>
        </p:nvPicPr>
        <p:blipFill rotWithShape="1">
          <a:blip r:embed="rId4">
            <a:alphaModFix/>
          </a:blip>
          <a:srcRect b="0" l="0" r="0" t="0"/>
          <a:stretch/>
        </p:blipFill>
        <p:spPr>
          <a:xfrm>
            <a:off x="3665791" y="3408026"/>
            <a:ext cx="3897978" cy="3351139"/>
          </a:xfrm>
          <a:prstGeom prst="rect">
            <a:avLst/>
          </a:prstGeom>
          <a:noFill/>
          <a:ln>
            <a:noFill/>
          </a:ln>
        </p:spPr>
      </p:pic>
      <p:sp>
        <p:nvSpPr>
          <p:cNvPr id="629" name="Google Shape;629;g12196808087_0_1391"/>
          <p:cNvSpPr txBox="1"/>
          <p:nvPr/>
        </p:nvSpPr>
        <p:spPr>
          <a:xfrm>
            <a:off x="333976" y="3108127"/>
            <a:ext cx="31647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Transcription factor binding to chromatin</a:t>
            </a:r>
            <a:endParaRPr b="0" i="0" sz="1400" u="none" cap="none" strike="noStrike">
              <a:solidFill>
                <a:srgbClr val="000000"/>
              </a:solidFill>
              <a:latin typeface="Times New Roman"/>
              <a:ea typeface="Times New Roman"/>
              <a:cs typeface="Times New Roman"/>
              <a:sym typeface="Times New Roman"/>
            </a:endParaRPr>
          </a:p>
        </p:txBody>
      </p:sp>
      <p:sp>
        <p:nvSpPr>
          <p:cNvPr id="630" name="Google Shape;630;g12196808087_0_1391"/>
          <p:cNvSpPr txBox="1"/>
          <p:nvPr/>
        </p:nvSpPr>
        <p:spPr>
          <a:xfrm>
            <a:off x="3643487" y="3072544"/>
            <a:ext cx="38979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Histone H2B binding to chromatin</a:t>
            </a:r>
            <a:endParaRPr b="0" i="0" sz="1400" u="none" cap="none" strike="noStrike">
              <a:solidFill>
                <a:srgbClr val="000000"/>
              </a:solidFill>
              <a:latin typeface="Times New Roman"/>
              <a:ea typeface="Times New Roman"/>
              <a:cs typeface="Times New Roman"/>
              <a:sym typeface="Times New Roman"/>
            </a:endParaRPr>
          </a:p>
        </p:txBody>
      </p:sp>
      <p:cxnSp>
        <p:nvCxnSpPr>
          <p:cNvPr id="631" name="Google Shape;631;g12196808087_0_1391"/>
          <p:cNvCxnSpPr/>
          <p:nvPr/>
        </p:nvCxnSpPr>
        <p:spPr>
          <a:xfrm>
            <a:off x="577045" y="6587232"/>
            <a:ext cx="710100" cy="0"/>
          </a:xfrm>
          <a:prstGeom prst="straightConnector1">
            <a:avLst/>
          </a:prstGeom>
          <a:noFill/>
          <a:ln cap="flat" cmpd="sng" w="25400">
            <a:solidFill>
              <a:schemeClr val="accent4"/>
            </a:solidFill>
            <a:prstDash val="solid"/>
            <a:round/>
            <a:headEnd len="sm" w="sm" type="none"/>
            <a:tailEnd len="sm" w="sm" type="none"/>
          </a:ln>
          <a:effectLst>
            <a:outerShdw blurRad="40000" rotWithShape="0" dir="5400000" dist="20000">
              <a:srgbClr val="000000">
                <a:alpha val="37647"/>
              </a:srgbClr>
            </a:outerShdw>
          </a:effectLst>
        </p:spPr>
      </p:cxnSp>
      <p:sp>
        <p:nvSpPr>
          <p:cNvPr id="632" name="Google Shape;632;g12196808087_0_1391"/>
          <p:cNvSpPr txBox="1"/>
          <p:nvPr/>
        </p:nvSpPr>
        <p:spPr>
          <a:xfrm>
            <a:off x="650664" y="6322693"/>
            <a:ext cx="5631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accent4"/>
                </a:solidFill>
                <a:latin typeface="Times New Roman"/>
                <a:ea typeface="Times New Roman"/>
                <a:cs typeface="Times New Roman"/>
                <a:sym typeface="Times New Roman"/>
              </a:rPr>
              <a:t>5 µm</a:t>
            </a:r>
            <a:endParaRPr b="0" i="0" sz="1400" u="none" cap="none" strike="noStrike">
              <a:solidFill>
                <a:schemeClr val="accent4"/>
              </a:solidFill>
              <a:latin typeface="Times New Roman"/>
              <a:ea typeface="Times New Roman"/>
              <a:cs typeface="Times New Roman"/>
              <a:sym typeface="Times New Roman"/>
            </a:endParaRPr>
          </a:p>
        </p:txBody>
      </p:sp>
      <p:sp>
        <p:nvSpPr>
          <p:cNvPr id="633" name="Google Shape;633;g12196808087_0_1391"/>
          <p:cNvSpPr/>
          <p:nvPr/>
        </p:nvSpPr>
        <p:spPr>
          <a:xfrm rot="2173994">
            <a:off x="363971" y="3906234"/>
            <a:ext cx="3094031" cy="2354848"/>
          </a:xfrm>
          <a:prstGeom prst="ellipse">
            <a:avLst/>
          </a:prstGeom>
          <a:no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34" name="Google Shape;634;g12196808087_0_1391"/>
          <p:cNvSpPr/>
          <p:nvPr/>
        </p:nvSpPr>
        <p:spPr>
          <a:xfrm rot="-564506">
            <a:off x="4193584" y="3766664"/>
            <a:ext cx="3094122" cy="2354869"/>
          </a:xfrm>
          <a:prstGeom prst="ellipse">
            <a:avLst/>
          </a:prstGeom>
          <a:no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35" name="Google Shape;635;g12196808087_0_1391"/>
          <p:cNvSpPr txBox="1"/>
          <p:nvPr/>
        </p:nvSpPr>
        <p:spPr>
          <a:xfrm>
            <a:off x="6214364" y="3557211"/>
            <a:ext cx="1161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accent4"/>
                </a:solidFill>
                <a:latin typeface="Arial"/>
                <a:ea typeface="Arial"/>
                <a:cs typeface="Arial"/>
                <a:sym typeface="Arial"/>
              </a:rPr>
              <a:t>Cell nucleus</a:t>
            </a:r>
            <a:endParaRPr b="0" i="0" sz="1400" u="none" cap="none" strike="noStrike">
              <a:solidFill>
                <a:schemeClr val="accent4"/>
              </a:solidFill>
              <a:latin typeface="Arial"/>
              <a:ea typeface="Arial"/>
              <a:cs typeface="Arial"/>
              <a:sym typeface="Arial"/>
            </a:endParaRPr>
          </a:p>
        </p:txBody>
      </p:sp>
      <p:sp>
        <p:nvSpPr>
          <p:cNvPr id="636" name="Google Shape;636;g12196808087_0_1391"/>
          <p:cNvSpPr txBox="1"/>
          <p:nvPr/>
        </p:nvSpPr>
        <p:spPr>
          <a:xfrm>
            <a:off x="1787522" y="3518588"/>
            <a:ext cx="1161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accent4"/>
                </a:solidFill>
                <a:latin typeface="Arial"/>
                <a:ea typeface="Arial"/>
                <a:cs typeface="Arial"/>
                <a:sym typeface="Arial"/>
              </a:rPr>
              <a:t>Cell nucleus</a:t>
            </a:r>
            <a:endParaRPr b="0" i="0" sz="1400" u="none" cap="none" strike="noStrike">
              <a:solidFill>
                <a:schemeClr val="accent4"/>
              </a:solidFill>
              <a:latin typeface="Arial"/>
              <a:ea typeface="Arial"/>
              <a:cs typeface="Arial"/>
              <a:sym typeface="Arial"/>
            </a:endParaRPr>
          </a:p>
        </p:txBody>
      </p:sp>
      <p:cxnSp>
        <p:nvCxnSpPr>
          <p:cNvPr id="637" name="Google Shape;637;g12196808087_0_1391"/>
          <p:cNvCxnSpPr/>
          <p:nvPr/>
        </p:nvCxnSpPr>
        <p:spPr>
          <a:xfrm>
            <a:off x="9865140" y="3363878"/>
            <a:ext cx="19500" cy="3395400"/>
          </a:xfrm>
          <a:prstGeom prst="straightConnector1">
            <a:avLst/>
          </a:prstGeom>
          <a:noFill/>
          <a:ln cap="flat" cmpd="sng" w="28575">
            <a:solidFill>
              <a:schemeClr val="lt1"/>
            </a:solidFill>
            <a:prstDash val="solid"/>
            <a:round/>
            <a:headEnd len="sm" w="sm" type="none"/>
            <a:tailEnd len="sm" w="sm" type="none"/>
          </a:ln>
        </p:spPr>
      </p:cxnSp>
      <p:grpSp>
        <p:nvGrpSpPr>
          <p:cNvPr id="638" name="Google Shape;638;g12196808087_0_1391"/>
          <p:cNvGrpSpPr/>
          <p:nvPr/>
        </p:nvGrpSpPr>
        <p:grpSpPr>
          <a:xfrm>
            <a:off x="7999091" y="3264243"/>
            <a:ext cx="3883757" cy="3262672"/>
            <a:chOff x="4108698" y="1365478"/>
            <a:chExt cx="3802014" cy="3194001"/>
          </a:xfrm>
        </p:grpSpPr>
        <p:pic>
          <p:nvPicPr>
            <p:cNvPr id="639" name="Google Shape;639;g12196808087_0_1391"/>
            <p:cNvPicPr preferRelativeResize="0"/>
            <p:nvPr/>
          </p:nvPicPr>
          <p:blipFill rotWithShape="1">
            <a:blip r:embed="rId5">
              <a:alphaModFix/>
            </a:blip>
            <a:srcRect b="0" l="0" r="0" t="0"/>
            <a:stretch/>
          </p:blipFill>
          <p:spPr>
            <a:xfrm>
              <a:off x="6235889" y="2049798"/>
              <a:ext cx="750863" cy="1049119"/>
            </a:xfrm>
            <a:prstGeom prst="rect">
              <a:avLst/>
            </a:prstGeom>
            <a:noFill/>
            <a:ln>
              <a:noFill/>
            </a:ln>
          </p:spPr>
        </p:pic>
        <p:pic>
          <p:nvPicPr>
            <p:cNvPr id="640" name="Google Shape;640;g12196808087_0_1391"/>
            <p:cNvPicPr preferRelativeResize="0"/>
            <p:nvPr/>
          </p:nvPicPr>
          <p:blipFill rotWithShape="1">
            <a:blip r:embed="rId6">
              <a:alphaModFix/>
            </a:blip>
            <a:srcRect b="0" l="0" r="0" t="0"/>
            <a:stretch/>
          </p:blipFill>
          <p:spPr>
            <a:xfrm>
              <a:off x="5361287" y="2002669"/>
              <a:ext cx="750863" cy="1049119"/>
            </a:xfrm>
            <a:prstGeom prst="rect">
              <a:avLst/>
            </a:prstGeom>
            <a:noFill/>
            <a:ln>
              <a:noFill/>
            </a:ln>
          </p:spPr>
        </p:pic>
        <p:pic>
          <p:nvPicPr>
            <p:cNvPr id="641" name="Google Shape;641;g12196808087_0_1391"/>
            <p:cNvPicPr preferRelativeResize="0"/>
            <p:nvPr/>
          </p:nvPicPr>
          <p:blipFill rotWithShape="1">
            <a:blip r:embed="rId7">
              <a:alphaModFix/>
            </a:blip>
            <a:srcRect b="46773" l="62414" r="28871" t="27707"/>
            <a:stretch/>
          </p:blipFill>
          <p:spPr>
            <a:xfrm>
              <a:off x="5353899" y="3049814"/>
              <a:ext cx="1832802" cy="1509665"/>
            </a:xfrm>
            <a:prstGeom prst="rect">
              <a:avLst/>
            </a:prstGeom>
            <a:noFill/>
            <a:ln>
              <a:noFill/>
            </a:ln>
          </p:spPr>
        </p:pic>
        <p:sp>
          <p:nvSpPr>
            <p:cNvPr id="642" name="Google Shape;642;g12196808087_0_1391"/>
            <p:cNvSpPr txBox="1"/>
            <p:nvPr/>
          </p:nvSpPr>
          <p:spPr>
            <a:xfrm>
              <a:off x="4279212" y="1365478"/>
              <a:ext cx="3631500" cy="542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imes New Roman"/>
                  <a:ea typeface="Times New Roman"/>
                  <a:cs typeface="Times New Roman"/>
                  <a:sym typeface="Times New Roman"/>
                </a:rPr>
                <a:t>Biological processes are highly dynamic</a:t>
              </a:r>
              <a:r>
                <a:rPr b="0" i="0" lang="en-US" sz="1400" u="none" cap="none" strike="noStrike">
                  <a:solidFill>
                    <a:srgbClr val="0000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e.g. phosphorylation, transcription factor binding</a:t>
              </a:r>
              <a:endParaRPr b="0" i="0" sz="1400" u="none" cap="none" strike="noStrike">
                <a:solidFill>
                  <a:srgbClr val="000000"/>
                </a:solidFill>
                <a:latin typeface="Times New Roman"/>
                <a:ea typeface="Times New Roman"/>
                <a:cs typeface="Times New Roman"/>
                <a:sym typeface="Times New Roman"/>
              </a:endParaRPr>
            </a:p>
          </p:txBody>
        </p:sp>
        <p:sp>
          <p:nvSpPr>
            <p:cNvPr id="643" name="Google Shape;643;g12196808087_0_1391"/>
            <p:cNvSpPr txBox="1"/>
            <p:nvPr/>
          </p:nvSpPr>
          <p:spPr>
            <a:xfrm>
              <a:off x="4108698" y="3333415"/>
              <a:ext cx="1307400" cy="1145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Western blot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(phospho-x)</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Mass spec</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 (stoichiometry)</a:t>
              </a:r>
              <a:endParaRPr b="0" i="0" sz="1400" u="none" cap="none" strike="noStrike">
                <a:solidFill>
                  <a:srgbClr val="000000"/>
                </a:solidFill>
                <a:latin typeface="Times New Roman"/>
                <a:ea typeface="Times New Roman"/>
                <a:cs typeface="Times New Roman"/>
                <a:sym typeface="Times New Roman"/>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g12196808087_0_1231"/>
          <p:cNvSpPr txBox="1"/>
          <p:nvPr>
            <p:ph idx="12" type="sldNum"/>
          </p:nvPr>
        </p:nvSpPr>
        <p:spPr>
          <a:xfrm>
            <a:off x="11782425" y="6550258"/>
            <a:ext cx="395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649" name="Google Shape;649;g12196808087_0_1231"/>
          <p:cNvSpPr txBox="1"/>
          <p:nvPr/>
        </p:nvSpPr>
        <p:spPr>
          <a:xfrm>
            <a:off x="8049073" y="748063"/>
            <a:ext cx="10953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Times New Roman"/>
                <a:ea typeface="Times New Roman"/>
                <a:cs typeface="Times New Roman"/>
                <a:sym typeface="Times New Roman"/>
              </a:rPr>
              <a:t>Nuclei (DAPI)</a:t>
            </a:r>
            <a:endParaRPr b="0" i="0" sz="1400" u="none" cap="none" strike="noStrike">
              <a:solidFill>
                <a:srgbClr val="000000"/>
              </a:solidFill>
              <a:latin typeface="Arial"/>
              <a:ea typeface="Arial"/>
              <a:cs typeface="Arial"/>
              <a:sym typeface="Arial"/>
            </a:endParaRPr>
          </a:p>
        </p:txBody>
      </p:sp>
      <p:sp>
        <p:nvSpPr>
          <p:cNvPr id="650" name="Google Shape;650;g12196808087_0_1231"/>
          <p:cNvSpPr txBox="1"/>
          <p:nvPr/>
        </p:nvSpPr>
        <p:spPr>
          <a:xfrm>
            <a:off x="3228307" y="723650"/>
            <a:ext cx="1090500" cy="27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1" lang="en-US" sz="1200" u="none" cap="none" strike="noStrike">
                <a:solidFill>
                  <a:schemeClr val="dk1"/>
                </a:solidFill>
                <a:latin typeface="Times New Roman"/>
                <a:ea typeface="Times New Roman"/>
                <a:cs typeface="Times New Roman"/>
                <a:sym typeface="Times New Roman"/>
              </a:rPr>
              <a:t>CUP1</a:t>
            </a:r>
            <a:r>
              <a:rPr b="0" i="0" lang="en-US" sz="1200" u="none" cap="none" strike="noStrike">
                <a:solidFill>
                  <a:schemeClr val="dk1"/>
                </a:solidFill>
                <a:latin typeface="Times New Roman"/>
                <a:ea typeface="Times New Roman"/>
                <a:cs typeface="Times New Roman"/>
                <a:sym typeface="Times New Roman"/>
              </a:rPr>
              <a:t> mRNA </a:t>
            </a:r>
            <a:endParaRPr b="0" i="0" sz="1400" u="none" cap="none" strike="noStrike">
              <a:solidFill>
                <a:srgbClr val="000000"/>
              </a:solidFill>
              <a:latin typeface="Arial"/>
              <a:ea typeface="Arial"/>
              <a:cs typeface="Arial"/>
              <a:sym typeface="Arial"/>
            </a:endParaRPr>
          </a:p>
        </p:txBody>
      </p:sp>
      <p:sp>
        <p:nvSpPr>
          <p:cNvPr id="651" name="Google Shape;651;g12196808087_0_1231"/>
          <p:cNvSpPr txBox="1"/>
          <p:nvPr/>
        </p:nvSpPr>
        <p:spPr>
          <a:xfrm>
            <a:off x="864201" y="676087"/>
            <a:ext cx="8274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Times New Roman"/>
                <a:ea typeface="Times New Roman"/>
                <a:cs typeface="Times New Roman"/>
                <a:sym typeface="Times New Roman"/>
              </a:rPr>
              <a:t>mRNA </a:t>
            </a:r>
            <a:endParaRPr b="0" i="0" sz="1400" u="none" cap="none" strike="noStrike">
              <a:solidFill>
                <a:srgbClr val="000000"/>
              </a:solidFill>
              <a:latin typeface="Arial"/>
              <a:ea typeface="Arial"/>
              <a:cs typeface="Arial"/>
              <a:sym typeface="Arial"/>
            </a:endParaRPr>
          </a:p>
        </p:txBody>
      </p:sp>
      <p:sp>
        <p:nvSpPr>
          <p:cNvPr id="652" name="Google Shape;652;g12196808087_0_1231"/>
          <p:cNvSpPr txBox="1"/>
          <p:nvPr/>
        </p:nvSpPr>
        <p:spPr>
          <a:xfrm>
            <a:off x="5493491" y="744888"/>
            <a:ext cx="13356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Times New Roman"/>
                <a:ea typeface="Times New Roman"/>
                <a:cs typeface="Times New Roman"/>
                <a:sym typeface="Times New Roman"/>
              </a:rPr>
              <a:t>PP7 mRNA (GFP)</a:t>
            </a:r>
            <a:endParaRPr b="0" i="0" sz="1400" u="none" cap="none" strike="noStrike">
              <a:solidFill>
                <a:srgbClr val="000000"/>
              </a:solidFill>
              <a:latin typeface="Arial"/>
              <a:ea typeface="Arial"/>
              <a:cs typeface="Arial"/>
              <a:sym typeface="Arial"/>
            </a:endParaRPr>
          </a:p>
        </p:txBody>
      </p:sp>
      <p:sp>
        <p:nvSpPr>
          <p:cNvPr id="653" name="Google Shape;653;g12196808087_0_1231"/>
          <p:cNvSpPr txBox="1"/>
          <p:nvPr/>
        </p:nvSpPr>
        <p:spPr>
          <a:xfrm>
            <a:off x="10567988" y="741713"/>
            <a:ext cx="6639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Times New Roman"/>
                <a:ea typeface="Times New Roman"/>
                <a:cs typeface="Times New Roman"/>
                <a:sym typeface="Times New Roman"/>
              </a:rPr>
              <a:t>Merged</a:t>
            </a:r>
            <a:endParaRPr b="0" i="0" sz="1400" u="none" cap="none" strike="noStrike">
              <a:solidFill>
                <a:srgbClr val="000000"/>
              </a:solidFill>
              <a:latin typeface="Arial"/>
              <a:ea typeface="Arial"/>
              <a:cs typeface="Arial"/>
              <a:sym typeface="Arial"/>
            </a:endParaRPr>
          </a:p>
        </p:txBody>
      </p:sp>
      <p:grpSp>
        <p:nvGrpSpPr>
          <p:cNvPr id="654" name="Google Shape;654;g12196808087_0_1231"/>
          <p:cNvGrpSpPr/>
          <p:nvPr/>
        </p:nvGrpSpPr>
        <p:grpSpPr>
          <a:xfrm>
            <a:off x="0" y="997873"/>
            <a:ext cx="12165535" cy="2742043"/>
            <a:chOff x="0" y="4114800"/>
            <a:chExt cx="12177713" cy="2744788"/>
          </a:xfrm>
        </p:grpSpPr>
        <p:pic>
          <p:nvPicPr>
            <p:cNvPr id="655" name="Google Shape;655;g12196808087_0_1231"/>
            <p:cNvPicPr preferRelativeResize="0"/>
            <p:nvPr/>
          </p:nvPicPr>
          <p:blipFill rotWithShape="1">
            <a:blip r:embed="rId3">
              <a:alphaModFix/>
            </a:blip>
            <a:srcRect b="0" l="0" r="0" t="0"/>
            <a:stretch/>
          </p:blipFill>
          <p:spPr>
            <a:xfrm>
              <a:off x="9758363" y="4114800"/>
              <a:ext cx="2419350" cy="2743200"/>
            </a:xfrm>
            <a:prstGeom prst="rect">
              <a:avLst/>
            </a:prstGeom>
            <a:noFill/>
            <a:ln>
              <a:noFill/>
            </a:ln>
          </p:spPr>
        </p:pic>
        <p:pic>
          <p:nvPicPr>
            <p:cNvPr id="656" name="Google Shape;656;g12196808087_0_1231"/>
            <p:cNvPicPr preferRelativeResize="0"/>
            <p:nvPr/>
          </p:nvPicPr>
          <p:blipFill rotWithShape="1">
            <a:blip r:embed="rId4">
              <a:alphaModFix/>
            </a:blip>
            <a:srcRect b="0" l="0" r="0" t="0"/>
            <a:stretch/>
          </p:blipFill>
          <p:spPr>
            <a:xfrm>
              <a:off x="0" y="4116388"/>
              <a:ext cx="2419350" cy="2743200"/>
            </a:xfrm>
            <a:prstGeom prst="rect">
              <a:avLst/>
            </a:prstGeom>
            <a:noFill/>
            <a:ln>
              <a:noFill/>
            </a:ln>
          </p:spPr>
        </p:pic>
        <p:pic>
          <p:nvPicPr>
            <p:cNvPr id="657" name="Google Shape;657;g12196808087_0_1231"/>
            <p:cNvPicPr preferRelativeResize="0"/>
            <p:nvPr/>
          </p:nvPicPr>
          <p:blipFill rotWithShape="1">
            <a:blip r:embed="rId5">
              <a:alphaModFix/>
            </a:blip>
            <a:srcRect b="0" l="0" r="0" t="0"/>
            <a:stretch/>
          </p:blipFill>
          <p:spPr>
            <a:xfrm>
              <a:off x="2439988" y="4116388"/>
              <a:ext cx="2419350" cy="2743200"/>
            </a:xfrm>
            <a:prstGeom prst="rect">
              <a:avLst/>
            </a:prstGeom>
            <a:noFill/>
            <a:ln>
              <a:noFill/>
            </a:ln>
          </p:spPr>
        </p:pic>
        <p:pic>
          <p:nvPicPr>
            <p:cNvPr id="658" name="Google Shape;658;g12196808087_0_1231"/>
            <p:cNvPicPr preferRelativeResize="0"/>
            <p:nvPr/>
          </p:nvPicPr>
          <p:blipFill rotWithShape="1">
            <a:blip r:embed="rId6">
              <a:alphaModFix/>
            </a:blip>
            <a:srcRect b="0" l="0" r="0" t="0"/>
            <a:stretch/>
          </p:blipFill>
          <p:spPr>
            <a:xfrm>
              <a:off x="4892675" y="4116388"/>
              <a:ext cx="2419350" cy="2743200"/>
            </a:xfrm>
            <a:prstGeom prst="rect">
              <a:avLst/>
            </a:prstGeom>
            <a:noFill/>
            <a:ln>
              <a:noFill/>
            </a:ln>
          </p:spPr>
        </p:pic>
        <p:pic>
          <p:nvPicPr>
            <p:cNvPr id="659" name="Google Shape;659;g12196808087_0_1231"/>
            <p:cNvPicPr preferRelativeResize="0"/>
            <p:nvPr/>
          </p:nvPicPr>
          <p:blipFill rotWithShape="1">
            <a:blip r:embed="rId7">
              <a:alphaModFix/>
            </a:blip>
            <a:srcRect b="0" l="0" r="0" t="0"/>
            <a:stretch/>
          </p:blipFill>
          <p:spPr>
            <a:xfrm>
              <a:off x="7324725" y="4116388"/>
              <a:ext cx="2419350" cy="2743200"/>
            </a:xfrm>
            <a:prstGeom prst="rect">
              <a:avLst/>
            </a:prstGeom>
            <a:noFill/>
            <a:ln>
              <a:noFill/>
            </a:ln>
          </p:spPr>
        </p:pic>
      </p:grpSp>
      <p:sp>
        <p:nvSpPr>
          <p:cNvPr id="660" name="Google Shape;660;g12196808087_0_1231"/>
          <p:cNvSpPr txBox="1"/>
          <p:nvPr/>
        </p:nvSpPr>
        <p:spPr>
          <a:xfrm>
            <a:off x="82550" y="3337753"/>
            <a:ext cx="5619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00"/>
                </a:solidFill>
                <a:latin typeface="Times New Roman"/>
                <a:ea typeface="Times New Roman"/>
                <a:cs typeface="Times New Roman"/>
                <a:sym typeface="Times New Roman"/>
              </a:rPr>
              <a:t>5 µm</a:t>
            </a:r>
            <a:endParaRPr b="0" i="0" sz="1400" u="none" cap="none" strike="noStrike">
              <a:solidFill>
                <a:srgbClr val="000000"/>
              </a:solidFill>
              <a:latin typeface="Arial"/>
              <a:ea typeface="Arial"/>
              <a:cs typeface="Arial"/>
              <a:sym typeface="Arial"/>
            </a:endParaRPr>
          </a:p>
        </p:txBody>
      </p:sp>
      <p:cxnSp>
        <p:nvCxnSpPr>
          <p:cNvPr id="661" name="Google Shape;661;g12196808087_0_1231"/>
          <p:cNvCxnSpPr/>
          <p:nvPr/>
        </p:nvCxnSpPr>
        <p:spPr>
          <a:xfrm>
            <a:off x="112713" y="3639378"/>
            <a:ext cx="493800" cy="0"/>
          </a:xfrm>
          <a:prstGeom prst="straightConnector1">
            <a:avLst/>
          </a:prstGeom>
          <a:noFill/>
          <a:ln cap="flat" cmpd="sng" w="38100">
            <a:solidFill>
              <a:schemeClr val="accent4"/>
            </a:solidFill>
            <a:prstDash val="solid"/>
            <a:round/>
            <a:headEnd len="sm" w="sm" type="none"/>
            <a:tailEnd len="sm" w="sm" type="none"/>
          </a:ln>
          <a:effectLst>
            <a:outerShdw blurRad="40000" rotWithShape="0" dir="5400000" dist="23000">
              <a:srgbClr val="000000">
                <a:alpha val="34509"/>
              </a:srgbClr>
            </a:outerShdw>
          </a:effectLst>
        </p:spPr>
      </p:cxnSp>
      <p:sp>
        <p:nvSpPr>
          <p:cNvPr id="662" name="Google Shape;662;g12196808087_0_1231"/>
          <p:cNvSpPr txBox="1"/>
          <p:nvPr/>
        </p:nvSpPr>
        <p:spPr>
          <a:xfrm>
            <a:off x="0" y="-57015"/>
            <a:ext cx="12192000" cy="523200"/>
          </a:xfrm>
          <a:prstGeom prst="rect">
            <a:avLst/>
          </a:prstGeom>
          <a:solidFill>
            <a:schemeClr val="dk1"/>
          </a:solidFill>
          <a:ln>
            <a:noFill/>
          </a:ln>
          <a:effectLst>
            <a:outerShdw blurRad="40000" rotWithShape="0" dir="5400000" dist="23000">
              <a:srgbClr val="000000">
                <a:alpha val="34509"/>
              </a:srgbClr>
            </a:outerShdw>
          </a:effectLst>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chemeClr val="lt1"/>
                </a:solidFill>
                <a:latin typeface="Times New Roman"/>
                <a:ea typeface="Times New Roman"/>
                <a:cs typeface="Times New Roman"/>
                <a:sym typeface="Times New Roman"/>
              </a:rPr>
              <a:t>Single-Molecule FISH to quantify number of mRNA/cell</a:t>
            </a:r>
            <a:endParaRPr b="0" i="0" sz="1400" u="none" cap="none" strike="noStrike">
              <a:solidFill>
                <a:srgbClr val="000000"/>
              </a:solidFill>
              <a:latin typeface="Arial"/>
              <a:ea typeface="Arial"/>
              <a:cs typeface="Arial"/>
              <a:sym typeface="Arial"/>
            </a:endParaRPr>
          </a:p>
        </p:txBody>
      </p:sp>
      <p:sp>
        <p:nvSpPr>
          <p:cNvPr id="663" name="Google Shape;663;g12196808087_0_1231"/>
          <p:cNvSpPr txBox="1"/>
          <p:nvPr/>
        </p:nvSpPr>
        <p:spPr>
          <a:xfrm>
            <a:off x="0" y="472982"/>
            <a:ext cx="121920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Times New Roman"/>
                <a:ea typeface="Times New Roman"/>
                <a:cs typeface="Times New Roman"/>
                <a:sym typeface="Times New Roman"/>
              </a:rPr>
              <a:t>To visualize single-molecules of mRNA in fixed cells</a:t>
            </a:r>
            <a:endParaRPr b="1" i="0" sz="1800" u="none" cap="none" strike="noStrike">
              <a:solidFill>
                <a:srgbClr val="000000"/>
              </a:solidFill>
              <a:latin typeface="Times New Roman"/>
              <a:ea typeface="Times New Roman"/>
              <a:cs typeface="Times New Roman"/>
              <a:sym typeface="Times New Roman"/>
            </a:endParaRPr>
          </a:p>
        </p:txBody>
      </p:sp>
      <p:grpSp>
        <p:nvGrpSpPr>
          <p:cNvPr id="664" name="Google Shape;664;g12196808087_0_1231"/>
          <p:cNvGrpSpPr/>
          <p:nvPr/>
        </p:nvGrpSpPr>
        <p:grpSpPr>
          <a:xfrm>
            <a:off x="-175521" y="4136931"/>
            <a:ext cx="4213337" cy="3052380"/>
            <a:chOff x="1608931" y="1210809"/>
            <a:chExt cx="8441870" cy="6115768"/>
          </a:xfrm>
        </p:grpSpPr>
        <p:sp>
          <p:nvSpPr>
            <p:cNvPr id="665" name="Google Shape;665;g12196808087_0_1231"/>
            <p:cNvSpPr/>
            <p:nvPr/>
          </p:nvSpPr>
          <p:spPr>
            <a:xfrm>
              <a:off x="8784431" y="2023677"/>
              <a:ext cx="903300" cy="949200"/>
            </a:xfrm>
            <a:prstGeom prst="ellipse">
              <a:avLst/>
            </a:prstGeom>
            <a:noFill/>
            <a:ln cap="flat" cmpd="sng" w="28575">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66" name="Google Shape;666;g12196808087_0_1231"/>
            <p:cNvSpPr/>
            <p:nvPr/>
          </p:nvSpPr>
          <p:spPr>
            <a:xfrm>
              <a:off x="8792368" y="3277802"/>
              <a:ext cx="901800" cy="949200"/>
            </a:xfrm>
            <a:prstGeom prst="ellipse">
              <a:avLst/>
            </a:prstGeom>
            <a:noFill/>
            <a:ln cap="flat" cmpd="sng" w="28575">
              <a:solidFill>
                <a:srgbClr val="FFC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67" name="Google Shape;667;g12196808087_0_1231"/>
            <p:cNvSpPr txBox="1"/>
            <p:nvPr/>
          </p:nvSpPr>
          <p:spPr>
            <a:xfrm>
              <a:off x="8641101" y="1466821"/>
              <a:ext cx="1281000" cy="1048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Times New Roman"/>
                  <a:ea typeface="Times New Roman"/>
                  <a:cs typeface="Times New Roman"/>
                  <a:sym typeface="Times New Roman"/>
                </a:rPr>
                <a:t>Active cells</a:t>
              </a:r>
              <a:endParaRPr b="0" i="0" sz="1400" u="none" cap="none" strike="noStrike">
                <a:solidFill>
                  <a:srgbClr val="000000"/>
                </a:solidFill>
                <a:latin typeface="Arial"/>
                <a:ea typeface="Arial"/>
                <a:cs typeface="Arial"/>
                <a:sym typeface="Arial"/>
              </a:endParaRPr>
            </a:p>
          </p:txBody>
        </p:sp>
        <p:sp>
          <p:nvSpPr>
            <p:cNvPr id="668" name="Google Shape;668;g12196808087_0_1231"/>
            <p:cNvSpPr txBox="1"/>
            <p:nvPr/>
          </p:nvSpPr>
          <p:spPr>
            <a:xfrm>
              <a:off x="8641101" y="4208526"/>
              <a:ext cx="1409700" cy="1048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Times New Roman"/>
                  <a:ea typeface="Times New Roman"/>
                  <a:cs typeface="Times New Roman"/>
                  <a:sym typeface="Times New Roman"/>
                </a:rPr>
                <a:t>Inactive cells</a:t>
              </a:r>
              <a:endParaRPr b="0" i="0" sz="1400" u="none" cap="none" strike="noStrike">
                <a:solidFill>
                  <a:srgbClr val="000000"/>
                </a:solidFill>
                <a:latin typeface="Arial"/>
                <a:ea typeface="Arial"/>
                <a:cs typeface="Arial"/>
                <a:sym typeface="Arial"/>
              </a:endParaRPr>
            </a:p>
          </p:txBody>
        </p:sp>
        <p:sp>
          <p:nvSpPr>
            <p:cNvPr id="669" name="Google Shape;669;g12196808087_0_1231"/>
            <p:cNvSpPr txBox="1"/>
            <p:nvPr/>
          </p:nvSpPr>
          <p:spPr>
            <a:xfrm>
              <a:off x="1608931" y="1237864"/>
              <a:ext cx="1962000" cy="1048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0000"/>
                  </a:solidFill>
                  <a:latin typeface="Times New Roman"/>
                  <a:ea typeface="Times New Roman"/>
                  <a:cs typeface="Times New Roman"/>
                  <a:sym typeface="Times New Roman"/>
                </a:rPr>
                <a:t>mRNA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B050"/>
                  </a:solidFill>
                  <a:latin typeface="Times New Roman"/>
                  <a:ea typeface="Times New Roman"/>
                  <a:cs typeface="Times New Roman"/>
                  <a:sym typeface="Times New Roman"/>
                </a:rPr>
                <a:t>DAPI</a:t>
              </a:r>
              <a:endParaRPr b="0" i="0" sz="1400" u="none" cap="none" strike="noStrike">
                <a:solidFill>
                  <a:srgbClr val="000000"/>
                </a:solidFill>
                <a:latin typeface="Arial"/>
                <a:ea typeface="Arial"/>
                <a:cs typeface="Arial"/>
                <a:sym typeface="Arial"/>
              </a:endParaRPr>
            </a:p>
          </p:txBody>
        </p:sp>
        <p:grpSp>
          <p:nvGrpSpPr>
            <p:cNvPr id="670" name="Google Shape;670;g12196808087_0_1231"/>
            <p:cNvGrpSpPr/>
            <p:nvPr/>
          </p:nvGrpSpPr>
          <p:grpSpPr>
            <a:xfrm>
              <a:off x="3470878" y="1210809"/>
              <a:ext cx="5233807" cy="5503666"/>
              <a:chOff x="4162761" y="1443216"/>
              <a:chExt cx="3956912" cy="4159990"/>
            </a:xfrm>
          </p:grpSpPr>
          <p:pic>
            <p:nvPicPr>
              <p:cNvPr descr="A picture containing light, outdoor object, traffic, outdoor&#10;&#10;Description generated with very high confidence" id="671" name="Google Shape;671;g12196808087_0_1231"/>
              <p:cNvPicPr preferRelativeResize="0"/>
              <p:nvPr/>
            </p:nvPicPr>
            <p:blipFill rotWithShape="1">
              <a:blip r:embed="rId8">
                <a:alphaModFix/>
              </a:blip>
              <a:srcRect b="0" l="0" r="0" t="0"/>
              <a:stretch/>
            </p:blipFill>
            <p:spPr>
              <a:xfrm>
                <a:off x="4162761" y="1443216"/>
                <a:ext cx="3956912" cy="4159990"/>
              </a:xfrm>
              <a:prstGeom prst="rect">
                <a:avLst/>
              </a:prstGeom>
              <a:noFill/>
              <a:ln>
                <a:noFill/>
              </a:ln>
            </p:spPr>
          </p:pic>
          <p:sp>
            <p:nvSpPr>
              <p:cNvPr id="672" name="Google Shape;672;g12196808087_0_1231"/>
              <p:cNvSpPr/>
              <p:nvPr/>
            </p:nvSpPr>
            <p:spPr>
              <a:xfrm>
                <a:off x="5888584" y="1527208"/>
                <a:ext cx="902400" cy="949200"/>
              </a:xfrm>
              <a:prstGeom prst="ellipse">
                <a:avLst/>
              </a:prstGeom>
              <a:noFill/>
              <a:ln cap="flat" cmpd="sng" w="28575">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73" name="Google Shape;673;g12196808087_0_1231"/>
              <p:cNvSpPr/>
              <p:nvPr/>
            </p:nvSpPr>
            <p:spPr>
              <a:xfrm>
                <a:off x="5260903" y="2775085"/>
                <a:ext cx="902400" cy="949200"/>
              </a:xfrm>
              <a:prstGeom prst="ellipse">
                <a:avLst/>
              </a:prstGeom>
              <a:noFill/>
              <a:ln cap="flat" cmpd="sng" w="28575">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74" name="Google Shape;674;g12196808087_0_1231"/>
              <p:cNvSpPr/>
              <p:nvPr/>
            </p:nvSpPr>
            <p:spPr>
              <a:xfrm>
                <a:off x="6492263" y="2719890"/>
                <a:ext cx="902400" cy="948000"/>
              </a:xfrm>
              <a:prstGeom prst="ellipse">
                <a:avLst/>
              </a:prstGeom>
              <a:noFill/>
              <a:ln cap="flat" cmpd="sng" w="28575">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75" name="Google Shape;675;g12196808087_0_1231"/>
              <p:cNvSpPr/>
              <p:nvPr/>
            </p:nvSpPr>
            <p:spPr>
              <a:xfrm>
                <a:off x="7116343" y="4396125"/>
                <a:ext cx="902400" cy="949200"/>
              </a:xfrm>
              <a:prstGeom prst="ellipse">
                <a:avLst/>
              </a:prstGeom>
              <a:noFill/>
              <a:ln cap="flat" cmpd="sng" w="28575">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76" name="Google Shape;676;g12196808087_0_1231"/>
              <p:cNvSpPr/>
              <p:nvPr/>
            </p:nvSpPr>
            <p:spPr>
              <a:xfrm>
                <a:off x="4222769" y="1620798"/>
                <a:ext cx="902400" cy="948000"/>
              </a:xfrm>
              <a:prstGeom prst="ellipse">
                <a:avLst/>
              </a:prstGeom>
              <a:noFill/>
              <a:ln cap="flat" cmpd="sng" w="28575">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77" name="Google Shape;677;g12196808087_0_1231"/>
              <p:cNvSpPr/>
              <p:nvPr/>
            </p:nvSpPr>
            <p:spPr>
              <a:xfrm>
                <a:off x="4187965" y="3123050"/>
                <a:ext cx="902400" cy="949200"/>
              </a:xfrm>
              <a:prstGeom prst="ellipse">
                <a:avLst/>
              </a:prstGeom>
              <a:noFill/>
              <a:ln cap="flat" cmpd="sng" w="28575">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78" name="Google Shape;678;g12196808087_0_1231"/>
              <p:cNvSpPr/>
              <p:nvPr/>
            </p:nvSpPr>
            <p:spPr>
              <a:xfrm>
                <a:off x="6986727" y="1725189"/>
                <a:ext cx="902400" cy="948000"/>
              </a:xfrm>
              <a:prstGeom prst="ellipse">
                <a:avLst/>
              </a:prstGeom>
              <a:noFill/>
              <a:ln cap="flat" cmpd="sng" w="28575">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79" name="Google Shape;679;g12196808087_0_1231"/>
              <p:cNvSpPr/>
              <p:nvPr/>
            </p:nvSpPr>
            <p:spPr>
              <a:xfrm>
                <a:off x="5396521" y="4574907"/>
                <a:ext cx="902400" cy="949200"/>
              </a:xfrm>
              <a:prstGeom prst="ellipse">
                <a:avLst/>
              </a:prstGeom>
              <a:noFill/>
              <a:ln cap="flat" cmpd="sng" w="28575">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680" name="Google Shape;680;g12196808087_0_1231"/>
              <p:cNvCxnSpPr/>
              <p:nvPr/>
            </p:nvCxnSpPr>
            <p:spPr>
              <a:xfrm>
                <a:off x="4383590" y="5414824"/>
                <a:ext cx="819600" cy="0"/>
              </a:xfrm>
              <a:prstGeom prst="straightConnector1">
                <a:avLst/>
              </a:prstGeom>
              <a:noFill/>
              <a:ln cap="flat" cmpd="sng" w="19050">
                <a:solidFill>
                  <a:srgbClr val="FFFF00"/>
                </a:solidFill>
                <a:prstDash val="solid"/>
                <a:round/>
                <a:headEnd len="sm" w="sm" type="none"/>
                <a:tailEnd len="sm" w="sm" type="none"/>
              </a:ln>
            </p:spPr>
          </p:cxnSp>
        </p:grpSp>
        <p:sp>
          <p:nvSpPr>
            <p:cNvPr id="681" name="Google Shape;681;g12196808087_0_1231"/>
            <p:cNvSpPr txBox="1"/>
            <p:nvPr/>
          </p:nvSpPr>
          <p:spPr>
            <a:xfrm>
              <a:off x="3763169" y="5846377"/>
              <a:ext cx="669900" cy="148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00"/>
                  </a:solidFill>
                  <a:latin typeface="Times New Roman"/>
                  <a:ea typeface="Times New Roman"/>
                  <a:cs typeface="Times New Roman"/>
                  <a:sym typeface="Times New Roman"/>
                </a:rPr>
                <a:t>5 µm</a:t>
              </a:r>
              <a:endParaRPr b="0" i="0" sz="1400" u="none" cap="none" strike="noStrike">
                <a:solidFill>
                  <a:srgbClr val="000000"/>
                </a:solidFill>
                <a:latin typeface="Arial"/>
                <a:ea typeface="Arial"/>
                <a:cs typeface="Arial"/>
                <a:sym typeface="Arial"/>
              </a:endParaRPr>
            </a:p>
          </p:txBody>
        </p:sp>
      </p:grpSp>
      <p:sp>
        <p:nvSpPr>
          <p:cNvPr id="682" name="Google Shape;682;g12196808087_0_1231"/>
          <p:cNvSpPr txBox="1"/>
          <p:nvPr/>
        </p:nvSpPr>
        <p:spPr>
          <a:xfrm>
            <a:off x="3645928" y="3758075"/>
            <a:ext cx="46137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Quantification of transcription by smFISH and RT-qPCR</a:t>
            </a:r>
            <a:endParaRPr b="0" i="0" sz="1400" u="none" cap="none" strike="noStrike">
              <a:solidFill>
                <a:srgbClr val="000000"/>
              </a:solidFill>
              <a:latin typeface="Arial"/>
              <a:ea typeface="Arial"/>
              <a:cs typeface="Arial"/>
              <a:sym typeface="Arial"/>
            </a:endParaRPr>
          </a:p>
        </p:txBody>
      </p:sp>
      <p:sp>
        <p:nvSpPr>
          <p:cNvPr id="683" name="Google Shape;683;g12196808087_0_1231"/>
          <p:cNvSpPr txBox="1"/>
          <p:nvPr/>
        </p:nvSpPr>
        <p:spPr>
          <a:xfrm>
            <a:off x="5273427" y="6600587"/>
            <a:ext cx="2408100" cy="261600"/>
          </a:xfrm>
          <a:prstGeom prst="rect">
            <a:avLst/>
          </a:prstGeom>
          <a:noFill/>
          <a:ln>
            <a:noFill/>
          </a:ln>
          <a:effectLst>
            <a:outerShdw blurRad="40000" rotWithShape="0" dir="5400000" dist="23000">
              <a:srgbClr val="000000">
                <a:alpha val="34509"/>
              </a:srgbClr>
            </a:outerShdw>
          </a:effectLst>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Times New Roman"/>
                <a:ea typeface="Times New Roman"/>
                <a:cs typeface="Times New Roman"/>
                <a:sym typeface="Times New Roman"/>
              </a:rPr>
              <a:t>Number of cytoplasmic mRNA per cell</a:t>
            </a:r>
            <a:endParaRPr b="0" i="0" sz="1400" u="none" cap="none" strike="noStrike">
              <a:solidFill>
                <a:srgbClr val="000000"/>
              </a:solidFill>
              <a:latin typeface="Arial"/>
              <a:ea typeface="Arial"/>
              <a:cs typeface="Arial"/>
              <a:sym typeface="Arial"/>
            </a:endParaRPr>
          </a:p>
        </p:txBody>
      </p:sp>
      <p:cxnSp>
        <p:nvCxnSpPr>
          <p:cNvPr id="684" name="Google Shape;684;g12196808087_0_1231"/>
          <p:cNvCxnSpPr/>
          <p:nvPr/>
        </p:nvCxnSpPr>
        <p:spPr>
          <a:xfrm rot="10800000">
            <a:off x="9383697" y="4353200"/>
            <a:ext cx="0" cy="1625400"/>
          </a:xfrm>
          <a:prstGeom prst="straightConnector1">
            <a:avLst/>
          </a:prstGeom>
          <a:noFill/>
          <a:ln cap="flat" cmpd="sng" w="38100">
            <a:solidFill>
              <a:schemeClr val="dk1"/>
            </a:solidFill>
            <a:prstDash val="solid"/>
            <a:round/>
            <a:headEnd len="sm" w="sm" type="none"/>
            <a:tailEnd len="med" w="med" type="triangle"/>
          </a:ln>
          <a:effectLst>
            <a:outerShdw blurRad="40000" rotWithShape="0" dir="5400000" dist="23000">
              <a:srgbClr val="000000">
                <a:alpha val="34509"/>
              </a:srgbClr>
            </a:outerShdw>
          </a:effectLst>
        </p:spPr>
      </p:cxnSp>
      <p:cxnSp>
        <p:nvCxnSpPr>
          <p:cNvPr id="685" name="Google Shape;685;g12196808087_0_1231"/>
          <p:cNvCxnSpPr/>
          <p:nvPr/>
        </p:nvCxnSpPr>
        <p:spPr>
          <a:xfrm>
            <a:off x="9367421" y="5971200"/>
            <a:ext cx="1695900" cy="0"/>
          </a:xfrm>
          <a:prstGeom prst="straightConnector1">
            <a:avLst/>
          </a:prstGeom>
          <a:noFill/>
          <a:ln cap="flat" cmpd="sng" w="38100">
            <a:solidFill>
              <a:schemeClr val="dk1"/>
            </a:solidFill>
            <a:prstDash val="solid"/>
            <a:round/>
            <a:headEnd len="sm" w="sm" type="none"/>
            <a:tailEnd len="med" w="med" type="triangle"/>
          </a:ln>
          <a:effectLst>
            <a:outerShdw blurRad="40000" rotWithShape="0" dir="5400000" dist="23000">
              <a:srgbClr val="000000">
                <a:alpha val="34509"/>
              </a:srgbClr>
            </a:outerShdw>
          </a:effectLst>
        </p:spPr>
      </p:cxnSp>
      <p:sp>
        <p:nvSpPr>
          <p:cNvPr id="686" name="Google Shape;686;g12196808087_0_1231"/>
          <p:cNvSpPr/>
          <p:nvPr/>
        </p:nvSpPr>
        <p:spPr>
          <a:xfrm>
            <a:off x="9734105" y="4718726"/>
            <a:ext cx="165900" cy="1245000"/>
          </a:xfrm>
          <a:prstGeom prst="rect">
            <a:avLst/>
          </a:prstGeom>
          <a:solidFill>
            <a:schemeClr val="accent2"/>
          </a:solidFill>
          <a:ln cap="flat" cmpd="sng" w="25400">
            <a:solidFill>
              <a:srgbClr val="AC5B2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87" name="Google Shape;687;g12196808087_0_1231"/>
          <p:cNvSpPr/>
          <p:nvPr/>
        </p:nvSpPr>
        <p:spPr>
          <a:xfrm>
            <a:off x="10559106" y="5304366"/>
            <a:ext cx="165900" cy="674100"/>
          </a:xfrm>
          <a:prstGeom prst="rect">
            <a:avLst/>
          </a:prstGeom>
          <a:solidFill>
            <a:schemeClr val="accent2"/>
          </a:solidFill>
          <a:ln cap="flat" cmpd="sng" w="25400">
            <a:solidFill>
              <a:srgbClr val="AC5B2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88" name="Google Shape;688;g12196808087_0_1231"/>
          <p:cNvSpPr txBox="1"/>
          <p:nvPr/>
        </p:nvSpPr>
        <p:spPr>
          <a:xfrm>
            <a:off x="9320031" y="5994440"/>
            <a:ext cx="9318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Wild-type</a:t>
            </a:r>
            <a:endParaRPr b="0" i="0" sz="1400" u="none" cap="none" strike="noStrike">
              <a:solidFill>
                <a:srgbClr val="000000"/>
              </a:solidFill>
              <a:latin typeface="Times New Roman"/>
              <a:ea typeface="Times New Roman"/>
              <a:cs typeface="Times New Roman"/>
              <a:sym typeface="Times New Roman"/>
            </a:endParaRPr>
          </a:p>
        </p:txBody>
      </p:sp>
      <p:sp>
        <p:nvSpPr>
          <p:cNvPr id="689" name="Google Shape;689;g12196808087_0_1231"/>
          <p:cNvSpPr txBox="1"/>
          <p:nvPr/>
        </p:nvSpPr>
        <p:spPr>
          <a:xfrm>
            <a:off x="10299710" y="6003318"/>
            <a:ext cx="7041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Mutant</a:t>
            </a:r>
            <a:endParaRPr b="0" i="0" sz="1400" u="none" cap="none" strike="noStrike">
              <a:solidFill>
                <a:srgbClr val="000000"/>
              </a:solidFill>
              <a:latin typeface="Times New Roman"/>
              <a:ea typeface="Times New Roman"/>
              <a:cs typeface="Times New Roman"/>
              <a:sym typeface="Times New Roman"/>
            </a:endParaRPr>
          </a:p>
        </p:txBody>
      </p:sp>
      <p:sp>
        <p:nvSpPr>
          <p:cNvPr id="690" name="Google Shape;690;g12196808087_0_1231"/>
          <p:cNvSpPr txBox="1"/>
          <p:nvPr/>
        </p:nvSpPr>
        <p:spPr>
          <a:xfrm rot="-5400000">
            <a:off x="8195865" y="4950529"/>
            <a:ext cx="19833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Relative gene expression</a:t>
            </a:r>
            <a:endParaRPr b="0" i="0" sz="1400" u="none" cap="none" strike="noStrike">
              <a:solidFill>
                <a:srgbClr val="000000"/>
              </a:solidFill>
              <a:latin typeface="Times New Roman"/>
              <a:ea typeface="Times New Roman"/>
              <a:cs typeface="Times New Roman"/>
              <a:sym typeface="Times New Roman"/>
            </a:endParaRPr>
          </a:p>
        </p:txBody>
      </p:sp>
      <p:sp>
        <p:nvSpPr>
          <p:cNvPr id="691" name="Google Shape;691;g12196808087_0_1231"/>
          <p:cNvSpPr txBox="1"/>
          <p:nvPr/>
        </p:nvSpPr>
        <p:spPr>
          <a:xfrm>
            <a:off x="9847225" y="4136994"/>
            <a:ext cx="9027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RT-qPCR</a:t>
            </a:r>
            <a:endParaRPr b="0" i="0" sz="1400" u="none" cap="none" strike="noStrike">
              <a:solidFill>
                <a:srgbClr val="000000"/>
              </a:solidFill>
              <a:latin typeface="Times New Roman"/>
              <a:ea typeface="Times New Roman"/>
              <a:cs typeface="Times New Roman"/>
              <a:sym typeface="Times New Roman"/>
            </a:endParaRPr>
          </a:p>
        </p:txBody>
      </p:sp>
      <p:sp>
        <p:nvSpPr>
          <p:cNvPr id="692" name="Google Shape;692;g12196808087_0_1231"/>
          <p:cNvSpPr txBox="1"/>
          <p:nvPr/>
        </p:nvSpPr>
        <p:spPr>
          <a:xfrm>
            <a:off x="1668867" y="3856949"/>
            <a:ext cx="7827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Times New Roman"/>
                <a:ea typeface="Times New Roman"/>
                <a:cs typeface="Times New Roman"/>
                <a:sym typeface="Times New Roman"/>
              </a:rPr>
              <a:t>smFISH</a:t>
            </a:r>
            <a:endParaRPr b="0" i="0" sz="1400" u="none" cap="none" strike="noStrike">
              <a:solidFill>
                <a:schemeClr val="dk1"/>
              </a:solidFill>
              <a:latin typeface="Times New Roman"/>
              <a:ea typeface="Times New Roman"/>
              <a:cs typeface="Times New Roman"/>
              <a:sym typeface="Times New Roman"/>
            </a:endParaRPr>
          </a:p>
        </p:txBody>
      </p:sp>
      <p:grpSp>
        <p:nvGrpSpPr>
          <p:cNvPr id="693" name="Google Shape;693;g12196808087_0_1231"/>
          <p:cNvGrpSpPr/>
          <p:nvPr/>
        </p:nvGrpSpPr>
        <p:grpSpPr>
          <a:xfrm>
            <a:off x="4475216" y="5443414"/>
            <a:ext cx="3923556" cy="1211765"/>
            <a:chOff x="4643010" y="4112844"/>
            <a:chExt cx="3923556" cy="1211765"/>
          </a:xfrm>
        </p:grpSpPr>
        <p:pic>
          <p:nvPicPr>
            <p:cNvPr id="694" name="Google Shape;694;g12196808087_0_1231"/>
            <p:cNvPicPr preferRelativeResize="0"/>
            <p:nvPr/>
          </p:nvPicPr>
          <p:blipFill rotWithShape="1">
            <a:blip r:embed="rId9">
              <a:alphaModFix/>
            </a:blip>
            <a:srcRect b="60447" l="0" r="0" t="0"/>
            <a:stretch/>
          </p:blipFill>
          <p:spPr>
            <a:xfrm>
              <a:off x="4643010" y="4112844"/>
              <a:ext cx="3923556" cy="1211765"/>
            </a:xfrm>
            <a:prstGeom prst="rect">
              <a:avLst/>
            </a:prstGeom>
            <a:noFill/>
            <a:ln>
              <a:noFill/>
            </a:ln>
          </p:spPr>
        </p:pic>
        <p:sp>
          <p:nvSpPr>
            <p:cNvPr id="695" name="Google Shape;695;g12196808087_0_1231"/>
            <p:cNvSpPr/>
            <p:nvPr/>
          </p:nvSpPr>
          <p:spPr>
            <a:xfrm>
              <a:off x="5155155" y="4377809"/>
              <a:ext cx="845400" cy="189300"/>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grpSp>
        <p:nvGrpSpPr>
          <p:cNvPr id="696" name="Google Shape;696;g12196808087_0_1231"/>
          <p:cNvGrpSpPr/>
          <p:nvPr/>
        </p:nvGrpSpPr>
        <p:grpSpPr>
          <a:xfrm>
            <a:off x="4502546" y="4105362"/>
            <a:ext cx="3923556" cy="1348470"/>
            <a:chOff x="4637359" y="5304366"/>
            <a:chExt cx="3923556" cy="1348470"/>
          </a:xfrm>
        </p:grpSpPr>
        <p:pic>
          <p:nvPicPr>
            <p:cNvPr id="697" name="Google Shape;697;g12196808087_0_1231"/>
            <p:cNvPicPr preferRelativeResize="0"/>
            <p:nvPr/>
          </p:nvPicPr>
          <p:blipFill rotWithShape="1">
            <a:blip r:embed="rId9">
              <a:alphaModFix/>
            </a:blip>
            <a:srcRect b="5456" l="0" r="0" t="50528"/>
            <a:stretch/>
          </p:blipFill>
          <p:spPr>
            <a:xfrm>
              <a:off x="4637359" y="5304366"/>
              <a:ext cx="3923556" cy="1348470"/>
            </a:xfrm>
            <a:prstGeom prst="rect">
              <a:avLst/>
            </a:prstGeom>
            <a:noFill/>
            <a:ln>
              <a:noFill/>
            </a:ln>
          </p:spPr>
        </p:pic>
        <p:sp>
          <p:nvSpPr>
            <p:cNvPr id="698" name="Google Shape;698;g12196808087_0_1231"/>
            <p:cNvSpPr/>
            <p:nvPr/>
          </p:nvSpPr>
          <p:spPr>
            <a:xfrm>
              <a:off x="5213467" y="5602977"/>
              <a:ext cx="845400" cy="189300"/>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99" name="Google Shape;699;g12196808087_0_1231"/>
            <p:cNvSpPr txBox="1"/>
            <p:nvPr/>
          </p:nvSpPr>
          <p:spPr>
            <a:xfrm>
              <a:off x="5152260" y="5411122"/>
              <a:ext cx="9318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Wild-type</a:t>
              </a:r>
              <a:endParaRPr b="0" i="0" sz="1400" u="none" cap="none" strike="noStrike">
                <a:solidFill>
                  <a:srgbClr val="000000"/>
                </a:solidFill>
                <a:latin typeface="Times New Roman"/>
                <a:ea typeface="Times New Roman"/>
                <a:cs typeface="Times New Roman"/>
                <a:sym typeface="Times New Roman"/>
              </a:endParaRPr>
            </a:p>
          </p:txBody>
        </p:sp>
      </p:grpSp>
      <p:sp>
        <p:nvSpPr>
          <p:cNvPr id="700" name="Google Shape;700;g12196808087_0_1231"/>
          <p:cNvSpPr txBox="1"/>
          <p:nvPr/>
        </p:nvSpPr>
        <p:spPr>
          <a:xfrm>
            <a:off x="5078654" y="5554490"/>
            <a:ext cx="7041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Mutant</a:t>
            </a:r>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g12196808087_0_1479"/>
          <p:cNvSpPr/>
          <p:nvPr/>
        </p:nvSpPr>
        <p:spPr>
          <a:xfrm>
            <a:off x="3177" y="6175755"/>
            <a:ext cx="12185700" cy="687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06" name="Google Shape;706;g12196808087_0_1479"/>
          <p:cNvSpPr/>
          <p:nvPr/>
        </p:nvSpPr>
        <p:spPr>
          <a:xfrm>
            <a:off x="9843465" y="5926996"/>
            <a:ext cx="2338500" cy="770700"/>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199"/>
              <a:buFont typeface="Arial"/>
              <a:buNone/>
            </a:pPr>
            <a:r>
              <a:t/>
            </a:r>
            <a:endParaRPr b="0" i="0" sz="3199" u="none" cap="none" strike="noStrike">
              <a:solidFill>
                <a:srgbClr val="FFFFFF"/>
              </a:solidFill>
              <a:latin typeface="Arial"/>
              <a:ea typeface="Arial"/>
              <a:cs typeface="Arial"/>
              <a:sym typeface="Arial"/>
            </a:endParaRPr>
          </a:p>
        </p:txBody>
      </p:sp>
      <p:sp>
        <p:nvSpPr>
          <p:cNvPr id="707" name="Google Shape;707;g12196808087_0_1479"/>
          <p:cNvSpPr txBox="1"/>
          <p:nvPr/>
        </p:nvSpPr>
        <p:spPr>
          <a:xfrm>
            <a:off x="590702" y="208507"/>
            <a:ext cx="184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799"/>
              <a:buFont typeface="Arial"/>
              <a:buNone/>
            </a:pPr>
            <a:r>
              <a:t/>
            </a:r>
            <a:endParaRPr b="0" i="0" sz="1799" u="none" cap="none" strike="noStrike">
              <a:solidFill>
                <a:srgbClr val="000000"/>
              </a:solidFill>
              <a:latin typeface="Arial"/>
              <a:ea typeface="Arial"/>
              <a:cs typeface="Arial"/>
              <a:sym typeface="Arial"/>
            </a:endParaRPr>
          </a:p>
        </p:txBody>
      </p:sp>
      <p:sp>
        <p:nvSpPr>
          <p:cNvPr id="708" name="Google Shape;708;g12196808087_0_1479"/>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Arial"/>
                <a:ea typeface="Arial"/>
                <a:cs typeface="Arial"/>
                <a:sym typeface="Arial"/>
              </a:rPr>
              <a:t>Optical Tweezers to measure biological forces</a:t>
            </a:r>
            <a:endParaRPr b="0" i="0" sz="1400" u="none" cap="none" strike="noStrike">
              <a:solidFill>
                <a:srgbClr val="000000"/>
              </a:solidFill>
              <a:latin typeface="Arial"/>
              <a:ea typeface="Arial"/>
              <a:cs typeface="Arial"/>
              <a:sym typeface="Arial"/>
            </a:endParaRPr>
          </a:p>
        </p:txBody>
      </p:sp>
      <p:sp>
        <p:nvSpPr>
          <p:cNvPr id="709" name="Google Shape;709;g12196808087_0_1479"/>
          <p:cNvSpPr txBox="1"/>
          <p:nvPr/>
        </p:nvSpPr>
        <p:spPr>
          <a:xfrm>
            <a:off x="333450" y="409500"/>
            <a:ext cx="11477700" cy="2339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Times New Roman"/>
                <a:ea typeface="Times New Roman"/>
                <a:cs typeface="Times New Roman"/>
                <a:sym typeface="Times New Roman"/>
              </a:rPr>
              <a:t>Optical tweezers use tightly focussed light beam</a:t>
            </a:r>
            <a:r>
              <a:rPr b="1" i="0" lang="en-US" sz="1400" u="none" cap="none" strike="noStrike">
                <a:solidFill>
                  <a:schemeClr val="dk1"/>
                </a:solidFill>
                <a:latin typeface="Times New Roman"/>
                <a:ea typeface="Times New Roman"/>
                <a:cs typeface="Times New Roman"/>
                <a:sym typeface="Times New Roman"/>
              </a:rPr>
              <a:t> (IR laser) to hold and manipulate microscopically small objects.</a:t>
            </a:r>
            <a:r>
              <a:rPr b="0" i="0" lang="en-US" sz="1400" u="none" cap="none" strike="noStrike">
                <a:solidFill>
                  <a:schemeClr val="dk1"/>
                </a:solidFill>
                <a:latin typeface="Times New Roman"/>
                <a:ea typeface="Times New Roman"/>
                <a:cs typeface="Times New Roman"/>
                <a:sym typeface="Times New Roman"/>
              </a:rPr>
              <a:t> </a:t>
            </a:r>
            <a:endParaRPr b="0" i="0" sz="1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Times New Roman"/>
                <a:ea typeface="Times New Roman"/>
                <a:cs typeface="Times New Roman"/>
                <a:sym typeface="Times New Roman"/>
              </a:rPr>
              <a:t>Microscope objective lens (high NA) is used for tight focussing of the IR laser beam. This region becomes an optical trap that can hold small objects in 3D. </a:t>
            </a:r>
            <a:endParaRPr b="0" i="0" sz="1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Times New Roman"/>
                <a:ea typeface="Times New Roman"/>
                <a:cs typeface="Times New Roman"/>
                <a:sym typeface="Times New Roman"/>
              </a:rPr>
              <a:t>Optical tweezers can also make accurate measurements of the sub-picoNewton forces exerted on the trapped objects and the small displacements (nanometer).</a:t>
            </a:r>
            <a:endParaRPr b="0" i="0" sz="1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Times New Roman"/>
                <a:ea typeface="Times New Roman"/>
                <a:cs typeface="Times New Roman"/>
                <a:sym typeface="Times New Roman"/>
              </a:rPr>
              <a:t>Since the diameter of biomolecules is generally between 1 and 10 nanometers, the optical tweezer cannot directly observe and manipulate. Hence, it is necessary to connect the molecule to the microspheres (beads) and indirectly manipulate and measure by using the beads as the “handle” of the manipulation. For example, the two ends of the DNA are connected to two beads, and the beads are manipulated by a double-beam tweezers to stretch the DNA and measure its elastic properties.</a:t>
            </a:r>
            <a:endParaRPr b="0" i="0" sz="1700" u="none" cap="none" strike="noStrike">
              <a:solidFill>
                <a:schemeClr val="dk1"/>
              </a:solidFill>
              <a:latin typeface="Times New Roman"/>
              <a:ea typeface="Times New Roman"/>
              <a:cs typeface="Times New Roman"/>
              <a:sym typeface="Times New Roman"/>
            </a:endParaRPr>
          </a:p>
        </p:txBody>
      </p:sp>
      <p:pic>
        <p:nvPicPr>
          <p:cNvPr id="710" name="Google Shape;710;g12196808087_0_1479"/>
          <p:cNvPicPr preferRelativeResize="0"/>
          <p:nvPr/>
        </p:nvPicPr>
        <p:blipFill rotWithShape="1">
          <a:blip r:embed="rId3">
            <a:alphaModFix/>
          </a:blip>
          <a:srcRect b="0" l="0" r="0" t="0"/>
          <a:stretch/>
        </p:blipFill>
        <p:spPr>
          <a:xfrm>
            <a:off x="7567526" y="2520700"/>
            <a:ext cx="4113575" cy="4040974"/>
          </a:xfrm>
          <a:prstGeom prst="rect">
            <a:avLst/>
          </a:prstGeom>
          <a:noFill/>
          <a:ln>
            <a:noFill/>
          </a:ln>
        </p:spPr>
      </p:pic>
      <p:sp>
        <p:nvSpPr>
          <p:cNvPr id="711" name="Google Shape;711;g12196808087_0_1479"/>
          <p:cNvSpPr txBox="1"/>
          <p:nvPr/>
        </p:nvSpPr>
        <p:spPr>
          <a:xfrm>
            <a:off x="0" y="6025775"/>
            <a:ext cx="97761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Kimura and Bianco 2006, Analyst</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b="0" i="0" lang="en-US" sz="1400" u="sng" cap="none" strike="noStrike">
                <a:solidFill>
                  <a:schemeClr val="hlink"/>
                </a:solidFill>
                <a:latin typeface="Times New Roman"/>
                <a:ea typeface="Times New Roman"/>
                <a:cs typeface="Times New Roman"/>
                <a:sym typeface="Times New Roman"/>
                <a:hlinkClick r:id="rId4"/>
              </a:rPr>
              <a:t>https://physicsworld.com/a/optical-tweezers-where-physics-meets-biology/</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b="0" i="0" lang="en-US" sz="1400" u="sng" cap="none" strike="noStrike">
                <a:solidFill>
                  <a:schemeClr val="hlink"/>
                </a:solidFill>
                <a:latin typeface="Times New Roman"/>
                <a:ea typeface="Times New Roman"/>
                <a:cs typeface="Times New Roman"/>
                <a:sym typeface="Times New Roman"/>
                <a:hlinkClick r:id="rId5"/>
              </a:rPr>
              <a:t>https://en.wikipedia.org/wiki/Optical_tweezers</a:t>
            </a:r>
            <a:endParaRPr b="0" i="0" sz="1400" u="none" cap="none" strike="noStrike">
              <a:solidFill>
                <a:srgbClr val="000000"/>
              </a:solidFill>
              <a:latin typeface="Times New Roman"/>
              <a:ea typeface="Times New Roman"/>
              <a:cs typeface="Times New Roman"/>
              <a:sym typeface="Times New Roman"/>
            </a:endParaRPr>
          </a:p>
        </p:txBody>
      </p:sp>
      <p:sp>
        <p:nvSpPr>
          <p:cNvPr id="712" name="Google Shape;712;g12196808087_0_1479"/>
          <p:cNvSpPr txBox="1"/>
          <p:nvPr/>
        </p:nvSpPr>
        <p:spPr>
          <a:xfrm>
            <a:off x="385525" y="2808675"/>
            <a:ext cx="70392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Times New Roman"/>
                <a:ea typeface="Times New Roman"/>
                <a:cs typeface="Times New Roman"/>
                <a:sym typeface="Times New Roman"/>
              </a:rPr>
              <a:t>Optical tweezers have been used with great success in the field of single-molecule biophysics. For example, they have helped researchers unravel the complex elasticity and folding dynamics of DNA, RNA, proteins (especially motor protein dynamics) and other long-chain “biopolymers”.</a:t>
            </a:r>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g12196808087_0_1574"/>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Arial"/>
                <a:ea typeface="Arial"/>
                <a:cs typeface="Arial"/>
                <a:sym typeface="Arial"/>
              </a:rPr>
              <a:t>Strength of Kinetochore-Microtubule attachments</a:t>
            </a:r>
            <a:endParaRPr b="0" i="0" sz="1400" u="none" cap="none" strike="noStrike">
              <a:solidFill>
                <a:srgbClr val="000000"/>
              </a:solidFill>
              <a:latin typeface="Arial"/>
              <a:ea typeface="Arial"/>
              <a:cs typeface="Arial"/>
              <a:sym typeface="Arial"/>
            </a:endParaRPr>
          </a:p>
        </p:txBody>
      </p:sp>
      <p:pic>
        <p:nvPicPr>
          <p:cNvPr id="719" name="Google Shape;719;g12196808087_0_1574"/>
          <p:cNvPicPr preferRelativeResize="0"/>
          <p:nvPr/>
        </p:nvPicPr>
        <p:blipFill rotWithShape="1">
          <a:blip r:embed="rId3">
            <a:alphaModFix/>
          </a:blip>
          <a:srcRect b="0" l="0" r="0" t="0"/>
          <a:stretch/>
        </p:blipFill>
        <p:spPr>
          <a:xfrm>
            <a:off x="152400" y="517500"/>
            <a:ext cx="5209064" cy="2906625"/>
          </a:xfrm>
          <a:prstGeom prst="rect">
            <a:avLst/>
          </a:prstGeom>
          <a:noFill/>
          <a:ln>
            <a:noFill/>
          </a:ln>
        </p:spPr>
      </p:pic>
      <p:pic>
        <p:nvPicPr>
          <p:cNvPr id="720" name="Google Shape;720;g12196808087_0_1574"/>
          <p:cNvPicPr preferRelativeResize="0"/>
          <p:nvPr/>
        </p:nvPicPr>
        <p:blipFill rotWithShape="1">
          <a:blip r:embed="rId4">
            <a:alphaModFix/>
          </a:blip>
          <a:srcRect b="0" l="0" r="0" t="0"/>
          <a:stretch/>
        </p:blipFill>
        <p:spPr>
          <a:xfrm>
            <a:off x="1220925" y="3798975"/>
            <a:ext cx="3679347" cy="2906625"/>
          </a:xfrm>
          <a:prstGeom prst="rect">
            <a:avLst/>
          </a:prstGeom>
          <a:noFill/>
          <a:ln>
            <a:noFill/>
          </a:ln>
        </p:spPr>
      </p:pic>
      <p:sp>
        <p:nvSpPr>
          <p:cNvPr id="721" name="Google Shape;721;g12196808087_0_1574"/>
          <p:cNvSpPr txBox="1"/>
          <p:nvPr/>
        </p:nvSpPr>
        <p:spPr>
          <a:xfrm>
            <a:off x="-3000000" y="4302900"/>
            <a:ext cx="3000000" cy="2555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 Diagram of a kinetochore-coated bead binding to a microtubule immobilized to 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coverslip through rigor kinesins. The blocking protein described in the text is 6xHis-GFP,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but any protein that has a 6xHis tag and that does not stick to the surface will work. (b) DIC</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image of kinetochore beads bound to a microtubule mat.</a:t>
            </a:r>
            <a:endParaRPr b="0" i="0" sz="1400" u="none" cap="none" strike="noStrike">
              <a:solidFill>
                <a:srgbClr val="000000"/>
              </a:solidFill>
              <a:latin typeface="Arial"/>
              <a:ea typeface="Arial"/>
              <a:cs typeface="Arial"/>
              <a:sym typeface="Arial"/>
            </a:endParaRPr>
          </a:p>
        </p:txBody>
      </p:sp>
      <p:pic>
        <p:nvPicPr>
          <p:cNvPr id="722" name="Google Shape;722;g12196808087_0_1574"/>
          <p:cNvPicPr preferRelativeResize="0"/>
          <p:nvPr/>
        </p:nvPicPr>
        <p:blipFill rotWithShape="1">
          <a:blip r:embed="rId5">
            <a:alphaModFix/>
          </a:blip>
          <a:srcRect b="0" l="0" r="0" t="0"/>
          <a:stretch/>
        </p:blipFill>
        <p:spPr>
          <a:xfrm>
            <a:off x="7000476" y="632224"/>
            <a:ext cx="5055524" cy="5774901"/>
          </a:xfrm>
          <a:prstGeom prst="rect">
            <a:avLst/>
          </a:prstGeom>
          <a:noFill/>
          <a:ln>
            <a:noFill/>
          </a:ln>
        </p:spPr>
      </p:pic>
      <p:sp>
        <p:nvSpPr>
          <p:cNvPr id="723" name="Google Shape;723;g12196808087_0_1574"/>
          <p:cNvSpPr txBox="1"/>
          <p:nvPr/>
        </p:nvSpPr>
        <p:spPr>
          <a:xfrm>
            <a:off x="12192000" y="932525"/>
            <a:ext cx="3000000" cy="3201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Figure 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 Diagram of a kinetochore-microtubule attachment under tension in an optical trap. (b)</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Example rupture force measurement. The microbead returns to the center of the trap (zero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force) after the attachment ruptures. The peak force reached during the force ramp is the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“rupture force” that is recorded for that attachment.</a:t>
            </a:r>
            <a:endParaRPr b="0" i="0" sz="1400" u="none" cap="none" strike="noStrike">
              <a:solidFill>
                <a:srgbClr val="000000"/>
              </a:solidFill>
              <a:latin typeface="Arial"/>
              <a:ea typeface="Arial"/>
              <a:cs typeface="Arial"/>
              <a:sym typeface="Arial"/>
            </a:endParaRPr>
          </a:p>
        </p:txBody>
      </p:sp>
      <p:sp>
        <p:nvSpPr>
          <p:cNvPr id="724" name="Google Shape;724;g12196808087_0_1574"/>
          <p:cNvSpPr txBox="1"/>
          <p:nvPr/>
        </p:nvSpPr>
        <p:spPr>
          <a:xfrm>
            <a:off x="8004250" y="6566575"/>
            <a:ext cx="4187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Driver et al. 2014_Methods in Enzymology</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2021-09-02T08:32:53Z</dcterms:created>
  <dc:creator>Gunjan Mehta</dc:creator>
</cp:coreProperties>
</file>