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6858000" cx="12192000"/>
  <p:notesSz cx="7077075" cy="9363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iy3EiMJBMjJlinCErKVKETksuz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66733" cy="469780"/>
          </a:xfrm>
          <a:prstGeom prst="rect">
            <a:avLst/>
          </a:prstGeom>
          <a:noFill/>
          <a:ln>
            <a:noFill/>
          </a:ln>
        </p:spPr>
        <p:txBody>
          <a:bodyPr anchorCtr="0" anchor="t" bIns="46950" lIns="93925" spcFirstLastPara="1" rIns="93925" wrap="square" tIns="469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08705" y="0"/>
            <a:ext cx="3066733" cy="469780"/>
          </a:xfrm>
          <a:prstGeom prst="rect">
            <a:avLst/>
          </a:prstGeom>
          <a:noFill/>
          <a:ln>
            <a:noFill/>
          </a:ln>
        </p:spPr>
        <p:txBody>
          <a:bodyPr anchorCtr="0" anchor="t" bIns="46950" lIns="93925" spcFirstLastPara="1" rIns="93925" wrap="square" tIns="4695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28663" y="1169988"/>
            <a:ext cx="5619750" cy="3160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7708" y="4505980"/>
            <a:ext cx="5661660" cy="3686711"/>
          </a:xfrm>
          <a:prstGeom prst="rect">
            <a:avLst/>
          </a:prstGeom>
          <a:noFill/>
          <a:ln>
            <a:noFill/>
          </a:ln>
        </p:spPr>
        <p:txBody>
          <a:bodyPr anchorCtr="0" anchor="t" bIns="46950" lIns="93925" spcFirstLastPara="1" rIns="93925" wrap="square" tIns="4695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93297"/>
            <a:ext cx="3066733" cy="469779"/>
          </a:xfrm>
          <a:prstGeom prst="rect">
            <a:avLst/>
          </a:prstGeom>
          <a:noFill/>
          <a:ln>
            <a:noFill/>
          </a:ln>
        </p:spPr>
        <p:txBody>
          <a:bodyPr anchorCtr="0" anchor="b" bIns="46950" lIns="93925" spcFirstLastPara="1" rIns="93925" wrap="square" tIns="469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08705" y="8893297"/>
            <a:ext cx="3066733" cy="469779"/>
          </a:xfrm>
          <a:prstGeom prst="rect">
            <a:avLst/>
          </a:prstGeom>
          <a:noFill/>
          <a:ln>
            <a:noFill/>
          </a:ln>
        </p:spPr>
        <p:txBody>
          <a:bodyPr anchorCtr="0" anchor="b" bIns="46950" lIns="93925" spcFirstLastPara="1" rIns="93925" wrap="square" tIns="469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707708" y="4505980"/>
            <a:ext cx="5661660" cy="3686711"/>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728663" y="1169988"/>
            <a:ext cx="5619750" cy="3160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920e81558a_0_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2920e81558a_0_0: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95" name="Google Shape;95;g2920e81558a_0_0: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0ea99a6757_0_85: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0ea99a6757_0_85: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04" name="Google Shape;104;g30ea99a6757_0_85: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0ea99a6757_0_3: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14" name="Google Shape;114;g30ea99a6757_0_3: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920e81558a_0_6: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2920e81558a_0_6: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22" name="Google Shape;122;g2920e81558a_0_6: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920e81558a_0_12: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2920e81558a_0_12: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29" name="Google Shape;129;g2920e81558a_0_12: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920e81558a_0_1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2920e81558a_0_1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37" name="Google Shape;137;g2920e81558a_0_1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920e81558a_0_28: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2920e81558a_0_28: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48" name="Google Shape;148;g2920e81558a_0_28: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920e81558a_0_35: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2920e81558a_0_35: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56" name="Google Shape;156;g2920e81558a_0_35: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920e81558a_0_4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2920e81558a_0_40: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63" name="Google Shape;163;g2920e81558a_0_40: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920e81558a_0_4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2920e81558a_0_4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73" name="Google Shape;173;g2920e81558a_0_4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920e81558a_0_56: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2920e81558a_0_56: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81" name="Google Shape;181;g2920e81558a_0_56: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920e81558a_0_64: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2920e81558a_0_64: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90" name="Google Shape;190;g2920e81558a_0_64: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920e81558a_0_7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2920e81558a_0_70: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197" name="Google Shape;197;g2920e81558a_0_70: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920e81558a_0_7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2920e81558a_0_77: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05" name="Google Shape;205;g2920e81558a_0_77: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0ea99a6757_0_98: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0ea99a6757_0_98: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17" name="Google Shape;217;g30ea99a6757_0_98: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920e81558a_0_8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2920e81558a_0_87: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25" name="Google Shape;225;g2920e81558a_0_87: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920e81558a_0_104: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2920e81558a_0_104: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36" name="Google Shape;236;g2920e81558a_0_104: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920e81558a_0_11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2920e81558a_0_11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44" name="Google Shape;244;g2920e81558a_0_11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1ea403964f_0_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11ea403964f_0_0: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62" name="Google Shape;262;g11ea403964f_0_0: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1a83a58a23_0_16: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11a83a58a23_0_16: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71" name="Google Shape;271;g11a83a58a23_0_16: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1a83a58a23_0_2: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11a83a58a23_0_2: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79" name="Google Shape;279;g11a83a58a23_0_2: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a83a58a23_0_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g11a83a58a23_0_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86" name="Google Shape;286;g11a83a58a23_0_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1ed67cc255_0_19: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11ed67cc255_0_19: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297" name="Google Shape;297;g11ed67cc255_0_19: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1a83a58a23_0_28: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11a83a58a23_0_28: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06" name="Google Shape;306;g11a83a58a23_0_28: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1ed67cc255_0_1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11ed67cc255_0_10: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12" name="Google Shape;312;g11ed67cc255_0_10: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1ed67cc255_0_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11ed67cc255_0_0: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20" name="Google Shape;320;g11ed67cc255_0_0: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1ed67cc255_0_28: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11ed67cc255_0_28: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29" name="Google Shape;329;g11ed67cc255_0_28: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1ed67cc255_0_35: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g11ed67cc255_0_35: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36" name="Google Shape;336;g11ed67cc255_0_35: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21f69ce7a4_0_0: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21f69ce7a4_0_0: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346" name="Google Shape;346;g121f69ce7a4_0_0: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920e81558a_0_207: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55" name="Google Shape;355;g2920e81558a_0_20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1a83a58a23_0_35: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g11a83a58a23_0_35: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63" name="Google Shape;363;g11a83a58a23_0_35: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920e81558a_0_9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g2920e81558a_0_97:notes"/>
          <p:cNvSpPr txBox="1"/>
          <p:nvPr>
            <p:ph idx="1" type="body"/>
          </p:nvPr>
        </p:nvSpPr>
        <p:spPr>
          <a:xfrm>
            <a:off x="707708" y="4505980"/>
            <a:ext cx="5661600" cy="3686700"/>
          </a:xfrm>
          <a:prstGeom prst="rect">
            <a:avLst/>
          </a:prstGeom>
          <a:noFill/>
          <a:ln>
            <a:noFill/>
          </a:ln>
        </p:spPr>
        <p:txBody>
          <a:bodyPr anchorCtr="0" anchor="t" bIns="46950" lIns="93925" spcFirstLastPara="1" rIns="93925" wrap="square" tIns="46950">
            <a:noAutofit/>
          </a:bodyPr>
          <a:lstStyle/>
          <a:p>
            <a:pPr indent="0" lvl="0" marL="0" rtl="0" algn="l">
              <a:lnSpc>
                <a:spcPct val="100000"/>
              </a:lnSpc>
              <a:spcBef>
                <a:spcPts val="0"/>
              </a:spcBef>
              <a:spcAft>
                <a:spcPts val="0"/>
              </a:spcAft>
              <a:buSzPts val="1400"/>
              <a:buNone/>
            </a:pPr>
            <a:r>
              <a:t/>
            </a:r>
            <a:endParaRPr/>
          </a:p>
        </p:txBody>
      </p:sp>
      <p:sp>
        <p:nvSpPr>
          <p:cNvPr id="370" name="Google Shape;370;g2920e81558a_0_97:notes"/>
          <p:cNvSpPr txBox="1"/>
          <p:nvPr>
            <p:ph idx="12" type="sldNum"/>
          </p:nvPr>
        </p:nvSpPr>
        <p:spPr>
          <a:xfrm>
            <a:off x="4008705" y="8893297"/>
            <a:ext cx="3066600" cy="469800"/>
          </a:xfrm>
          <a:prstGeom prst="rect">
            <a:avLst/>
          </a:prstGeom>
          <a:noFill/>
          <a:ln>
            <a:noFill/>
          </a:ln>
        </p:spPr>
        <p:txBody>
          <a:bodyPr anchorCtr="0" anchor="b" bIns="46950" lIns="93925" spcFirstLastPara="1" rIns="93925" wrap="square" tIns="4695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0ea99a6757_0_107:notes"/>
          <p:cNvSpPr/>
          <p:nvPr>
            <p:ph idx="2" type="sldImg"/>
          </p:nvPr>
        </p:nvSpPr>
        <p:spPr>
          <a:xfrm>
            <a:off x="728663" y="1169988"/>
            <a:ext cx="5619900" cy="31608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0ea99a6757_0_107:notes"/>
          <p:cNvSpPr txBox="1"/>
          <p:nvPr>
            <p:ph idx="1" type="body"/>
          </p:nvPr>
        </p:nvSpPr>
        <p:spPr>
          <a:xfrm>
            <a:off x="707708" y="4505980"/>
            <a:ext cx="5661600" cy="36867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378" name="Google Shape;378;g30ea99a6757_0_107:notes"/>
          <p:cNvSpPr txBox="1"/>
          <p:nvPr>
            <p:ph idx="12" type="sldNum"/>
          </p:nvPr>
        </p:nvSpPr>
        <p:spPr>
          <a:xfrm>
            <a:off x="4008705" y="8893297"/>
            <a:ext cx="3066600" cy="469800"/>
          </a:xfrm>
          <a:prstGeom prst="rect">
            <a:avLst/>
          </a:prstGeom>
        </p:spPr>
        <p:txBody>
          <a:bodyPr anchorCtr="0" anchor="b" bIns="46950" lIns="93925" spcFirstLastPara="1" rIns="93925" wrap="square" tIns="469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mailto:gunjanmehta@bt.iith.ac.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hyperlink" Target="https://www.youtube.com/watch?v=7Hk9jct2ozY&amp;t=67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7.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8.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6.png"/><Relationship Id="rId4" Type="http://schemas.openxmlformats.org/officeDocument/2006/relationships/image" Target="../media/image19.png"/><Relationship Id="rId5" Type="http://schemas.openxmlformats.org/officeDocument/2006/relationships/image" Target="../media/image23.png"/><Relationship Id="rId6"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24.png"/><Relationship Id="rId5"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2.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43.png"/><Relationship Id="rId5"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9.png"/><Relationship Id="rId4" Type="http://schemas.openxmlformats.org/officeDocument/2006/relationships/image" Target="../media/image48.png"/><Relationship Id="rId5"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0" l="0" r="0" t="0"/>
          <a:stretch/>
        </p:blipFill>
        <p:spPr>
          <a:xfrm>
            <a:off x="0" y="2215825"/>
            <a:ext cx="6808025" cy="4627025"/>
          </a:xfrm>
          <a:prstGeom prst="rect">
            <a:avLst/>
          </a:prstGeom>
          <a:noFill/>
          <a:ln>
            <a:noFill/>
          </a:ln>
        </p:spPr>
      </p:pic>
      <p:sp>
        <p:nvSpPr>
          <p:cNvPr id="89" name="Google Shape;89;p1"/>
          <p:cNvSpPr txBox="1"/>
          <p:nvPr>
            <p:ph type="ctrTitle"/>
          </p:nvPr>
        </p:nvSpPr>
        <p:spPr>
          <a:xfrm>
            <a:off x="-1" y="0"/>
            <a:ext cx="12191999"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BT1010 Introduction to Life Sciences</a:t>
            </a:r>
            <a:endParaRPr sz="4400">
              <a:latin typeface="Times New Roman"/>
              <a:ea typeface="Times New Roman"/>
              <a:cs typeface="Times New Roman"/>
              <a:sym typeface="Times New Roman"/>
            </a:endParaRPr>
          </a:p>
        </p:txBody>
      </p:sp>
      <p:sp>
        <p:nvSpPr>
          <p:cNvPr id="90" name="Google Shape;90;p1"/>
          <p:cNvSpPr txBox="1"/>
          <p:nvPr>
            <p:ph idx="1" type="subTitle"/>
          </p:nvPr>
        </p:nvSpPr>
        <p:spPr>
          <a:xfrm>
            <a:off x="6278025" y="4614100"/>
            <a:ext cx="5131200" cy="1941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400"/>
              <a:buNone/>
            </a:pPr>
            <a:r>
              <a:rPr lang="en-US" sz="1600">
                <a:latin typeface="Times New Roman"/>
                <a:ea typeface="Times New Roman"/>
                <a:cs typeface="Times New Roman"/>
                <a:sym typeface="Times New Roman"/>
              </a:rPr>
              <a:t>Course Instructor:</a:t>
            </a:r>
            <a:endParaRPr sz="2600"/>
          </a:p>
          <a:p>
            <a:pPr indent="0" lvl="0" marL="0" rtl="0" algn="ctr">
              <a:lnSpc>
                <a:spcPct val="90000"/>
              </a:lnSpc>
              <a:spcBef>
                <a:spcPts val="1000"/>
              </a:spcBef>
              <a:spcAft>
                <a:spcPts val="0"/>
              </a:spcAft>
              <a:buClr>
                <a:schemeClr val="dk1"/>
              </a:buClr>
              <a:buSzPts val="1800"/>
              <a:buNone/>
            </a:pPr>
            <a:r>
              <a:rPr b="1" lang="en-US" sz="2000">
                <a:latin typeface="Times New Roman"/>
                <a:ea typeface="Times New Roman"/>
                <a:cs typeface="Times New Roman"/>
                <a:sym typeface="Times New Roman"/>
              </a:rPr>
              <a:t>Dr. Gunjan Mehta, Ph.D.</a:t>
            </a:r>
            <a:endParaRPr sz="2600"/>
          </a:p>
          <a:p>
            <a:pPr indent="0" lvl="0" marL="0" rtl="0" algn="ctr">
              <a:lnSpc>
                <a:spcPct val="90000"/>
              </a:lnSpc>
              <a:spcBef>
                <a:spcPts val="1000"/>
              </a:spcBef>
              <a:spcAft>
                <a:spcPts val="0"/>
              </a:spcAft>
              <a:buClr>
                <a:schemeClr val="dk1"/>
              </a:buClr>
              <a:buSzPts val="1400"/>
              <a:buNone/>
            </a:pPr>
            <a:r>
              <a:rPr lang="en-US" sz="1600">
                <a:latin typeface="Times New Roman"/>
                <a:ea typeface="Times New Roman"/>
                <a:cs typeface="Times New Roman"/>
                <a:sym typeface="Times New Roman"/>
              </a:rPr>
              <a:t>Assistant Professor</a:t>
            </a:r>
            <a:endParaRPr sz="2600"/>
          </a:p>
          <a:p>
            <a:pPr indent="0" lvl="0" marL="0" rtl="0" algn="ctr">
              <a:lnSpc>
                <a:spcPct val="90000"/>
              </a:lnSpc>
              <a:spcBef>
                <a:spcPts val="1000"/>
              </a:spcBef>
              <a:spcAft>
                <a:spcPts val="0"/>
              </a:spcAft>
              <a:buClr>
                <a:schemeClr val="dk1"/>
              </a:buClr>
              <a:buSzPts val="1400"/>
              <a:buNone/>
            </a:pPr>
            <a:r>
              <a:rPr lang="en-US" sz="1600">
                <a:latin typeface="Times New Roman"/>
                <a:ea typeface="Times New Roman"/>
                <a:cs typeface="Times New Roman"/>
                <a:sym typeface="Times New Roman"/>
              </a:rPr>
              <a:t>Department of Biotechnology </a:t>
            </a:r>
            <a:endParaRPr sz="16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1400"/>
              <a:buNone/>
            </a:pPr>
            <a:r>
              <a:rPr lang="en-US" sz="1600">
                <a:latin typeface="Times New Roman"/>
                <a:ea typeface="Times New Roman"/>
                <a:cs typeface="Times New Roman"/>
                <a:sym typeface="Times New Roman"/>
              </a:rPr>
              <a:t>IIT Hyderabad</a:t>
            </a:r>
            <a:endParaRPr sz="2600"/>
          </a:p>
          <a:p>
            <a:pPr indent="0" lvl="0" marL="0" rtl="0" algn="ctr">
              <a:lnSpc>
                <a:spcPct val="90000"/>
              </a:lnSpc>
              <a:spcBef>
                <a:spcPts val="1000"/>
              </a:spcBef>
              <a:spcAft>
                <a:spcPts val="0"/>
              </a:spcAft>
              <a:buClr>
                <a:schemeClr val="dk1"/>
              </a:buClr>
              <a:buSzPts val="1400"/>
              <a:buNone/>
            </a:pPr>
            <a:r>
              <a:rPr lang="en-US" sz="1600">
                <a:latin typeface="Times New Roman"/>
                <a:ea typeface="Times New Roman"/>
                <a:cs typeface="Times New Roman"/>
                <a:sym typeface="Times New Roman"/>
              </a:rPr>
              <a:t>(M.) +91 70168 96886 Email: </a:t>
            </a:r>
            <a:r>
              <a:rPr lang="en-US" sz="1600" u="sng">
                <a:solidFill>
                  <a:schemeClr val="hlink"/>
                </a:solidFill>
                <a:latin typeface="Times New Roman"/>
                <a:ea typeface="Times New Roman"/>
                <a:cs typeface="Times New Roman"/>
                <a:sym typeface="Times New Roman"/>
                <a:hlinkClick r:id="rId4"/>
              </a:rPr>
              <a:t>gunjanmehta@bt.iith.ac.in</a:t>
            </a:r>
            <a:endParaRPr sz="16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1400"/>
              <a:buNone/>
            </a:pPr>
            <a:r>
              <a:t/>
            </a:r>
            <a:endParaRPr sz="1600">
              <a:latin typeface="Times New Roman"/>
              <a:ea typeface="Times New Roman"/>
              <a:cs typeface="Times New Roman"/>
              <a:sym typeface="Times New Roman"/>
            </a:endParaRPr>
          </a:p>
        </p:txBody>
      </p:sp>
      <p:sp>
        <p:nvSpPr>
          <p:cNvPr id="91" name="Google Shape;91;p1"/>
          <p:cNvSpPr txBox="1"/>
          <p:nvPr/>
        </p:nvSpPr>
        <p:spPr>
          <a:xfrm>
            <a:off x="4678100" y="2144775"/>
            <a:ext cx="71739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Times New Roman"/>
                <a:ea typeface="Times New Roman"/>
                <a:cs typeface="Times New Roman"/>
                <a:sym typeface="Times New Roman"/>
              </a:rPr>
              <a:t>Lecture 3: Biomolecules_Nucleic Acids, DNA-Based Information Technologies</a:t>
            </a:r>
            <a:r>
              <a:rPr lang="en-US" sz="2000">
                <a:solidFill>
                  <a:schemeClr val="dk1"/>
                </a:solidFill>
                <a:latin typeface="Times New Roman"/>
                <a:ea typeface="Times New Roman"/>
                <a:cs typeface="Times New Roman"/>
                <a:sym typeface="Times New Roman"/>
              </a:rPr>
              <a:t>, Cloning</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lang="en-US" sz="2000">
                <a:solidFill>
                  <a:schemeClr val="dk1"/>
                </a:solidFill>
                <a:latin typeface="Times New Roman"/>
                <a:ea typeface="Times New Roman"/>
                <a:cs typeface="Times New Roman"/>
                <a:sym typeface="Times New Roman"/>
              </a:rPr>
              <a:t>29</a:t>
            </a:r>
            <a:r>
              <a:rPr b="0" i="0" lang="en-US" sz="2000" u="none" cap="none" strike="noStrike">
                <a:solidFill>
                  <a:schemeClr val="dk1"/>
                </a:solidFill>
                <a:latin typeface="Times New Roman"/>
                <a:ea typeface="Times New Roman"/>
                <a:cs typeface="Times New Roman"/>
                <a:sym typeface="Times New Roman"/>
              </a:rPr>
              <a:t>/</a:t>
            </a:r>
            <a:r>
              <a:rPr lang="en-US" sz="2000">
                <a:solidFill>
                  <a:schemeClr val="dk1"/>
                </a:solidFill>
                <a:latin typeface="Times New Roman"/>
                <a:ea typeface="Times New Roman"/>
                <a:cs typeface="Times New Roman"/>
                <a:sym typeface="Times New Roman"/>
              </a:rPr>
              <a:t>10</a:t>
            </a:r>
            <a:r>
              <a:rPr b="0" i="0" lang="en-US" sz="2000" u="none" cap="none" strike="noStrike">
                <a:solidFill>
                  <a:schemeClr val="dk1"/>
                </a:solidFill>
                <a:latin typeface="Times New Roman"/>
                <a:ea typeface="Times New Roman"/>
                <a:cs typeface="Times New Roman"/>
                <a:sym typeface="Times New Roman"/>
              </a:rPr>
              <a:t>/20</a:t>
            </a:r>
            <a:r>
              <a:rPr lang="en-US" sz="2000">
                <a:solidFill>
                  <a:schemeClr val="dk1"/>
                </a:solidFill>
                <a:latin typeface="Times New Roman"/>
                <a:ea typeface="Times New Roman"/>
                <a:cs typeface="Times New Roman"/>
                <a:sym typeface="Times New Roman"/>
              </a:rPr>
              <a:t>25</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g2920e81558a_0_0"/>
          <p:cNvPicPr preferRelativeResize="0"/>
          <p:nvPr/>
        </p:nvPicPr>
        <p:blipFill rotWithShape="1">
          <a:blip r:embed="rId3">
            <a:alphaModFix/>
          </a:blip>
          <a:srcRect b="0" l="0" r="0" t="0"/>
          <a:stretch/>
        </p:blipFill>
        <p:spPr>
          <a:xfrm>
            <a:off x="274105" y="0"/>
            <a:ext cx="6462192" cy="6858001"/>
          </a:xfrm>
          <a:prstGeom prst="rect">
            <a:avLst/>
          </a:prstGeom>
          <a:noFill/>
          <a:ln>
            <a:noFill/>
          </a:ln>
        </p:spPr>
      </p:pic>
      <p:sp>
        <p:nvSpPr>
          <p:cNvPr id="98" name="Google Shape;98;g2920e81558a_0_0"/>
          <p:cNvSpPr txBox="1"/>
          <p:nvPr>
            <p:ph idx="1" type="body"/>
          </p:nvPr>
        </p:nvSpPr>
        <p:spPr>
          <a:xfrm>
            <a:off x="6750700" y="176975"/>
            <a:ext cx="5116800" cy="886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b="1" lang="en-US" sz="6600">
                <a:latin typeface="Times New Roman"/>
                <a:ea typeface="Times New Roman"/>
                <a:cs typeface="Times New Roman"/>
                <a:sym typeface="Times New Roman"/>
              </a:rPr>
              <a:t>Nucleic Acids</a:t>
            </a:r>
            <a:endParaRPr b="1" sz="6600">
              <a:latin typeface="Times New Roman"/>
              <a:ea typeface="Times New Roman"/>
              <a:cs typeface="Times New Roman"/>
              <a:sym typeface="Times New Roman"/>
            </a:endParaRPr>
          </a:p>
        </p:txBody>
      </p:sp>
      <p:sp>
        <p:nvSpPr>
          <p:cNvPr id="99" name="Google Shape;99;g2920e81558a_0_0"/>
          <p:cNvSpPr txBox="1"/>
          <p:nvPr/>
        </p:nvSpPr>
        <p:spPr>
          <a:xfrm>
            <a:off x="1331300" y="6285550"/>
            <a:ext cx="2739300" cy="4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latin typeface="Times New Roman"/>
                <a:ea typeface="Times New Roman"/>
                <a:cs typeface="Times New Roman"/>
                <a:sym typeface="Times New Roman"/>
              </a:rPr>
              <a:t>Genetic material</a:t>
            </a:r>
            <a:endParaRPr sz="2000">
              <a:latin typeface="Times New Roman"/>
              <a:ea typeface="Times New Roman"/>
              <a:cs typeface="Times New Roman"/>
              <a:sym typeface="Times New Roman"/>
            </a:endParaRPr>
          </a:p>
        </p:txBody>
      </p:sp>
      <p:sp>
        <p:nvSpPr>
          <p:cNvPr id="100" name="Google Shape;100;g2920e81558a_0_0"/>
          <p:cNvSpPr txBox="1"/>
          <p:nvPr/>
        </p:nvSpPr>
        <p:spPr>
          <a:xfrm>
            <a:off x="6562025" y="2626050"/>
            <a:ext cx="5460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See how DNA and proteins work </a:t>
            </a:r>
            <a:r>
              <a:rPr lang="en-US" sz="1800"/>
              <a:t>together</a:t>
            </a:r>
            <a:r>
              <a:rPr lang="en-US" sz="1800"/>
              <a:t>:</a:t>
            </a:r>
            <a:endParaRPr sz="1800"/>
          </a:p>
          <a:p>
            <a:pPr indent="0" lvl="0" marL="0" rtl="0" algn="l">
              <a:spcBef>
                <a:spcPts val="0"/>
              </a:spcBef>
              <a:spcAft>
                <a:spcPts val="0"/>
              </a:spcAft>
              <a:buNone/>
            </a:pPr>
            <a:r>
              <a:rPr lang="en-US" sz="1800" u="sng">
                <a:solidFill>
                  <a:schemeClr val="hlink"/>
                </a:solidFill>
                <a:hlinkClick r:id="rId4"/>
              </a:rPr>
              <a:t>https://www.youtube.com/watch?v=7Hk9jct2ozY&amp;t=67s</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g30ea99a6757_0_85"/>
          <p:cNvPicPr preferRelativeResize="0"/>
          <p:nvPr/>
        </p:nvPicPr>
        <p:blipFill>
          <a:blip r:embed="rId3">
            <a:alphaModFix/>
          </a:blip>
          <a:stretch>
            <a:fillRect/>
          </a:stretch>
        </p:blipFill>
        <p:spPr>
          <a:xfrm>
            <a:off x="5821775" y="1694025"/>
            <a:ext cx="6141626" cy="5158950"/>
          </a:xfrm>
          <a:prstGeom prst="rect">
            <a:avLst/>
          </a:prstGeom>
          <a:noFill/>
          <a:ln>
            <a:noFill/>
          </a:ln>
        </p:spPr>
      </p:pic>
      <p:pic>
        <p:nvPicPr>
          <p:cNvPr id="107" name="Google Shape;107;g30ea99a6757_0_85"/>
          <p:cNvPicPr preferRelativeResize="0"/>
          <p:nvPr/>
        </p:nvPicPr>
        <p:blipFill>
          <a:blip r:embed="rId4">
            <a:alphaModFix/>
          </a:blip>
          <a:stretch>
            <a:fillRect/>
          </a:stretch>
        </p:blipFill>
        <p:spPr>
          <a:xfrm>
            <a:off x="152400" y="2223305"/>
            <a:ext cx="5642276" cy="3758620"/>
          </a:xfrm>
          <a:prstGeom prst="rect">
            <a:avLst/>
          </a:prstGeom>
          <a:noFill/>
          <a:ln>
            <a:noFill/>
          </a:ln>
        </p:spPr>
      </p:pic>
      <p:sp>
        <p:nvSpPr>
          <p:cNvPr id="108" name="Google Shape;108;g30ea99a6757_0_85"/>
          <p:cNvSpPr txBox="1"/>
          <p:nvPr/>
        </p:nvSpPr>
        <p:spPr>
          <a:xfrm rot="-5400000">
            <a:off x="5095675" y="775200"/>
            <a:ext cx="2021400" cy="6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Times New Roman"/>
                <a:ea typeface="Times New Roman"/>
                <a:cs typeface="Times New Roman"/>
                <a:sym typeface="Times New Roman"/>
              </a:rPr>
              <a:t>From father</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1800">
                <a:solidFill>
                  <a:schemeClr val="dk1"/>
                </a:solidFill>
                <a:latin typeface="Times New Roman"/>
                <a:ea typeface="Times New Roman"/>
                <a:cs typeface="Times New Roman"/>
                <a:sym typeface="Times New Roman"/>
              </a:rPr>
              <a:t>From mother</a:t>
            </a:r>
            <a:endParaRPr sz="1800">
              <a:solidFill>
                <a:schemeClr val="dk1"/>
              </a:solidFill>
              <a:latin typeface="Times New Roman"/>
              <a:ea typeface="Times New Roman"/>
              <a:cs typeface="Times New Roman"/>
              <a:sym typeface="Times New Roman"/>
            </a:endParaRPr>
          </a:p>
        </p:txBody>
      </p:sp>
      <p:sp>
        <p:nvSpPr>
          <p:cNvPr id="109" name="Google Shape;109;g30ea99a6757_0_85"/>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2400" u="none" cap="none" strike="noStrike">
                <a:solidFill>
                  <a:schemeClr val="lt1"/>
                </a:solidFill>
                <a:latin typeface="Times New Roman"/>
                <a:ea typeface="Times New Roman"/>
                <a:cs typeface="Times New Roman"/>
                <a:sym typeface="Times New Roman"/>
              </a:rPr>
              <a:t>Wh</a:t>
            </a:r>
            <a:r>
              <a:rPr b="1" lang="en-US" sz="2400">
                <a:solidFill>
                  <a:schemeClr val="lt1"/>
                </a:solidFill>
                <a:latin typeface="Times New Roman"/>
                <a:ea typeface="Times New Roman"/>
                <a:cs typeface="Times New Roman"/>
                <a:sym typeface="Times New Roman"/>
              </a:rPr>
              <a:t>y do we look similar to our parents or siblings?</a:t>
            </a:r>
            <a:endParaRPr b="1" i="0" sz="2400" u="none" cap="none" strike="noStrike">
              <a:solidFill>
                <a:schemeClr val="lt1"/>
              </a:solidFill>
              <a:latin typeface="Times New Roman"/>
              <a:ea typeface="Times New Roman"/>
              <a:cs typeface="Times New Roman"/>
              <a:sym typeface="Times New Roman"/>
            </a:endParaRPr>
          </a:p>
        </p:txBody>
      </p:sp>
      <p:sp>
        <p:nvSpPr>
          <p:cNvPr id="110" name="Google Shape;110;g30ea99a6757_0_85"/>
          <p:cNvSpPr txBox="1"/>
          <p:nvPr/>
        </p:nvSpPr>
        <p:spPr>
          <a:xfrm>
            <a:off x="7348638" y="1070625"/>
            <a:ext cx="3087900" cy="6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chemeClr val="dk1"/>
                </a:solidFill>
                <a:latin typeface="Times New Roman"/>
                <a:ea typeface="Times New Roman"/>
                <a:cs typeface="Times New Roman"/>
                <a:sym typeface="Times New Roman"/>
              </a:rPr>
              <a:t>Human Chromosomes</a:t>
            </a:r>
            <a:endParaRPr sz="2500">
              <a:solidFill>
                <a:schemeClr val="dk1"/>
              </a:solidFill>
              <a:latin typeface="Times New Roman"/>
              <a:ea typeface="Times New Roman"/>
              <a:cs typeface="Times New Roman"/>
              <a:sym typeface="Times New Roman"/>
            </a:endParaRPr>
          </a:p>
        </p:txBody>
      </p:sp>
      <p:sp>
        <p:nvSpPr>
          <p:cNvPr id="111" name="Google Shape;111;g30ea99a6757_0_85"/>
          <p:cNvSpPr txBox="1"/>
          <p:nvPr/>
        </p:nvSpPr>
        <p:spPr>
          <a:xfrm>
            <a:off x="1429575" y="982500"/>
            <a:ext cx="3087900" cy="6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chemeClr val="dk1"/>
                </a:solidFill>
                <a:latin typeface="Times New Roman"/>
                <a:ea typeface="Times New Roman"/>
                <a:cs typeface="Times New Roman"/>
                <a:sym typeface="Times New Roman"/>
              </a:rPr>
              <a:t>Genetic Inheritance</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0ea99a6757_0_3"/>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2400" u="none" cap="none" strike="noStrike">
                <a:solidFill>
                  <a:schemeClr val="lt1"/>
                </a:solidFill>
                <a:latin typeface="Times New Roman"/>
                <a:ea typeface="Times New Roman"/>
                <a:cs typeface="Times New Roman"/>
                <a:sym typeface="Times New Roman"/>
              </a:rPr>
              <a:t>What is the difference between a DNA, Gene, Chromosome and Genome?</a:t>
            </a:r>
            <a:endParaRPr b="1" i="0" sz="2400" u="none" cap="none" strike="noStrike">
              <a:solidFill>
                <a:schemeClr val="lt1"/>
              </a:solidFill>
              <a:latin typeface="Times New Roman"/>
              <a:ea typeface="Times New Roman"/>
              <a:cs typeface="Times New Roman"/>
              <a:sym typeface="Times New Roman"/>
            </a:endParaRPr>
          </a:p>
        </p:txBody>
      </p:sp>
      <p:pic>
        <p:nvPicPr>
          <p:cNvPr id="117" name="Google Shape;117;g30ea99a6757_0_3"/>
          <p:cNvPicPr preferRelativeResize="0"/>
          <p:nvPr/>
        </p:nvPicPr>
        <p:blipFill rotWithShape="1">
          <a:blip r:embed="rId3">
            <a:alphaModFix/>
          </a:blip>
          <a:srcRect b="0" l="0" r="0" t="0"/>
          <a:stretch/>
        </p:blipFill>
        <p:spPr>
          <a:xfrm>
            <a:off x="2044350" y="423175"/>
            <a:ext cx="8123836" cy="6255350"/>
          </a:xfrm>
          <a:prstGeom prst="rect">
            <a:avLst/>
          </a:prstGeom>
          <a:noFill/>
          <a:ln>
            <a:noFill/>
          </a:ln>
        </p:spPr>
      </p:pic>
      <p:sp>
        <p:nvSpPr>
          <p:cNvPr id="118" name="Google Shape;118;g30ea99a6757_0_3"/>
          <p:cNvSpPr txBox="1"/>
          <p:nvPr/>
        </p:nvSpPr>
        <p:spPr>
          <a:xfrm>
            <a:off x="682875" y="423175"/>
            <a:ext cx="11208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920e81558a_0_6"/>
          <p:cNvSpPr txBox="1"/>
          <p:nvPr>
            <p:ph idx="1" type="body"/>
          </p:nvPr>
        </p:nvSpPr>
        <p:spPr>
          <a:xfrm>
            <a:off x="838200" y="493050"/>
            <a:ext cx="10515600" cy="4351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1000"/>
              </a:spcBef>
              <a:spcAft>
                <a:spcPts val="0"/>
              </a:spcAft>
              <a:buSzPts val="1800"/>
              <a:buNone/>
            </a:pPr>
            <a:r>
              <a:rPr lang="en-US">
                <a:latin typeface="Times New Roman"/>
                <a:ea typeface="Times New Roman"/>
                <a:cs typeface="Times New Roman"/>
                <a:sym typeface="Times New Roman"/>
              </a:rPr>
              <a:t>DNA: Deoxyribonucleic Acid</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rPr lang="en-US">
                <a:latin typeface="Times New Roman"/>
                <a:ea typeface="Times New Roman"/>
                <a:cs typeface="Times New Roman"/>
                <a:sym typeface="Times New Roman"/>
              </a:rPr>
              <a:t>RNA: Ribonucleic Acid</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rPr lang="en-US">
                <a:latin typeface="Times New Roman"/>
                <a:ea typeface="Times New Roman"/>
                <a:cs typeface="Times New Roman"/>
                <a:sym typeface="Times New Roman"/>
              </a:rPr>
              <a:t>Nucleotides are the building blocks of nucleic acids.</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rPr lang="en-US">
                <a:latin typeface="Times New Roman"/>
                <a:ea typeface="Times New Roman"/>
                <a:cs typeface="Times New Roman"/>
                <a:sym typeface="Times New Roman"/>
              </a:rPr>
              <a:t>The amino acid sequences of proteins are specified by a nucleotide sequence in the cell’s DNA.</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a:latin typeface="Times New Roman"/>
              <a:ea typeface="Times New Roman"/>
              <a:cs typeface="Times New Roman"/>
              <a:sym typeface="Times New Roman"/>
            </a:endParaRPr>
          </a:p>
        </p:txBody>
      </p:sp>
      <p:sp>
        <p:nvSpPr>
          <p:cNvPr id="125" name="Google Shape;125;g2920e81558a_0_6"/>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Introduction to Nucleic Acids</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920e81558a_0_1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
        <p:nvSpPr>
          <p:cNvPr id="132" name="Google Shape;132;g2920e81558a_0_12"/>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Central Dogma of Molecular Biology</a:t>
            </a:r>
            <a:endParaRPr b="1" i="0" sz="2000" u="none" cap="none" strike="noStrike">
              <a:solidFill>
                <a:schemeClr val="lt1"/>
              </a:solidFill>
              <a:latin typeface="Times New Roman"/>
              <a:ea typeface="Times New Roman"/>
              <a:cs typeface="Times New Roman"/>
              <a:sym typeface="Times New Roman"/>
            </a:endParaRPr>
          </a:p>
        </p:txBody>
      </p:sp>
      <p:pic>
        <p:nvPicPr>
          <p:cNvPr id="133" name="Google Shape;133;g2920e81558a_0_12"/>
          <p:cNvPicPr preferRelativeResize="0"/>
          <p:nvPr/>
        </p:nvPicPr>
        <p:blipFill rotWithShape="1">
          <a:blip r:embed="rId3">
            <a:alphaModFix/>
          </a:blip>
          <a:srcRect b="0" l="0" r="0" t="0"/>
          <a:stretch/>
        </p:blipFill>
        <p:spPr>
          <a:xfrm>
            <a:off x="698125" y="565800"/>
            <a:ext cx="10639074" cy="6028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g2920e81558a_0_19"/>
          <p:cNvPicPr preferRelativeResize="0"/>
          <p:nvPr/>
        </p:nvPicPr>
        <p:blipFill rotWithShape="1">
          <a:blip r:embed="rId3">
            <a:alphaModFix/>
          </a:blip>
          <a:srcRect b="0" l="0" r="0" t="0"/>
          <a:stretch/>
        </p:blipFill>
        <p:spPr>
          <a:xfrm>
            <a:off x="1058476" y="2002751"/>
            <a:ext cx="5371246" cy="4855250"/>
          </a:xfrm>
          <a:prstGeom prst="rect">
            <a:avLst/>
          </a:prstGeom>
          <a:noFill/>
          <a:ln>
            <a:noFill/>
          </a:ln>
        </p:spPr>
      </p:pic>
      <p:sp>
        <p:nvSpPr>
          <p:cNvPr id="140" name="Google Shape;140;g2920e81558a_0_19"/>
          <p:cNvSpPr txBox="1"/>
          <p:nvPr>
            <p:ph idx="1" type="body"/>
          </p:nvPr>
        </p:nvSpPr>
        <p:spPr>
          <a:xfrm>
            <a:off x="348800" y="454025"/>
            <a:ext cx="11140500" cy="1013400"/>
          </a:xfrm>
          <a:prstGeom prst="rect">
            <a:avLst/>
          </a:prstGeom>
          <a:noFill/>
          <a:ln>
            <a:noFill/>
          </a:ln>
        </p:spPr>
        <p:txBody>
          <a:bodyPr anchorCtr="0" anchor="t" bIns="45700" lIns="91425" spcFirstLastPara="1" rIns="91425" wrap="square" tIns="45700">
            <a:normAutofit/>
          </a:bodyPr>
          <a:lstStyle/>
          <a:p>
            <a:pPr indent="-342900" lvl="0" marL="457200" rtl="0" algn="l">
              <a:lnSpc>
                <a:spcPct val="115000"/>
              </a:lnSpc>
              <a:spcBef>
                <a:spcPts val="0"/>
              </a:spcBef>
              <a:spcAft>
                <a:spcPts val="0"/>
              </a:spcAft>
              <a:buSzPts val="1800"/>
              <a:buFont typeface="Times New Roman"/>
              <a:buChar char="•"/>
            </a:pPr>
            <a:r>
              <a:rPr lang="en-US">
                <a:solidFill>
                  <a:srgbClr val="0000FF"/>
                </a:solidFill>
                <a:latin typeface="Times New Roman"/>
                <a:ea typeface="Times New Roman"/>
                <a:cs typeface="Times New Roman"/>
                <a:sym typeface="Times New Roman"/>
              </a:rPr>
              <a:t>Nucleotides </a:t>
            </a:r>
            <a:r>
              <a:rPr lang="en-US">
                <a:latin typeface="Times New Roman"/>
                <a:ea typeface="Times New Roman"/>
                <a:cs typeface="Times New Roman"/>
                <a:sym typeface="Times New Roman"/>
              </a:rPr>
              <a:t>have three characteristic components: 1) a nitrogenous base, 2) a pentose, 3) one or more phosphates.</a:t>
            </a:r>
            <a:endParaRPr>
              <a:latin typeface="Times New Roman"/>
              <a:ea typeface="Times New Roman"/>
              <a:cs typeface="Times New Roman"/>
              <a:sym typeface="Times New Roman"/>
            </a:endParaRPr>
          </a:p>
        </p:txBody>
      </p:sp>
      <p:sp>
        <p:nvSpPr>
          <p:cNvPr id="141" name="Google Shape;141;g2920e81558a_0_1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Building blocks of the nucleic acids (DNA and RNA)</a:t>
            </a:r>
            <a:endParaRPr b="1" i="0" sz="2000" u="none" cap="none" strike="noStrike">
              <a:solidFill>
                <a:schemeClr val="lt1"/>
              </a:solidFill>
              <a:latin typeface="Times New Roman"/>
              <a:ea typeface="Times New Roman"/>
              <a:cs typeface="Times New Roman"/>
              <a:sym typeface="Times New Roman"/>
            </a:endParaRPr>
          </a:p>
        </p:txBody>
      </p:sp>
      <p:pic>
        <p:nvPicPr>
          <p:cNvPr id="142" name="Google Shape;142;g2920e81558a_0_19"/>
          <p:cNvPicPr preferRelativeResize="0"/>
          <p:nvPr/>
        </p:nvPicPr>
        <p:blipFill rotWithShape="1">
          <a:blip r:embed="rId4">
            <a:alphaModFix/>
          </a:blip>
          <a:srcRect b="0" l="0" r="0" t="0"/>
          <a:stretch/>
        </p:blipFill>
        <p:spPr>
          <a:xfrm>
            <a:off x="12191988" y="4781550"/>
            <a:ext cx="7591425" cy="2076450"/>
          </a:xfrm>
          <a:prstGeom prst="rect">
            <a:avLst/>
          </a:prstGeom>
          <a:noFill/>
          <a:ln>
            <a:noFill/>
          </a:ln>
        </p:spPr>
      </p:pic>
      <p:sp>
        <p:nvSpPr>
          <p:cNvPr id="143" name="Google Shape;143;g2920e81558a_0_19"/>
          <p:cNvSpPr txBox="1"/>
          <p:nvPr/>
        </p:nvSpPr>
        <p:spPr>
          <a:xfrm>
            <a:off x="1718888" y="1556350"/>
            <a:ext cx="3716700" cy="446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Times New Roman"/>
                <a:ea typeface="Times New Roman"/>
                <a:cs typeface="Times New Roman"/>
                <a:sym typeface="Times New Roman"/>
              </a:rPr>
              <a:t>Structure of nucleotides</a:t>
            </a:r>
            <a:endParaRPr b="1" i="0" sz="1700" u="none" cap="none" strike="noStrike">
              <a:solidFill>
                <a:srgbClr val="000000"/>
              </a:solidFill>
              <a:latin typeface="Times New Roman"/>
              <a:ea typeface="Times New Roman"/>
              <a:cs typeface="Times New Roman"/>
              <a:sym typeface="Times New Roman"/>
            </a:endParaRPr>
          </a:p>
        </p:txBody>
      </p:sp>
      <p:sp>
        <p:nvSpPr>
          <p:cNvPr id="144" name="Google Shape;144;g2920e81558a_0_19"/>
          <p:cNvSpPr txBox="1"/>
          <p:nvPr/>
        </p:nvSpPr>
        <p:spPr>
          <a:xfrm>
            <a:off x="6656475" y="5141925"/>
            <a:ext cx="5535300" cy="14037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US" sz="2400">
                <a:solidFill>
                  <a:schemeClr val="dk1"/>
                </a:solidFill>
                <a:latin typeface="Times New Roman"/>
                <a:ea typeface="Times New Roman"/>
                <a:cs typeface="Times New Roman"/>
                <a:sym typeface="Times New Roman"/>
              </a:rPr>
              <a:t>The nitrogenous bases are derivatives of two parent compounds, </a:t>
            </a:r>
            <a:r>
              <a:rPr lang="en-US" sz="2400">
                <a:solidFill>
                  <a:srgbClr val="0000FF"/>
                </a:solidFill>
                <a:latin typeface="Times New Roman"/>
                <a:ea typeface="Times New Roman"/>
                <a:cs typeface="Times New Roman"/>
                <a:sym typeface="Times New Roman"/>
              </a:rPr>
              <a:t>pyrimidine</a:t>
            </a:r>
            <a:r>
              <a:rPr lang="en-US" sz="2400">
                <a:solidFill>
                  <a:schemeClr val="dk1"/>
                </a:solidFill>
                <a:latin typeface="Times New Roman"/>
                <a:ea typeface="Times New Roman"/>
                <a:cs typeface="Times New Roman"/>
                <a:sym typeface="Times New Roman"/>
              </a:rPr>
              <a:t> and </a:t>
            </a:r>
            <a:r>
              <a:rPr lang="en-US" sz="2400">
                <a:solidFill>
                  <a:srgbClr val="0000FF"/>
                </a:solidFill>
                <a:latin typeface="Times New Roman"/>
                <a:ea typeface="Times New Roman"/>
                <a:cs typeface="Times New Roman"/>
                <a:sym typeface="Times New Roman"/>
              </a:rPr>
              <a:t>purine</a:t>
            </a: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g2920e81558a_0_28"/>
          <p:cNvPicPr preferRelativeResize="0"/>
          <p:nvPr/>
        </p:nvPicPr>
        <p:blipFill rotWithShape="1">
          <a:blip r:embed="rId3">
            <a:alphaModFix/>
          </a:blip>
          <a:srcRect b="0" l="0" r="0" t="0"/>
          <a:stretch/>
        </p:blipFill>
        <p:spPr>
          <a:xfrm>
            <a:off x="3005149" y="671025"/>
            <a:ext cx="6042276" cy="6120300"/>
          </a:xfrm>
          <a:prstGeom prst="rect">
            <a:avLst/>
          </a:prstGeom>
          <a:noFill/>
          <a:ln>
            <a:noFill/>
          </a:ln>
        </p:spPr>
      </p:pic>
      <p:pic>
        <p:nvPicPr>
          <p:cNvPr id="151" name="Google Shape;151;g2920e81558a_0_28"/>
          <p:cNvPicPr preferRelativeResize="0"/>
          <p:nvPr/>
        </p:nvPicPr>
        <p:blipFill rotWithShape="1">
          <a:blip r:embed="rId4">
            <a:alphaModFix/>
          </a:blip>
          <a:srcRect b="0" l="0" r="0" t="0"/>
          <a:stretch/>
        </p:blipFill>
        <p:spPr>
          <a:xfrm>
            <a:off x="12251350" y="5476863"/>
            <a:ext cx="7543800" cy="1381125"/>
          </a:xfrm>
          <a:prstGeom prst="rect">
            <a:avLst/>
          </a:prstGeom>
          <a:noFill/>
          <a:ln>
            <a:noFill/>
          </a:ln>
        </p:spPr>
      </p:pic>
      <p:sp>
        <p:nvSpPr>
          <p:cNvPr id="152" name="Google Shape;152;g2920e81558a_0_28"/>
          <p:cNvSpPr txBox="1"/>
          <p:nvPr/>
        </p:nvSpPr>
        <p:spPr>
          <a:xfrm>
            <a:off x="3263825" y="13425"/>
            <a:ext cx="5219100" cy="446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Times New Roman"/>
                <a:ea typeface="Times New Roman"/>
                <a:cs typeface="Times New Roman"/>
                <a:sym typeface="Times New Roman"/>
              </a:rPr>
              <a:t>Major purine and pyrimidine bases of nucleic acids</a:t>
            </a:r>
            <a:endParaRPr b="1" i="0" sz="17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g2920e81558a_0_35"/>
          <p:cNvPicPr preferRelativeResize="0"/>
          <p:nvPr/>
        </p:nvPicPr>
        <p:blipFill rotWithShape="1">
          <a:blip r:embed="rId3">
            <a:alphaModFix/>
          </a:blip>
          <a:srcRect b="0" l="0" r="0" t="0"/>
          <a:stretch/>
        </p:blipFill>
        <p:spPr>
          <a:xfrm>
            <a:off x="0" y="1856517"/>
            <a:ext cx="12192000" cy="4668965"/>
          </a:xfrm>
          <a:prstGeom prst="rect">
            <a:avLst/>
          </a:prstGeom>
          <a:noFill/>
          <a:ln>
            <a:noFill/>
          </a:ln>
        </p:spPr>
      </p:pic>
      <p:sp>
        <p:nvSpPr>
          <p:cNvPr id="159" name="Google Shape;159;g2920e81558a_0_35"/>
          <p:cNvSpPr txBox="1"/>
          <p:nvPr/>
        </p:nvSpPr>
        <p:spPr>
          <a:xfrm>
            <a:off x="0" y="533400"/>
            <a:ext cx="10151700" cy="615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Times New Roman"/>
              <a:buChar char="•"/>
            </a:pPr>
            <a:r>
              <a:rPr lang="en-US" sz="2800">
                <a:solidFill>
                  <a:schemeClr val="dk1"/>
                </a:solidFill>
                <a:latin typeface="Times New Roman"/>
                <a:ea typeface="Times New Roman"/>
                <a:cs typeface="Times New Roman"/>
                <a:sym typeface="Times New Roman"/>
              </a:rPr>
              <a:t>A nucleotide</a:t>
            </a:r>
            <a:r>
              <a:rPr lang="en-US" sz="2800">
                <a:solidFill>
                  <a:schemeClr val="dk1"/>
                </a:solidFill>
                <a:latin typeface="Times New Roman"/>
                <a:ea typeface="Times New Roman"/>
                <a:cs typeface="Times New Roman"/>
                <a:sym typeface="Times New Roman"/>
              </a:rPr>
              <a:t> without a phosphate group is called a </a:t>
            </a:r>
            <a:r>
              <a:rPr lang="en-US" sz="2800">
                <a:solidFill>
                  <a:srgbClr val="0000FF"/>
                </a:solidFill>
                <a:latin typeface="Times New Roman"/>
                <a:ea typeface="Times New Roman"/>
                <a:cs typeface="Times New Roman"/>
                <a:sym typeface="Times New Roman"/>
              </a:rPr>
              <a:t>nucleoside</a:t>
            </a:r>
            <a:r>
              <a:rPr lang="en-US"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2920e81558a_0_4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Nucleic acids have two kinds of pentoses.</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DNA contains 2’-deoxy-D-ribose</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RNA contains D-ribose</a:t>
            </a:r>
            <a:endParaRPr>
              <a:latin typeface="Times New Roman"/>
              <a:ea typeface="Times New Roman"/>
              <a:cs typeface="Times New Roman"/>
              <a:sym typeface="Times New Roman"/>
            </a:endParaRPr>
          </a:p>
        </p:txBody>
      </p:sp>
      <p:sp>
        <p:nvSpPr>
          <p:cNvPr id="166" name="Google Shape;166;g2920e81558a_0_4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Types of pentose sugars</a:t>
            </a:r>
            <a:endParaRPr b="1" i="0" sz="2000" u="none" cap="none" strike="noStrike">
              <a:solidFill>
                <a:schemeClr val="lt1"/>
              </a:solidFill>
              <a:latin typeface="Times New Roman"/>
              <a:ea typeface="Times New Roman"/>
              <a:cs typeface="Times New Roman"/>
              <a:sym typeface="Times New Roman"/>
            </a:endParaRPr>
          </a:p>
        </p:txBody>
      </p:sp>
      <p:pic>
        <p:nvPicPr>
          <p:cNvPr id="167" name="Google Shape;167;g2920e81558a_0_40"/>
          <p:cNvPicPr preferRelativeResize="0"/>
          <p:nvPr/>
        </p:nvPicPr>
        <p:blipFill rotWithShape="1">
          <a:blip r:embed="rId3">
            <a:alphaModFix/>
          </a:blip>
          <a:srcRect b="0" l="0" r="0" t="0"/>
          <a:stretch/>
        </p:blipFill>
        <p:spPr>
          <a:xfrm>
            <a:off x="7835755" y="454030"/>
            <a:ext cx="3924150" cy="2802950"/>
          </a:xfrm>
          <a:prstGeom prst="rect">
            <a:avLst/>
          </a:prstGeom>
          <a:noFill/>
          <a:ln>
            <a:noFill/>
          </a:ln>
        </p:spPr>
      </p:pic>
      <p:pic>
        <p:nvPicPr>
          <p:cNvPr id="168" name="Google Shape;168;g2920e81558a_0_40"/>
          <p:cNvPicPr preferRelativeResize="0"/>
          <p:nvPr/>
        </p:nvPicPr>
        <p:blipFill rotWithShape="1">
          <a:blip r:embed="rId4">
            <a:alphaModFix/>
          </a:blip>
          <a:srcRect b="0" l="0" r="0" t="0"/>
          <a:stretch/>
        </p:blipFill>
        <p:spPr>
          <a:xfrm>
            <a:off x="12192000" y="5848350"/>
            <a:ext cx="4686300" cy="1009650"/>
          </a:xfrm>
          <a:prstGeom prst="rect">
            <a:avLst/>
          </a:prstGeom>
          <a:noFill/>
          <a:ln>
            <a:noFill/>
          </a:ln>
        </p:spPr>
      </p:pic>
      <p:pic>
        <p:nvPicPr>
          <p:cNvPr id="169" name="Google Shape;169;g2920e81558a_0_40"/>
          <p:cNvPicPr preferRelativeResize="0"/>
          <p:nvPr/>
        </p:nvPicPr>
        <p:blipFill rotWithShape="1">
          <a:blip r:embed="rId5">
            <a:alphaModFix/>
          </a:blip>
          <a:srcRect b="0" l="0" r="0" t="0"/>
          <a:stretch/>
        </p:blipFill>
        <p:spPr>
          <a:xfrm>
            <a:off x="6386525" y="4052250"/>
            <a:ext cx="5734050" cy="2343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920e81558a_0_4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Deoxyribonucleotides and ribonucleotides of nucleic acids </a:t>
            </a:r>
            <a:endParaRPr b="1" i="0" sz="2000" u="none" cap="none" strike="noStrike">
              <a:solidFill>
                <a:schemeClr val="lt1"/>
              </a:solidFill>
              <a:latin typeface="Times New Roman"/>
              <a:ea typeface="Times New Roman"/>
              <a:cs typeface="Times New Roman"/>
              <a:sym typeface="Times New Roman"/>
            </a:endParaRPr>
          </a:p>
        </p:txBody>
      </p:sp>
      <p:pic>
        <p:nvPicPr>
          <p:cNvPr id="176" name="Google Shape;176;g2920e81558a_0_49"/>
          <p:cNvPicPr preferRelativeResize="0"/>
          <p:nvPr/>
        </p:nvPicPr>
        <p:blipFill rotWithShape="1">
          <a:blip r:embed="rId3">
            <a:alphaModFix/>
          </a:blip>
          <a:srcRect b="0" l="0" r="0" t="0"/>
          <a:stretch/>
        </p:blipFill>
        <p:spPr>
          <a:xfrm>
            <a:off x="1896775" y="445500"/>
            <a:ext cx="7852876" cy="6412500"/>
          </a:xfrm>
          <a:prstGeom prst="rect">
            <a:avLst/>
          </a:prstGeom>
          <a:noFill/>
          <a:ln>
            <a:noFill/>
          </a:ln>
        </p:spPr>
      </p:pic>
      <p:pic>
        <p:nvPicPr>
          <p:cNvPr id="177" name="Google Shape;177;g2920e81558a_0_49"/>
          <p:cNvPicPr preferRelativeResize="0"/>
          <p:nvPr/>
        </p:nvPicPr>
        <p:blipFill rotWithShape="1">
          <a:blip r:embed="rId4">
            <a:alphaModFix/>
          </a:blip>
          <a:srcRect b="0" l="0" r="0" t="0"/>
          <a:stretch/>
        </p:blipFill>
        <p:spPr>
          <a:xfrm>
            <a:off x="12192000" y="5473925"/>
            <a:ext cx="9677400" cy="133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920e81558a_0_56"/>
          <p:cNvSpPr txBox="1"/>
          <p:nvPr>
            <p:ph idx="1" type="body"/>
          </p:nvPr>
        </p:nvSpPr>
        <p:spPr>
          <a:xfrm>
            <a:off x="686900" y="531800"/>
            <a:ext cx="6248700" cy="5982900"/>
          </a:xfrm>
          <a:prstGeom prst="rect">
            <a:avLst/>
          </a:prstGeom>
          <a:noFill/>
          <a:ln>
            <a:noFill/>
          </a:ln>
        </p:spPr>
        <p:txBody>
          <a:bodyPr anchorCtr="0" anchor="t" bIns="45700" lIns="91425" spcFirstLastPara="1" rIns="91425" wrap="square" tIns="45700">
            <a:normAutofit/>
          </a:bodyPr>
          <a:lstStyle/>
          <a:p>
            <a:pPr indent="-342900" lvl="0" marL="457200" rtl="0" algn="just">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The successive nucleotides of both DNA and RNA are covalently linked through phosphate-group “bridges”, in which the 5’-phosphate group of one nucleotide is joined to the 3’-hydroxyl group of the next nucleotide, creating a phosphodiester linkage.</a:t>
            </a:r>
            <a:endParaRPr>
              <a:latin typeface="Times New Roman"/>
              <a:ea typeface="Times New Roman"/>
              <a:cs typeface="Times New Roman"/>
              <a:sym typeface="Times New Roman"/>
            </a:endParaRPr>
          </a:p>
        </p:txBody>
      </p:sp>
      <p:sp>
        <p:nvSpPr>
          <p:cNvPr id="184" name="Google Shape;184;g2920e81558a_0_56"/>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Phosphodiester bonds link successive nucleotides in nucleic acids</a:t>
            </a:r>
            <a:endParaRPr b="1" i="0" sz="2000" u="none" cap="none" strike="noStrike">
              <a:solidFill>
                <a:schemeClr val="lt1"/>
              </a:solidFill>
              <a:latin typeface="Times New Roman"/>
              <a:ea typeface="Times New Roman"/>
              <a:cs typeface="Times New Roman"/>
              <a:sym typeface="Times New Roman"/>
            </a:endParaRPr>
          </a:p>
        </p:txBody>
      </p:sp>
      <p:pic>
        <p:nvPicPr>
          <p:cNvPr id="185" name="Google Shape;185;g2920e81558a_0_56"/>
          <p:cNvPicPr preferRelativeResize="0"/>
          <p:nvPr/>
        </p:nvPicPr>
        <p:blipFill rotWithShape="1">
          <a:blip r:embed="rId3">
            <a:alphaModFix/>
          </a:blip>
          <a:srcRect b="0" l="0" r="0" t="0"/>
          <a:stretch/>
        </p:blipFill>
        <p:spPr>
          <a:xfrm>
            <a:off x="7387100" y="517500"/>
            <a:ext cx="4353257" cy="6188101"/>
          </a:xfrm>
          <a:prstGeom prst="rect">
            <a:avLst/>
          </a:prstGeom>
          <a:noFill/>
          <a:ln>
            <a:noFill/>
          </a:ln>
        </p:spPr>
      </p:pic>
      <p:pic>
        <p:nvPicPr>
          <p:cNvPr id="186" name="Google Shape;186;g2920e81558a_0_56"/>
          <p:cNvPicPr preferRelativeResize="0"/>
          <p:nvPr/>
        </p:nvPicPr>
        <p:blipFill rotWithShape="1">
          <a:blip r:embed="rId4">
            <a:alphaModFix/>
          </a:blip>
          <a:srcRect b="0" l="0" r="0" t="0"/>
          <a:stretch/>
        </p:blipFill>
        <p:spPr>
          <a:xfrm>
            <a:off x="12192000" y="5506113"/>
            <a:ext cx="4686300" cy="1285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g2920e81558a_0_64"/>
          <p:cNvPicPr preferRelativeResize="0"/>
          <p:nvPr/>
        </p:nvPicPr>
        <p:blipFill rotWithShape="1">
          <a:blip r:embed="rId3">
            <a:alphaModFix/>
          </a:blip>
          <a:srcRect b="0" l="0" r="0" t="0"/>
          <a:stretch/>
        </p:blipFill>
        <p:spPr>
          <a:xfrm>
            <a:off x="676125" y="562501"/>
            <a:ext cx="10945925" cy="6295499"/>
          </a:xfrm>
          <a:prstGeom prst="rect">
            <a:avLst/>
          </a:prstGeom>
          <a:noFill/>
          <a:ln>
            <a:noFill/>
          </a:ln>
        </p:spPr>
      </p:pic>
      <p:sp>
        <p:nvSpPr>
          <p:cNvPr id="193" name="Google Shape;193;g2920e81558a_0_64"/>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Hydrogen-bonding patterns in the base pairs</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2920e81558a_0_70"/>
          <p:cNvSpPr txBox="1"/>
          <p:nvPr>
            <p:ph idx="1" type="body"/>
          </p:nvPr>
        </p:nvSpPr>
        <p:spPr>
          <a:xfrm>
            <a:off x="520725" y="566375"/>
            <a:ext cx="11316300" cy="6215400"/>
          </a:xfrm>
          <a:prstGeom prst="rect">
            <a:avLst/>
          </a:prstGeom>
          <a:noFill/>
          <a:ln>
            <a:noFill/>
          </a:ln>
        </p:spPr>
        <p:txBody>
          <a:bodyPr anchorCtr="0" anchor="t" bIns="45700" lIns="91425" spcFirstLastPara="1" rIns="91425" wrap="square" tIns="45700">
            <a:normAutofit fontScale="92500" lnSpcReduction="20000"/>
          </a:bodyPr>
          <a:lstStyle/>
          <a:p>
            <a:pPr indent="-334327"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DNA was first isolated and characterized by Friedrich Miescher in </a:t>
            </a:r>
            <a:r>
              <a:rPr lang="en-US">
                <a:solidFill>
                  <a:srgbClr val="0000FF"/>
                </a:solidFill>
                <a:latin typeface="Times New Roman"/>
                <a:ea typeface="Times New Roman"/>
                <a:cs typeface="Times New Roman"/>
                <a:sym typeface="Times New Roman"/>
              </a:rPr>
              <a:t>1868</a:t>
            </a:r>
            <a:r>
              <a:rPr lang="en-US">
                <a:latin typeface="Times New Roman"/>
                <a:ea typeface="Times New Roman"/>
                <a:cs typeface="Times New Roman"/>
                <a:sym typeface="Times New Roman"/>
              </a:rPr>
              <a:t>. He called the phosphorous-containing substance “nuclein”.</a:t>
            </a:r>
            <a:endParaRPr>
              <a:latin typeface="Times New Roman"/>
              <a:ea typeface="Times New Roman"/>
              <a:cs typeface="Times New Roman"/>
              <a:sym typeface="Times New Roman"/>
            </a:endParaRPr>
          </a:p>
          <a:p>
            <a:pPr indent="-334327"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In </a:t>
            </a:r>
            <a:r>
              <a:rPr lang="en-US">
                <a:solidFill>
                  <a:srgbClr val="0000FF"/>
                </a:solidFill>
                <a:latin typeface="Times New Roman"/>
                <a:ea typeface="Times New Roman"/>
                <a:cs typeface="Times New Roman"/>
                <a:sym typeface="Times New Roman"/>
              </a:rPr>
              <a:t>1940</a:t>
            </a:r>
            <a:r>
              <a:rPr lang="en-US">
                <a:latin typeface="Times New Roman"/>
                <a:ea typeface="Times New Roman"/>
                <a:cs typeface="Times New Roman"/>
                <a:sym typeface="Times New Roman"/>
              </a:rPr>
              <a:t>, Avery, MacLeod and McCarty found that the DNA extracted from a virulent (disease-causing) strain of the bacterium Streptococcus pneumoniae and injected into a nonvirulent strain transformed the nonvirulent strain into a virulent strain.</a:t>
            </a:r>
            <a:endParaRPr>
              <a:latin typeface="Times New Roman"/>
              <a:ea typeface="Times New Roman"/>
              <a:cs typeface="Times New Roman"/>
              <a:sym typeface="Times New Roman"/>
            </a:endParaRPr>
          </a:p>
          <a:p>
            <a:pPr indent="-334327"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In </a:t>
            </a:r>
            <a:r>
              <a:rPr lang="en-US">
                <a:solidFill>
                  <a:srgbClr val="0000FF"/>
                </a:solidFill>
                <a:latin typeface="Times New Roman"/>
                <a:ea typeface="Times New Roman"/>
                <a:cs typeface="Times New Roman"/>
                <a:sym typeface="Times New Roman"/>
              </a:rPr>
              <a:t>1952</a:t>
            </a:r>
            <a:r>
              <a:rPr lang="en-US">
                <a:latin typeface="Times New Roman"/>
                <a:ea typeface="Times New Roman"/>
                <a:cs typeface="Times New Roman"/>
                <a:sym typeface="Times New Roman"/>
              </a:rPr>
              <a:t>, Hershey and Chase studied the infection of bacterial cells by a virus (bacteriophage) with radioactively labeled DNA or protein confirmed that DNA, not protein, is the genetic material.</a:t>
            </a:r>
            <a:endParaRPr>
              <a:latin typeface="Times New Roman"/>
              <a:ea typeface="Times New Roman"/>
              <a:cs typeface="Times New Roman"/>
              <a:sym typeface="Times New Roman"/>
            </a:endParaRPr>
          </a:p>
          <a:p>
            <a:pPr indent="-334327"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In 1940, Erwin Chargaff provided following conclusions: </a:t>
            </a:r>
            <a:r>
              <a:rPr lang="en-US">
                <a:solidFill>
                  <a:srgbClr val="0000FF"/>
                </a:solidFill>
                <a:latin typeface="Times New Roman"/>
                <a:ea typeface="Times New Roman"/>
                <a:cs typeface="Times New Roman"/>
                <a:sym typeface="Times New Roman"/>
              </a:rPr>
              <a:t>(Chargaff’s Rules)</a:t>
            </a:r>
            <a:endParaRPr>
              <a:solidFill>
                <a:srgbClr val="0000FF"/>
              </a:solidFill>
              <a:latin typeface="Times New Roman"/>
              <a:ea typeface="Times New Roman"/>
              <a:cs typeface="Times New Roman"/>
              <a:sym typeface="Times New Roman"/>
            </a:endParaRPr>
          </a:p>
          <a:p>
            <a:pPr indent="-334327" lvl="0" marL="457200" rtl="0" algn="just">
              <a:lnSpc>
                <a:spcPct val="115000"/>
              </a:lnSpc>
              <a:spcBef>
                <a:spcPts val="0"/>
              </a:spcBef>
              <a:spcAft>
                <a:spcPts val="0"/>
              </a:spcAft>
              <a:buSzPct val="64285"/>
              <a:buFont typeface="Times New Roman"/>
              <a:buAutoNum type="arabicParenR"/>
            </a:pPr>
            <a:r>
              <a:rPr lang="en-US">
                <a:latin typeface="Times New Roman"/>
                <a:ea typeface="Times New Roman"/>
                <a:cs typeface="Times New Roman"/>
                <a:sym typeface="Times New Roman"/>
              </a:rPr>
              <a:t>The base composition of DNA generally varies from one species to another.</a:t>
            </a:r>
            <a:endParaRPr>
              <a:latin typeface="Times New Roman"/>
              <a:ea typeface="Times New Roman"/>
              <a:cs typeface="Times New Roman"/>
              <a:sym typeface="Times New Roman"/>
            </a:endParaRPr>
          </a:p>
          <a:p>
            <a:pPr indent="-334327" lvl="0" marL="457200" rtl="0" algn="just">
              <a:lnSpc>
                <a:spcPct val="115000"/>
              </a:lnSpc>
              <a:spcBef>
                <a:spcPts val="0"/>
              </a:spcBef>
              <a:spcAft>
                <a:spcPts val="0"/>
              </a:spcAft>
              <a:buSzPct val="64285"/>
              <a:buFont typeface="Times New Roman"/>
              <a:buAutoNum type="arabicParenR"/>
            </a:pPr>
            <a:r>
              <a:rPr lang="en-US">
                <a:latin typeface="Times New Roman"/>
                <a:ea typeface="Times New Roman"/>
                <a:cs typeface="Times New Roman"/>
                <a:sym typeface="Times New Roman"/>
              </a:rPr>
              <a:t>DNA specimens isolated from different tissues of the same species have the same base composition.</a:t>
            </a:r>
            <a:endParaRPr>
              <a:latin typeface="Times New Roman"/>
              <a:ea typeface="Times New Roman"/>
              <a:cs typeface="Times New Roman"/>
              <a:sym typeface="Times New Roman"/>
            </a:endParaRPr>
          </a:p>
          <a:p>
            <a:pPr indent="-334327" lvl="0" marL="457200" rtl="0" algn="just">
              <a:lnSpc>
                <a:spcPct val="115000"/>
              </a:lnSpc>
              <a:spcBef>
                <a:spcPts val="0"/>
              </a:spcBef>
              <a:spcAft>
                <a:spcPts val="0"/>
              </a:spcAft>
              <a:buSzPct val="64285"/>
              <a:buFont typeface="Times New Roman"/>
              <a:buAutoNum type="arabicParenR"/>
            </a:pPr>
            <a:r>
              <a:rPr lang="en-US">
                <a:latin typeface="Times New Roman"/>
                <a:ea typeface="Times New Roman"/>
                <a:cs typeface="Times New Roman"/>
                <a:sym typeface="Times New Roman"/>
              </a:rPr>
              <a:t>The base composition of DNA in a given species does not change with an organisms’s age, nutritional status, or changing environment.</a:t>
            </a:r>
            <a:endParaRPr>
              <a:latin typeface="Times New Roman"/>
              <a:ea typeface="Times New Roman"/>
              <a:cs typeface="Times New Roman"/>
              <a:sym typeface="Times New Roman"/>
            </a:endParaRPr>
          </a:p>
          <a:p>
            <a:pPr indent="-334327" lvl="0" marL="457200" rtl="0" algn="just">
              <a:lnSpc>
                <a:spcPct val="115000"/>
              </a:lnSpc>
              <a:spcBef>
                <a:spcPts val="0"/>
              </a:spcBef>
              <a:spcAft>
                <a:spcPts val="0"/>
              </a:spcAft>
              <a:buSzPct val="64285"/>
              <a:buFont typeface="Times New Roman"/>
              <a:buAutoNum type="arabicParenR"/>
            </a:pPr>
            <a:r>
              <a:rPr lang="en-US">
                <a:latin typeface="Times New Roman"/>
                <a:ea typeface="Times New Roman"/>
                <a:cs typeface="Times New Roman"/>
                <a:sym typeface="Times New Roman"/>
              </a:rPr>
              <a:t>In all cellular DNA, A=T and G=C. (A+G = T+C)</a:t>
            </a:r>
            <a:endParaRPr>
              <a:latin typeface="Times New Roman"/>
              <a:ea typeface="Times New Roman"/>
              <a:cs typeface="Times New Roman"/>
              <a:sym typeface="Times New Roman"/>
            </a:endParaRPr>
          </a:p>
        </p:txBody>
      </p:sp>
      <p:sp>
        <p:nvSpPr>
          <p:cNvPr id="200" name="Google Shape;200;g2920e81558a_0_7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History and Discovery of DNA</a:t>
            </a:r>
            <a:endParaRPr b="1" i="0" sz="2000" u="none" cap="none" strike="noStrike">
              <a:solidFill>
                <a:schemeClr val="lt1"/>
              </a:solidFill>
              <a:latin typeface="Times New Roman"/>
              <a:ea typeface="Times New Roman"/>
              <a:cs typeface="Times New Roman"/>
              <a:sym typeface="Times New Roman"/>
            </a:endParaRPr>
          </a:p>
        </p:txBody>
      </p:sp>
      <p:pic>
        <p:nvPicPr>
          <p:cNvPr id="201" name="Google Shape;201;g2920e81558a_0_70"/>
          <p:cNvPicPr preferRelativeResize="0"/>
          <p:nvPr/>
        </p:nvPicPr>
        <p:blipFill rotWithShape="1">
          <a:blip r:embed="rId3">
            <a:alphaModFix/>
          </a:blip>
          <a:srcRect b="0" l="0" r="0" t="0"/>
          <a:stretch/>
        </p:blipFill>
        <p:spPr>
          <a:xfrm>
            <a:off x="12192000" y="6481475"/>
            <a:ext cx="2630372" cy="376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2920e81558a_0_77"/>
          <p:cNvSpPr txBox="1"/>
          <p:nvPr>
            <p:ph idx="1" type="body"/>
          </p:nvPr>
        </p:nvSpPr>
        <p:spPr>
          <a:xfrm>
            <a:off x="321275" y="464700"/>
            <a:ext cx="7457400" cy="3893400"/>
          </a:xfrm>
          <a:prstGeom prst="rect">
            <a:avLst/>
          </a:prstGeom>
          <a:noFill/>
          <a:ln>
            <a:noFill/>
          </a:ln>
        </p:spPr>
        <p:txBody>
          <a:bodyPr anchorCtr="0" anchor="t" bIns="45700" lIns="91425" spcFirstLastPara="1" rIns="91425" wrap="square" tIns="45700">
            <a:normAutofit lnSpcReduction="20000"/>
          </a:bodyPr>
          <a:lstStyle/>
          <a:p>
            <a:pPr indent="-342900" lvl="0" marL="457200" rtl="0" algn="just">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In </a:t>
            </a:r>
            <a:r>
              <a:rPr lang="en-US">
                <a:solidFill>
                  <a:srgbClr val="0000FF"/>
                </a:solidFill>
                <a:latin typeface="Times New Roman"/>
                <a:ea typeface="Times New Roman"/>
                <a:cs typeface="Times New Roman"/>
                <a:sym typeface="Times New Roman"/>
              </a:rPr>
              <a:t>1950</a:t>
            </a:r>
            <a:r>
              <a:rPr lang="en-US">
                <a:latin typeface="Times New Roman"/>
                <a:ea typeface="Times New Roman"/>
                <a:cs typeface="Times New Roman"/>
                <a:sym typeface="Times New Roman"/>
              </a:rPr>
              <a:t>s, Rosalin Franklin and Maurice Wilkins used X-Ray diffraction to analyze DNA fiber.</a:t>
            </a:r>
            <a:endParaRPr>
              <a:latin typeface="Times New Roman"/>
              <a:ea typeface="Times New Roman"/>
              <a:cs typeface="Times New Roman"/>
              <a:sym typeface="Times New Roman"/>
            </a:endParaRPr>
          </a:p>
          <a:p>
            <a:pPr indent="-342900" lvl="0" marL="457200" rtl="0" algn="just">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In </a:t>
            </a:r>
            <a:r>
              <a:rPr lang="en-US">
                <a:solidFill>
                  <a:srgbClr val="0000FF"/>
                </a:solidFill>
                <a:latin typeface="Times New Roman"/>
                <a:ea typeface="Times New Roman"/>
                <a:cs typeface="Times New Roman"/>
                <a:sym typeface="Times New Roman"/>
              </a:rPr>
              <a:t>1953</a:t>
            </a:r>
            <a:r>
              <a:rPr lang="en-US">
                <a:latin typeface="Times New Roman"/>
                <a:ea typeface="Times New Roman"/>
                <a:cs typeface="Times New Roman"/>
                <a:sym typeface="Times New Roman"/>
              </a:rPr>
              <a:t>, James Watson and Francis Crick relied on this accumulated information about DNA and postulated a 3D structure of DNA.</a:t>
            </a:r>
            <a:endParaRPr>
              <a:latin typeface="Times New Roman"/>
              <a:ea typeface="Times New Roman"/>
              <a:cs typeface="Times New Roman"/>
              <a:sym typeface="Times New Roman"/>
            </a:endParaRPr>
          </a:p>
          <a:p>
            <a:pPr indent="-342900" lvl="0" marL="457200" rtl="0" algn="just">
              <a:lnSpc>
                <a:spcPct val="115000"/>
              </a:lnSpc>
              <a:spcBef>
                <a:spcPts val="0"/>
              </a:spcBef>
              <a:spcAft>
                <a:spcPts val="0"/>
              </a:spcAft>
              <a:buSzPts val="1800"/>
              <a:buFont typeface="Times New Roman"/>
              <a:buChar char="•"/>
            </a:pPr>
            <a:r>
              <a:rPr lang="en-US">
                <a:latin typeface="Times New Roman"/>
                <a:ea typeface="Times New Roman"/>
                <a:cs typeface="Times New Roman"/>
                <a:sym typeface="Times New Roman"/>
              </a:rPr>
              <a:t>In </a:t>
            </a:r>
            <a:r>
              <a:rPr lang="en-US">
                <a:solidFill>
                  <a:srgbClr val="0000FF"/>
                </a:solidFill>
                <a:latin typeface="Times New Roman"/>
                <a:ea typeface="Times New Roman"/>
                <a:cs typeface="Times New Roman"/>
                <a:sym typeface="Times New Roman"/>
              </a:rPr>
              <a:t>1962</a:t>
            </a:r>
            <a:r>
              <a:rPr lang="en-US">
                <a:latin typeface="Times New Roman"/>
                <a:ea typeface="Times New Roman"/>
                <a:cs typeface="Times New Roman"/>
                <a:sym typeface="Times New Roman"/>
              </a:rPr>
              <a:t>, Watson, Crick and Wilkins were awarded the Nobel Prize in Physiology or Medicine.</a:t>
            </a:r>
            <a:endParaRPr>
              <a:latin typeface="Times New Roman"/>
              <a:ea typeface="Times New Roman"/>
              <a:cs typeface="Times New Roman"/>
              <a:sym typeface="Times New Roman"/>
            </a:endParaRPr>
          </a:p>
        </p:txBody>
      </p:sp>
      <p:sp>
        <p:nvSpPr>
          <p:cNvPr id="208" name="Google Shape;208;g2920e81558a_0_77"/>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History and Discovery of DNA</a:t>
            </a:r>
            <a:endParaRPr b="1" i="0" sz="2000" u="none" cap="none" strike="noStrike">
              <a:solidFill>
                <a:schemeClr val="lt1"/>
              </a:solidFill>
              <a:latin typeface="Times New Roman"/>
              <a:ea typeface="Times New Roman"/>
              <a:cs typeface="Times New Roman"/>
              <a:sym typeface="Times New Roman"/>
            </a:endParaRPr>
          </a:p>
        </p:txBody>
      </p:sp>
      <p:pic>
        <p:nvPicPr>
          <p:cNvPr id="209" name="Google Shape;209;g2920e81558a_0_77"/>
          <p:cNvPicPr preferRelativeResize="0"/>
          <p:nvPr/>
        </p:nvPicPr>
        <p:blipFill rotWithShape="1">
          <a:blip r:embed="rId3">
            <a:alphaModFix/>
          </a:blip>
          <a:srcRect b="0" l="0" r="0" t="0"/>
          <a:stretch/>
        </p:blipFill>
        <p:spPr>
          <a:xfrm>
            <a:off x="7599600" y="4068800"/>
            <a:ext cx="4287599" cy="2729250"/>
          </a:xfrm>
          <a:prstGeom prst="rect">
            <a:avLst/>
          </a:prstGeom>
          <a:noFill/>
          <a:ln>
            <a:noFill/>
          </a:ln>
        </p:spPr>
      </p:pic>
      <p:pic>
        <p:nvPicPr>
          <p:cNvPr id="210" name="Google Shape;210;g2920e81558a_0_77"/>
          <p:cNvPicPr preferRelativeResize="0"/>
          <p:nvPr/>
        </p:nvPicPr>
        <p:blipFill rotWithShape="1">
          <a:blip r:embed="rId4">
            <a:alphaModFix/>
          </a:blip>
          <a:srcRect b="0" l="0" r="0" t="0"/>
          <a:stretch/>
        </p:blipFill>
        <p:spPr>
          <a:xfrm>
            <a:off x="8129400" y="927274"/>
            <a:ext cx="3828425" cy="2532100"/>
          </a:xfrm>
          <a:prstGeom prst="rect">
            <a:avLst/>
          </a:prstGeom>
          <a:noFill/>
          <a:ln>
            <a:noFill/>
          </a:ln>
        </p:spPr>
      </p:pic>
      <p:sp>
        <p:nvSpPr>
          <p:cNvPr id="211" name="Google Shape;211;g2920e81558a_0_77"/>
          <p:cNvSpPr txBox="1"/>
          <p:nvPr/>
        </p:nvSpPr>
        <p:spPr>
          <a:xfrm>
            <a:off x="7882950" y="480600"/>
            <a:ext cx="42876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imes New Roman"/>
                <a:ea typeface="Times New Roman"/>
                <a:cs typeface="Times New Roman"/>
                <a:sym typeface="Times New Roman"/>
              </a:rPr>
              <a:t>X-Ray diffraction pattern of DNA fibers</a:t>
            </a:r>
            <a:endParaRPr b="1" i="0" sz="1800" u="none" cap="none" strike="noStrike">
              <a:solidFill>
                <a:srgbClr val="000000"/>
              </a:solidFill>
              <a:latin typeface="Times New Roman"/>
              <a:ea typeface="Times New Roman"/>
              <a:cs typeface="Times New Roman"/>
              <a:sym typeface="Times New Roman"/>
            </a:endParaRPr>
          </a:p>
        </p:txBody>
      </p:sp>
      <p:pic>
        <p:nvPicPr>
          <p:cNvPr id="212" name="Google Shape;212;g2920e81558a_0_77"/>
          <p:cNvPicPr preferRelativeResize="0"/>
          <p:nvPr/>
        </p:nvPicPr>
        <p:blipFill rotWithShape="1">
          <a:blip r:embed="rId5">
            <a:alphaModFix/>
          </a:blip>
          <a:srcRect b="0" l="0" r="0" t="0"/>
          <a:stretch/>
        </p:blipFill>
        <p:spPr>
          <a:xfrm>
            <a:off x="228601" y="4227989"/>
            <a:ext cx="4128125" cy="2630010"/>
          </a:xfrm>
          <a:prstGeom prst="rect">
            <a:avLst/>
          </a:prstGeom>
          <a:noFill/>
          <a:ln>
            <a:noFill/>
          </a:ln>
        </p:spPr>
      </p:pic>
      <p:sp>
        <p:nvSpPr>
          <p:cNvPr id="213" name="Google Shape;213;g2920e81558a_0_77"/>
          <p:cNvSpPr txBox="1"/>
          <p:nvPr/>
        </p:nvSpPr>
        <p:spPr>
          <a:xfrm>
            <a:off x="8800525" y="6468740"/>
            <a:ext cx="847500" cy="18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1928-xxxx</a:t>
            </a:r>
            <a:endParaRPr sz="11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g30ea99a6757_0_98"/>
          <p:cNvPicPr preferRelativeResize="0"/>
          <p:nvPr/>
        </p:nvPicPr>
        <p:blipFill>
          <a:blip r:embed="rId3">
            <a:alphaModFix/>
          </a:blip>
          <a:stretch>
            <a:fillRect/>
          </a:stretch>
        </p:blipFill>
        <p:spPr>
          <a:xfrm>
            <a:off x="2438400" y="786150"/>
            <a:ext cx="7039975" cy="5279974"/>
          </a:xfrm>
          <a:prstGeom prst="rect">
            <a:avLst/>
          </a:prstGeom>
          <a:noFill/>
          <a:ln>
            <a:noFill/>
          </a:ln>
        </p:spPr>
      </p:pic>
      <p:sp>
        <p:nvSpPr>
          <p:cNvPr id="220" name="Google Shape;220;g30ea99a6757_0_98"/>
          <p:cNvSpPr txBox="1"/>
          <p:nvPr/>
        </p:nvSpPr>
        <p:spPr>
          <a:xfrm>
            <a:off x="1463000" y="136950"/>
            <a:ext cx="8871300" cy="67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800">
                <a:solidFill>
                  <a:schemeClr val="dk1"/>
                </a:solidFill>
                <a:latin typeface="Calibri"/>
                <a:ea typeface="Calibri"/>
                <a:cs typeface="Calibri"/>
                <a:sym typeface="Calibri"/>
              </a:rPr>
              <a:t>At Cold Spring Harbor Laboratory, New York, 2013</a:t>
            </a:r>
            <a:endParaRPr sz="2800">
              <a:solidFill>
                <a:schemeClr val="dk1"/>
              </a:solidFill>
              <a:latin typeface="Calibri"/>
              <a:ea typeface="Calibri"/>
              <a:cs typeface="Calibri"/>
              <a:sym typeface="Calibri"/>
            </a:endParaRPr>
          </a:p>
        </p:txBody>
      </p:sp>
      <p:sp>
        <p:nvSpPr>
          <p:cNvPr id="221" name="Google Shape;221;g30ea99a6757_0_98"/>
          <p:cNvSpPr txBox="1"/>
          <p:nvPr/>
        </p:nvSpPr>
        <p:spPr>
          <a:xfrm>
            <a:off x="3707175" y="5450525"/>
            <a:ext cx="2595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lt1"/>
                </a:solidFill>
                <a:latin typeface="Calibri"/>
                <a:ea typeface="Calibri"/>
                <a:cs typeface="Calibri"/>
                <a:sym typeface="Calibri"/>
              </a:rPr>
              <a:t>James Watson</a:t>
            </a:r>
            <a:endParaRPr sz="28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2920e81558a_0_87"/>
          <p:cNvSpPr txBox="1"/>
          <p:nvPr>
            <p:ph idx="1" type="body"/>
          </p:nvPr>
        </p:nvSpPr>
        <p:spPr>
          <a:xfrm>
            <a:off x="369675" y="542875"/>
            <a:ext cx="7890600" cy="6204300"/>
          </a:xfrm>
          <a:prstGeom prst="rect">
            <a:avLst/>
          </a:prstGeom>
          <a:noFill/>
          <a:ln>
            <a:noFill/>
          </a:ln>
        </p:spPr>
        <p:txBody>
          <a:bodyPr anchorCtr="0" anchor="t" bIns="45700" lIns="91425" spcFirstLastPara="1" rIns="91425" wrap="square" tIns="45700">
            <a:normAutofit fontScale="92500"/>
          </a:bodyPr>
          <a:lstStyle/>
          <a:p>
            <a:pPr indent="-334327"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It consists of two helical DNA chains wound around the same axis to form a right-handed double helix. </a:t>
            </a:r>
            <a:endParaRPr>
              <a:latin typeface="Times New Roman"/>
              <a:ea typeface="Times New Roman"/>
              <a:cs typeface="Times New Roman"/>
              <a:sym typeface="Times New Roman"/>
            </a:endParaRPr>
          </a:p>
          <a:p>
            <a:pPr indent="-334327"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The hydrophilic backbones of alternating deoxyribose and phosphate groups are on the outside of the double helix, facing the surrounding water.</a:t>
            </a:r>
            <a:endParaRPr>
              <a:latin typeface="Times New Roman"/>
              <a:ea typeface="Times New Roman"/>
              <a:cs typeface="Times New Roman"/>
              <a:sym typeface="Times New Roman"/>
            </a:endParaRPr>
          </a:p>
          <a:p>
            <a:pPr indent="-334327"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The offset pairing of the two strands creates a major groove and minor groove on the surface of the duplex.</a:t>
            </a:r>
            <a:endParaRPr>
              <a:latin typeface="Times New Roman"/>
              <a:ea typeface="Times New Roman"/>
              <a:cs typeface="Times New Roman"/>
              <a:sym typeface="Times New Roman"/>
            </a:endParaRPr>
          </a:p>
          <a:p>
            <a:pPr indent="-334327"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Three hydrogen bonds form between G and C, whereas only two hydrogen bonds form between A and T.</a:t>
            </a:r>
            <a:endParaRPr>
              <a:latin typeface="Times New Roman"/>
              <a:ea typeface="Times New Roman"/>
              <a:cs typeface="Times New Roman"/>
              <a:sym typeface="Times New Roman"/>
            </a:endParaRPr>
          </a:p>
          <a:p>
            <a:pPr indent="-334327"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Both strands of DNA are in antiparallel orientation.</a:t>
            </a:r>
            <a:endParaRPr>
              <a:latin typeface="Times New Roman"/>
              <a:ea typeface="Times New Roman"/>
              <a:cs typeface="Times New Roman"/>
              <a:sym typeface="Times New Roman"/>
            </a:endParaRPr>
          </a:p>
          <a:p>
            <a:pPr indent="-334327"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Vertically stacked bases are 3.4 A apart.</a:t>
            </a:r>
            <a:endParaRPr>
              <a:latin typeface="Times New Roman"/>
              <a:ea typeface="Times New Roman"/>
              <a:cs typeface="Times New Roman"/>
              <a:sym typeface="Times New Roman"/>
            </a:endParaRPr>
          </a:p>
        </p:txBody>
      </p:sp>
      <p:sp>
        <p:nvSpPr>
          <p:cNvPr id="228" name="Google Shape;228;g2920e81558a_0_87"/>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Structure of DNA</a:t>
            </a:r>
            <a:endParaRPr b="1" i="0" sz="2000" u="none" cap="none" strike="noStrike">
              <a:solidFill>
                <a:schemeClr val="lt1"/>
              </a:solidFill>
              <a:latin typeface="Times New Roman"/>
              <a:ea typeface="Times New Roman"/>
              <a:cs typeface="Times New Roman"/>
              <a:sym typeface="Times New Roman"/>
            </a:endParaRPr>
          </a:p>
        </p:txBody>
      </p:sp>
      <p:pic>
        <p:nvPicPr>
          <p:cNvPr id="229" name="Google Shape;229;g2920e81558a_0_87"/>
          <p:cNvPicPr preferRelativeResize="0"/>
          <p:nvPr/>
        </p:nvPicPr>
        <p:blipFill rotWithShape="1">
          <a:blip r:embed="rId3">
            <a:alphaModFix/>
          </a:blip>
          <a:srcRect b="0" l="0" r="0" t="0"/>
          <a:stretch/>
        </p:blipFill>
        <p:spPr>
          <a:xfrm>
            <a:off x="8260275" y="652775"/>
            <a:ext cx="1857375" cy="5362575"/>
          </a:xfrm>
          <a:prstGeom prst="rect">
            <a:avLst/>
          </a:prstGeom>
          <a:noFill/>
          <a:ln>
            <a:noFill/>
          </a:ln>
        </p:spPr>
      </p:pic>
      <p:pic>
        <p:nvPicPr>
          <p:cNvPr id="230" name="Google Shape;230;g2920e81558a_0_87"/>
          <p:cNvPicPr preferRelativeResize="0"/>
          <p:nvPr/>
        </p:nvPicPr>
        <p:blipFill rotWithShape="1">
          <a:blip r:embed="rId4">
            <a:alphaModFix/>
          </a:blip>
          <a:srcRect b="0" l="0" r="0" t="0"/>
          <a:stretch/>
        </p:blipFill>
        <p:spPr>
          <a:xfrm>
            <a:off x="10111300" y="1127100"/>
            <a:ext cx="2080700" cy="4724550"/>
          </a:xfrm>
          <a:prstGeom prst="rect">
            <a:avLst/>
          </a:prstGeom>
          <a:noFill/>
          <a:ln>
            <a:noFill/>
          </a:ln>
        </p:spPr>
      </p:pic>
      <p:pic>
        <p:nvPicPr>
          <p:cNvPr id="231" name="Google Shape;231;g2920e81558a_0_87"/>
          <p:cNvPicPr preferRelativeResize="0"/>
          <p:nvPr/>
        </p:nvPicPr>
        <p:blipFill rotWithShape="1">
          <a:blip r:embed="rId5">
            <a:alphaModFix/>
          </a:blip>
          <a:srcRect b="0" l="0" r="0" t="0"/>
          <a:stretch/>
        </p:blipFill>
        <p:spPr>
          <a:xfrm>
            <a:off x="12191988" y="5127900"/>
            <a:ext cx="4657725" cy="1066800"/>
          </a:xfrm>
          <a:prstGeom prst="rect">
            <a:avLst/>
          </a:prstGeom>
          <a:noFill/>
          <a:ln>
            <a:noFill/>
          </a:ln>
        </p:spPr>
      </p:pic>
      <p:pic>
        <p:nvPicPr>
          <p:cNvPr id="232" name="Google Shape;232;g2920e81558a_0_87"/>
          <p:cNvPicPr preferRelativeResize="0"/>
          <p:nvPr/>
        </p:nvPicPr>
        <p:blipFill rotWithShape="1">
          <a:blip r:embed="rId6">
            <a:alphaModFix/>
          </a:blip>
          <a:srcRect b="0" l="0" r="0" t="0"/>
          <a:stretch/>
        </p:blipFill>
        <p:spPr>
          <a:xfrm>
            <a:off x="12191988" y="1832263"/>
            <a:ext cx="2847975" cy="2562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2920e81558a_0_104"/>
          <p:cNvSpPr txBox="1"/>
          <p:nvPr>
            <p:ph idx="1" type="body"/>
          </p:nvPr>
        </p:nvSpPr>
        <p:spPr>
          <a:xfrm>
            <a:off x="388925" y="625675"/>
            <a:ext cx="6326700" cy="5969100"/>
          </a:xfrm>
          <a:prstGeom prst="rect">
            <a:avLst/>
          </a:prstGeom>
          <a:noFill/>
          <a:ln>
            <a:noFill/>
          </a:ln>
        </p:spPr>
        <p:txBody>
          <a:bodyPr anchorCtr="0" anchor="t" bIns="45700" lIns="91425" spcFirstLastPara="1" rIns="91425" wrap="square" tIns="45700">
            <a:normAutofit fontScale="85000" lnSpcReduction="20000"/>
          </a:bodyPr>
          <a:lstStyle/>
          <a:p>
            <a:pPr indent="-325755"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RNA is the second major form of nucleic acid in cells.</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ct val="75630"/>
              <a:buNone/>
            </a:pPr>
            <a:r>
              <a:t/>
            </a:r>
            <a:endParaRPr>
              <a:latin typeface="Times New Roman"/>
              <a:ea typeface="Times New Roman"/>
              <a:cs typeface="Times New Roman"/>
              <a:sym typeface="Times New Roman"/>
            </a:endParaRPr>
          </a:p>
          <a:p>
            <a:pPr indent="-325755"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RNA carries genetic information from DNA to the protein biosynthetic machinery of the ribosome.</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ct val="75630"/>
              <a:buNone/>
            </a:pPr>
            <a:r>
              <a:t/>
            </a:r>
            <a:endParaRPr>
              <a:latin typeface="Times New Roman"/>
              <a:ea typeface="Times New Roman"/>
              <a:cs typeface="Times New Roman"/>
              <a:sym typeface="Times New Roman"/>
            </a:endParaRPr>
          </a:p>
          <a:p>
            <a:pPr indent="-325755"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By the process of transcription, RNA is synthesized from the DNA template.</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SzPct val="75630"/>
              <a:buNone/>
            </a:pPr>
            <a:r>
              <a:t/>
            </a:r>
            <a:endParaRPr>
              <a:latin typeface="Times New Roman"/>
              <a:ea typeface="Times New Roman"/>
              <a:cs typeface="Times New Roman"/>
              <a:sym typeface="Times New Roman"/>
            </a:endParaRPr>
          </a:p>
          <a:p>
            <a:pPr indent="-325755" lvl="0" marL="457200" rtl="0" algn="l">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Three types of RNAs involved in protein synthesis:</a:t>
            </a:r>
            <a:endParaRPr>
              <a:latin typeface="Times New Roman"/>
              <a:ea typeface="Times New Roman"/>
              <a:cs typeface="Times New Roman"/>
              <a:sym typeface="Times New Roman"/>
            </a:endParaRPr>
          </a:p>
          <a:p>
            <a:pPr indent="-325755" lvl="0" marL="457200" rtl="0" algn="l">
              <a:lnSpc>
                <a:spcPct val="115000"/>
              </a:lnSpc>
              <a:spcBef>
                <a:spcPts val="0"/>
              </a:spcBef>
              <a:spcAft>
                <a:spcPts val="0"/>
              </a:spcAft>
              <a:buSzPct val="64285"/>
              <a:buFont typeface="Times New Roman"/>
              <a:buAutoNum type="arabicParenR"/>
            </a:pPr>
            <a:r>
              <a:rPr lang="en-US">
                <a:latin typeface="Times New Roman"/>
                <a:ea typeface="Times New Roman"/>
                <a:cs typeface="Times New Roman"/>
                <a:sym typeface="Times New Roman"/>
              </a:rPr>
              <a:t>mRNA: Messenger RNA</a:t>
            </a:r>
            <a:endParaRPr>
              <a:latin typeface="Times New Roman"/>
              <a:ea typeface="Times New Roman"/>
              <a:cs typeface="Times New Roman"/>
              <a:sym typeface="Times New Roman"/>
            </a:endParaRPr>
          </a:p>
          <a:p>
            <a:pPr indent="-325755" lvl="0" marL="457200" rtl="0" algn="l">
              <a:lnSpc>
                <a:spcPct val="115000"/>
              </a:lnSpc>
              <a:spcBef>
                <a:spcPts val="0"/>
              </a:spcBef>
              <a:spcAft>
                <a:spcPts val="0"/>
              </a:spcAft>
              <a:buSzPct val="64285"/>
              <a:buFont typeface="Times New Roman"/>
              <a:buAutoNum type="arabicParenR"/>
            </a:pPr>
            <a:r>
              <a:rPr lang="en-US">
                <a:latin typeface="Times New Roman"/>
                <a:ea typeface="Times New Roman"/>
                <a:cs typeface="Times New Roman"/>
                <a:sym typeface="Times New Roman"/>
              </a:rPr>
              <a:t>tRNA: Transfer RNA</a:t>
            </a:r>
            <a:endParaRPr>
              <a:latin typeface="Times New Roman"/>
              <a:ea typeface="Times New Roman"/>
              <a:cs typeface="Times New Roman"/>
              <a:sym typeface="Times New Roman"/>
            </a:endParaRPr>
          </a:p>
          <a:p>
            <a:pPr indent="-325755" lvl="0" marL="457200" rtl="0" algn="l">
              <a:lnSpc>
                <a:spcPct val="115000"/>
              </a:lnSpc>
              <a:spcBef>
                <a:spcPts val="0"/>
              </a:spcBef>
              <a:spcAft>
                <a:spcPts val="0"/>
              </a:spcAft>
              <a:buSzPct val="64285"/>
              <a:buFont typeface="Times New Roman"/>
              <a:buAutoNum type="arabicParenR"/>
            </a:pPr>
            <a:r>
              <a:rPr lang="en-US">
                <a:latin typeface="Times New Roman"/>
                <a:ea typeface="Times New Roman"/>
                <a:cs typeface="Times New Roman"/>
                <a:sym typeface="Times New Roman"/>
              </a:rPr>
              <a:t>rRNA: Ribosomal RNA</a:t>
            </a:r>
            <a:endParaRPr>
              <a:latin typeface="Times New Roman"/>
              <a:ea typeface="Times New Roman"/>
              <a:cs typeface="Times New Roman"/>
              <a:sym typeface="Times New Roman"/>
            </a:endParaRPr>
          </a:p>
          <a:p>
            <a:pPr indent="0" lvl="0" marL="457200" rtl="0" algn="l">
              <a:lnSpc>
                <a:spcPct val="115000"/>
              </a:lnSpc>
              <a:spcBef>
                <a:spcPts val="0"/>
              </a:spcBef>
              <a:spcAft>
                <a:spcPts val="0"/>
              </a:spcAft>
              <a:buSzPct val="75630"/>
              <a:buNone/>
            </a:pPr>
            <a:r>
              <a:t/>
            </a:r>
            <a:endParaRPr>
              <a:latin typeface="Times New Roman"/>
              <a:ea typeface="Times New Roman"/>
              <a:cs typeface="Times New Roman"/>
              <a:sym typeface="Times New Roman"/>
            </a:endParaRPr>
          </a:p>
        </p:txBody>
      </p:sp>
      <p:sp>
        <p:nvSpPr>
          <p:cNvPr id="239" name="Google Shape;239;g2920e81558a_0_104"/>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RNA (Ribonucleic Acid)</a:t>
            </a:r>
            <a:endParaRPr b="1" i="0" sz="2000" u="none" cap="none" strike="noStrike">
              <a:solidFill>
                <a:schemeClr val="lt1"/>
              </a:solidFill>
              <a:latin typeface="Times New Roman"/>
              <a:ea typeface="Times New Roman"/>
              <a:cs typeface="Times New Roman"/>
              <a:sym typeface="Times New Roman"/>
            </a:endParaRPr>
          </a:p>
        </p:txBody>
      </p:sp>
      <p:pic>
        <p:nvPicPr>
          <p:cNvPr id="240" name="Google Shape;240;g2920e81558a_0_104"/>
          <p:cNvPicPr preferRelativeResize="0"/>
          <p:nvPr/>
        </p:nvPicPr>
        <p:blipFill rotWithShape="1">
          <a:blip r:embed="rId3">
            <a:alphaModFix/>
          </a:blip>
          <a:srcRect b="0" l="0" r="0" t="0"/>
          <a:stretch/>
        </p:blipFill>
        <p:spPr>
          <a:xfrm>
            <a:off x="6715676" y="550252"/>
            <a:ext cx="5476325" cy="6307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g2920e81558a_0_119"/>
          <p:cNvPicPr preferRelativeResize="0"/>
          <p:nvPr/>
        </p:nvPicPr>
        <p:blipFill rotWithShape="1">
          <a:blip r:embed="rId3">
            <a:alphaModFix/>
          </a:blip>
          <a:srcRect b="0" l="0" r="0" t="0"/>
          <a:stretch/>
        </p:blipFill>
        <p:spPr>
          <a:xfrm>
            <a:off x="1449749" y="432925"/>
            <a:ext cx="3341875" cy="6272675"/>
          </a:xfrm>
          <a:prstGeom prst="rect">
            <a:avLst/>
          </a:prstGeom>
          <a:noFill/>
          <a:ln>
            <a:noFill/>
          </a:ln>
        </p:spPr>
      </p:pic>
      <p:pic>
        <p:nvPicPr>
          <p:cNvPr id="247" name="Google Shape;247;g2920e81558a_0_119"/>
          <p:cNvPicPr preferRelativeResize="0"/>
          <p:nvPr/>
        </p:nvPicPr>
        <p:blipFill rotWithShape="1">
          <a:blip r:embed="rId4">
            <a:alphaModFix/>
          </a:blip>
          <a:srcRect b="0" l="0" r="0" t="0"/>
          <a:stretch/>
        </p:blipFill>
        <p:spPr>
          <a:xfrm>
            <a:off x="-6172200" y="4524363"/>
            <a:ext cx="6172200" cy="2333625"/>
          </a:xfrm>
          <a:prstGeom prst="rect">
            <a:avLst/>
          </a:prstGeom>
          <a:noFill/>
          <a:ln>
            <a:noFill/>
          </a:ln>
        </p:spPr>
      </p:pic>
      <p:sp>
        <p:nvSpPr>
          <p:cNvPr id="248" name="Google Shape;248;g2920e81558a_0_11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How the polypeptide/protein chain is synthesized based on the DNA and RNA sequences?</a:t>
            </a:r>
            <a:endParaRPr b="1" i="0" sz="2000" u="none" cap="none" strike="noStrike">
              <a:solidFill>
                <a:schemeClr val="lt1"/>
              </a:solidFill>
              <a:latin typeface="Times New Roman"/>
              <a:ea typeface="Times New Roman"/>
              <a:cs typeface="Times New Roman"/>
              <a:sym typeface="Times New Roman"/>
            </a:endParaRPr>
          </a:p>
        </p:txBody>
      </p:sp>
      <p:pic>
        <p:nvPicPr>
          <p:cNvPr id="249" name="Google Shape;249;g2920e81558a_0_119"/>
          <p:cNvPicPr preferRelativeResize="0"/>
          <p:nvPr/>
        </p:nvPicPr>
        <p:blipFill>
          <a:blip r:embed="rId5">
            <a:alphaModFix/>
          </a:blip>
          <a:stretch>
            <a:fillRect/>
          </a:stretch>
        </p:blipFill>
        <p:spPr>
          <a:xfrm>
            <a:off x="5989450" y="1335099"/>
            <a:ext cx="5823424" cy="4953325"/>
          </a:xfrm>
          <a:prstGeom prst="rect">
            <a:avLst/>
          </a:prstGeom>
          <a:noFill/>
          <a:ln>
            <a:noFill/>
          </a:ln>
        </p:spPr>
      </p:pic>
      <p:sp>
        <p:nvSpPr>
          <p:cNvPr id="250" name="Google Shape;250;g2920e81558a_0_119"/>
          <p:cNvSpPr txBox="1"/>
          <p:nvPr/>
        </p:nvSpPr>
        <p:spPr>
          <a:xfrm>
            <a:off x="6883200" y="579375"/>
            <a:ext cx="49497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Times New Roman"/>
                <a:ea typeface="Times New Roman"/>
                <a:cs typeface="Times New Roman"/>
                <a:sym typeface="Times New Roman"/>
              </a:rPr>
              <a:t>Amino acid codon table</a:t>
            </a:r>
            <a:endParaRPr sz="2800">
              <a:solidFill>
                <a:schemeClr val="dk1"/>
              </a:solidFill>
              <a:latin typeface="Times New Roman"/>
              <a:ea typeface="Times New Roman"/>
              <a:cs typeface="Times New Roman"/>
              <a:sym typeface="Times New Roman"/>
            </a:endParaRPr>
          </a:p>
        </p:txBody>
      </p:sp>
      <p:sp>
        <p:nvSpPr>
          <p:cNvPr id="251" name="Google Shape;251;g2920e81558a_0_119"/>
          <p:cNvSpPr/>
          <p:nvPr/>
        </p:nvSpPr>
        <p:spPr>
          <a:xfrm>
            <a:off x="10076025" y="3186550"/>
            <a:ext cx="491100" cy="2079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2" name="Google Shape;252;g2920e81558a_0_119"/>
          <p:cNvSpPr/>
          <p:nvPr/>
        </p:nvSpPr>
        <p:spPr>
          <a:xfrm>
            <a:off x="2784750" y="944475"/>
            <a:ext cx="491100" cy="636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3" name="Google Shape;253;g2920e81558a_0_119"/>
          <p:cNvSpPr/>
          <p:nvPr/>
        </p:nvSpPr>
        <p:spPr>
          <a:xfrm>
            <a:off x="2784750" y="1554075"/>
            <a:ext cx="491100" cy="6363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4" name="Google Shape;254;g2920e81558a_0_119"/>
          <p:cNvSpPr/>
          <p:nvPr/>
        </p:nvSpPr>
        <p:spPr>
          <a:xfrm>
            <a:off x="10076025" y="5712725"/>
            <a:ext cx="491100" cy="2079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5" name="Google Shape;255;g2920e81558a_0_119"/>
          <p:cNvSpPr/>
          <p:nvPr/>
        </p:nvSpPr>
        <p:spPr>
          <a:xfrm>
            <a:off x="2784750" y="2239875"/>
            <a:ext cx="491100" cy="636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6" name="Google Shape;256;g2920e81558a_0_119"/>
          <p:cNvSpPr/>
          <p:nvPr/>
        </p:nvSpPr>
        <p:spPr>
          <a:xfrm>
            <a:off x="8933025" y="2348350"/>
            <a:ext cx="491100" cy="2079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7" name="Google Shape;257;g2920e81558a_0_119"/>
          <p:cNvSpPr txBox="1"/>
          <p:nvPr/>
        </p:nvSpPr>
        <p:spPr>
          <a:xfrm rot="-5399549">
            <a:off x="1364522" y="2890135"/>
            <a:ext cx="2286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Calibri"/>
                <a:ea typeface="Calibri"/>
                <a:cs typeface="Calibri"/>
                <a:sym typeface="Calibri"/>
              </a:rPr>
              <a:t>Transcription</a:t>
            </a:r>
            <a:endParaRPr sz="2200">
              <a:solidFill>
                <a:schemeClr val="dk1"/>
              </a:solidFill>
              <a:latin typeface="Calibri"/>
              <a:ea typeface="Calibri"/>
              <a:cs typeface="Calibri"/>
              <a:sym typeface="Calibri"/>
            </a:endParaRPr>
          </a:p>
        </p:txBody>
      </p:sp>
      <p:sp>
        <p:nvSpPr>
          <p:cNvPr id="258" name="Google Shape;258;g2920e81558a_0_119"/>
          <p:cNvSpPr txBox="1"/>
          <p:nvPr/>
        </p:nvSpPr>
        <p:spPr>
          <a:xfrm rot="-5399549">
            <a:off x="2355122" y="2890135"/>
            <a:ext cx="2286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Calibri"/>
                <a:ea typeface="Calibri"/>
                <a:cs typeface="Calibri"/>
                <a:sym typeface="Calibri"/>
              </a:rPr>
              <a:t>Translation</a:t>
            </a:r>
            <a:endParaRPr sz="22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11ea403964f_0_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DNA-based information technologies_</a:t>
            </a:r>
            <a:r>
              <a:rPr b="1" i="0" lang="en-US" sz="2000" u="none" cap="none" strike="noStrike">
                <a:solidFill>
                  <a:schemeClr val="lt1"/>
                </a:solidFill>
                <a:latin typeface="Times New Roman"/>
                <a:ea typeface="Times New Roman"/>
                <a:cs typeface="Times New Roman"/>
                <a:sym typeface="Times New Roman"/>
              </a:rPr>
              <a:t>Cloning</a:t>
            </a:r>
            <a:endParaRPr b="1" i="0" sz="2000" u="none" cap="none" strike="noStrike">
              <a:solidFill>
                <a:schemeClr val="lt1"/>
              </a:solidFill>
              <a:latin typeface="Times New Roman"/>
              <a:ea typeface="Times New Roman"/>
              <a:cs typeface="Times New Roman"/>
              <a:sym typeface="Times New Roman"/>
            </a:endParaRPr>
          </a:p>
        </p:txBody>
      </p:sp>
      <p:sp>
        <p:nvSpPr>
          <p:cNvPr id="265" name="Google Shape;265;g11ea403964f_0_0"/>
          <p:cNvSpPr txBox="1"/>
          <p:nvPr/>
        </p:nvSpPr>
        <p:spPr>
          <a:xfrm>
            <a:off x="312175" y="362913"/>
            <a:ext cx="11725800" cy="43869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15000"/>
              </a:lnSpc>
              <a:spcBef>
                <a:spcPts val="0"/>
              </a:spcBef>
              <a:spcAft>
                <a:spcPts val="0"/>
              </a:spcAft>
              <a:buClr>
                <a:srgbClr val="000000"/>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Cloning is a technique scientists use to make exact genetic copies of living organisms.</a:t>
            </a:r>
            <a:endParaRPr b="0" i="0" sz="2000" u="none" cap="none" strike="noStrike">
              <a:solidFill>
                <a:srgbClr val="000000"/>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Clr>
                <a:srgbClr val="000000"/>
              </a:buClr>
              <a:buSzPts val="16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rgbClr val="000000"/>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Genes, cells, tissues and even whole animal can be cloned.</a:t>
            </a:r>
            <a:endParaRPr b="0" i="0" sz="2000" u="none" cap="none" strike="noStrike">
              <a:solidFill>
                <a:srgbClr val="000000"/>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Clr>
                <a:srgbClr val="000000"/>
              </a:buClr>
              <a:buSzPts val="16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Clr>
                <a:srgbClr val="000000"/>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Dolly the sheep: was the first mammal to have been successfully cloned from an adult somatic cell in 1996 </a:t>
            </a:r>
            <a:r>
              <a:rPr lang="en-US" sz="2000">
                <a:latin typeface="Times New Roman"/>
                <a:ea typeface="Times New Roman"/>
                <a:cs typeface="Times New Roman"/>
                <a:sym typeface="Times New Roman"/>
              </a:rPr>
              <a:t>in Scotland</a:t>
            </a:r>
            <a:r>
              <a:rPr b="0" i="0" lang="en-US" sz="2000" u="none" cap="none" strike="noStrike">
                <a:solidFill>
                  <a:srgbClr val="000000"/>
                </a:solidFill>
                <a:latin typeface="Times New Roman"/>
                <a:ea typeface="Times New Roman"/>
                <a:cs typeface="Times New Roman"/>
                <a:sym typeface="Times New Roman"/>
              </a:rPr>
              <a:t>.</a:t>
            </a:r>
            <a:endParaRPr b="0" i="0" sz="2000" u="none" cap="none" strike="noStrike">
              <a:solidFill>
                <a:srgbClr val="00000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t/>
            </a:r>
            <a:endParaRPr sz="2000">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Dolly died at the age of 6 years, whereas the regular lifespan of sheep is ~12 to 13 years.</a:t>
            </a:r>
            <a:endParaRPr sz="2000">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t/>
            </a:r>
            <a:endParaRPr sz="2000">
              <a:latin typeface="Times New Roman"/>
              <a:ea typeface="Times New Roman"/>
              <a:cs typeface="Times New Roman"/>
              <a:sym typeface="Times New Roman"/>
            </a:endParaRPr>
          </a:p>
          <a:p>
            <a:pPr indent="-355600" lvl="0" marL="457200" marR="0" rtl="0" algn="just">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Dolly was </a:t>
            </a:r>
            <a:r>
              <a:rPr lang="en-US" sz="2000">
                <a:latin typeface="Times New Roman"/>
                <a:ea typeface="Times New Roman"/>
                <a:cs typeface="Times New Roman"/>
                <a:sym typeface="Times New Roman"/>
              </a:rPr>
              <a:t>euthanized</a:t>
            </a:r>
            <a:r>
              <a:rPr lang="en-US" sz="2000">
                <a:latin typeface="Times New Roman"/>
                <a:ea typeface="Times New Roman"/>
                <a:cs typeface="Times New Roman"/>
                <a:sym typeface="Times New Roman"/>
              </a:rPr>
              <a:t> at the age of 6 years due to liver cancer and </a:t>
            </a:r>
            <a:r>
              <a:rPr lang="en-US" sz="2000">
                <a:latin typeface="Times New Roman"/>
                <a:ea typeface="Times New Roman"/>
                <a:cs typeface="Times New Roman"/>
                <a:sym typeface="Times New Roman"/>
              </a:rPr>
              <a:t>arthritis</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0" lvl="0" marL="457200" marR="0" rtl="0" algn="just">
              <a:lnSpc>
                <a:spcPct val="115000"/>
              </a:lnSpc>
              <a:spcBef>
                <a:spcPts val="0"/>
              </a:spcBef>
              <a:spcAft>
                <a:spcPts val="0"/>
              </a:spcAft>
              <a:buClr>
                <a:srgbClr val="000000"/>
              </a:buClr>
              <a:buSzPts val="16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457200" marR="0" rtl="0" algn="just">
              <a:lnSpc>
                <a:spcPct val="115000"/>
              </a:lnSpc>
              <a:spcBef>
                <a:spcPts val="0"/>
              </a:spcBef>
              <a:spcAft>
                <a:spcPts val="0"/>
              </a:spcAft>
              <a:buClr>
                <a:srgbClr val="000000"/>
              </a:buClr>
              <a:buSzPts val="16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id="266" name="Google Shape;266;g11ea403964f_0_0"/>
          <p:cNvPicPr preferRelativeResize="0"/>
          <p:nvPr/>
        </p:nvPicPr>
        <p:blipFill rotWithShape="1">
          <a:blip r:embed="rId3">
            <a:alphaModFix/>
          </a:blip>
          <a:srcRect b="0" l="0" r="0" t="0"/>
          <a:stretch/>
        </p:blipFill>
        <p:spPr>
          <a:xfrm>
            <a:off x="8372450" y="4020275"/>
            <a:ext cx="3783650" cy="2837725"/>
          </a:xfrm>
          <a:prstGeom prst="rect">
            <a:avLst/>
          </a:prstGeom>
          <a:noFill/>
          <a:ln>
            <a:noFill/>
          </a:ln>
        </p:spPr>
      </p:pic>
      <p:sp>
        <p:nvSpPr>
          <p:cNvPr id="267" name="Google Shape;267;g11ea403964f_0_0"/>
          <p:cNvSpPr txBox="1"/>
          <p:nvPr/>
        </p:nvSpPr>
        <p:spPr>
          <a:xfrm>
            <a:off x="4844150" y="6242400"/>
            <a:ext cx="3528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t>Dolly: </a:t>
            </a:r>
            <a:r>
              <a:rPr lang="en-US"/>
              <a:t>5 July 1996 – 14 February 2003</a:t>
            </a:r>
            <a:endParaRPr/>
          </a:p>
          <a:p>
            <a:pPr indent="0" lvl="0" marL="0" rtl="0" algn="ctr">
              <a:spcBef>
                <a:spcPts val="0"/>
              </a:spcBef>
              <a:spcAft>
                <a:spcPts val="0"/>
              </a:spcAft>
              <a:buNone/>
            </a:pPr>
            <a:r>
              <a:rPr lang="en-US"/>
              <a:t>National Museum of Scotland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11a83a58a23_0_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74" name="Google Shape;274;g11a83a58a23_0_1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275" name="Google Shape;275;g11a83a58a23_0_16"/>
          <p:cNvPicPr preferRelativeResize="0"/>
          <p:nvPr/>
        </p:nvPicPr>
        <p:blipFill rotWithShape="1">
          <a:blip r:embed="rId3">
            <a:alphaModFix/>
          </a:blip>
          <a:srcRect b="0" l="0" r="0" t="0"/>
          <a:stretch/>
        </p:blipFill>
        <p:spPr>
          <a:xfrm>
            <a:off x="0" y="0"/>
            <a:ext cx="12087974" cy="6799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11a83a58a23_0_2"/>
          <p:cNvSpPr txBox="1"/>
          <p:nvPr>
            <p:ph idx="1" type="body"/>
          </p:nvPr>
        </p:nvSpPr>
        <p:spPr>
          <a:xfrm>
            <a:off x="351200" y="526800"/>
            <a:ext cx="11002500" cy="5649900"/>
          </a:xfrm>
          <a:prstGeom prst="rect">
            <a:avLst/>
          </a:prstGeom>
          <a:noFill/>
          <a:ln>
            <a:noFill/>
          </a:ln>
        </p:spPr>
        <p:txBody>
          <a:bodyPr anchorCtr="0" anchor="t" bIns="45700" lIns="91425" spcFirstLastPara="1" rIns="91425" wrap="square" tIns="45700">
            <a:normAutofit fontScale="70000" lnSpcReduction="20000"/>
          </a:bodyPr>
          <a:lstStyle/>
          <a:p>
            <a:pPr indent="-308610"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There are a variety of ethical concerns regarding the possibilities of cloning, especially human cloning. </a:t>
            </a:r>
            <a:endParaRPr>
              <a:latin typeface="Times New Roman"/>
              <a:ea typeface="Times New Roman"/>
              <a:cs typeface="Times New Roman"/>
              <a:sym typeface="Times New Roman"/>
            </a:endParaRPr>
          </a:p>
          <a:p>
            <a:pPr indent="0" lvl="0" marL="457200" rtl="0" algn="just">
              <a:lnSpc>
                <a:spcPct val="115000"/>
              </a:lnSpc>
              <a:spcBef>
                <a:spcPts val="0"/>
              </a:spcBef>
              <a:spcAft>
                <a:spcPts val="0"/>
              </a:spcAft>
              <a:buSzPct val="91836"/>
              <a:buNone/>
            </a:pPr>
            <a:r>
              <a:t/>
            </a:r>
            <a:endParaRPr>
              <a:latin typeface="Times New Roman"/>
              <a:ea typeface="Times New Roman"/>
              <a:cs typeface="Times New Roman"/>
              <a:sym typeface="Times New Roman"/>
            </a:endParaRPr>
          </a:p>
          <a:p>
            <a:pPr indent="-308610"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While many views are religious in origin, there are also secular perspectives.</a:t>
            </a:r>
            <a:endParaRPr>
              <a:latin typeface="Times New Roman"/>
              <a:ea typeface="Times New Roman"/>
              <a:cs typeface="Times New Roman"/>
              <a:sym typeface="Times New Roman"/>
            </a:endParaRPr>
          </a:p>
          <a:p>
            <a:pPr indent="0" lvl="0" marL="457200" rtl="0" algn="just">
              <a:lnSpc>
                <a:spcPct val="115000"/>
              </a:lnSpc>
              <a:spcBef>
                <a:spcPts val="0"/>
              </a:spcBef>
              <a:spcAft>
                <a:spcPts val="0"/>
              </a:spcAft>
              <a:buSzPct val="91836"/>
              <a:buNone/>
            </a:pPr>
            <a:r>
              <a:t/>
            </a:r>
            <a:endParaRPr>
              <a:latin typeface="Times New Roman"/>
              <a:ea typeface="Times New Roman"/>
              <a:cs typeface="Times New Roman"/>
              <a:sym typeface="Times New Roman"/>
            </a:endParaRPr>
          </a:p>
          <a:p>
            <a:pPr indent="-308610"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Advocates support development of therapeutic cloning to generate tissues and whole organs to treat patients.</a:t>
            </a:r>
            <a:endParaRPr>
              <a:latin typeface="Times New Roman"/>
              <a:ea typeface="Times New Roman"/>
              <a:cs typeface="Times New Roman"/>
              <a:sym typeface="Times New Roman"/>
            </a:endParaRPr>
          </a:p>
          <a:p>
            <a:pPr indent="0" lvl="0" marL="457200" rtl="0" algn="just">
              <a:lnSpc>
                <a:spcPct val="115000"/>
              </a:lnSpc>
              <a:spcBef>
                <a:spcPts val="0"/>
              </a:spcBef>
              <a:spcAft>
                <a:spcPts val="0"/>
              </a:spcAft>
              <a:buSzPct val="91836"/>
              <a:buNone/>
            </a:pPr>
            <a:r>
              <a:t/>
            </a:r>
            <a:endParaRPr>
              <a:latin typeface="Times New Roman"/>
              <a:ea typeface="Times New Roman"/>
              <a:cs typeface="Times New Roman"/>
              <a:sym typeface="Times New Roman"/>
            </a:endParaRPr>
          </a:p>
          <a:p>
            <a:pPr indent="-308610"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Advocates for reproductive cloning believe that patients who cannot reproduce should have access to the technology.</a:t>
            </a:r>
            <a:endParaRPr>
              <a:latin typeface="Times New Roman"/>
              <a:ea typeface="Times New Roman"/>
              <a:cs typeface="Times New Roman"/>
              <a:sym typeface="Times New Roman"/>
            </a:endParaRPr>
          </a:p>
          <a:p>
            <a:pPr indent="0" lvl="0" marL="457200" rtl="0" algn="just">
              <a:lnSpc>
                <a:spcPct val="115000"/>
              </a:lnSpc>
              <a:spcBef>
                <a:spcPts val="0"/>
              </a:spcBef>
              <a:spcAft>
                <a:spcPts val="0"/>
              </a:spcAft>
              <a:buSzPct val="91836"/>
              <a:buNone/>
            </a:pPr>
            <a:r>
              <a:t/>
            </a:r>
            <a:endParaRPr>
              <a:latin typeface="Times New Roman"/>
              <a:ea typeface="Times New Roman"/>
              <a:cs typeface="Times New Roman"/>
              <a:sym typeface="Times New Roman"/>
            </a:endParaRPr>
          </a:p>
          <a:p>
            <a:pPr indent="-308610"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Opponents of cloning have concerns that the technology can be prone to abuse and how cloned individuals could integrate with families and with society at large.</a:t>
            </a:r>
            <a:endParaRPr>
              <a:latin typeface="Times New Roman"/>
              <a:ea typeface="Times New Roman"/>
              <a:cs typeface="Times New Roman"/>
              <a:sym typeface="Times New Roman"/>
            </a:endParaRPr>
          </a:p>
          <a:p>
            <a:pPr indent="0" lvl="0" marL="457200" rtl="0" algn="just">
              <a:lnSpc>
                <a:spcPct val="115000"/>
              </a:lnSpc>
              <a:spcBef>
                <a:spcPts val="0"/>
              </a:spcBef>
              <a:spcAft>
                <a:spcPts val="0"/>
              </a:spcAft>
              <a:buSzPct val="91836"/>
              <a:buNone/>
            </a:pPr>
            <a:r>
              <a:t/>
            </a:r>
            <a:endParaRPr>
              <a:latin typeface="Times New Roman"/>
              <a:ea typeface="Times New Roman"/>
              <a:cs typeface="Times New Roman"/>
              <a:sym typeface="Times New Roman"/>
            </a:endParaRPr>
          </a:p>
          <a:p>
            <a:pPr indent="-308610"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Religious groups believes that the technology can be misused as usurping “God’s place”. Also this technology uses embryos, so it destroys human life. Other religious groups support therapeutic cloning’s potential life-saving benefits.</a:t>
            </a:r>
            <a:endParaRPr>
              <a:latin typeface="Times New Roman"/>
              <a:ea typeface="Times New Roman"/>
              <a:cs typeface="Times New Roman"/>
              <a:sym typeface="Times New Roman"/>
            </a:endParaRPr>
          </a:p>
          <a:p>
            <a:pPr indent="0" lvl="0" marL="457200" rtl="0" algn="just">
              <a:lnSpc>
                <a:spcPct val="115000"/>
              </a:lnSpc>
              <a:spcBef>
                <a:spcPts val="0"/>
              </a:spcBef>
              <a:spcAft>
                <a:spcPts val="0"/>
              </a:spcAft>
              <a:buSzPct val="91836"/>
              <a:buNone/>
            </a:pPr>
            <a:r>
              <a:t/>
            </a:r>
            <a:endParaRPr>
              <a:latin typeface="Times New Roman"/>
              <a:ea typeface="Times New Roman"/>
              <a:cs typeface="Times New Roman"/>
              <a:sym typeface="Times New Roman"/>
            </a:endParaRPr>
          </a:p>
          <a:p>
            <a:pPr indent="-308610" lvl="0" marL="457200" rtl="0" algn="just">
              <a:lnSpc>
                <a:spcPct val="115000"/>
              </a:lnSpc>
              <a:spcBef>
                <a:spcPts val="0"/>
              </a:spcBef>
              <a:spcAft>
                <a:spcPts val="0"/>
              </a:spcAft>
              <a:buSzPct val="64285"/>
              <a:buFont typeface="Times New Roman"/>
              <a:buChar char="•"/>
            </a:pPr>
            <a:r>
              <a:rPr lang="en-US">
                <a:latin typeface="Times New Roman"/>
                <a:ea typeface="Times New Roman"/>
                <a:cs typeface="Times New Roman"/>
                <a:sym typeface="Times New Roman"/>
              </a:rPr>
              <a:t>Cloning of animals is opposed by animal-groups due to the number of cloned animals that suffer from malformations before they die.</a:t>
            </a:r>
            <a:endParaRPr>
              <a:latin typeface="Times New Roman"/>
              <a:ea typeface="Times New Roman"/>
              <a:cs typeface="Times New Roman"/>
              <a:sym typeface="Times New Roman"/>
            </a:endParaRPr>
          </a:p>
        </p:txBody>
      </p:sp>
      <p:sp>
        <p:nvSpPr>
          <p:cNvPr id="282" name="Google Shape;282;g11a83a58a23_0_2"/>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Ethical Issues of Cloning Animals</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11a83a58a23_0_9"/>
          <p:cNvSpPr txBox="1"/>
          <p:nvPr>
            <p:ph idx="1" type="body"/>
          </p:nvPr>
        </p:nvSpPr>
        <p:spPr>
          <a:xfrm>
            <a:off x="450075" y="420025"/>
            <a:ext cx="7185600" cy="5958900"/>
          </a:xfrm>
          <a:prstGeom prst="rect">
            <a:avLst/>
          </a:prstGeom>
          <a:noFill/>
          <a:ln>
            <a:noFill/>
          </a:ln>
        </p:spPr>
        <p:txBody>
          <a:bodyPr anchorCtr="0" anchor="t" bIns="45700" lIns="91425" spcFirstLastPara="1" rIns="91425" wrap="square" tIns="45700">
            <a:noAutofit/>
          </a:bodyPr>
          <a:lstStyle/>
          <a:p>
            <a:pPr indent="-330200" lvl="0" marL="457200" rtl="0" algn="l">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DNA cloning is a molecular biology technique that makes many identical copies of a piece of DNA, such as a gene.</a:t>
            </a:r>
            <a:endParaRPr sz="16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In a typical DNA cloning procedure, the gene (perhaps a gene for a medically important human protein) is first inserted into a circular piece of DNA called a </a:t>
            </a:r>
            <a:r>
              <a:rPr b="1" lang="en-US" sz="1600">
                <a:latin typeface="Times New Roman"/>
                <a:ea typeface="Times New Roman"/>
                <a:cs typeface="Times New Roman"/>
                <a:sym typeface="Times New Roman"/>
              </a:rPr>
              <a:t>plasmid</a:t>
            </a:r>
            <a:r>
              <a:rPr lang="en-US" sz="1600">
                <a:latin typeface="Times New Roman"/>
                <a:ea typeface="Times New Roman"/>
                <a:cs typeface="Times New Roman"/>
                <a:sym typeface="Times New Roman"/>
              </a:rPr>
              <a:t>. The insertion is done using enzymes that “cut and paste” DNA, and it produces a molecule of </a:t>
            </a:r>
            <a:r>
              <a:rPr b="1" lang="en-US" sz="1600">
                <a:latin typeface="Times New Roman"/>
                <a:ea typeface="Times New Roman"/>
                <a:cs typeface="Times New Roman"/>
                <a:sym typeface="Times New Roman"/>
              </a:rPr>
              <a:t>recombinant DNA.</a:t>
            </a:r>
            <a:endParaRPr b="1" sz="1600">
              <a:latin typeface="Times New Roman"/>
              <a:ea typeface="Times New Roman"/>
              <a:cs typeface="Times New Roman"/>
              <a:sym typeface="Times New Roman"/>
            </a:endParaRPr>
          </a:p>
          <a:p>
            <a:pPr indent="0" lvl="0" marL="457200" rtl="0" algn="l">
              <a:lnSpc>
                <a:spcPct val="115000"/>
              </a:lnSpc>
              <a:spcBef>
                <a:spcPts val="0"/>
              </a:spcBef>
              <a:spcAft>
                <a:spcPts val="0"/>
              </a:spcAft>
              <a:buSzPts val="1800"/>
              <a:buNone/>
            </a:pPr>
            <a:r>
              <a:t/>
            </a:r>
            <a:endParaRPr b="1"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Cloning of DNA entails five general procedures: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arenR"/>
            </a:pPr>
            <a:r>
              <a:rPr lang="en-US" sz="1600">
                <a:solidFill>
                  <a:srgbClr val="0000FF"/>
                </a:solidFill>
                <a:latin typeface="Times New Roman"/>
                <a:ea typeface="Times New Roman"/>
                <a:cs typeface="Times New Roman"/>
                <a:sym typeface="Times New Roman"/>
              </a:rPr>
              <a:t>Cutting target DNA at precise locations</a:t>
            </a:r>
            <a:r>
              <a:rPr lang="en-US" sz="1600">
                <a:latin typeface="Times New Roman"/>
                <a:ea typeface="Times New Roman"/>
                <a:cs typeface="Times New Roman"/>
                <a:sym typeface="Times New Roman"/>
              </a:rPr>
              <a:t>. (Sequence-specific endonucleases) provide the necessary molecular scissors.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arenR"/>
            </a:pPr>
            <a:r>
              <a:rPr lang="en-US" sz="1600">
                <a:solidFill>
                  <a:srgbClr val="0000FF"/>
                </a:solidFill>
                <a:latin typeface="Times New Roman"/>
                <a:ea typeface="Times New Roman"/>
                <a:cs typeface="Times New Roman"/>
                <a:sym typeface="Times New Roman"/>
              </a:rPr>
              <a:t>Selecting a small carrier DNA capable of self-replication</a:t>
            </a:r>
            <a:r>
              <a:rPr lang="en-US" sz="1600">
                <a:latin typeface="Times New Roman"/>
                <a:ea typeface="Times New Roman"/>
                <a:cs typeface="Times New Roman"/>
                <a:sym typeface="Times New Roman"/>
              </a:rPr>
              <a:t>. These DNAs are called cloning vectors or plasmids.</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arenR"/>
            </a:pPr>
            <a:r>
              <a:rPr lang="en-US" sz="1600">
                <a:solidFill>
                  <a:srgbClr val="0000FF"/>
                </a:solidFill>
                <a:latin typeface="Times New Roman"/>
                <a:ea typeface="Times New Roman"/>
                <a:cs typeface="Times New Roman"/>
                <a:sym typeface="Times New Roman"/>
              </a:rPr>
              <a:t>Joining two DNA fragments covalently</a:t>
            </a:r>
            <a:r>
              <a:rPr lang="en-US" sz="1600">
                <a:latin typeface="Times New Roman"/>
                <a:ea typeface="Times New Roman"/>
                <a:cs typeface="Times New Roman"/>
                <a:sym typeface="Times New Roman"/>
              </a:rPr>
              <a:t>. DNA ligase is an enzyme that links the cloning vector and the DNA to be cloned. The resultant DNA molecule is known as recombinant DNA.</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arenR"/>
            </a:pPr>
            <a:r>
              <a:rPr lang="en-US" sz="1600">
                <a:solidFill>
                  <a:srgbClr val="0000FF"/>
                </a:solidFill>
                <a:latin typeface="Times New Roman"/>
                <a:ea typeface="Times New Roman"/>
                <a:cs typeface="Times New Roman"/>
                <a:sym typeface="Times New Roman"/>
              </a:rPr>
              <a:t>Moving recombinant DNA from the test tube to a host cell</a:t>
            </a:r>
            <a:r>
              <a:rPr lang="en-US" sz="1600">
                <a:latin typeface="Times New Roman"/>
                <a:ea typeface="Times New Roman"/>
                <a:cs typeface="Times New Roman"/>
                <a:sym typeface="Times New Roman"/>
              </a:rPr>
              <a:t> that will provide the enzymatic machinery for DNA replication.</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AutoNum type="arabicParenR"/>
            </a:pPr>
            <a:r>
              <a:rPr lang="en-US" sz="1600">
                <a:solidFill>
                  <a:srgbClr val="0000FF"/>
                </a:solidFill>
                <a:latin typeface="Times New Roman"/>
                <a:ea typeface="Times New Roman"/>
                <a:cs typeface="Times New Roman"/>
                <a:sym typeface="Times New Roman"/>
              </a:rPr>
              <a:t>Selecting host cells</a:t>
            </a:r>
            <a:r>
              <a:rPr lang="en-US" sz="1600">
                <a:latin typeface="Times New Roman"/>
                <a:ea typeface="Times New Roman"/>
                <a:cs typeface="Times New Roman"/>
                <a:sym typeface="Times New Roman"/>
              </a:rPr>
              <a:t> that contain recombinant DNA.</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800"/>
              <a:buNone/>
            </a:pPr>
            <a:r>
              <a:t/>
            </a:r>
            <a:endParaRPr sz="1600">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The methods used to accomplish these and related tasks are collectively referred to as </a:t>
            </a:r>
            <a:r>
              <a:rPr lang="en-US" sz="1600">
                <a:solidFill>
                  <a:srgbClr val="0000FF"/>
                </a:solidFill>
                <a:latin typeface="Times New Roman"/>
                <a:ea typeface="Times New Roman"/>
                <a:cs typeface="Times New Roman"/>
                <a:sym typeface="Times New Roman"/>
              </a:rPr>
              <a:t>recombinant DNA technology</a:t>
            </a:r>
            <a:r>
              <a:rPr lang="en-US" sz="1600">
                <a:latin typeface="Times New Roman"/>
                <a:ea typeface="Times New Roman"/>
                <a:cs typeface="Times New Roman"/>
                <a:sym typeface="Times New Roman"/>
              </a:rPr>
              <a:t> or </a:t>
            </a:r>
            <a:r>
              <a:rPr lang="en-US" sz="1600">
                <a:solidFill>
                  <a:srgbClr val="0000FF"/>
                </a:solidFill>
                <a:latin typeface="Times New Roman"/>
                <a:ea typeface="Times New Roman"/>
                <a:cs typeface="Times New Roman"/>
                <a:sym typeface="Times New Roman"/>
              </a:rPr>
              <a:t>Genetic engineering</a:t>
            </a:r>
            <a:r>
              <a:rPr lang="en-US"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p:txBody>
      </p:sp>
      <p:sp>
        <p:nvSpPr>
          <p:cNvPr id="289" name="Google Shape;289;g11a83a58a23_0_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DNA Cloning / Molecular Cloning / Recombinant DNA Technology / Genetic Engineering</a:t>
            </a:r>
            <a:endParaRPr b="1" i="0" sz="2000" u="none" cap="none" strike="noStrike">
              <a:solidFill>
                <a:schemeClr val="lt1"/>
              </a:solidFill>
              <a:latin typeface="Times New Roman"/>
              <a:ea typeface="Times New Roman"/>
              <a:cs typeface="Times New Roman"/>
              <a:sym typeface="Times New Roman"/>
            </a:endParaRPr>
          </a:p>
        </p:txBody>
      </p:sp>
      <p:pic>
        <p:nvPicPr>
          <p:cNvPr id="290" name="Google Shape;290;g11a83a58a23_0_9"/>
          <p:cNvPicPr preferRelativeResize="0"/>
          <p:nvPr/>
        </p:nvPicPr>
        <p:blipFill rotWithShape="1">
          <a:blip r:embed="rId3">
            <a:alphaModFix/>
          </a:blip>
          <a:srcRect b="0" l="0" r="0" t="0"/>
          <a:stretch/>
        </p:blipFill>
        <p:spPr>
          <a:xfrm>
            <a:off x="7635675" y="401800"/>
            <a:ext cx="4775472" cy="3169950"/>
          </a:xfrm>
          <a:prstGeom prst="rect">
            <a:avLst/>
          </a:prstGeom>
          <a:noFill/>
          <a:ln>
            <a:noFill/>
          </a:ln>
        </p:spPr>
      </p:pic>
      <p:pic>
        <p:nvPicPr>
          <p:cNvPr id="291" name="Google Shape;291;g11a83a58a23_0_9"/>
          <p:cNvPicPr preferRelativeResize="0"/>
          <p:nvPr/>
        </p:nvPicPr>
        <p:blipFill rotWithShape="1">
          <a:blip r:embed="rId4">
            <a:alphaModFix/>
          </a:blip>
          <a:srcRect b="0" l="0" r="0" t="52082"/>
          <a:stretch/>
        </p:blipFill>
        <p:spPr>
          <a:xfrm>
            <a:off x="7127842" y="3688050"/>
            <a:ext cx="4986407" cy="3169951"/>
          </a:xfrm>
          <a:prstGeom prst="rect">
            <a:avLst/>
          </a:prstGeom>
          <a:noFill/>
          <a:ln>
            <a:noFill/>
          </a:ln>
        </p:spPr>
      </p:pic>
      <p:cxnSp>
        <p:nvCxnSpPr>
          <p:cNvPr id="292" name="Google Shape;292;g11a83a58a23_0_9"/>
          <p:cNvCxnSpPr/>
          <p:nvPr/>
        </p:nvCxnSpPr>
        <p:spPr>
          <a:xfrm flipH="1">
            <a:off x="10135700" y="3560700"/>
            <a:ext cx="1143300" cy="995100"/>
          </a:xfrm>
          <a:prstGeom prst="straightConnector1">
            <a:avLst/>
          </a:prstGeom>
          <a:noFill/>
          <a:ln cap="flat" cmpd="sng" w="38100">
            <a:solidFill>
              <a:schemeClr val="dk2"/>
            </a:solidFill>
            <a:prstDash val="solid"/>
            <a:round/>
            <a:headEnd len="sm" w="sm" type="none"/>
            <a:tailEnd len="med" w="med" type="triangle"/>
          </a:ln>
        </p:spPr>
      </p:cxnSp>
      <p:sp>
        <p:nvSpPr>
          <p:cNvPr id="293" name="Google Shape;293;g11a83a58a23_0_9"/>
          <p:cNvSpPr/>
          <p:nvPr/>
        </p:nvSpPr>
        <p:spPr>
          <a:xfrm>
            <a:off x="9257800" y="3687525"/>
            <a:ext cx="302400" cy="65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1"/>
              </a:highlight>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g11ed67cc255_0_19"/>
          <p:cNvPicPr preferRelativeResize="0"/>
          <p:nvPr/>
        </p:nvPicPr>
        <p:blipFill rotWithShape="1">
          <a:blip r:embed="rId3">
            <a:alphaModFix/>
          </a:blip>
          <a:srcRect b="0" l="0" r="0" t="0"/>
          <a:stretch/>
        </p:blipFill>
        <p:spPr>
          <a:xfrm>
            <a:off x="8820150" y="3095613"/>
            <a:ext cx="3295650" cy="3686175"/>
          </a:xfrm>
          <a:prstGeom prst="rect">
            <a:avLst/>
          </a:prstGeom>
          <a:noFill/>
          <a:ln>
            <a:noFill/>
          </a:ln>
        </p:spPr>
      </p:pic>
      <p:sp>
        <p:nvSpPr>
          <p:cNvPr id="300" name="Google Shape;300;g11ed67cc255_0_19"/>
          <p:cNvSpPr txBox="1"/>
          <p:nvPr>
            <p:ph idx="1" type="body"/>
          </p:nvPr>
        </p:nvSpPr>
        <p:spPr>
          <a:xfrm>
            <a:off x="288875" y="475325"/>
            <a:ext cx="11188200" cy="6198600"/>
          </a:xfrm>
          <a:prstGeom prst="rect">
            <a:avLst/>
          </a:prstGeom>
          <a:noFill/>
          <a:ln>
            <a:noFill/>
          </a:ln>
        </p:spPr>
        <p:txBody>
          <a:bodyPr anchorCtr="0" anchor="t" bIns="45700" lIns="91425" spcFirstLastPara="1" rIns="91425" wrap="square" tIns="45700">
            <a:normAutofit lnSpcReduction="10000"/>
          </a:bodyPr>
          <a:lstStyle/>
          <a:p>
            <a:pPr indent="-355600" lvl="0" marL="457200" rtl="0" algn="just">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Plasmids: A plasmid is a circular DNA molecule that replicates separately from the host chromosome.</a:t>
            </a:r>
            <a:endParaRPr sz="2000">
              <a:latin typeface="Times New Roman"/>
              <a:ea typeface="Times New Roman"/>
              <a:cs typeface="Times New Roman"/>
              <a:sym typeface="Times New Roman"/>
            </a:endParaRPr>
          </a:p>
          <a:p>
            <a:pPr indent="0" lvl="0" marL="457200" rtl="0" algn="just">
              <a:lnSpc>
                <a:spcPct val="115000"/>
              </a:lnSpc>
              <a:spcBef>
                <a:spcPts val="0"/>
              </a:spcBef>
              <a:spcAft>
                <a:spcPts val="0"/>
              </a:spcAft>
              <a:buSzPts val="1800"/>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Their size ranges from 5000 to 400000 bp.</a:t>
            </a:r>
            <a:endParaRPr sz="2000">
              <a:latin typeface="Times New Roman"/>
              <a:ea typeface="Times New Roman"/>
              <a:cs typeface="Times New Roman"/>
              <a:sym typeface="Times New Roman"/>
            </a:endParaRPr>
          </a:p>
          <a:p>
            <a:pPr indent="0" lvl="0" marL="457200" rtl="0" algn="just">
              <a:lnSpc>
                <a:spcPct val="115000"/>
              </a:lnSpc>
              <a:spcBef>
                <a:spcPts val="0"/>
              </a:spcBef>
              <a:spcAft>
                <a:spcPts val="0"/>
              </a:spcAft>
              <a:buSzPts val="1800"/>
              <a:buNone/>
            </a:pPr>
            <a:r>
              <a:t/>
            </a:r>
            <a:endParaRPr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To survive in the host cell, plasmids incorporate several specialized sequences that enable them to make use of the cell’s resources for their own replication and gene expression.</a:t>
            </a:r>
            <a:endParaRPr sz="2000">
              <a:latin typeface="Times New Roman"/>
              <a:ea typeface="Times New Roman"/>
              <a:cs typeface="Times New Roman"/>
              <a:sym typeface="Times New Roman"/>
            </a:endParaRPr>
          </a:p>
          <a:p>
            <a:pPr indent="0" lvl="0" marL="0" rtl="0" algn="just">
              <a:lnSpc>
                <a:spcPct val="115000"/>
              </a:lnSpc>
              <a:spcBef>
                <a:spcPts val="0"/>
              </a:spcBef>
              <a:spcAft>
                <a:spcPts val="0"/>
              </a:spcAft>
              <a:buSzPts val="1800"/>
              <a:buNone/>
            </a:pPr>
            <a:r>
              <a:t/>
            </a:r>
            <a:endParaRPr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pBR322, constructed in 1977, is a good example of a plasmid with features </a:t>
            </a:r>
            <a:endParaRPr sz="2000">
              <a:latin typeface="Times New Roman"/>
              <a:ea typeface="Times New Roman"/>
              <a:cs typeface="Times New Roman"/>
              <a:sym typeface="Times New Roman"/>
            </a:endParaRPr>
          </a:p>
          <a:p>
            <a:pPr indent="0" lvl="0" marL="457200" rtl="0" algn="just">
              <a:lnSpc>
                <a:spcPct val="115000"/>
              </a:lnSpc>
              <a:spcBef>
                <a:spcPts val="0"/>
              </a:spcBef>
              <a:spcAft>
                <a:spcPts val="0"/>
              </a:spcAft>
              <a:buSzPts val="1800"/>
              <a:buNone/>
            </a:pPr>
            <a:r>
              <a:rPr lang="en-US" sz="2000">
                <a:latin typeface="Times New Roman"/>
                <a:ea typeface="Times New Roman"/>
                <a:cs typeface="Times New Roman"/>
                <a:sym typeface="Times New Roman"/>
              </a:rPr>
              <a:t>useful in almost all cloning vectors.</a:t>
            </a:r>
            <a:endParaRPr sz="2000">
              <a:latin typeface="Times New Roman"/>
              <a:ea typeface="Times New Roman"/>
              <a:cs typeface="Times New Roman"/>
              <a:sym typeface="Times New Roman"/>
            </a:endParaRPr>
          </a:p>
          <a:p>
            <a:pPr indent="-355600" lvl="0" marL="914400" rtl="0" algn="just">
              <a:lnSpc>
                <a:spcPct val="115000"/>
              </a:lnSpc>
              <a:spcBef>
                <a:spcPts val="0"/>
              </a:spcBef>
              <a:spcAft>
                <a:spcPts val="0"/>
              </a:spcAft>
              <a:buSzPts val="2000"/>
              <a:buFont typeface="Times New Roman"/>
              <a:buAutoNum type="arabicParenR"/>
            </a:pPr>
            <a:r>
              <a:rPr lang="en-US" sz="2000">
                <a:latin typeface="Times New Roman"/>
                <a:ea typeface="Times New Roman"/>
                <a:cs typeface="Times New Roman"/>
                <a:sym typeface="Times New Roman"/>
              </a:rPr>
              <a:t>Origin of replication (ori), a sequence where replication is initiated by </a:t>
            </a:r>
            <a:endParaRPr sz="2000">
              <a:latin typeface="Times New Roman"/>
              <a:ea typeface="Times New Roman"/>
              <a:cs typeface="Times New Roman"/>
              <a:sym typeface="Times New Roman"/>
            </a:endParaRPr>
          </a:p>
          <a:p>
            <a:pPr indent="0" lvl="0" marL="914400" rtl="0" algn="just">
              <a:lnSpc>
                <a:spcPct val="115000"/>
              </a:lnSpc>
              <a:spcBef>
                <a:spcPts val="0"/>
              </a:spcBef>
              <a:spcAft>
                <a:spcPts val="0"/>
              </a:spcAft>
              <a:buSzPts val="1800"/>
              <a:buNone/>
            </a:pPr>
            <a:r>
              <a:rPr lang="en-US" sz="2000">
                <a:latin typeface="Times New Roman"/>
                <a:ea typeface="Times New Roman"/>
                <a:cs typeface="Times New Roman"/>
                <a:sym typeface="Times New Roman"/>
              </a:rPr>
              <a:t>cellular enzymes. An associated regulatory system is present that limits</a:t>
            </a:r>
            <a:endParaRPr sz="2000">
              <a:latin typeface="Times New Roman"/>
              <a:ea typeface="Times New Roman"/>
              <a:cs typeface="Times New Roman"/>
              <a:sym typeface="Times New Roman"/>
            </a:endParaRPr>
          </a:p>
          <a:p>
            <a:pPr indent="0" lvl="0" marL="914400" rtl="0" algn="just">
              <a:lnSpc>
                <a:spcPct val="115000"/>
              </a:lnSpc>
              <a:spcBef>
                <a:spcPts val="0"/>
              </a:spcBef>
              <a:spcAft>
                <a:spcPts val="0"/>
              </a:spcAft>
              <a:buSzPts val="1800"/>
              <a:buNone/>
            </a:pPr>
            <a:r>
              <a:rPr lang="en-US" sz="2000">
                <a:latin typeface="Times New Roman"/>
                <a:ea typeface="Times New Roman"/>
                <a:cs typeface="Times New Roman"/>
                <a:sym typeface="Times New Roman"/>
              </a:rPr>
              <a:t>replication to maintain pBR322 at a level of 10 to 20 copies per cell.</a:t>
            </a:r>
            <a:endParaRPr sz="2000">
              <a:latin typeface="Times New Roman"/>
              <a:ea typeface="Times New Roman"/>
              <a:cs typeface="Times New Roman"/>
              <a:sym typeface="Times New Roman"/>
            </a:endParaRPr>
          </a:p>
          <a:p>
            <a:pPr indent="0" lvl="0" marL="914400" rtl="0" algn="just">
              <a:lnSpc>
                <a:spcPct val="115000"/>
              </a:lnSpc>
              <a:spcBef>
                <a:spcPts val="0"/>
              </a:spcBef>
              <a:spcAft>
                <a:spcPts val="0"/>
              </a:spcAft>
              <a:buSzPts val="1800"/>
              <a:buNone/>
            </a:pPr>
            <a:r>
              <a:rPr lang="en-US" sz="1800">
                <a:solidFill>
                  <a:srgbClr val="0000FF"/>
                </a:solidFill>
                <a:latin typeface="Times New Roman"/>
                <a:ea typeface="Times New Roman"/>
                <a:cs typeface="Times New Roman"/>
                <a:sym typeface="Times New Roman"/>
              </a:rPr>
              <a:t>(Two different plasmids cannot function in the same cell if they use the same ori.)</a:t>
            </a:r>
            <a:endParaRPr sz="1800">
              <a:solidFill>
                <a:srgbClr val="0000FF"/>
              </a:solidFill>
              <a:latin typeface="Times New Roman"/>
              <a:ea typeface="Times New Roman"/>
              <a:cs typeface="Times New Roman"/>
              <a:sym typeface="Times New Roman"/>
            </a:endParaRPr>
          </a:p>
          <a:p>
            <a:pPr indent="-355600" lvl="0" marL="914400" rtl="0" algn="just">
              <a:lnSpc>
                <a:spcPct val="115000"/>
              </a:lnSpc>
              <a:spcBef>
                <a:spcPts val="0"/>
              </a:spcBef>
              <a:spcAft>
                <a:spcPts val="0"/>
              </a:spcAft>
              <a:buSzPts val="2000"/>
              <a:buFont typeface="Times New Roman"/>
              <a:buAutoNum type="arabicParenR"/>
            </a:pPr>
            <a:r>
              <a:rPr lang="en-US" sz="2000">
                <a:latin typeface="Times New Roman"/>
                <a:ea typeface="Times New Roman"/>
                <a:cs typeface="Times New Roman"/>
                <a:sym typeface="Times New Roman"/>
              </a:rPr>
              <a:t>Antibiotic resistance genes Tet</a:t>
            </a:r>
            <a:r>
              <a:rPr baseline="30000" lang="en-US" sz="2000">
                <a:latin typeface="Times New Roman"/>
                <a:ea typeface="Times New Roman"/>
                <a:cs typeface="Times New Roman"/>
                <a:sym typeface="Times New Roman"/>
              </a:rPr>
              <a:t>R</a:t>
            </a:r>
            <a:r>
              <a:rPr lang="en-US" sz="2000">
                <a:latin typeface="Times New Roman"/>
                <a:ea typeface="Times New Roman"/>
                <a:cs typeface="Times New Roman"/>
                <a:sym typeface="Times New Roman"/>
              </a:rPr>
              <a:t> (Tetracycline Resistance) and Amp</a:t>
            </a:r>
            <a:r>
              <a:rPr baseline="30000" lang="en-US" sz="2000">
                <a:latin typeface="Times New Roman"/>
                <a:ea typeface="Times New Roman"/>
                <a:cs typeface="Times New Roman"/>
                <a:sym typeface="Times New Roman"/>
              </a:rPr>
              <a:t>R</a:t>
            </a: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0" lvl="0" marL="914400" rtl="0" algn="just">
              <a:lnSpc>
                <a:spcPct val="115000"/>
              </a:lnSpc>
              <a:spcBef>
                <a:spcPts val="0"/>
              </a:spcBef>
              <a:spcAft>
                <a:spcPts val="0"/>
              </a:spcAft>
              <a:buSzPts val="1800"/>
              <a:buNone/>
            </a:pPr>
            <a:r>
              <a:rPr lang="en-US" sz="2000">
                <a:latin typeface="Times New Roman"/>
                <a:ea typeface="Times New Roman"/>
                <a:cs typeface="Times New Roman"/>
                <a:sym typeface="Times New Roman"/>
              </a:rPr>
              <a:t>(Ampicillin Resistance) allow selection of cells that contain the intact </a:t>
            </a:r>
            <a:endParaRPr sz="2000">
              <a:latin typeface="Times New Roman"/>
              <a:ea typeface="Times New Roman"/>
              <a:cs typeface="Times New Roman"/>
              <a:sym typeface="Times New Roman"/>
            </a:endParaRPr>
          </a:p>
          <a:p>
            <a:pPr indent="0" lvl="0" marL="914400" rtl="0" algn="just">
              <a:lnSpc>
                <a:spcPct val="115000"/>
              </a:lnSpc>
              <a:spcBef>
                <a:spcPts val="0"/>
              </a:spcBef>
              <a:spcAft>
                <a:spcPts val="0"/>
              </a:spcAft>
              <a:buSzPts val="1800"/>
              <a:buNone/>
            </a:pPr>
            <a:r>
              <a:rPr lang="en-US" sz="2000">
                <a:latin typeface="Times New Roman"/>
                <a:ea typeface="Times New Roman"/>
                <a:cs typeface="Times New Roman"/>
                <a:sym typeface="Times New Roman"/>
              </a:rPr>
              <a:t>plasmid or a recombinant version of the plasmid.</a:t>
            </a:r>
            <a:endParaRPr sz="2000">
              <a:latin typeface="Times New Roman"/>
              <a:ea typeface="Times New Roman"/>
              <a:cs typeface="Times New Roman"/>
              <a:sym typeface="Times New Roman"/>
            </a:endParaRPr>
          </a:p>
          <a:p>
            <a:pPr indent="-355600" lvl="0" marL="914400" rtl="0" algn="just">
              <a:lnSpc>
                <a:spcPct val="115000"/>
              </a:lnSpc>
              <a:spcBef>
                <a:spcPts val="0"/>
              </a:spcBef>
              <a:spcAft>
                <a:spcPts val="0"/>
              </a:spcAft>
              <a:buSzPts val="2000"/>
              <a:buFont typeface="Times New Roman"/>
              <a:buAutoNum type="arabicParenR"/>
            </a:pPr>
            <a:r>
              <a:rPr lang="en-US" sz="2000">
                <a:latin typeface="Times New Roman"/>
                <a:ea typeface="Times New Roman"/>
                <a:cs typeface="Times New Roman"/>
                <a:sym typeface="Times New Roman"/>
              </a:rPr>
              <a:t>RE sites to be cut and insert foreign DNA.</a:t>
            </a:r>
            <a:endParaRPr sz="2000">
              <a:latin typeface="Times New Roman"/>
              <a:ea typeface="Times New Roman"/>
              <a:cs typeface="Times New Roman"/>
              <a:sym typeface="Times New Roman"/>
            </a:endParaRPr>
          </a:p>
          <a:p>
            <a:pPr indent="-355600" lvl="0" marL="914400" rtl="0" algn="just">
              <a:lnSpc>
                <a:spcPct val="115000"/>
              </a:lnSpc>
              <a:spcBef>
                <a:spcPts val="0"/>
              </a:spcBef>
              <a:spcAft>
                <a:spcPts val="0"/>
              </a:spcAft>
              <a:buSzPts val="2000"/>
              <a:buFont typeface="Times New Roman"/>
              <a:buAutoNum type="arabicParenR"/>
            </a:pPr>
            <a:r>
              <a:rPr lang="en-US" sz="2000">
                <a:latin typeface="Times New Roman"/>
                <a:ea typeface="Times New Roman"/>
                <a:cs typeface="Times New Roman"/>
                <a:sym typeface="Times New Roman"/>
              </a:rPr>
              <a:t>Small size of the plasmid (4361 bp) facilitates its entry into cells and </a:t>
            </a:r>
            <a:endParaRPr sz="2000">
              <a:latin typeface="Times New Roman"/>
              <a:ea typeface="Times New Roman"/>
              <a:cs typeface="Times New Roman"/>
              <a:sym typeface="Times New Roman"/>
            </a:endParaRPr>
          </a:p>
          <a:p>
            <a:pPr indent="457200" lvl="0" marL="457200" rtl="0" algn="just">
              <a:lnSpc>
                <a:spcPct val="115000"/>
              </a:lnSpc>
              <a:spcBef>
                <a:spcPts val="0"/>
              </a:spcBef>
              <a:spcAft>
                <a:spcPts val="0"/>
              </a:spcAft>
              <a:buSzPts val="1800"/>
              <a:buNone/>
            </a:pPr>
            <a:r>
              <a:rPr lang="en-US" sz="2000">
                <a:latin typeface="Times New Roman"/>
                <a:ea typeface="Times New Roman"/>
                <a:cs typeface="Times New Roman"/>
                <a:sym typeface="Times New Roman"/>
              </a:rPr>
              <a:t>the biochemical manipulation of the DNA.</a:t>
            </a:r>
            <a:endParaRPr sz="2000">
              <a:latin typeface="Times New Roman"/>
              <a:ea typeface="Times New Roman"/>
              <a:cs typeface="Times New Roman"/>
              <a:sym typeface="Times New Roman"/>
            </a:endParaRPr>
          </a:p>
        </p:txBody>
      </p:sp>
      <p:sp>
        <p:nvSpPr>
          <p:cNvPr id="301" name="Google Shape;301;g11ed67cc255_0_19"/>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Cloning vectors (plasmids) allow amplification of inserted DNA segments</a:t>
            </a:r>
            <a:endParaRPr b="1" i="0" sz="2000" u="none" cap="none" strike="noStrike">
              <a:solidFill>
                <a:schemeClr val="lt1"/>
              </a:solidFill>
              <a:latin typeface="Times New Roman"/>
              <a:ea typeface="Times New Roman"/>
              <a:cs typeface="Times New Roman"/>
              <a:sym typeface="Times New Roman"/>
            </a:endParaRPr>
          </a:p>
        </p:txBody>
      </p:sp>
      <p:pic>
        <p:nvPicPr>
          <p:cNvPr id="302" name="Google Shape;302;g11ed67cc255_0_19"/>
          <p:cNvPicPr preferRelativeResize="0"/>
          <p:nvPr/>
        </p:nvPicPr>
        <p:blipFill rotWithShape="1">
          <a:blip r:embed="rId4">
            <a:alphaModFix/>
          </a:blip>
          <a:srcRect b="0" l="0" r="0" t="0"/>
          <a:stretch/>
        </p:blipFill>
        <p:spPr>
          <a:xfrm>
            <a:off x="12191988" y="5829300"/>
            <a:ext cx="3876675" cy="1028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g11a83a58a23_0_28"/>
          <p:cNvPicPr preferRelativeResize="0"/>
          <p:nvPr/>
        </p:nvPicPr>
        <p:blipFill rotWithShape="1">
          <a:blip r:embed="rId3">
            <a:alphaModFix/>
          </a:blip>
          <a:srcRect b="0" l="0" r="0" t="0"/>
          <a:stretch/>
        </p:blipFill>
        <p:spPr>
          <a:xfrm>
            <a:off x="0" y="956957"/>
            <a:ext cx="12192000" cy="494408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11ed67cc255_0_10"/>
          <p:cNvSpPr txBox="1"/>
          <p:nvPr>
            <p:ph idx="1" type="body"/>
          </p:nvPr>
        </p:nvSpPr>
        <p:spPr>
          <a:xfrm>
            <a:off x="495475" y="453350"/>
            <a:ext cx="11407800" cy="6264600"/>
          </a:xfrm>
          <a:prstGeom prst="rect">
            <a:avLst/>
          </a:prstGeom>
          <a:noFill/>
          <a:ln>
            <a:noFill/>
          </a:ln>
        </p:spPr>
        <p:txBody>
          <a:bodyPr anchorCtr="0" anchor="t" bIns="45700" lIns="91425" spcFirstLastPara="1" rIns="91425" wrap="square" tIns="45700">
            <a:normAutofit/>
          </a:bodyPr>
          <a:lstStyle/>
          <a:p>
            <a:pPr indent="-355600" lvl="0" marL="457200" rtl="0" algn="l">
              <a:lnSpc>
                <a:spcPct val="90000"/>
              </a:lnSpc>
              <a:spcBef>
                <a:spcPts val="1000"/>
              </a:spcBef>
              <a:spcAft>
                <a:spcPts val="0"/>
              </a:spcAft>
              <a:buSzPts val="2000"/>
              <a:buFont typeface="Times New Roman"/>
              <a:buChar char="•"/>
            </a:pPr>
            <a:r>
              <a:rPr lang="en-US" sz="2000">
                <a:latin typeface="Times New Roman"/>
                <a:ea typeface="Times New Roman"/>
                <a:cs typeface="Times New Roman"/>
                <a:sym typeface="Times New Roman"/>
              </a:rPr>
              <a:t>DNA ligase is used to join two DNA molecules. It forms phosphodiester bonds between the DNA molecules.</a:t>
            </a:r>
            <a:endParaRPr sz="2000">
              <a:latin typeface="Times New Roman"/>
              <a:ea typeface="Times New Roman"/>
              <a:cs typeface="Times New Roman"/>
              <a:sym typeface="Times New Roman"/>
            </a:endParaRPr>
          </a:p>
          <a:p>
            <a:pPr indent="0" lvl="0" marL="45720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355600" lvl="0" marL="457200" rtl="0" algn="l">
              <a:lnSpc>
                <a:spcPct val="90000"/>
              </a:lnSpc>
              <a:spcBef>
                <a:spcPts val="1000"/>
              </a:spcBef>
              <a:spcAft>
                <a:spcPts val="0"/>
              </a:spcAft>
              <a:buSzPts val="2000"/>
              <a:buFont typeface="Times New Roman"/>
              <a:buChar char="•"/>
            </a:pPr>
            <a:r>
              <a:rPr lang="en-US" sz="2000">
                <a:latin typeface="Times New Roman"/>
                <a:ea typeface="Times New Roman"/>
                <a:cs typeface="Times New Roman"/>
                <a:sym typeface="Times New Roman"/>
              </a:rPr>
              <a:t>A vector (plasmid) digested by </a:t>
            </a:r>
            <a:r>
              <a:rPr i="1" lang="en-US" sz="2000">
                <a:latin typeface="Times New Roman"/>
                <a:ea typeface="Times New Roman"/>
                <a:cs typeface="Times New Roman"/>
                <a:sym typeface="Times New Roman"/>
              </a:rPr>
              <a:t>Eco</a:t>
            </a:r>
            <a:r>
              <a:rPr lang="en-US" sz="2000">
                <a:latin typeface="Times New Roman"/>
                <a:ea typeface="Times New Roman"/>
                <a:cs typeface="Times New Roman"/>
                <a:sym typeface="Times New Roman"/>
              </a:rPr>
              <a:t>RI can be ligated to an insert digested by the same RE. It can not be ligated to an insert digested by </a:t>
            </a:r>
            <a:r>
              <a:rPr i="1" lang="en-US" sz="2000">
                <a:latin typeface="Times New Roman"/>
                <a:ea typeface="Times New Roman"/>
                <a:cs typeface="Times New Roman"/>
                <a:sym typeface="Times New Roman"/>
              </a:rPr>
              <a:t>Bam</a:t>
            </a:r>
            <a:r>
              <a:rPr lang="en-US" sz="2000">
                <a:latin typeface="Times New Roman"/>
                <a:ea typeface="Times New Roman"/>
                <a:cs typeface="Times New Roman"/>
                <a:sym typeface="Times New Roman"/>
              </a:rPr>
              <a:t>HI.</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a:p>
            <a:pPr indent="-355600" lvl="0" marL="457200" rtl="0" algn="l">
              <a:lnSpc>
                <a:spcPct val="90000"/>
              </a:lnSpc>
              <a:spcBef>
                <a:spcPts val="1000"/>
              </a:spcBef>
              <a:spcAft>
                <a:spcPts val="0"/>
              </a:spcAft>
              <a:buSzPts val="2000"/>
              <a:buFont typeface="Times New Roman"/>
              <a:buChar char="•"/>
            </a:pPr>
            <a:r>
              <a:rPr lang="en-US" sz="2000">
                <a:latin typeface="Times New Roman"/>
                <a:ea typeface="Times New Roman"/>
                <a:cs typeface="Times New Roman"/>
                <a:sym typeface="Times New Roman"/>
              </a:rPr>
              <a:t>Blunt ends can also be ligated, albeit less efficiently.</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t/>
            </a:r>
            <a:endParaRPr sz="2000">
              <a:latin typeface="Times New Roman"/>
              <a:ea typeface="Times New Roman"/>
              <a:cs typeface="Times New Roman"/>
              <a:sym typeface="Times New Roman"/>
            </a:endParaRPr>
          </a:p>
        </p:txBody>
      </p:sp>
      <p:sp>
        <p:nvSpPr>
          <p:cNvPr id="315" name="Google Shape;315;g11ed67cc255_0_1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DNA ligase joins the DNA molecule</a:t>
            </a:r>
            <a:endParaRPr b="1" i="0" sz="2000" u="none" cap="none" strike="noStrike">
              <a:solidFill>
                <a:schemeClr val="lt1"/>
              </a:solidFill>
              <a:latin typeface="Times New Roman"/>
              <a:ea typeface="Times New Roman"/>
              <a:cs typeface="Times New Roman"/>
              <a:sym typeface="Times New Roman"/>
            </a:endParaRPr>
          </a:p>
        </p:txBody>
      </p:sp>
      <p:pic>
        <p:nvPicPr>
          <p:cNvPr id="316" name="Google Shape;316;g11ed67cc255_0_10"/>
          <p:cNvPicPr preferRelativeResize="0"/>
          <p:nvPr/>
        </p:nvPicPr>
        <p:blipFill rotWithShape="1">
          <a:blip r:embed="rId3">
            <a:alphaModFix/>
          </a:blip>
          <a:srcRect b="0" l="0" r="0" t="0"/>
          <a:stretch/>
        </p:blipFill>
        <p:spPr>
          <a:xfrm>
            <a:off x="8169451" y="1992000"/>
            <a:ext cx="2799074" cy="48000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g11ed67cc255_0_0"/>
          <p:cNvPicPr preferRelativeResize="0"/>
          <p:nvPr/>
        </p:nvPicPr>
        <p:blipFill rotWithShape="1">
          <a:blip r:embed="rId3">
            <a:alphaModFix/>
          </a:blip>
          <a:srcRect b="0" l="0" r="0" t="0"/>
          <a:stretch/>
        </p:blipFill>
        <p:spPr>
          <a:xfrm>
            <a:off x="1124629" y="0"/>
            <a:ext cx="3999142" cy="6857999"/>
          </a:xfrm>
          <a:prstGeom prst="rect">
            <a:avLst/>
          </a:prstGeom>
          <a:noFill/>
          <a:ln>
            <a:noFill/>
          </a:ln>
        </p:spPr>
      </p:pic>
      <p:pic>
        <p:nvPicPr>
          <p:cNvPr id="323" name="Google Shape;323;g11ed67cc255_0_0"/>
          <p:cNvPicPr preferRelativeResize="0"/>
          <p:nvPr/>
        </p:nvPicPr>
        <p:blipFill rotWithShape="1">
          <a:blip r:embed="rId4">
            <a:alphaModFix/>
          </a:blip>
          <a:srcRect b="0" l="0" r="0" t="0"/>
          <a:stretch/>
        </p:blipFill>
        <p:spPr>
          <a:xfrm>
            <a:off x="-4695837" y="4816400"/>
            <a:ext cx="4695825" cy="2095500"/>
          </a:xfrm>
          <a:prstGeom prst="rect">
            <a:avLst/>
          </a:prstGeom>
          <a:noFill/>
          <a:ln>
            <a:noFill/>
          </a:ln>
        </p:spPr>
      </p:pic>
      <p:pic>
        <p:nvPicPr>
          <p:cNvPr id="324" name="Google Shape;324;g11ed67cc255_0_0"/>
          <p:cNvPicPr preferRelativeResize="0"/>
          <p:nvPr/>
        </p:nvPicPr>
        <p:blipFill rotWithShape="1">
          <a:blip r:embed="rId5">
            <a:alphaModFix/>
          </a:blip>
          <a:srcRect b="0" l="0" r="0" t="0"/>
          <a:stretch/>
        </p:blipFill>
        <p:spPr>
          <a:xfrm>
            <a:off x="5276171" y="152400"/>
            <a:ext cx="6763429" cy="3831953"/>
          </a:xfrm>
          <a:prstGeom prst="rect">
            <a:avLst/>
          </a:prstGeom>
          <a:noFill/>
          <a:ln>
            <a:noFill/>
          </a:ln>
        </p:spPr>
      </p:pic>
      <p:sp>
        <p:nvSpPr>
          <p:cNvPr id="325" name="Google Shape;325;g11ed67cc255_0_0"/>
          <p:cNvSpPr txBox="1"/>
          <p:nvPr/>
        </p:nvSpPr>
        <p:spPr>
          <a:xfrm>
            <a:off x="5384950" y="4263075"/>
            <a:ext cx="6654600" cy="1262100"/>
          </a:xfrm>
          <a:prstGeom prst="rect">
            <a:avLst/>
          </a:prstGeom>
          <a:noFill/>
          <a:ln>
            <a:noFill/>
          </a:ln>
        </p:spPr>
        <p:txBody>
          <a:bodyPr anchorCtr="0" anchor="t" bIns="91425" lIns="91425" spcFirstLastPara="1" rIns="91425" wrap="square" tIns="91425">
            <a:spAutoFit/>
          </a:bodyPr>
          <a:lstStyle/>
          <a:p>
            <a:pPr indent="-9144" lvl="0" marL="9144"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In general, a 6 bp sequence recognized by a RE (such as BamHI) would occur on average once every 4</a:t>
            </a:r>
            <a:r>
              <a:rPr b="0" baseline="30000" i="0" lang="en-US" sz="1400" u="none" cap="none" strike="noStrike">
                <a:solidFill>
                  <a:srgbClr val="000000"/>
                </a:solidFill>
                <a:latin typeface="Calibri"/>
                <a:ea typeface="Calibri"/>
                <a:cs typeface="Calibri"/>
                <a:sym typeface="Calibri"/>
              </a:rPr>
              <a:t>6</a:t>
            </a:r>
            <a:r>
              <a:rPr b="0" i="0" lang="en-US" sz="1400" u="none" cap="none" strike="noStrike">
                <a:solidFill>
                  <a:srgbClr val="000000"/>
                </a:solidFill>
                <a:latin typeface="Calibri"/>
                <a:ea typeface="Calibri"/>
                <a:cs typeface="Calibri"/>
                <a:sym typeface="Calibri"/>
              </a:rPr>
              <a:t> (4096) bp.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An enzyme that recognize a 4 bp sequence would occur on an average once every 4</a:t>
            </a:r>
            <a:r>
              <a:rPr b="0" baseline="30000" i="0" lang="en-US" sz="1400" u="none" cap="none" strike="noStrike">
                <a:solidFill>
                  <a:srgbClr val="000000"/>
                </a:solidFill>
                <a:latin typeface="Calibri"/>
                <a:ea typeface="Calibri"/>
                <a:cs typeface="Calibri"/>
                <a:sym typeface="Calibri"/>
              </a:rPr>
              <a:t>4</a:t>
            </a:r>
            <a:r>
              <a:rPr b="0" i="0" lang="en-US" sz="1400" u="none" cap="none" strike="noStrike">
                <a:solidFill>
                  <a:srgbClr val="000000"/>
                </a:solidFill>
                <a:latin typeface="Calibri"/>
                <a:ea typeface="Calibri"/>
                <a:cs typeface="Calibri"/>
                <a:sym typeface="Calibri"/>
              </a:rPr>
              <a:t> (256) bp.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11ed67cc255_0_28"/>
          <p:cNvSpPr txBox="1"/>
          <p:nvPr>
            <p:ph idx="1" type="body"/>
          </p:nvPr>
        </p:nvSpPr>
        <p:spPr>
          <a:xfrm>
            <a:off x="605375" y="365100"/>
            <a:ext cx="11111400" cy="6330900"/>
          </a:xfrm>
          <a:prstGeom prst="rect">
            <a:avLst/>
          </a:prstGeom>
          <a:noFill/>
          <a:ln>
            <a:noFill/>
          </a:ln>
        </p:spPr>
        <p:txBody>
          <a:bodyPr anchorCtr="0" anchor="t" bIns="45700" lIns="91425" spcFirstLastPara="1" rIns="91425" wrap="square" tIns="45700">
            <a:normAutofit/>
          </a:bodyPr>
          <a:lstStyle/>
          <a:p>
            <a:pPr indent="0" lvl="0" marL="0" rtl="0" algn="l">
              <a:lnSpc>
                <a:spcPct val="105000"/>
              </a:lnSpc>
              <a:spcBef>
                <a:spcPts val="0"/>
              </a:spcBef>
              <a:spcAft>
                <a:spcPts val="0"/>
              </a:spcAft>
              <a:buSzPts val="1018"/>
              <a:buNone/>
            </a:pPr>
            <a:r>
              <a:rPr lang="en-US" sz="2400">
                <a:latin typeface="Times New Roman"/>
                <a:ea typeface="Times New Roman"/>
                <a:cs typeface="Times New Roman"/>
                <a:sym typeface="Times New Roman"/>
              </a:rPr>
              <a:t>There are two ways:</a:t>
            </a:r>
            <a:endParaRPr sz="2400">
              <a:latin typeface="Times New Roman"/>
              <a:ea typeface="Times New Roman"/>
              <a:cs typeface="Times New Roman"/>
              <a:sym typeface="Times New Roman"/>
            </a:endParaRPr>
          </a:p>
          <a:p>
            <a:pPr indent="-381000" lvl="0" marL="457200" rtl="0" algn="l">
              <a:lnSpc>
                <a:spcPct val="105000"/>
              </a:lnSpc>
              <a:spcBef>
                <a:spcPts val="0"/>
              </a:spcBef>
              <a:spcAft>
                <a:spcPts val="0"/>
              </a:spcAft>
              <a:buSzPts val="2400"/>
              <a:buFont typeface="Times New Roman"/>
              <a:buAutoNum type="arabicParenR"/>
            </a:pPr>
            <a:r>
              <a:rPr lang="en-US" sz="2400">
                <a:latin typeface="Times New Roman"/>
                <a:ea typeface="Times New Roman"/>
                <a:cs typeface="Times New Roman"/>
                <a:sym typeface="Times New Roman"/>
              </a:rPr>
              <a:t>Transformation:</a:t>
            </a:r>
            <a:endParaRPr sz="2400">
              <a:latin typeface="Times New Roman"/>
              <a:ea typeface="Times New Roman"/>
              <a:cs typeface="Times New Roman"/>
              <a:sym typeface="Times New Roman"/>
            </a:endParaRPr>
          </a:p>
          <a:p>
            <a:pPr indent="0" lvl="0" marL="457200" rtl="0" algn="l">
              <a:lnSpc>
                <a:spcPct val="105000"/>
              </a:lnSpc>
              <a:spcBef>
                <a:spcPts val="0"/>
              </a:spcBef>
              <a:spcAft>
                <a:spcPts val="0"/>
              </a:spcAft>
              <a:buSzPts val="1018"/>
              <a:buNone/>
            </a:pPr>
            <a:r>
              <a:rPr lang="en-US" sz="2400">
                <a:latin typeface="Times New Roman"/>
                <a:ea typeface="Times New Roman"/>
                <a:cs typeface="Times New Roman"/>
                <a:sym typeface="Times New Roman"/>
              </a:rPr>
              <a:t>The bacterial cells (often </a:t>
            </a:r>
            <a:r>
              <a:rPr i="1" lang="en-US" sz="2400">
                <a:latin typeface="Times New Roman"/>
                <a:ea typeface="Times New Roman"/>
                <a:cs typeface="Times New Roman"/>
                <a:sym typeface="Times New Roman"/>
              </a:rPr>
              <a:t>E. coli</a:t>
            </a:r>
            <a:r>
              <a:rPr lang="en-US" sz="2400">
                <a:latin typeface="Times New Roman"/>
                <a:ea typeface="Times New Roman"/>
                <a:cs typeface="Times New Roman"/>
                <a:sym typeface="Times New Roman"/>
              </a:rPr>
              <a:t>) and plasmid DNA are incubated together at 0 </a:t>
            </a:r>
            <a:r>
              <a:rPr baseline="30000" lang="en-US" sz="2400">
                <a:latin typeface="Times New Roman"/>
                <a:ea typeface="Times New Roman"/>
                <a:cs typeface="Times New Roman"/>
                <a:sym typeface="Times New Roman"/>
              </a:rPr>
              <a:t>o</a:t>
            </a:r>
            <a:r>
              <a:rPr lang="en-US" sz="2400">
                <a:latin typeface="Times New Roman"/>
                <a:ea typeface="Times New Roman"/>
                <a:cs typeface="Times New Roman"/>
                <a:sym typeface="Times New Roman"/>
              </a:rPr>
              <a:t>C in a calcium chloride solution, then subjected to heat shock by rapid shifting the temperature to between 37 </a:t>
            </a:r>
            <a:r>
              <a:rPr baseline="30000" lang="en-US" sz="2400">
                <a:latin typeface="Times New Roman"/>
                <a:ea typeface="Times New Roman"/>
                <a:cs typeface="Times New Roman"/>
                <a:sym typeface="Times New Roman"/>
              </a:rPr>
              <a:t>o</a:t>
            </a:r>
            <a:r>
              <a:rPr lang="en-US" sz="2400">
                <a:latin typeface="Times New Roman"/>
                <a:ea typeface="Times New Roman"/>
                <a:cs typeface="Times New Roman"/>
                <a:sym typeface="Times New Roman"/>
              </a:rPr>
              <a:t>C and 43 </a:t>
            </a:r>
            <a:r>
              <a:rPr baseline="30000" lang="en-US" sz="2400">
                <a:latin typeface="Times New Roman"/>
                <a:ea typeface="Times New Roman"/>
                <a:cs typeface="Times New Roman"/>
                <a:sym typeface="Times New Roman"/>
              </a:rPr>
              <a:t>o</a:t>
            </a:r>
            <a:r>
              <a:rPr lang="en-US" sz="2400">
                <a:latin typeface="Times New Roman"/>
                <a:ea typeface="Times New Roman"/>
                <a:cs typeface="Times New Roman"/>
                <a:sym typeface="Times New Roman"/>
              </a:rPr>
              <a:t>C.</a:t>
            </a:r>
            <a:endParaRPr sz="2400">
              <a:latin typeface="Times New Roman"/>
              <a:ea typeface="Times New Roman"/>
              <a:cs typeface="Times New Roman"/>
              <a:sym typeface="Times New Roman"/>
            </a:endParaRPr>
          </a:p>
          <a:p>
            <a:pPr indent="0" lvl="0" marL="0" rtl="0" algn="l">
              <a:lnSpc>
                <a:spcPct val="105000"/>
              </a:lnSpc>
              <a:spcBef>
                <a:spcPts val="0"/>
              </a:spcBef>
              <a:spcAft>
                <a:spcPts val="0"/>
              </a:spcAft>
              <a:buSzPts val="1018"/>
              <a:buNone/>
            </a:pPr>
            <a:r>
              <a:t/>
            </a:r>
            <a:endParaRPr sz="2400">
              <a:latin typeface="Times New Roman"/>
              <a:ea typeface="Times New Roman"/>
              <a:cs typeface="Times New Roman"/>
              <a:sym typeface="Times New Roman"/>
            </a:endParaRPr>
          </a:p>
          <a:p>
            <a:pPr indent="-381000" lvl="0" marL="457200" rtl="0" algn="l">
              <a:lnSpc>
                <a:spcPct val="105000"/>
              </a:lnSpc>
              <a:spcBef>
                <a:spcPts val="0"/>
              </a:spcBef>
              <a:spcAft>
                <a:spcPts val="0"/>
              </a:spcAft>
              <a:buSzPts val="2400"/>
              <a:buFont typeface="Times New Roman"/>
              <a:buAutoNum type="arabicParenR"/>
            </a:pPr>
            <a:r>
              <a:rPr lang="en-US" sz="2400">
                <a:latin typeface="Times New Roman"/>
                <a:ea typeface="Times New Roman"/>
                <a:cs typeface="Times New Roman"/>
                <a:sym typeface="Times New Roman"/>
              </a:rPr>
              <a:t>Electroporation:</a:t>
            </a:r>
            <a:endParaRPr sz="2400">
              <a:latin typeface="Times New Roman"/>
              <a:ea typeface="Times New Roman"/>
              <a:cs typeface="Times New Roman"/>
              <a:sym typeface="Times New Roman"/>
            </a:endParaRPr>
          </a:p>
          <a:p>
            <a:pPr indent="0" lvl="0" marL="457200" rtl="0" algn="l">
              <a:lnSpc>
                <a:spcPct val="105000"/>
              </a:lnSpc>
              <a:spcBef>
                <a:spcPts val="0"/>
              </a:spcBef>
              <a:spcAft>
                <a:spcPts val="0"/>
              </a:spcAft>
              <a:buSzPts val="1018"/>
              <a:buNone/>
            </a:pPr>
            <a:r>
              <a:rPr lang="en-US" sz="2400">
                <a:latin typeface="Times New Roman"/>
                <a:ea typeface="Times New Roman"/>
                <a:cs typeface="Times New Roman"/>
                <a:sym typeface="Times New Roman"/>
              </a:rPr>
              <a:t>The bacterial cells (often </a:t>
            </a:r>
            <a:r>
              <a:rPr i="1" lang="en-US" sz="2400">
                <a:latin typeface="Times New Roman"/>
                <a:ea typeface="Times New Roman"/>
                <a:cs typeface="Times New Roman"/>
                <a:sym typeface="Times New Roman"/>
              </a:rPr>
              <a:t>E. coli</a:t>
            </a:r>
            <a:r>
              <a:rPr lang="en-US" sz="2400">
                <a:latin typeface="Times New Roman"/>
                <a:ea typeface="Times New Roman"/>
                <a:cs typeface="Times New Roman"/>
                <a:sym typeface="Times New Roman"/>
              </a:rPr>
              <a:t>) are incubated with plasmid DNA are subjected to high-voltage electric pulse. This approach transiently renders the bacterial membrane permeable to large molecules.</a:t>
            </a:r>
            <a:endParaRPr sz="2400">
              <a:latin typeface="Times New Roman"/>
              <a:ea typeface="Times New Roman"/>
              <a:cs typeface="Times New Roman"/>
              <a:sym typeface="Times New Roman"/>
            </a:endParaRPr>
          </a:p>
          <a:p>
            <a:pPr indent="0" lvl="0" marL="457200" rtl="0" algn="l">
              <a:lnSpc>
                <a:spcPct val="105000"/>
              </a:lnSpc>
              <a:spcBef>
                <a:spcPts val="0"/>
              </a:spcBef>
              <a:spcAft>
                <a:spcPts val="0"/>
              </a:spcAft>
              <a:buSzPts val="1018"/>
              <a:buNone/>
            </a:pPr>
            <a:r>
              <a:t/>
            </a:r>
            <a:endParaRPr sz="2400">
              <a:latin typeface="Times New Roman"/>
              <a:ea typeface="Times New Roman"/>
              <a:cs typeface="Times New Roman"/>
              <a:sym typeface="Times New Roman"/>
            </a:endParaRPr>
          </a:p>
          <a:p>
            <a:pPr indent="0" lvl="0" marL="0" rtl="0" algn="l">
              <a:lnSpc>
                <a:spcPct val="105000"/>
              </a:lnSpc>
              <a:spcBef>
                <a:spcPts val="0"/>
              </a:spcBef>
              <a:spcAft>
                <a:spcPts val="0"/>
              </a:spcAft>
              <a:buSzPts val="1018"/>
              <a:buNone/>
            </a:pPr>
            <a:r>
              <a:rPr lang="en-US" sz="2400">
                <a:latin typeface="Times New Roman"/>
                <a:ea typeface="Times New Roman"/>
                <a:cs typeface="Times New Roman"/>
                <a:sym typeface="Times New Roman"/>
              </a:rPr>
              <a:t>Regardless of the approach, relatively few cells take up the plasmid DNA, so a method is needed to identify those cells which contain the plasmid.</a:t>
            </a:r>
            <a:endParaRPr sz="2400">
              <a:latin typeface="Times New Roman"/>
              <a:ea typeface="Times New Roman"/>
              <a:cs typeface="Times New Roman"/>
              <a:sym typeface="Times New Roman"/>
            </a:endParaRPr>
          </a:p>
          <a:p>
            <a:pPr indent="0" lvl="0" marL="0" rtl="0" algn="l">
              <a:lnSpc>
                <a:spcPct val="105000"/>
              </a:lnSpc>
              <a:spcBef>
                <a:spcPts val="0"/>
              </a:spcBef>
              <a:spcAft>
                <a:spcPts val="0"/>
              </a:spcAft>
              <a:buSzPts val="1018"/>
              <a:buNone/>
            </a:pPr>
            <a:r>
              <a:t/>
            </a:r>
            <a:endParaRPr sz="2400">
              <a:latin typeface="Times New Roman"/>
              <a:ea typeface="Times New Roman"/>
              <a:cs typeface="Times New Roman"/>
              <a:sym typeface="Times New Roman"/>
            </a:endParaRPr>
          </a:p>
          <a:p>
            <a:pPr indent="0" lvl="0" marL="0" rtl="0" algn="l">
              <a:lnSpc>
                <a:spcPct val="105000"/>
              </a:lnSpc>
              <a:spcBef>
                <a:spcPts val="0"/>
              </a:spcBef>
              <a:spcAft>
                <a:spcPts val="0"/>
              </a:spcAft>
              <a:buSzPts val="1018"/>
              <a:buNone/>
            </a:pPr>
            <a:r>
              <a:rPr lang="en-US" sz="2400">
                <a:latin typeface="Times New Roman"/>
                <a:ea typeface="Times New Roman"/>
                <a:cs typeface="Times New Roman"/>
                <a:sym typeface="Times New Roman"/>
              </a:rPr>
              <a:t>Plasmids usually contains one or two selectable markers (such as Tet</a:t>
            </a:r>
            <a:r>
              <a:rPr baseline="30000" lang="en-US" sz="2400">
                <a:latin typeface="Times New Roman"/>
                <a:ea typeface="Times New Roman"/>
                <a:cs typeface="Times New Roman"/>
                <a:sym typeface="Times New Roman"/>
              </a:rPr>
              <a:t>R</a:t>
            </a:r>
            <a:r>
              <a:rPr lang="en-US" sz="2400">
                <a:latin typeface="Times New Roman"/>
                <a:ea typeface="Times New Roman"/>
                <a:cs typeface="Times New Roman"/>
                <a:sym typeface="Times New Roman"/>
              </a:rPr>
              <a:t>, Amp</a:t>
            </a:r>
            <a:r>
              <a:rPr baseline="30000" lang="en-US" sz="2400">
                <a:latin typeface="Times New Roman"/>
                <a:ea typeface="Times New Roman"/>
                <a:cs typeface="Times New Roman"/>
                <a:sym typeface="Times New Roman"/>
              </a:rPr>
              <a:t>R</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p:txBody>
      </p:sp>
      <p:sp>
        <p:nvSpPr>
          <p:cNvPr id="332" name="Google Shape;332;g11ed67cc255_0_28"/>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How to introduce plasmids into bacterial cells?</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11ed67cc255_0_35"/>
          <p:cNvSpPr txBox="1"/>
          <p:nvPr>
            <p:ph idx="1" type="body"/>
          </p:nvPr>
        </p:nvSpPr>
        <p:spPr>
          <a:xfrm>
            <a:off x="0" y="365100"/>
            <a:ext cx="3138600" cy="1046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2500">
                <a:latin typeface="Times New Roman"/>
                <a:ea typeface="Times New Roman"/>
                <a:cs typeface="Times New Roman"/>
                <a:sym typeface="Times New Roman"/>
              </a:rPr>
              <a:t>A cloning strategy</a:t>
            </a:r>
            <a:endParaRPr sz="2500">
              <a:latin typeface="Times New Roman"/>
              <a:ea typeface="Times New Roman"/>
              <a:cs typeface="Times New Roman"/>
              <a:sym typeface="Times New Roman"/>
            </a:endParaRPr>
          </a:p>
          <a:p>
            <a:pPr indent="0" lvl="0" marL="0" rtl="0" algn="l">
              <a:lnSpc>
                <a:spcPct val="90000"/>
              </a:lnSpc>
              <a:spcBef>
                <a:spcPts val="1000"/>
              </a:spcBef>
              <a:spcAft>
                <a:spcPts val="0"/>
              </a:spcAft>
              <a:buSzPts val="1800"/>
              <a:buNone/>
            </a:pPr>
            <a:r>
              <a:rPr lang="en-US" sz="2500">
                <a:latin typeface="Times New Roman"/>
                <a:ea typeface="Times New Roman"/>
                <a:cs typeface="Times New Roman"/>
                <a:sym typeface="Times New Roman"/>
              </a:rPr>
              <a:t>with pBR322</a:t>
            </a:r>
            <a:endParaRPr sz="2500">
              <a:latin typeface="Times New Roman"/>
              <a:ea typeface="Times New Roman"/>
              <a:cs typeface="Times New Roman"/>
              <a:sym typeface="Times New Roman"/>
            </a:endParaRPr>
          </a:p>
        </p:txBody>
      </p:sp>
      <p:pic>
        <p:nvPicPr>
          <p:cNvPr id="339" name="Google Shape;339;g11ed67cc255_0_35"/>
          <p:cNvPicPr preferRelativeResize="0"/>
          <p:nvPr/>
        </p:nvPicPr>
        <p:blipFill rotWithShape="1">
          <a:blip r:embed="rId3">
            <a:alphaModFix/>
          </a:blip>
          <a:srcRect b="0" l="0" r="0" t="0"/>
          <a:stretch/>
        </p:blipFill>
        <p:spPr>
          <a:xfrm>
            <a:off x="-2876550" y="6581775"/>
            <a:ext cx="2876550" cy="276225"/>
          </a:xfrm>
          <a:prstGeom prst="rect">
            <a:avLst/>
          </a:prstGeom>
          <a:noFill/>
          <a:ln>
            <a:noFill/>
          </a:ln>
        </p:spPr>
      </p:pic>
      <p:sp>
        <p:nvSpPr>
          <p:cNvPr id="340" name="Google Shape;340;g11ed67cc255_0_35"/>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Use of pBR322 to clone foreign DNA in </a:t>
            </a:r>
            <a:r>
              <a:rPr b="1" i="1" lang="en-US" sz="2000" u="none" cap="none" strike="noStrike">
                <a:solidFill>
                  <a:schemeClr val="lt1"/>
                </a:solidFill>
                <a:latin typeface="Times New Roman"/>
                <a:ea typeface="Times New Roman"/>
                <a:cs typeface="Times New Roman"/>
                <a:sym typeface="Times New Roman"/>
              </a:rPr>
              <a:t>E. coli</a:t>
            </a:r>
            <a:r>
              <a:rPr b="1" i="0" lang="en-US" sz="2000" u="none" cap="none" strike="noStrike">
                <a:solidFill>
                  <a:schemeClr val="lt1"/>
                </a:solidFill>
                <a:latin typeface="Times New Roman"/>
                <a:ea typeface="Times New Roman"/>
                <a:cs typeface="Times New Roman"/>
                <a:sym typeface="Times New Roman"/>
              </a:rPr>
              <a:t> and identify cells containing it.</a:t>
            </a:r>
            <a:endParaRPr b="1" i="0" sz="2000" u="none" cap="none" strike="noStrike">
              <a:solidFill>
                <a:schemeClr val="lt1"/>
              </a:solidFill>
              <a:latin typeface="Times New Roman"/>
              <a:ea typeface="Times New Roman"/>
              <a:cs typeface="Times New Roman"/>
              <a:sym typeface="Times New Roman"/>
            </a:endParaRPr>
          </a:p>
        </p:txBody>
      </p:sp>
      <p:pic>
        <p:nvPicPr>
          <p:cNvPr id="341" name="Google Shape;341;g11ed67cc255_0_35"/>
          <p:cNvPicPr preferRelativeResize="0"/>
          <p:nvPr/>
        </p:nvPicPr>
        <p:blipFill rotWithShape="1">
          <a:blip r:embed="rId4">
            <a:alphaModFix/>
          </a:blip>
          <a:srcRect b="0" l="0" r="0" t="0"/>
          <a:stretch/>
        </p:blipFill>
        <p:spPr>
          <a:xfrm>
            <a:off x="2638275" y="616100"/>
            <a:ext cx="4309924" cy="6188102"/>
          </a:xfrm>
          <a:prstGeom prst="rect">
            <a:avLst/>
          </a:prstGeom>
          <a:noFill/>
          <a:ln>
            <a:noFill/>
          </a:ln>
        </p:spPr>
      </p:pic>
      <p:pic>
        <p:nvPicPr>
          <p:cNvPr id="342" name="Google Shape;342;g11ed67cc255_0_35"/>
          <p:cNvPicPr preferRelativeResize="0"/>
          <p:nvPr/>
        </p:nvPicPr>
        <p:blipFill rotWithShape="1">
          <a:blip r:embed="rId5">
            <a:alphaModFix/>
          </a:blip>
          <a:srcRect b="0" l="0" r="0" t="0"/>
          <a:stretch/>
        </p:blipFill>
        <p:spPr>
          <a:xfrm>
            <a:off x="6948199" y="572275"/>
            <a:ext cx="5002493" cy="6188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121f69ce7a4_0_0"/>
          <p:cNvSpPr txBox="1"/>
          <p:nvPr>
            <p:ph idx="1" type="body"/>
          </p:nvPr>
        </p:nvSpPr>
        <p:spPr>
          <a:xfrm>
            <a:off x="285750" y="517625"/>
            <a:ext cx="11678400" cy="6255600"/>
          </a:xfrm>
          <a:prstGeom prst="rect">
            <a:avLst/>
          </a:prstGeom>
        </p:spPr>
        <p:txBody>
          <a:bodyPr anchorCtr="0" anchor="t" bIns="45700" lIns="91425" spcFirstLastPara="1" rIns="91425" wrap="square" tIns="45700">
            <a:normAutofit/>
          </a:bodyPr>
          <a:lstStyle/>
          <a:p>
            <a:pPr indent="-355600" lvl="0" marL="457200" rtl="0" algn="l">
              <a:spcBef>
                <a:spcPts val="1000"/>
              </a:spcBef>
              <a:spcAft>
                <a:spcPts val="0"/>
              </a:spcAft>
              <a:buSzPts val="2000"/>
              <a:buFont typeface="Times New Roman"/>
              <a:buChar char="•"/>
            </a:pPr>
            <a:r>
              <a:rPr lang="en-US" sz="2000">
                <a:latin typeface="Times New Roman"/>
                <a:ea typeface="Times New Roman"/>
                <a:cs typeface="Times New Roman"/>
                <a:sym typeface="Times New Roman"/>
              </a:rPr>
              <a:t>Frequently, the product of the cloned gene, rather than the gene itself, is of primary interest-particularly </a:t>
            </a:r>
            <a:r>
              <a:rPr lang="en-US" sz="2000">
                <a:latin typeface="Times New Roman"/>
                <a:ea typeface="Times New Roman"/>
                <a:cs typeface="Times New Roman"/>
                <a:sym typeface="Times New Roman"/>
              </a:rPr>
              <a:t>when</a:t>
            </a:r>
            <a:r>
              <a:rPr lang="en-US" sz="2000">
                <a:latin typeface="Times New Roman"/>
                <a:ea typeface="Times New Roman"/>
                <a:cs typeface="Times New Roman"/>
                <a:sym typeface="Times New Roman"/>
              </a:rPr>
              <a:t> the protein has commercial, therapeutic or research value.</a:t>
            </a:r>
            <a:endParaRPr sz="2000">
              <a:latin typeface="Times New Roman"/>
              <a:ea typeface="Times New Roman"/>
              <a:cs typeface="Times New Roman"/>
              <a:sym typeface="Times New Roman"/>
            </a:endParaRPr>
          </a:p>
          <a:p>
            <a:pPr indent="0" lvl="0" marL="457200" rtl="0" algn="l">
              <a:spcBef>
                <a:spcPts val="1000"/>
              </a:spcBef>
              <a:spcAft>
                <a:spcPts val="0"/>
              </a:spcAft>
              <a:buNone/>
            </a:pPr>
            <a:r>
              <a:t/>
            </a:r>
            <a:endParaRPr sz="2000">
              <a:latin typeface="Times New Roman"/>
              <a:ea typeface="Times New Roman"/>
              <a:cs typeface="Times New Roman"/>
              <a:sym typeface="Times New Roman"/>
            </a:endParaRPr>
          </a:p>
          <a:p>
            <a:pPr indent="-355600" lvl="0" marL="457200" rtl="0" algn="l">
              <a:spcBef>
                <a:spcPts val="1000"/>
              </a:spcBef>
              <a:spcAft>
                <a:spcPts val="0"/>
              </a:spcAft>
              <a:buSzPts val="2000"/>
              <a:buFont typeface="Times New Roman"/>
              <a:buChar char="•"/>
            </a:pPr>
            <a:r>
              <a:rPr lang="en-US" sz="2000">
                <a:latin typeface="Times New Roman"/>
                <a:ea typeface="Times New Roman"/>
                <a:cs typeface="Times New Roman"/>
                <a:sym typeface="Times New Roman"/>
              </a:rPr>
              <a:t>Cloning vectors with the transcription and translation signals needed for the regulated expression of a cloned gene are called </a:t>
            </a:r>
            <a:r>
              <a:rPr b="1" lang="en-US" sz="2000">
                <a:latin typeface="Times New Roman"/>
                <a:ea typeface="Times New Roman"/>
                <a:cs typeface="Times New Roman"/>
                <a:sym typeface="Times New Roman"/>
              </a:rPr>
              <a:t>expression vectors</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0" lvl="0" marL="0" rtl="0" algn="l">
              <a:spcBef>
                <a:spcPts val="1000"/>
              </a:spcBef>
              <a:spcAft>
                <a:spcPts val="0"/>
              </a:spcAft>
              <a:buNone/>
            </a:pPr>
            <a:r>
              <a:t/>
            </a:r>
            <a:endParaRPr sz="2000">
              <a:latin typeface="Times New Roman"/>
              <a:ea typeface="Times New Roman"/>
              <a:cs typeface="Times New Roman"/>
              <a:sym typeface="Times New Roman"/>
            </a:endParaRPr>
          </a:p>
          <a:p>
            <a:pPr indent="-355600" lvl="0" marL="457200" rtl="0" algn="l">
              <a:spcBef>
                <a:spcPts val="1000"/>
              </a:spcBef>
              <a:spcAft>
                <a:spcPts val="0"/>
              </a:spcAft>
              <a:buSzPts val="2000"/>
              <a:buFont typeface="Times New Roman"/>
              <a:buChar char="•"/>
            </a:pPr>
            <a:r>
              <a:rPr lang="en-US" sz="2000">
                <a:latin typeface="Times New Roman"/>
                <a:ea typeface="Times New Roman"/>
                <a:cs typeface="Times New Roman"/>
                <a:sym typeface="Times New Roman"/>
              </a:rPr>
              <a:t>Site-directed mutagenesis can be used to produce a mutant version of the protein.</a:t>
            </a:r>
            <a:endParaRPr sz="2000">
              <a:latin typeface="Times New Roman"/>
              <a:ea typeface="Times New Roman"/>
              <a:cs typeface="Times New Roman"/>
              <a:sym typeface="Times New Roman"/>
            </a:endParaRPr>
          </a:p>
        </p:txBody>
      </p:sp>
      <p:sp>
        <p:nvSpPr>
          <p:cNvPr id="349" name="Google Shape;349;g121f69ce7a4_0_0"/>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lang="en-US" sz="2000">
                <a:solidFill>
                  <a:schemeClr val="lt1"/>
                </a:solidFill>
                <a:latin typeface="Times New Roman"/>
                <a:ea typeface="Times New Roman"/>
                <a:cs typeface="Times New Roman"/>
                <a:sym typeface="Times New Roman"/>
              </a:rPr>
              <a:t>Cloned genes can be expressed to amplify protein production</a:t>
            </a:r>
            <a:endParaRPr b="1" i="0" sz="2000" u="none" cap="none" strike="noStrike">
              <a:solidFill>
                <a:schemeClr val="lt1"/>
              </a:solidFill>
              <a:latin typeface="Times New Roman"/>
              <a:ea typeface="Times New Roman"/>
              <a:cs typeface="Times New Roman"/>
              <a:sym typeface="Times New Roman"/>
            </a:endParaRPr>
          </a:p>
        </p:txBody>
      </p:sp>
      <p:pic>
        <p:nvPicPr>
          <p:cNvPr id="350" name="Google Shape;350;g121f69ce7a4_0_0"/>
          <p:cNvPicPr preferRelativeResize="0"/>
          <p:nvPr/>
        </p:nvPicPr>
        <p:blipFill>
          <a:blip r:embed="rId3">
            <a:alphaModFix/>
          </a:blip>
          <a:stretch>
            <a:fillRect/>
          </a:stretch>
        </p:blipFill>
        <p:spPr>
          <a:xfrm>
            <a:off x="722500" y="3157850"/>
            <a:ext cx="4628274" cy="3700150"/>
          </a:xfrm>
          <a:prstGeom prst="rect">
            <a:avLst/>
          </a:prstGeom>
          <a:noFill/>
          <a:ln>
            <a:noFill/>
          </a:ln>
        </p:spPr>
      </p:pic>
      <p:pic>
        <p:nvPicPr>
          <p:cNvPr id="351" name="Google Shape;351;g121f69ce7a4_0_0"/>
          <p:cNvPicPr preferRelativeResize="0"/>
          <p:nvPr/>
        </p:nvPicPr>
        <p:blipFill>
          <a:blip r:embed="rId4">
            <a:alphaModFix/>
          </a:blip>
          <a:stretch>
            <a:fillRect/>
          </a:stretch>
        </p:blipFill>
        <p:spPr>
          <a:xfrm>
            <a:off x="12191998" y="3654023"/>
            <a:ext cx="6151925" cy="3203974"/>
          </a:xfrm>
          <a:prstGeom prst="rect">
            <a:avLst/>
          </a:prstGeom>
          <a:noFill/>
          <a:ln>
            <a:noFill/>
          </a:ln>
        </p:spPr>
      </p:pic>
      <p:pic>
        <p:nvPicPr>
          <p:cNvPr id="352" name="Google Shape;352;g121f69ce7a4_0_0"/>
          <p:cNvPicPr preferRelativeResize="0"/>
          <p:nvPr/>
        </p:nvPicPr>
        <p:blipFill>
          <a:blip r:embed="rId5">
            <a:alphaModFix/>
          </a:blip>
          <a:stretch>
            <a:fillRect/>
          </a:stretch>
        </p:blipFill>
        <p:spPr>
          <a:xfrm>
            <a:off x="9596750" y="2216200"/>
            <a:ext cx="2445100" cy="44808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2920e81558a_0_207"/>
          <p:cNvSpPr txBox="1"/>
          <p:nvPr>
            <p:ph idx="1" type="body"/>
          </p:nvPr>
        </p:nvSpPr>
        <p:spPr>
          <a:xfrm>
            <a:off x="546300" y="902825"/>
            <a:ext cx="11433300" cy="43512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0"/>
              </a:spcBef>
              <a:spcAft>
                <a:spcPts val="0"/>
              </a:spcAft>
              <a:buSzPts val="1018"/>
              <a:buNone/>
            </a:pPr>
            <a:r>
              <a:rPr b="1" lang="en-US" sz="1600">
                <a:latin typeface="Times New Roman"/>
                <a:ea typeface="Times New Roman"/>
                <a:cs typeface="Times New Roman"/>
                <a:sym typeface="Times New Roman"/>
              </a:rPr>
              <a:t>B</a:t>
            </a:r>
            <a:r>
              <a:rPr b="1" lang="en-US" sz="1800">
                <a:latin typeface="Times New Roman"/>
                <a:ea typeface="Times New Roman"/>
                <a:cs typeface="Times New Roman"/>
                <a:sym typeface="Times New Roman"/>
              </a:rPr>
              <a:t>ook: </a:t>
            </a:r>
            <a:r>
              <a:rPr lang="en-US" sz="1800">
                <a:latin typeface="Times New Roman"/>
                <a:ea typeface="Times New Roman"/>
                <a:cs typeface="Times New Roman"/>
                <a:sym typeface="Times New Roman"/>
              </a:rPr>
              <a:t>Lehninger: Principles of Biochemistry, 6th edition. ISBN: 1464109621.</a:t>
            </a:r>
            <a:endParaRPr sz="1800">
              <a:latin typeface="Times New Roman"/>
              <a:ea typeface="Times New Roman"/>
              <a:cs typeface="Times New Roman"/>
              <a:sym typeface="Times New Roman"/>
            </a:endParaRPr>
          </a:p>
          <a:p>
            <a:pPr indent="114300" lvl="0" marL="0" rtl="0" algn="l">
              <a:lnSpc>
                <a:spcPct val="70000"/>
              </a:lnSpc>
              <a:spcBef>
                <a:spcPts val="0"/>
              </a:spcBef>
              <a:spcAft>
                <a:spcPts val="0"/>
              </a:spcAft>
              <a:buSzPts val="1800"/>
              <a:buNone/>
            </a:pPr>
            <a:r>
              <a:t/>
            </a:r>
            <a:endParaRPr sz="1600">
              <a:latin typeface="Times New Roman"/>
              <a:ea typeface="Times New Roman"/>
              <a:cs typeface="Times New Roman"/>
              <a:sym typeface="Times New Roman"/>
            </a:endParaRPr>
          </a:p>
          <a:p>
            <a:pPr indent="114300" lvl="0" marL="0" rtl="0" algn="l">
              <a:lnSpc>
                <a:spcPct val="70000"/>
              </a:lnSpc>
              <a:spcBef>
                <a:spcPts val="0"/>
              </a:spcBef>
              <a:spcAft>
                <a:spcPts val="0"/>
              </a:spcAft>
              <a:buSzPts val="1800"/>
              <a:buNone/>
            </a:pPr>
            <a:r>
              <a:t/>
            </a:r>
            <a:endParaRPr sz="1600">
              <a:latin typeface="Times New Roman"/>
              <a:ea typeface="Times New Roman"/>
              <a:cs typeface="Times New Roman"/>
              <a:sym typeface="Times New Roman"/>
            </a:endParaRPr>
          </a:p>
          <a:p>
            <a:pPr indent="114300" lvl="0" marL="0" rtl="0" algn="l">
              <a:lnSpc>
                <a:spcPct val="150000"/>
              </a:lnSpc>
              <a:spcBef>
                <a:spcPts val="0"/>
              </a:spcBef>
              <a:spcAft>
                <a:spcPts val="0"/>
              </a:spcAft>
              <a:buSzPts val="1800"/>
              <a:buNone/>
            </a:pPr>
            <a:r>
              <a:rPr lang="en-US" sz="1800">
                <a:latin typeface="Times New Roman"/>
                <a:ea typeface="Times New Roman"/>
                <a:cs typeface="Times New Roman"/>
                <a:sym typeface="Times New Roman"/>
              </a:rPr>
              <a:t>Chapter 8: Nucleotides and Nucleic Acids, Page 281-312.</a:t>
            </a:r>
            <a:endParaRPr sz="1800">
              <a:latin typeface="Times New Roman"/>
              <a:ea typeface="Times New Roman"/>
              <a:cs typeface="Times New Roman"/>
              <a:sym typeface="Times New Roman"/>
            </a:endParaRPr>
          </a:p>
          <a:p>
            <a:pPr indent="114300" lvl="0" marL="0" rtl="0" algn="l">
              <a:lnSpc>
                <a:spcPct val="150000"/>
              </a:lnSpc>
              <a:spcBef>
                <a:spcPts val="0"/>
              </a:spcBef>
              <a:spcAft>
                <a:spcPts val="0"/>
              </a:spcAft>
              <a:buClr>
                <a:schemeClr val="dk1"/>
              </a:buClr>
              <a:buSzPts val="1800"/>
              <a:buFont typeface="Arial"/>
              <a:buNone/>
            </a:pPr>
            <a:r>
              <a:rPr lang="en-US" sz="1800">
                <a:latin typeface="Times New Roman"/>
                <a:ea typeface="Times New Roman"/>
                <a:cs typeface="Times New Roman"/>
                <a:sym typeface="Times New Roman"/>
              </a:rPr>
              <a:t>Chapter 9: DNA-Based Information Technologies, Page 313-355.</a:t>
            </a:r>
            <a:endParaRPr sz="1800">
              <a:latin typeface="Times New Roman"/>
              <a:ea typeface="Times New Roman"/>
              <a:cs typeface="Times New Roman"/>
              <a:sym typeface="Times New Roman"/>
            </a:endParaRPr>
          </a:p>
          <a:p>
            <a:pPr indent="114300" lvl="0" marL="0" rtl="0" algn="l">
              <a:lnSpc>
                <a:spcPct val="150000"/>
              </a:lnSpc>
              <a:spcBef>
                <a:spcPts val="0"/>
              </a:spcBef>
              <a:spcAft>
                <a:spcPts val="0"/>
              </a:spcAft>
              <a:buSzPts val="1800"/>
              <a:buNone/>
            </a:pPr>
            <a:r>
              <a:t/>
            </a:r>
            <a:endParaRPr sz="1800">
              <a:latin typeface="Times New Roman"/>
              <a:ea typeface="Times New Roman"/>
              <a:cs typeface="Times New Roman"/>
              <a:sym typeface="Times New Roman"/>
            </a:endParaRPr>
          </a:p>
          <a:p>
            <a:pPr indent="-342900" lvl="0" marL="457200" rtl="0" algn="l">
              <a:lnSpc>
                <a:spcPct val="150000"/>
              </a:lnSpc>
              <a:spcBef>
                <a:spcPts val="0"/>
              </a:spcBef>
              <a:spcAft>
                <a:spcPts val="0"/>
              </a:spcAft>
              <a:buSzPts val="1018"/>
              <a:buNone/>
            </a:pPr>
            <a:r>
              <a:t/>
            </a:r>
            <a:endParaRPr sz="1800">
              <a:latin typeface="Times New Roman"/>
              <a:ea typeface="Times New Roman"/>
              <a:cs typeface="Times New Roman"/>
              <a:sym typeface="Times New Roman"/>
            </a:endParaRPr>
          </a:p>
          <a:p>
            <a:pPr indent="-114300" lvl="0" marL="228600" rtl="0" algn="l">
              <a:lnSpc>
                <a:spcPct val="150000"/>
              </a:lnSpc>
              <a:spcBef>
                <a:spcPts val="1000"/>
              </a:spcBef>
              <a:spcAft>
                <a:spcPts val="0"/>
              </a:spcAft>
              <a:buClr>
                <a:schemeClr val="dk1"/>
              </a:buClr>
              <a:buSzPts val="1665"/>
              <a:buNone/>
            </a:pPr>
            <a:r>
              <a:t/>
            </a:r>
            <a:endParaRPr sz="1800">
              <a:latin typeface="Times New Roman"/>
              <a:ea typeface="Times New Roman"/>
              <a:cs typeface="Times New Roman"/>
              <a:sym typeface="Times New Roman"/>
            </a:endParaRPr>
          </a:p>
        </p:txBody>
      </p:sp>
      <p:sp>
        <p:nvSpPr>
          <p:cNvPr id="358" name="Google Shape;358;g2920e81558a_0_207"/>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Further reading</a:t>
            </a:r>
            <a:endParaRPr b="1" i="0" sz="2000" u="none" cap="none" strike="noStrike">
              <a:solidFill>
                <a:schemeClr val="lt1"/>
              </a:solidFill>
              <a:latin typeface="Times New Roman"/>
              <a:ea typeface="Times New Roman"/>
              <a:cs typeface="Times New Roman"/>
              <a:sym typeface="Times New Roman"/>
            </a:endParaRPr>
          </a:p>
        </p:txBody>
      </p:sp>
      <p:sp>
        <p:nvSpPr>
          <p:cNvPr id="359" name="Google Shape;359;g2920e81558a_0_207"/>
          <p:cNvSpPr txBox="1"/>
          <p:nvPr/>
        </p:nvSpPr>
        <p:spPr>
          <a:xfrm>
            <a:off x="1" y="6019800"/>
            <a:ext cx="121920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Times New Roman"/>
                <a:ea typeface="Times New Roman"/>
                <a:cs typeface="Times New Roman"/>
                <a:sym typeface="Times New Roman"/>
              </a:rPr>
              <a:t>Next class on </a:t>
            </a:r>
            <a:r>
              <a:rPr lang="en-US" sz="3600">
                <a:solidFill>
                  <a:schemeClr val="dk1"/>
                </a:solidFill>
                <a:latin typeface="Times New Roman"/>
                <a:ea typeface="Times New Roman"/>
                <a:cs typeface="Times New Roman"/>
                <a:sym typeface="Times New Roman"/>
              </a:rPr>
              <a:t>30</a:t>
            </a:r>
            <a:r>
              <a:rPr b="0" i="0" lang="en-US" sz="3600" u="none" cap="none" strike="noStrike">
                <a:solidFill>
                  <a:schemeClr val="dk1"/>
                </a:solidFill>
                <a:latin typeface="Times New Roman"/>
                <a:ea typeface="Times New Roman"/>
                <a:cs typeface="Times New Roman"/>
                <a:sym typeface="Times New Roman"/>
              </a:rPr>
              <a:t>/1</a:t>
            </a:r>
            <a:r>
              <a:rPr lang="en-US" sz="3600">
                <a:solidFill>
                  <a:schemeClr val="dk1"/>
                </a:solidFill>
                <a:latin typeface="Times New Roman"/>
                <a:ea typeface="Times New Roman"/>
                <a:cs typeface="Times New Roman"/>
                <a:sym typeface="Times New Roman"/>
              </a:rPr>
              <a:t>0</a:t>
            </a:r>
            <a:r>
              <a:rPr b="0" i="0" lang="en-US" sz="3600" u="none" cap="none" strike="noStrike">
                <a:solidFill>
                  <a:schemeClr val="dk1"/>
                </a:solidFill>
                <a:latin typeface="Times New Roman"/>
                <a:ea typeface="Times New Roman"/>
                <a:cs typeface="Times New Roman"/>
                <a:sym typeface="Times New Roman"/>
              </a:rPr>
              <a:t>/202</a:t>
            </a:r>
            <a:r>
              <a:rPr lang="en-US" sz="3600">
                <a:solidFill>
                  <a:schemeClr val="dk1"/>
                </a:solidFill>
                <a:latin typeface="Times New Roman"/>
                <a:ea typeface="Times New Roman"/>
                <a:cs typeface="Times New Roman"/>
                <a:sym typeface="Times New Roman"/>
              </a:rPr>
              <a:t>5</a:t>
            </a:r>
            <a:r>
              <a:rPr b="0" i="0" lang="en-US" sz="3600" u="none" cap="none" strike="noStrike">
                <a:solidFill>
                  <a:schemeClr val="dk1"/>
                </a:solidFill>
                <a:latin typeface="Times New Roman"/>
                <a:ea typeface="Times New Roman"/>
                <a:cs typeface="Times New Roman"/>
                <a:sym typeface="Times New Roman"/>
              </a:rPr>
              <a:t> (</a:t>
            </a:r>
            <a:r>
              <a:rPr lang="en-US" sz="3600">
                <a:solidFill>
                  <a:schemeClr val="dk1"/>
                </a:solidFill>
                <a:latin typeface="Times New Roman"/>
                <a:ea typeface="Times New Roman"/>
                <a:cs typeface="Times New Roman"/>
                <a:sym typeface="Times New Roman"/>
              </a:rPr>
              <a:t>Thursday</a:t>
            </a:r>
            <a:r>
              <a:rPr b="0" i="0" lang="en-US" sz="3600" u="none" cap="none" strike="noStrike">
                <a:solidFill>
                  <a:schemeClr val="dk1"/>
                </a:solidFill>
                <a:latin typeface="Times New Roman"/>
                <a:ea typeface="Times New Roman"/>
                <a:cs typeface="Times New Roman"/>
                <a:sym typeface="Times New Roman"/>
              </a:rPr>
              <a:t>)</a:t>
            </a:r>
            <a:endParaRPr b="0" i="0" sz="3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11a83a58a23_0_35"/>
          <p:cNvSpPr txBox="1"/>
          <p:nvPr>
            <p:ph idx="1" type="body"/>
          </p:nvPr>
        </p:nvSpPr>
        <p:spPr>
          <a:xfrm>
            <a:off x="575575" y="458500"/>
            <a:ext cx="11101500" cy="6194700"/>
          </a:xfrm>
          <a:prstGeom prst="rect">
            <a:avLst/>
          </a:prstGeom>
          <a:noFill/>
          <a:ln>
            <a:noFill/>
          </a:ln>
        </p:spPr>
        <p:txBody>
          <a:bodyPr anchorCtr="0" anchor="t" bIns="45700" lIns="91425" spcFirstLastPara="1" rIns="91425" wrap="square" tIns="45700">
            <a:normAutofit/>
          </a:bodyPr>
          <a:lstStyle/>
          <a:p>
            <a:pPr indent="-342900" lvl="0" marL="457200" rtl="0" algn="just">
              <a:lnSpc>
                <a:spcPct val="105000"/>
              </a:lnSpc>
              <a:spcBef>
                <a:spcPts val="0"/>
              </a:spcBef>
              <a:spcAft>
                <a:spcPts val="0"/>
              </a:spcAft>
              <a:buSzPts val="1800"/>
              <a:buFont typeface="Times New Roman"/>
              <a:buChar char="•"/>
            </a:pPr>
            <a:r>
              <a:rPr lang="en-US" sz="1800">
                <a:solidFill>
                  <a:srgbClr val="0000FF"/>
                </a:solidFill>
                <a:latin typeface="Times New Roman"/>
                <a:ea typeface="Times New Roman"/>
                <a:cs typeface="Times New Roman"/>
                <a:sym typeface="Times New Roman"/>
              </a:rPr>
              <a:t>Restriction endonucleases</a:t>
            </a:r>
            <a:r>
              <a:rPr lang="en-US" sz="1800">
                <a:latin typeface="Times New Roman"/>
                <a:ea typeface="Times New Roman"/>
                <a:cs typeface="Times New Roman"/>
                <a:sym typeface="Times New Roman"/>
              </a:rPr>
              <a:t> (RE), also called </a:t>
            </a:r>
            <a:r>
              <a:rPr lang="en-US" sz="1800">
                <a:solidFill>
                  <a:srgbClr val="0000FF"/>
                </a:solidFill>
                <a:latin typeface="Times New Roman"/>
                <a:ea typeface="Times New Roman"/>
                <a:cs typeface="Times New Roman"/>
                <a:sym typeface="Times New Roman"/>
              </a:rPr>
              <a:t>restriction enzymes</a:t>
            </a:r>
            <a:r>
              <a:rPr lang="en-US" sz="1800">
                <a:latin typeface="Times New Roman"/>
                <a:ea typeface="Times New Roman"/>
                <a:cs typeface="Times New Roman"/>
                <a:sym typeface="Times New Roman"/>
              </a:rPr>
              <a:t>, recognize and cleave DNA at specific sequences (</a:t>
            </a:r>
            <a:r>
              <a:rPr lang="en-US" sz="1800">
                <a:solidFill>
                  <a:srgbClr val="0000FF"/>
                </a:solidFill>
                <a:latin typeface="Times New Roman"/>
                <a:ea typeface="Times New Roman"/>
                <a:cs typeface="Times New Roman"/>
                <a:sym typeface="Times New Roman"/>
              </a:rPr>
              <a:t>recognition sequences</a:t>
            </a:r>
            <a:r>
              <a:rPr lang="en-US" sz="1800">
                <a:latin typeface="Times New Roman"/>
                <a:ea typeface="Times New Roman"/>
                <a:cs typeface="Times New Roman"/>
                <a:sym typeface="Times New Roman"/>
              </a:rPr>
              <a:t> or </a:t>
            </a:r>
            <a:r>
              <a:rPr lang="en-US" sz="1800">
                <a:solidFill>
                  <a:srgbClr val="0000FF"/>
                </a:solidFill>
                <a:latin typeface="Times New Roman"/>
                <a:ea typeface="Times New Roman"/>
                <a:cs typeface="Times New Roman"/>
                <a:sym typeface="Times New Roman"/>
              </a:rPr>
              <a:t>restriction sites</a:t>
            </a:r>
            <a:r>
              <a:rPr lang="en-US" sz="1800">
                <a:latin typeface="Times New Roman"/>
                <a:ea typeface="Times New Roman"/>
                <a:cs typeface="Times New Roman"/>
                <a:sym typeface="Times New Roman"/>
              </a:rPr>
              <a:t>) to generate a set of smaller fragments.</a:t>
            </a:r>
            <a:endParaRPr sz="1800">
              <a:latin typeface="Times New Roman"/>
              <a:ea typeface="Times New Roman"/>
              <a:cs typeface="Times New Roman"/>
              <a:sym typeface="Times New Roman"/>
            </a:endParaRPr>
          </a:p>
          <a:p>
            <a:pPr indent="0" lvl="0" marL="457200" rtl="0" algn="just">
              <a:lnSpc>
                <a:spcPct val="105000"/>
              </a:lnSpc>
              <a:spcBef>
                <a:spcPts val="0"/>
              </a:spcBef>
              <a:spcAft>
                <a:spcPts val="0"/>
              </a:spcAft>
              <a:buSzPts val="1800"/>
              <a:buNone/>
            </a:pPr>
            <a:r>
              <a:t/>
            </a:r>
            <a:endParaRPr sz="1800">
              <a:latin typeface="Times New Roman"/>
              <a:ea typeface="Times New Roman"/>
              <a:cs typeface="Times New Roman"/>
              <a:sym typeface="Times New Roman"/>
            </a:endParaRPr>
          </a:p>
          <a:p>
            <a:pPr indent="-342900" lvl="0" marL="457200" rtl="0" algn="just">
              <a:lnSpc>
                <a:spcPct val="10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REs are found in a wide range of bacterial species. However, in its host cells, REs can’t digest its DNA because of methylation of the DNA bases. This mechanism is known as </a:t>
            </a:r>
            <a:r>
              <a:rPr lang="en-US" sz="1800">
                <a:solidFill>
                  <a:srgbClr val="0000FF"/>
                </a:solidFill>
                <a:latin typeface="Times New Roman"/>
                <a:ea typeface="Times New Roman"/>
                <a:cs typeface="Times New Roman"/>
                <a:sym typeface="Times New Roman"/>
              </a:rPr>
              <a:t>Restriction Modification System</a:t>
            </a:r>
            <a:r>
              <a:rPr lang="en-US"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0" lvl="0" marL="457200" rtl="0" algn="just">
              <a:lnSpc>
                <a:spcPct val="105000"/>
              </a:lnSpc>
              <a:spcBef>
                <a:spcPts val="0"/>
              </a:spcBef>
              <a:spcAft>
                <a:spcPts val="0"/>
              </a:spcAft>
              <a:buSzPts val="1800"/>
              <a:buNone/>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342900" lvl="0" marL="457200" rtl="0" algn="just">
              <a:lnSpc>
                <a:spcPct val="10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Three types of REs: Type I, Type II and Type III</a:t>
            </a:r>
            <a:endParaRPr sz="1800">
              <a:latin typeface="Times New Roman"/>
              <a:ea typeface="Times New Roman"/>
              <a:cs typeface="Times New Roman"/>
              <a:sym typeface="Times New Roman"/>
            </a:endParaRPr>
          </a:p>
          <a:p>
            <a:pPr indent="0" lvl="0" marL="0" rtl="0" algn="just">
              <a:lnSpc>
                <a:spcPct val="105000"/>
              </a:lnSpc>
              <a:spcBef>
                <a:spcPts val="0"/>
              </a:spcBef>
              <a:spcAft>
                <a:spcPts val="0"/>
              </a:spcAft>
              <a:buSzPts val="1800"/>
              <a:buNone/>
            </a:pPr>
            <a:r>
              <a:t/>
            </a:r>
            <a:endParaRPr sz="1800">
              <a:latin typeface="Times New Roman"/>
              <a:ea typeface="Times New Roman"/>
              <a:cs typeface="Times New Roman"/>
              <a:sym typeface="Times New Roman"/>
            </a:endParaRPr>
          </a:p>
          <a:p>
            <a:pPr indent="-342900" lvl="0" marL="457200" rtl="0" algn="just">
              <a:lnSpc>
                <a:spcPct val="10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Type I and III are generally large, multisubunit complexes containing both the endonuclease and methylase activities. They require ATP for energy.</a:t>
            </a:r>
            <a:endParaRPr sz="1800">
              <a:latin typeface="Times New Roman"/>
              <a:ea typeface="Times New Roman"/>
              <a:cs typeface="Times New Roman"/>
              <a:sym typeface="Times New Roman"/>
            </a:endParaRPr>
          </a:p>
          <a:p>
            <a:pPr indent="0" lvl="0" marL="457200" rtl="0" algn="just">
              <a:lnSpc>
                <a:spcPct val="105000"/>
              </a:lnSpc>
              <a:spcBef>
                <a:spcPts val="0"/>
              </a:spcBef>
              <a:spcAft>
                <a:spcPts val="0"/>
              </a:spcAft>
              <a:buSzPts val="1800"/>
              <a:buNone/>
            </a:pPr>
            <a:r>
              <a:t/>
            </a:r>
            <a:endParaRPr sz="1800">
              <a:latin typeface="Times New Roman"/>
              <a:ea typeface="Times New Roman"/>
              <a:cs typeface="Times New Roman"/>
              <a:sym typeface="Times New Roman"/>
            </a:endParaRPr>
          </a:p>
          <a:p>
            <a:pPr indent="-342900" lvl="0" marL="457200" rtl="0" algn="just">
              <a:lnSpc>
                <a:spcPct val="10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Type I REs cleave DNA at random sites that can be more than 1000 bp from the recognition sequences.</a:t>
            </a:r>
            <a:endParaRPr sz="1800">
              <a:latin typeface="Times New Roman"/>
              <a:ea typeface="Times New Roman"/>
              <a:cs typeface="Times New Roman"/>
              <a:sym typeface="Times New Roman"/>
            </a:endParaRPr>
          </a:p>
          <a:p>
            <a:pPr indent="0" lvl="0" marL="457200" rtl="0" algn="just">
              <a:lnSpc>
                <a:spcPct val="105000"/>
              </a:lnSpc>
              <a:spcBef>
                <a:spcPts val="0"/>
              </a:spcBef>
              <a:spcAft>
                <a:spcPts val="0"/>
              </a:spcAft>
              <a:buSzPts val="1800"/>
              <a:buNone/>
            </a:pPr>
            <a:r>
              <a:t/>
            </a:r>
            <a:endParaRPr sz="1800">
              <a:latin typeface="Times New Roman"/>
              <a:ea typeface="Times New Roman"/>
              <a:cs typeface="Times New Roman"/>
              <a:sym typeface="Times New Roman"/>
            </a:endParaRPr>
          </a:p>
          <a:p>
            <a:pPr indent="-342900" lvl="0" marL="457200" rtl="0" algn="just">
              <a:lnSpc>
                <a:spcPct val="10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Type III REs cleave the DNA about 25 bp from the recognition sequences.</a:t>
            </a:r>
            <a:endParaRPr sz="1800">
              <a:latin typeface="Times New Roman"/>
              <a:ea typeface="Times New Roman"/>
              <a:cs typeface="Times New Roman"/>
              <a:sym typeface="Times New Roman"/>
            </a:endParaRPr>
          </a:p>
          <a:p>
            <a:pPr indent="0" lvl="0" marL="457200" rtl="0" algn="just">
              <a:lnSpc>
                <a:spcPct val="105000"/>
              </a:lnSpc>
              <a:spcBef>
                <a:spcPts val="0"/>
              </a:spcBef>
              <a:spcAft>
                <a:spcPts val="0"/>
              </a:spcAft>
              <a:buSzPts val="1800"/>
              <a:buNone/>
            </a:pPr>
            <a:r>
              <a:t/>
            </a:r>
            <a:endParaRPr sz="1800">
              <a:latin typeface="Times New Roman"/>
              <a:ea typeface="Times New Roman"/>
              <a:cs typeface="Times New Roman"/>
              <a:sym typeface="Times New Roman"/>
            </a:endParaRPr>
          </a:p>
          <a:p>
            <a:pPr indent="-342900" lvl="0" marL="457200" rtl="0" algn="just">
              <a:lnSpc>
                <a:spcPct val="10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Type II REs cleave the DNA within the recognition sequence itself. They don’t need ATP. The recognition sequences are usually 4 to 6 bp long and they are palindromic.</a:t>
            </a:r>
            <a:endParaRPr sz="1800">
              <a:latin typeface="Times New Roman"/>
              <a:ea typeface="Times New Roman"/>
              <a:cs typeface="Times New Roman"/>
              <a:sym typeface="Times New Roman"/>
            </a:endParaRPr>
          </a:p>
          <a:p>
            <a:pPr indent="0" lvl="0" marL="0" rtl="0" algn="just">
              <a:lnSpc>
                <a:spcPct val="105000"/>
              </a:lnSpc>
              <a:spcBef>
                <a:spcPts val="0"/>
              </a:spcBef>
              <a:spcAft>
                <a:spcPts val="0"/>
              </a:spcAft>
              <a:buSzPts val="1800"/>
              <a:buNone/>
            </a:pPr>
            <a:r>
              <a:t/>
            </a:r>
            <a:endParaRPr sz="1800">
              <a:latin typeface="Times New Roman"/>
              <a:ea typeface="Times New Roman"/>
              <a:cs typeface="Times New Roman"/>
              <a:sym typeface="Times New Roman"/>
            </a:endParaRPr>
          </a:p>
          <a:p>
            <a:pPr indent="0" lvl="0" marL="0" rtl="0" algn="just">
              <a:lnSpc>
                <a:spcPct val="105000"/>
              </a:lnSpc>
              <a:spcBef>
                <a:spcPts val="0"/>
              </a:spcBef>
              <a:spcAft>
                <a:spcPts val="0"/>
              </a:spcAft>
              <a:buSzPts val="1800"/>
              <a:buNone/>
            </a:pPr>
            <a:r>
              <a:rPr lang="en-US" sz="1800">
                <a:latin typeface="Times New Roman"/>
                <a:ea typeface="Times New Roman"/>
                <a:cs typeface="Times New Roman"/>
                <a:sym typeface="Times New Roman"/>
              </a:rPr>
              <a:t>Some of the Type II REs make staggered cuts on the two DNA strands, leaving two to four nucleotides of one strand unpaired at each resulting end. These unpaired strands are referred to as sticky ends.</a:t>
            </a:r>
            <a:endParaRPr sz="1800">
              <a:latin typeface="Times New Roman"/>
              <a:ea typeface="Times New Roman"/>
              <a:cs typeface="Times New Roman"/>
              <a:sym typeface="Times New Roman"/>
            </a:endParaRPr>
          </a:p>
          <a:p>
            <a:pPr indent="0" lvl="0" marL="0" rtl="0" algn="just">
              <a:lnSpc>
                <a:spcPct val="105000"/>
              </a:lnSpc>
              <a:spcBef>
                <a:spcPts val="0"/>
              </a:spcBef>
              <a:spcAft>
                <a:spcPts val="0"/>
              </a:spcAft>
              <a:buSzPts val="1800"/>
              <a:buNone/>
            </a:pPr>
            <a:r>
              <a:t/>
            </a:r>
            <a:endParaRPr sz="1800">
              <a:latin typeface="Times New Roman"/>
              <a:ea typeface="Times New Roman"/>
              <a:cs typeface="Times New Roman"/>
              <a:sym typeface="Times New Roman"/>
            </a:endParaRPr>
          </a:p>
        </p:txBody>
      </p:sp>
      <p:sp>
        <p:nvSpPr>
          <p:cNvPr id="366" name="Google Shape;366;g11a83a58a23_0_35"/>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Restriction Endonucleases</a:t>
            </a:r>
            <a:endParaRPr b="1" i="0" sz="2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2920e81558a_0_97"/>
          <p:cNvSpPr/>
          <p:nvPr/>
        </p:nvSpPr>
        <p:spPr>
          <a:xfrm>
            <a:off x="0" y="0"/>
            <a:ext cx="12192000" cy="3651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DNA can occur in different three-dimentional forms</a:t>
            </a:r>
            <a:endParaRPr b="1" i="0" sz="2000" u="none" cap="none" strike="noStrike">
              <a:solidFill>
                <a:schemeClr val="lt1"/>
              </a:solidFill>
              <a:latin typeface="Times New Roman"/>
              <a:ea typeface="Times New Roman"/>
              <a:cs typeface="Times New Roman"/>
              <a:sym typeface="Times New Roman"/>
            </a:endParaRPr>
          </a:p>
        </p:txBody>
      </p:sp>
      <p:pic>
        <p:nvPicPr>
          <p:cNvPr id="373" name="Google Shape;373;g2920e81558a_0_97"/>
          <p:cNvPicPr preferRelativeResize="0"/>
          <p:nvPr/>
        </p:nvPicPr>
        <p:blipFill rotWithShape="1">
          <a:blip r:embed="rId3">
            <a:alphaModFix/>
          </a:blip>
          <a:srcRect b="0" l="0" r="0" t="0"/>
          <a:stretch/>
        </p:blipFill>
        <p:spPr>
          <a:xfrm>
            <a:off x="1475875" y="421000"/>
            <a:ext cx="9641475" cy="6436999"/>
          </a:xfrm>
          <a:prstGeom prst="rect">
            <a:avLst/>
          </a:prstGeom>
          <a:noFill/>
          <a:ln>
            <a:noFill/>
          </a:ln>
        </p:spPr>
      </p:pic>
      <p:sp>
        <p:nvSpPr>
          <p:cNvPr id="374" name="Google Shape;374;g2920e81558a_0_97"/>
          <p:cNvSpPr txBox="1"/>
          <p:nvPr/>
        </p:nvSpPr>
        <p:spPr>
          <a:xfrm>
            <a:off x="5597675" y="2084225"/>
            <a:ext cx="53673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Times New Roman"/>
                <a:ea typeface="Times New Roman"/>
                <a:cs typeface="Times New Roman"/>
                <a:sym typeface="Times New Roman"/>
              </a:rPr>
              <a:t>The Watson and Crick’s structure is also referred to as the B form and it is the most stable structure under physiological conditions.</a:t>
            </a:r>
            <a:endParaRPr b="1"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Times New Roman"/>
                <a:ea typeface="Times New Roman"/>
                <a:cs typeface="Times New Roman"/>
                <a:sym typeface="Times New Roman"/>
              </a:rPr>
              <a:t>A form is preferred in many solutions which are devoid of water.</a:t>
            </a:r>
            <a:endParaRPr b="1"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g30ea99a6757_0_107"/>
          <p:cNvPicPr preferRelativeResize="0"/>
          <p:nvPr/>
        </p:nvPicPr>
        <p:blipFill>
          <a:blip r:embed="rId3">
            <a:alphaModFix/>
          </a:blip>
          <a:stretch>
            <a:fillRect/>
          </a:stretch>
        </p:blipFill>
        <p:spPr>
          <a:xfrm>
            <a:off x="2023273" y="225872"/>
            <a:ext cx="7843050" cy="6168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2021-09-02T08:32:53Z</dcterms:created>
  <dc:creator>Gunjan Mehta</dc:creator>
</cp:coreProperties>
</file>