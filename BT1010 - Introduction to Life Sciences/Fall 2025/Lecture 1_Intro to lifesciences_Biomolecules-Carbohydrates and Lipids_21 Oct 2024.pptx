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7077075" cy="9363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hMRmagd18tsbF0eewOhY1Oo4mb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A51690-C518-4E16-BA05-5546C9658E4C}">
  <a:tblStyle styleId="{A3A51690-C518-4E16-BA05-5546C9658E4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66733" cy="469780"/>
          </a:xfrm>
          <a:prstGeom prst="rect">
            <a:avLst/>
          </a:prstGeom>
          <a:noFill/>
          <a:ln>
            <a:noFill/>
          </a:ln>
        </p:spPr>
        <p:txBody>
          <a:bodyPr anchorCtr="0" anchor="t"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08705" y="0"/>
            <a:ext cx="3066733" cy="469780"/>
          </a:xfrm>
          <a:prstGeom prst="rect">
            <a:avLst/>
          </a:prstGeom>
          <a:noFill/>
          <a:ln>
            <a:noFill/>
          </a:ln>
        </p:spPr>
        <p:txBody>
          <a:bodyPr anchorCtr="0" anchor="t" bIns="46950" lIns="93925" spcFirstLastPara="1" rIns="93925" wrap="square" tIns="469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93297"/>
            <a:ext cx="3066733" cy="469779"/>
          </a:xfrm>
          <a:prstGeom prst="rect">
            <a:avLst/>
          </a:prstGeom>
          <a:noFill/>
          <a:ln>
            <a:noFill/>
          </a:ln>
        </p:spPr>
        <p:txBody>
          <a:bodyPr anchorCtr="0" anchor="b"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08705" y="8893297"/>
            <a:ext cx="3066733" cy="469779"/>
          </a:xfrm>
          <a:prstGeom prst="rect">
            <a:avLst/>
          </a:prstGeom>
          <a:noFill/>
          <a:ln>
            <a:noFill/>
          </a:ln>
        </p:spPr>
        <p:txBody>
          <a:bodyPr anchorCtr="0" anchor="b" bIns="46950" lIns="93925" spcFirstLastPara="1" rIns="93925" wrap="square" tIns="469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95" name="Google Shape;95;p4: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3d96e77ca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133d96e77ca_0_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02" name="Google Shape;102;g133d96e77ca_0_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09" name="Google Shape;109;p6: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31888db829_0_6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131888db829_0_6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16" name="Google Shape;116;g131888db829_0_6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1888db829_0_1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131888db829_0_1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24" name="Google Shape;124;g131888db829_0_1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31888db829_0_3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131888db829_0_3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36" name="Google Shape;136;g131888db829_0_33: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1888db829_0_5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131888db829_0_54: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45" name="Google Shape;145;g131888db829_0_5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33d96e77ca_0_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133d96e77ca_0_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56" name="Google Shape;156;g133d96e77ca_0_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fc5fde276a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fc5fde276a_0_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68" name="Google Shape;168;g1fc5fde276a_0_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3a4eff4dd_0_3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113a4eff4dd_0_3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77" name="Google Shape;177;g113a4eff4dd_0_3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83" name="Google Shape;183;p7: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11ba87e56a_0_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111ba87e56a_0_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98" name="Google Shape;198;g111ba87e56a_0_2: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1ba87e56a_0_2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111ba87e56a_0_2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05" name="Google Shape;205;g111ba87e56a_0_2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1ba87e56a_0_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111ba87e56a_0_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12" name="Google Shape;212;g111ba87e56a_0_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11ba87e56a_0_61: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111ba87e56a_0_61: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rPr lang="en-US"/>
              <a:t>D-glucose is aldohexose sugar.</a:t>
            </a:r>
            <a:endParaRPr/>
          </a:p>
        </p:txBody>
      </p:sp>
      <p:sp>
        <p:nvSpPr>
          <p:cNvPr id="222" name="Google Shape;222;g111ba87e56a_0_61: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1ba87e56a_0_6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111ba87e56a_0_68: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rPr lang="en-US"/>
              <a:t>D-Fructose is a ketohexose sugar.</a:t>
            </a:r>
            <a:endParaRPr/>
          </a:p>
        </p:txBody>
      </p:sp>
      <p:sp>
        <p:nvSpPr>
          <p:cNvPr id="232" name="Google Shape;232;g111ba87e56a_0_68: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2e0ec3e38_0_1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112e0ec3e38_0_1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41" name="Google Shape;241;g112e0ec3e38_0_1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12e0ec3e38_0_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112e0ec3e38_0_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52" name="Google Shape;252;g112e0ec3e38_0_3: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2e0ec3e38_0_2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112e0ec3e38_0_2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62" name="Google Shape;262;g112e0ec3e38_0_2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2e0ec3e38_0_3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112e0ec3e38_0_3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69" name="Google Shape;269;g112e0ec3e38_0_3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2e0ec3e38_0_5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112e0ec3e38_0_5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81" name="Google Shape;281;g112e0ec3e38_0_5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2e0ec3e38_0_6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112e0ec3e38_0_6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90" name="Google Shape;290;g112e0ec3e38_0_6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2e0ec3e38_0_7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112e0ec3e38_0_7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98" name="Google Shape;298;g112e0ec3e38_0_73: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3a4eff4dd_0_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113a4eff4dd_0_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05" name="Google Shape;305;g113a4eff4dd_0_2: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3a4eff4dd_0_1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113a4eff4dd_0_1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13" name="Google Shape;313;g113a4eff4dd_0_1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3a4eff4dd_0_2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113a4eff4dd_0_2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24" name="Google Shape;324;g113a4eff4dd_0_23: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13a4eff4dd_0_3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113a4eff4dd_0_3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30" name="Google Shape;330;g113a4eff4dd_0_3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13a4eff4dd_0_4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113a4eff4dd_0_4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37" name="Google Shape;337;g113a4eff4dd_0_4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3a4eff4dd_0_5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113a4eff4dd_0_5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44" name="Google Shape;344;g113a4eff4dd_0_5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3a4eff4dd_0_8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113a4eff4dd_0_8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56" name="Google Shape;356;g113a4eff4dd_0_8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3a4eff4dd_0_13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113a4eff4dd_0_13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66" name="Google Shape;366;g113a4eff4dd_0_133: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3a4eff4dd_0_9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113a4eff4dd_0_9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75" name="Google Shape;375;g113a4eff4dd_0_9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3a4eff4dd_0_10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113a4eff4dd_0_10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84" name="Google Shape;384;g113a4eff4dd_0_10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3a4eff4dd_0_6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113a4eff4dd_0_6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91" name="Google Shape;391;g113a4eff4dd_0_6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3a4eff4dd_0_12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113a4eff4dd_0_12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97" name="Google Shape;397;g113a4eff4dd_0_12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14f82da21e_0_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114f82da21e_0_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05" name="Google Shape;405;g114f82da21e_0_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13a4eff4dd_0_7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g113a4eff4dd_0_7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15" name="Google Shape;415;g113a4eff4dd_0_7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3a4eff4dd_0_11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113a4eff4dd_0_11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22" name="Google Shape;422;g113a4eff4dd_0_112: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3a4eff4dd_0_1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113a4eff4dd_0_1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29" name="Google Shape;429;g113a4eff4dd_0_1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4f82da21e_0_1: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114f82da21e_0_1: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35" name="Google Shape;435;g114f82da21e_0_1: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9: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44" name="Google Shape;444;p19: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11ba87e56a_0_3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111ba87e56a_0_34: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51" name="Google Shape;451;g111ba87e56a_0_3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11ba87e56a_0_11: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111ba87e56a_0_11: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58" name="Google Shape;458;g111ba87e56a_0_11: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gunjanmehta@bt.iith.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mailto:gunjanmehta@bt.iith.ac.in" TargetMode="External"/><Relationship Id="rId4" Type="http://schemas.openxmlformats.org/officeDocument/2006/relationships/hyperlink" Target="http://www.mehtalab-iith.com" TargetMode="External"/><Relationship Id="rId5"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39.png"/><Relationship Id="rId6" Type="http://schemas.openxmlformats.org/officeDocument/2006/relationships/image" Target="../media/image7.png"/><Relationship Id="rId7"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1.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0.png"/><Relationship Id="rId4" Type="http://schemas.openxmlformats.org/officeDocument/2006/relationships/image" Target="../media/image24.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55.pn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2.png"/><Relationship Id="rId4" Type="http://schemas.openxmlformats.org/officeDocument/2006/relationships/image" Target="../media/image40.png"/><Relationship Id="rId5"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4.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0" y="2215825"/>
            <a:ext cx="6808025" cy="4627025"/>
          </a:xfrm>
          <a:prstGeom prst="rect">
            <a:avLst/>
          </a:prstGeom>
          <a:noFill/>
          <a:ln>
            <a:noFill/>
          </a:ln>
        </p:spPr>
      </p:pic>
      <p:sp>
        <p:nvSpPr>
          <p:cNvPr id="89" name="Google Shape;89;p1"/>
          <p:cNvSpPr txBox="1"/>
          <p:nvPr>
            <p:ph type="ctrTitle"/>
          </p:nvPr>
        </p:nvSpPr>
        <p:spPr>
          <a:xfrm>
            <a:off x="-1" y="0"/>
            <a:ext cx="12191999"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BT1010 Introduction to Life Sciences</a:t>
            </a:r>
            <a:endParaRPr sz="4400">
              <a:latin typeface="Times New Roman"/>
              <a:ea typeface="Times New Roman"/>
              <a:cs typeface="Times New Roman"/>
              <a:sym typeface="Times New Roman"/>
            </a:endParaRPr>
          </a:p>
        </p:txBody>
      </p:sp>
      <p:sp>
        <p:nvSpPr>
          <p:cNvPr id="90" name="Google Shape;90;p1"/>
          <p:cNvSpPr txBox="1"/>
          <p:nvPr>
            <p:ph idx="1" type="subTitle"/>
          </p:nvPr>
        </p:nvSpPr>
        <p:spPr>
          <a:xfrm>
            <a:off x="6375000" y="4364200"/>
            <a:ext cx="5131200" cy="1941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400"/>
              <a:buNone/>
            </a:pPr>
            <a:r>
              <a:rPr lang="en-US" sz="1800">
                <a:latin typeface="Times New Roman"/>
                <a:ea typeface="Times New Roman"/>
                <a:cs typeface="Times New Roman"/>
                <a:sym typeface="Times New Roman"/>
              </a:rPr>
              <a:t>Course Instructor:</a:t>
            </a:r>
            <a:endParaRPr sz="2800"/>
          </a:p>
          <a:p>
            <a:pPr indent="0" lvl="0" marL="0" rtl="0" algn="ctr">
              <a:lnSpc>
                <a:spcPct val="90000"/>
              </a:lnSpc>
              <a:spcBef>
                <a:spcPts val="1000"/>
              </a:spcBef>
              <a:spcAft>
                <a:spcPts val="0"/>
              </a:spcAft>
              <a:buClr>
                <a:schemeClr val="dk1"/>
              </a:buClr>
              <a:buSzPts val="1800"/>
              <a:buNone/>
            </a:pPr>
            <a:r>
              <a:rPr b="1" lang="en-US" sz="2200">
                <a:latin typeface="Times New Roman"/>
                <a:ea typeface="Times New Roman"/>
                <a:cs typeface="Times New Roman"/>
                <a:sym typeface="Times New Roman"/>
              </a:rPr>
              <a:t>Dr. Gunjan Mehta, Ph.D.</a:t>
            </a:r>
            <a:endParaRPr sz="2800"/>
          </a:p>
          <a:p>
            <a:pPr indent="0" lvl="0" marL="0" rtl="0" algn="ctr">
              <a:lnSpc>
                <a:spcPct val="90000"/>
              </a:lnSpc>
              <a:spcBef>
                <a:spcPts val="1000"/>
              </a:spcBef>
              <a:spcAft>
                <a:spcPts val="0"/>
              </a:spcAft>
              <a:buClr>
                <a:schemeClr val="dk1"/>
              </a:buClr>
              <a:buSzPts val="1400"/>
              <a:buNone/>
            </a:pPr>
            <a:r>
              <a:rPr lang="en-US" sz="1800">
                <a:latin typeface="Times New Roman"/>
                <a:ea typeface="Times New Roman"/>
                <a:cs typeface="Times New Roman"/>
                <a:sym typeface="Times New Roman"/>
              </a:rPr>
              <a:t>Assistant Professor</a:t>
            </a:r>
            <a:endParaRPr sz="2800"/>
          </a:p>
          <a:p>
            <a:pPr indent="0" lvl="0" marL="0" rtl="0" algn="ctr">
              <a:lnSpc>
                <a:spcPct val="90000"/>
              </a:lnSpc>
              <a:spcBef>
                <a:spcPts val="1000"/>
              </a:spcBef>
              <a:spcAft>
                <a:spcPts val="0"/>
              </a:spcAft>
              <a:buClr>
                <a:schemeClr val="dk1"/>
              </a:buClr>
              <a:buSzPts val="1400"/>
              <a:buNone/>
            </a:pPr>
            <a:r>
              <a:rPr lang="en-US" sz="1800">
                <a:latin typeface="Times New Roman"/>
                <a:ea typeface="Times New Roman"/>
                <a:cs typeface="Times New Roman"/>
                <a:sym typeface="Times New Roman"/>
              </a:rPr>
              <a:t>BT314, </a:t>
            </a:r>
            <a:r>
              <a:rPr lang="en-US" sz="1800">
                <a:latin typeface="Times New Roman"/>
                <a:ea typeface="Times New Roman"/>
                <a:cs typeface="Times New Roman"/>
                <a:sym typeface="Times New Roman"/>
              </a:rPr>
              <a:t>Department of Biotechnology </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rPr lang="en-US" sz="1800">
                <a:latin typeface="Times New Roman"/>
                <a:ea typeface="Times New Roman"/>
                <a:cs typeface="Times New Roman"/>
                <a:sym typeface="Times New Roman"/>
              </a:rPr>
              <a:t>IIT Hyderabad</a:t>
            </a:r>
            <a:endParaRPr sz="2800"/>
          </a:p>
          <a:p>
            <a:pPr indent="0" lvl="0" marL="0" rtl="0" algn="ctr">
              <a:lnSpc>
                <a:spcPct val="90000"/>
              </a:lnSpc>
              <a:spcBef>
                <a:spcPts val="1000"/>
              </a:spcBef>
              <a:spcAft>
                <a:spcPts val="0"/>
              </a:spcAft>
              <a:buClr>
                <a:schemeClr val="dk1"/>
              </a:buClr>
              <a:buSzPts val="1400"/>
              <a:buNone/>
            </a:pPr>
            <a:r>
              <a:rPr lang="en-US" sz="1800">
                <a:latin typeface="Times New Roman"/>
                <a:ea typeface="Times New Roman"/>
                <a:cs typeface="Times New Roman"/>
                <a:sym typeface="Times New Roman"/>
              </a:rPr>
              <a:t>(M.) +91 70168 96886 </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rPr lang="en-US" sz="1800">
                <a:latin typeface="Times New Roman"/>
                <a:ea typeface="Times New Roman"/>
                <a:cs typeface="Times New Roman"/>
                <a:sym typeface="Times New Roman"/>
              </a:rPr>
              <a:t>Email: </a:t>
            </a:r>
            <a:r>
              <a:rPr lang="en-US" sz="1800" u="sng">
                <a:solidFill>
                  <a:schemeClr val="hlink"/>
                </a:solidFill>
                <a:latin typeface="Times New Roman"/>
                <a:ea typeface="Times New Roman"/>
                <a:cs typeface="Times New Roman"/>
                <a:sym typeface="Times New Roman"/>
                <a:hlinkClick r:id="rId4"/>
              </a:rPr>
              <a:t>gunjanmehta@bt.iith.ac.in</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sp>
        <p:nvSpPr>
          <p:cNvPr id="91" name="Google Shape;91;p1"/>
          <p:cNvSpPr txBox="1"/>
          <p:nvPr/>
        </p:nvSpPr>
        <p:spPr>
          <a:xfrm>
            <a:off x="5930900" y="2373375"/>
            <a:ext cx="6261000" cy="1062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100" u="none" cap="none" strike="noStrike">
                <a:solidFill>
                  <a:schemeClr val="dk1"/>
                </a:solidFill>
                <a:latin typeface="Times New Roman"/>
                <a:ea typeface="Times New Roman"/>
                <a:cs typeface="Times New Roman"/>
                <a:sym typeface="Times New Roman"/>
              </a:rPr>
              <a:t>Lecture 1: Introduction to Life Sciences,</a:t>
            </a:r>
            <a:endParaRPr b="0" i="0" sz="21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0" i="0" lang="en-US" sz="2100" u="none" cap="none" strike="noStrike">
                <a:solidFill>
                  <a:schemeClr val="dk1"/>
                </a:solidFill>
                <a:latin typeface="Times New Roman"/>
                <a:ea typeface="Times New Roman"/>
                <a:cs typeface="Times New Roman"/>
                <a:sym typeface="Times New Roman"/>
              </a:rPr>
              <a:t> Biomolecules: Carbohydrates and Lipids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7950200" y="5689600"/>
            <a:ext cx="426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graphicFrame>
        <p:nvGraphicFramePr>
          <p:cNvPr id="97" name="Google Shape;97;p4"/>
          <p:cNvGraphicFramePr/>
          <p:nvPr/>
        </p:nvGraphicFramePr>
        <p:xfrm>
          <a:off x="661403" y="381529"/>
          <a:ext cx="3000000" cy="3000000"/>
        </p:xfrm>
        <a:graphic>
          <a:graphicData uri="http://schemas.openxmlformats.org/drawingml/2006/table">
            <a:tbl>
              <a:tblPr bandRow="1" firstRow="1">
                <a:noFill/>
                <a:tableStyleId>{A3A51690-C518-4E16-BA05-5546C9658E4C}</a:tableStyleId>
              </a:tblPr>
              <a:tblGrid>
                <a:gridCol w="1767050"/>
                <a:gridCol w="1767050"/>
                <a:gridCol w="6908525"/>
              </a:tblGrid>
              <a:tr h="295450">
                <a:tc>
                  <a:txBody>
                    <a:bodyPr/>
                    <a:lstStyle/>
                    <a:p>
                      <a:pPr indent="0" lvl="0" marL="0" marR="0" rtl="0" algn="ctr">
                        <a:lnSpc>
                          <a:spcPct val="100000"/>
                        </a:lnSpc>
                        <a:spcBef>
                          <a:spcPts val="0"/>
                        </a:spcBef>
                        <a:spcAft>
                          <a:spcPts val="0"/>
                        </a:spcAft>
                        <a:buClr>
                          <a:srgbClr val="000000"/>
                        </a:buClr>
                        <a:buSzPts val="1600"/>
                        <a:buFont typeface="Arial"/>
                        <a:buNone/>
                      </a:pPr>
                      <a:r>
                        <a:rPr lang="en-US" sz="1800">
                          <a:latin typeface="Times New Roman"/>
                          <a:ea typeface="Times New Roman"/>
                          <a:cs typeface="Times New Roman"/>
                          <a:sym typeface="Times New Roman"/>
                        </a:rPr>
                        <a:t>Lecture</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None/>
                      </a:pPr>
                      <a:r>
                        <a:rPr lang="en-US" sz="1800">
                          <a:latin typeface="Times New Roman"/>
                          <a:ea typeface="Times New Roman"/>
                          <a:cs typeface="Times New Roman"/>
                          <a:sym typeface="Times New Roman"/>
                        </a:rPr>
                        <a:t>Date</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US" sz="1800" u="none" cap="none" strike="noStrike">
                          <a:latin typeface="Times New Roman"/>
                          <a:ea typeface="Times New Roman"/>
                          <a:cs typeface="Times New Roman"/>
                          <a:sym typeface="Times New Roman"/>
                        </a:rPr>
                        <a:t>Topic</a:t>
                      </a:r>
                      <a:endParaRPr sz="1800" u="none" cap="none" strike="noStrike">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15/10/2025</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Dr. Savita Devi_Lecture 1</a:t>
                      </a:r>
                      <a:endParaRPr sz="1800" u="none" cap="none" strike="noStrike">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16/10/2025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Dr. Savita Devi_Lecture 2</a:t>
                      </a:r>
                      <a:endParaRPr sz="1800" u="none" cap="none" strike="noStrike">
                        <a:latin typeface="Times New Roman"/>
                        <a:ea typeface="Times New Roman"/>
                        <a:cs typeface="Times New Roman"/>
                        <a:sym typeface="Times New Roman"/>
                      </a:endParaRPr>
                    </a:p>
                  </a:txBody>
                  <a:tcPr marT="45725" marB="45725" marR="91450" marL="91450"/>
                </a:tc>
              </a:tr>
              <a:tr h="489025">
                <a:tc>
                  <a:txBody>
                    <a:bodyPr/>
                    <a:lstStyle/>
                    <a:p>
                      <a:pPr indent="0" lvl="0" marL="0" marR="0" rtl="0" algn="l">
                        <a:lnSpc>
                          <a:spcPct val="100000"/>
                        </a:lnSpc>
                        <a:spcBef>
                          <a:spcPts val="0"/>
                        </a:spcBef>
                        <a:spcAft>
                          <a:spcPts val="0"/>
                        </a:spcAft>
                        <a:buClr>
                          <a:srgbClr val="000000"/>
                        </a:buClr>
                        <a:buSzPts val="1400"/>
                        <a:buFont typeface="Arial"/>
                        <a:buNone/>
                      </a:pPr>
                      <a:r>
                        <a:rPr lang="en-US" sz="1800">
                          <a:latin typeface="Times New Roman"/>
                          <a:ea typeface="Times New Roman"/>
                          <a:cs typeface="Times New Roman"/>
                          <a:sym typeface="Times New Roman"/>
                        </a:rPr>
                        <a:t>3</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20/10/2025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solidFill>
                            <a:srgbClr val="FF0000"/>
                          </a:solidFill>
                          <a:latin typeface="Times New Roman"/>
                          <a:ea typeface="Times New Roman"/>
                          <a:cs typeface="Times New Roman"/>
                          <a:sym typeface="Times New Roman"/>
                        </a:rPr>
                        <a:t>Diwali Holiday</a:t>
                      </a:r>
                      <a:endParaRPr sz="1800">
                        <a:solidFill>
                          <a:srgbClr val="FF0000"/>
                        </a:solidFill>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r>
              <a:tr h="275075">
                <a:tc>
                  <a:txBody>
                    <a:bodyPr/>
                    <a:lstStyle/>
                    <a:p>
                      <a:pPr indent="0" lvl="0" marL="0" marR="0" rtl="0" algn="l">
                        <a:lnSpc>
                          <a:spcPct val="100000"/>
                        </a:lnSpc>
                        <a:spcBef>
                          <a:spcPts val="0"/>
                        </a:spcBef>
                        <a:spcAft>
                          <a:spcPts val="0"/>
                        </a:spcAft>
                        <a:buClr>
                          <a:srgbClr val="000000"/>
                        </a:buClr>
                        <a:buSzPts val="1400"/>
                        <a:buFont typeface="Arial"/>
                        <a:buNone/>
                      </a:pPr>
                      <a:r>
                        <a:rPr lang="en-US" sz="1800">
                          <a:latin typeface="Times New Roman"/>
                          <a:ea typeface="Times New Roman"/>
                          <a:cs typeface="Times New Roman"/>
                          <a:sym typeface="Times New Roman"/>
                        </a:rPr>
                        <a:t>4</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22/10/2025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Dr. Savita Devi_Lecture 3</a:t>
                      </a:r>
                      <a:endParaRPr sz="12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89025">
                <a:tc>
                  <a:txBody>
                    <a:bodyPr/>
                    <a:lstStyle/>
                    <a:p>
                      <a:pPr indent="0" lvl="0" marL="0" marR="0" rtl="0" algn="l">
                        <a:lnSpc>
                          <a:spcPct val="100000"/>
                        </a:lnSpc>
                        <a:spcBef>
                          <a:spcPts val="0"/>
                        </a:spcBef>
                        <a:spcAft>
                          <a:spcPts val="0"/>
                        </a:spcAft>
                        <a:buClr>
                          <a:srgbClr val="000000"/>
                        </a:buClr>
                        <a:buSzPts val="1400"/>
                        <a:buFont typeface="Arial"/>
                        <a:buNone/>
                      </a:pPr>
                      <a:r>
                        <a:rPr lang="en-US" sz="1800">
                          <a:latin typeface="Times New Roman"/>
                          <a:ea typeface="Times New Roman"/>
                          <a:cs typeface="Times New Roman"/>
                          <a:sym typeface="Times New Roman"/>
                        </a:rPr>
                        <a:t>5</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23/10/2025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Times New Roman"/>
                          <a:ea typeface="Times New Roman"/>
                          <a:cs typeface="Times New Roman"/>
                          <a:sym typeface="Times New Roman"/>
                        </a:rPr>
                        <a:t>Introduction to Life Sciences,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Times New Roman"/>
                          <a:ea typeface="Times New Roman"/>
                          <a:cs typeface="Times New Roman"/>
                          <a:sym typeface="Times New Roman"/>
                        </a:rPr>
                        <a:t>Biomolecules: Carbohydrates</a:t>
                      </a:r>
                      <a:endParaRPr sz="18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275075">
                <a:tc>
                  <a:txBody>
                    <a:bodyPr/>
                    <a:lstStyle/>
                    <a:p>
                      <a:pPr indent="0" lvl="0" marL="0" marR="0" rtl="0" algn="l">
                        <a:lnSpc>
                          <a:spcPct val="100000"/>
                        </a:lnSpc>
                        <a:spcBef>
                          <a:spcPts val="0"/>
                        </a:spcBef>
                        <a:spcAft>
                          <a:spcPts val="0"/>
                        </a:spcAft>
                        <a:buClr>
                          <a:srgbClr val="000000"/>
                        </a:buClr>
                        <a:buSzPts val="1400"/>
                        <a:buFont typeface="Arial"/>
                        <a:buNone/>
                      </a:pPr>
                      <a:r>
                        <a:rPr lang="en-US" sz="1800">
                          <a:latin typeface="Times New Roman"/>
                          <a:ea typeface="Times New Roman"/>
                          <a:cs typeface="Times New Roman"/>
                          <a:sym typeface="Times New Roman"/>
                        </a:rPr>
                        <a:t>6</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27/10/2025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1400"/>
                        <a:buFont typeface="Arial"/>
                        <a:buNone/>
                      </a:pPr>
                      <a:r>
                        <a:rPr lang="en-US" sz="1800" u="none" cap="none" strike="noStrike">
                          <a:latin typeface="Times New Roman"/>
                          <a:ea typeface="Times New Roman"/>
                          <a:cs typeface="Times New Roman"/>
                          <a:sym typeface="Times New Roman"/>
                        </a:rPr>
                        <a:t>Biomolecules: Proteins, </a:t>
                      </a:r>
                      <a:r>
                        <a:rPr lang="en-US" sz="1800">
                          <a:latin typeface="Times New Roman"/>
                          <a:ea typeface="Times New Roman"/>
                          <a:cs typeface="Times New Roman"/>
                          <a:sym typeface="Times New Roman"/>
                        </a:rPr>
                        <a:t>e</a:t>
                      </a:r>
                      <a:r>
                        <a:rPr lang="en-US" sz="1800" u="none" cap="none" strike="noStrike">
                          <a:latin typeface="Times New Roman"/>
                          <a:ea typeface="Times New Roman"/>
                          <a:cs typeface="Times New Roman"/>
                          <a:sym typeface="Times New Roman"/>
                        </a:rPr>
                        <a:t>nzymes, protein engineering</a:t>
                      </a:r>
                      <a:endParaRPr sz="18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5075">
                <a:tc>
                  <a:txBody>
                    <a:bodyPr/>
                    <a:lstStyle/>
                    <a:p>
                      <a:pPr indent="0" lvl="0" marL="0" marR="0" rtl="0" algn="l">
                        <a:lnSpc>
                          <a:spcPct val="100000"/>
                        </a:lnSpc>
                        <a:spcBef>
                          <a:spcPts val="0"/>
                        </a:spcBef>
                        <a:spcAft>
                          <a:spcPts val="0"/>
                        </a:spcAft>
                        <a:buClr>
                          <a:srgbClr val="000000"/>
                        </a:buClr>
                        <a:buSzPts val="1400"/>
                        <a:buFont typeface="Arial"/>
                        <a:buNone/>
                      </a:pPr>
                      <a:r>
                        <a:rPr lang="en-US" sz="1800">
                          <a:latin typeface="Times New Roman"/>
                          <a:ea typeface="Times New Roman"/>
                          <a:cs typeface="Times New Roman"/>
                          <a:sym typeface="Times New Roman"/>
                        </a:rPr>
                        <a:t>7</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29/10/2025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1400"/>
                        <a:buFont typeface="Arial"/>
                        <a:buNone/>
                      </a:pPr>
                      <a:r>
                        <a:rPr lang="en-US" sz="1800">
                          <a:latin typeface="Times New Roman"/>
                          <a:ea typeface="Times New Roman"/>
                          <a:cs typeface="Times New Roman"/>
                          <a:sym typeface="Times New Roman"/>
                        </a:rPr>
                        <a:t>Biomolecules: Lipids</a:t>
                      </a:r>
                      <a:endParaRPr sz="18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2800">
                <a:tc>
                  <a:txBody>
                    <a:bodyPr/>
                    <a:lstStyle/>
                    <a:p>
                      <a:pPr indent="0" lvl="0" marL="0" marR="0" rtl="0" algn="l">
                        <a:lnSpc>
                          <a:spcPct val="100000"/>
                        </a:lnSpc>
                        <a:spcBef>
                          <a:spcPts val="0"/>
                        </a:spcBef>
                        <a:spcAft>
                          <a:spcPts val="0"/>
                        </a:spcAft>
                        <a:buClr>
                          <a:srgbClr val="000000"/>
                        </a:buClr>
                        <a:buSzPts val="2100"/>
                        <a:buFont typeface="Arial"/>
                        <a:buNone/>
                      </a:pPr>
                      <a:r>
                        <a:rPr lang="en-US" sz="1800">
                          <a:latin typeface="Times New Roman"/>
                          <a:ea typeface="Times New Roman"/>
                          <a:cs typeface="Times New Roman"/>
                          <a:sym typeface="Times New Roman"/>
                        </a:rPr>
                        <a:t>8</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Clr>
                          <a:schemeClr val="dk1"/>
                        </a:buClr>
                        <a:buSzPts val="2100"/>
                        <a:buFont typeface="Arial"/>
                        <a:buNone/>
                      </a:pPr>
                      <a:r>
                        <a:rPr lang="en-US" sz="1800">
                          <a:latin typeface="Times New Roman"/>
                          <a:ea typeface="Times New Roman"/>
                          <a:cs typeface="Times New Roman"/>
                          <a:sym typeface="Times New Roman"/>
                        </a:rPr>
                        <a:t>30</a:t>
                      </a:r>
                      <a:r>
                        <a:rPr lang="en-US" sz="1800">
                          <a:latin typeface="Times New Roman"/>
                          <a:ea typeface="Times New Roman"/>
                          <a:cs typeface="Times New Roman"/>
                          <a:sym typeface="Times New Roman"/>
                        </a:rPr>
                        <a:t>/10/2025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400"/>
                        <a:buFont typeface="Arial"/>
                        <a:buNone/>
                      </a:pPr>
                      <a:r>
                        <a:rPr lang="en-US" sz="1800">
                          <a:latin typeface="Times New Roman"/>
                          <a:ea typeface="Times New Roman"/>
                          <a:cs typeface="Times New Roman"/>
                          <a:sym typeface="Times New Roman"/>
                        </a:rPr>
                        <a:t>Biomolecules: Nucleic Acids and DNA-Based Information Technologies</a:t>
                      </a:r>
                      <a:endParaRPr sz="18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9</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3/11/2025</a:t>
                      </a:r>
                      <a:endParaRPr sz="18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chemeClr val="dk1"/>
                        </a:buClr>
                        <a:buSzPts val="1400"/>
                        <a:buFont typeface="Arial"/>
                        <a:buNone/>
                      </a:pPr>
                      <a:r>
                        <a:rPr lang="en-US" sz="1800">
                          <a:latin typeface="Times New Roman"/>
                          <a:ea typeface="Times New Roman"/>
                          <a:cs typeface="Times New Roman"/>
                          <a:sym typeface="Times New Roman"/>
                        </a:rPr>
                        <a:t>Cell Organelles and Nuclear Organization </a:t>
                      </a:r>
                      <a:endParaRPr sz="1800" u="none" cap="none" strike="noStrike">
                        <a:solidFill>
                          <a:srgbClr val="0000FF"/>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10</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5/11/2025</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solidFill>
                            <a:srgbClr val="FF0000"/>
                          </a:solidFill>
                          <a:latin typeface="Times New Roman"/>
                          <a:ea typeface="Times New Roman"/>
                          <a:cs typeface="Times New Roman"/>
                          <a:sym typeface="Times New Roman"/>
                        </a:rPr>
                        <a:t>Guru Nanak Jayanti Holiday</a:t>
                      </a:r>
                      <a:endParaRPr sz="1800" u="none" cap="none" strike="noStrike">
                        <a:solidFill>
                          <a:srgbClr val="FF0000"/>
                        </a:solidFill>
                        <a:latin typeface="Times New Roman"/>
                        <a:ea typeface="Times New Roman"/>
                        <a:cs typeface="Times New Roman"/>
                        <a:sym typeface="Times New Roman"/>
                      </a:endParaRPr>
                    </a:p>
                  </a:txBody>
                  <a:tcPr marT="45725" marB="45725" marR="91450" marL="91450">
                    <a:lnT cap="flat" cmpd="sng" w="12700">
                      <a:solidFill>
                        <a:schemeClr val="lt1"/>
                      </a:solidFill>
                      <a:prstDash val="solid"/>
                      <a:round/>
                      <a:headEnd len="sm" w="sm" type="none"/>
                      <a:tailEnd len="sm" w="sm" type="none"/>
                    </a:lnT>
                  </a:tcPr>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11</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6/11/2025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Microscopy to Visualize Cellular Processes </a:t>
                      </a:r>
                      <a:endParaRPr sz="1800">
                        <a:solidFill>
                          <a:srgbClr val="0000FF"/>
                        </a:solidFill>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12</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10/11/2025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Dr. Savita Devi_Lecture 4</a:t>
                      </a:r>
                      <a:endParaRPr sz="1800" u="none" cap="none" strike="noStrike">
                        <a:solidFill>
                          <a:srgbClr val="0000FF"/>
                        </a:solidFill>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13</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12/11/2025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Dr. Savita Devi_Lecture 5</a:t>
                      </a:r>
                      <a:endParaRPr sz="1800" u="none" cap="none" strike="noStrike">
                        <a:solidFill>
                          <a:srgbClr val="0000FF"/>
                        </a:solidFill>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14</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13/11/2025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Dr. Savita Devi_Lecture 6</a:t>
                      </a:r>
                      <a:endParaRPr sz="1800" u="none" cap="none" strike="noStrike">
                        <a:solidFill>
                          <a:srgbClr val="0000FF"/>
                        </a:solidFill>
                        <a:latin typeface="Times New Roman"/>
                        <a:ea typeface="Times New Roman"/>
                        <a:cs typeface="Times New Roman"/>
                        <a:sym typeface="Times New Roman"/>
                      </a:endParaRPr>
                    </a:p>
                  </a:txBody>
                  <a:tcPr marT="45725" marB="45725" marR="91450" marL="91450"/>
                </a:tc>
              </a:tr>
              <a:tr h="322800">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15</a:t>
                      </a:r>
                      <a:endParaRPr sz="1800">
                        <a:latin typeface="Times New Roman"/>
                        <a:ea typeface="Times New Roman"/>
                        <a:cs typeface="Times New Roman"/>
                        <a:sym typeface="Times New Roman"/>
                      </a:endParaRPr>
                    </a:p>
                  </a:txBody>
                  <a:tcPr marT="45725" marB="45725" marR="91450" marL="91450"/>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17/11/2025</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800">
                          <a:solidFill>
                            <a:srgbClr val="0000FF"/>
                          </a:solidFill>
                          <a:latin typeface="Times New Roman"/>
                          <a:ea typeface="Times New Roman"/>
                          <a:cs typeface="Times New Roman"/>
                          <a:sym typeface="Times New Roman"/>
                        </a:rPr>
                        <a:t>Quiz (25 points) MCQs</a:t>
                      </a:r>
                      <a:endParaRPr sz="1800" u="none" cap="none" strike="noStrike">
                        <a:solidFill>
                          <a:srgbClr val="0000FF"/>
                        </a:solidFill>
                        <a:latin typeface="Times New Roman"/>
                        <a:ea typeface="Times New Roman"/>
                        <a:cs typeface="Times New Roman"/>
                        <a:sym typeface="Times New Roman"/>
                      </a:endParaRPr>
                    </a:p>
                  </a:txBody>
                  <a:tcPr marT="45725" marB="45725" marR="91450" marL="91450"/>
                </a:tc>
              </a:tr>
            </a:tbl>
          </a:graphicData>
        </a:graphic>
      </p:graphicFrame>
      <p:sp>
        <p:nvSpPr>
          <p:cNvPr id="98" name="Google Shape;98;p4"/>
          <p:cNvSpPr/>
          <p:nvPr/>
        </p:nvSpPr>
        <p:spPr>
          <a:xfrm>
            <a:off x="0" y="0"/>
            <a:ext cx="12192000" cy="365125"/>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Course Schedule – BT1010-Oct</a:t>
            </a:r>
            <a:r>
              <a:rPr b="1" lang="en-US" sz="2000">
                <a:solidFill>
                  <a:schemeClr val="lt1"/>
                </a:solidFill>
                <a:latin typeface="Times New Roman"/>
                <a:ea typeface="Times New Roman"/>
                <a:cs typeface="Times New Roman"/>
                <a:sym typeface="Times New Roman"/>
              </a:rPr>
              <a:t>-Nov</a:t>
            </a:r>
            <a:r>
              <a:rPr b="1" i="0" lang="en-US" sz="2000" u="none" cap="none" strike="noStrike">
                <a:solidFill>
                  <a:schemeClr val="lt1"/>
                </a:solidFill>
                <a:latin typeface="Times New Roman"/>
                <a:ea typeface="Times New Roman"/>
                <a:cs typeface="Times New Roman"/>
                <a:sym typeface="Times New Roman"/>
              </a:rPr>
              <a:t> 202</a:t>
            </a:r>
            <a:r>
              <a:rPr b="1" lang="en-US" sz="2000">
                <a:solidFill>
                  <a:schemeClr val="lt1"/>
                </a:solidFill>
                <a:latin typeface="Times New Roman"/>
                <a:ea typeface="Times New Roman"/>
                <a:cs typeface="Times New Roman"/>
                <a:sym typeface="Times New Roman"/>
              </a:rPr>
              <a:t>5</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33d96e77ca_0_0"/>
          <p:cNvSpPr txBox="1"/>
          <p:nvPr>
            <p:ph idx="1" type="subTitle"/>
          </p:nvPr>
        </p:nvSpPr>
        <p:spPr>
          <a:xfrm>
            <a:off x="378150" y="536125"/>
            <a:ext cx="11651400" cy="63981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1000"/>
              </a:spcBef>
              <a:spcAft>
                <a:spcPts val="0"/>
              </a:spcAft>
              <a:buSzPct val="100000"/>
              <a:buNone/>
            </a:pPr>
            <a:r>
              <a:rPr b="1" lang="en-US">
                <a:latin typeface="Times New Roman"/>
                <a:ea typeface="Times New Roman"/>
                <a:cs typeface="Times New Roman"/>
                <a:sym typeface="Times New Roman"/>
              </a:rPr>
              <a:t>Dr. Gunjan Mehta</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Assistant Professor (2020-now)</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Laboratory of Chromosome Dynamics and Gene Regulation</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Department of Biotechnology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IIT Hyderabad, India</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(M.) +91 70168 96886</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Email: </a:t>
            </a:r>
            <a:r>
              <a:rPr lang="en-US" sz="1800" u="sng">
                <a:solidFill>
                  <a:schemeClr val="hlink"/>
                </a:solidFill>
                <a:latin typeface="Times New Roman"/>
                <a:ea typeface="Times New Roman"/>
                <a:cs typeface="Times New Roman"/>
                <a:sym typeface="Times New Roman"/>
                <a:hlinkClick r:id="rId3"/>
              </a:rPr>
              <a:t>gunjanmehta@bt.iith.ac.in</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33333"/>
              <a:buNone/>
            </a:pPr>
            <a:r>
              <a:rPr lang="en-US" sz="1800">
                <a:latin typeface="Times New Roman"/>
                <a:ea typeface="Times New Roman"/>
                <a:cs typeface="Times New Roman"/>
                <a:sym typeface="Times New Roman"/>
              </a:rPr>
              <a:t>Lab webpage: </a:t>
            </a:r>
            <a:r>
              <a:rPr lang="en-US" sz="1800" u="sng">
                <a:solidFill>
                  <a:schemeClr val="hlink"/>
                </a:solidFill>
                <a:latin typeface="Times New Roman"/>
                <a:ea typeface="Times New Roman"/>
                <a:cs typeface="Times New Roman"/>
                <a:sym typeface="Times New Roman"/>
                <a:hlinkClick r:id="rId4"/>
              </a:rPr>
              <a:t>www.mehtalab-iith.com</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rPr b="1" lang="en-US">
                <a:latin typeface="Times New Roman"/>
                <a:ea typeface="Times New Roman"/>
                <a:cs typeface="Times New Roman"/>
                <a:sym typeface="Times New Roman"/>
              </a:rPr>
              <a:t>Education:</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SzPct val="109090"/>
              <a:buNone/>
            </a:pPr>
            <a:r>
              <a:rPr lang="en-US" sz="2200">
                <a:latin typeface="Times New Roman"/>
                <a:ea typeface="Times New Roman"/>
                <a:cs typeface="Times New Roman"/>
                <a:sym typeface="Times New Roman"/>
              </a:rPr>
              <a:t>2003-2006		B.Sc. Biochemistry, St. Xavier’s College, Ahmedabad, Gujarat, India</a:t>
            </a:r>
            <a:endParaRPr sz="2200">
              <a:latin typeface="Times New Roman"/>
              <a:ea typeface="Times New Roman"/>
              <a:cs typeface="Times New Roman"/>
              <a:sym typeface="Times New Roman"/>
            </a:endParaRPr>
          </a:p>
          <a:p>
            <a:pPr indent="0" lvl="0" marL="0" rtl="0" algn="l">
              <a:lnSpc>
                <a:spcPct val="90000"/>
              </a:lnSpc>
              <a:spcBef>
                <a:spcPts val="1000"/>
              </a:spcBef>
              <a:spcAft>
                <a:spcPts val="0"/>
              </a:spcAft>
              <a:buSzPct val="109090"/>
              <a:buNone/>
            </a:pPr>
            <a:r>
              <a:rPr lang="en-US" sz="2200">
                <a:latin typeface="Times New Roman"/>
                <a:ea typeface="Times New Roman"/>
                <a:cs typeface="Times New Roman"/>
                <a:sym typeface="Times New Roman"/>
              </a:rPr>
              <a:t>2007-2009		M.Sc. Microbiology, M.S. University of Baroda, Vadodara, Gujarat, India</a:t>
            </a:r>
            <a:endParaRPr sz="2200">
              <a:latin typeface="Times New Roman"/>
              <a:ea typeface="Times New Roman"/>
              <a:cs typeface="Times New Roman"/>
              <a:sym typeface="Times New Roman"/>
            </a:endParaRPr>
          </a:p>
          <a:p>
            <a:pPr indent="0" lvl="0" marL="0" rtl="0" algn="l">
              <a:lnSpc>
                <a:spcPct val="90000"/>
              </a:lnSpc>
              <a:spcBef>
                <a:spcPts val="1000"/>
              </a:spcBef>
              <a:spcAft>
                <a:spcPts val="0"/>
              </a:spcAft>
              <a:buSzPct val="109090"/>
              <a:buNone/>
            </a:pPr>
            <a:r>
              <a:rPr lang="en-US" sz="2200">
                <a:latin typeface="Times New Roman"/>
                <a:ea typeface="Times New Roman"/>
                <a:cs typeface="Times New Roman"/>
                <a:sym typeface="Times New Roman"/>
              </a:rPr>
              <a:t>2009-2015		Ph.D. Biosciences and Bioengineering, IIT Bombay, Mumbai, Maharashtra, India</a:t>
            </a:r>
            <a:endParaRPr sz="2200">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rPr b="1" lang="en-US">
                <a:latin typeface="Times New Roman"/>
                <a:ea typeface="Times New Roman"/>
                <a:cs typeface="Times New Roman"/>
                <a:sym typeface="Times New Roman"/>
              </a:rPr>
              <a:t>Professional Experience:</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SzPct val="109090"/>
              <a:buNone/>
            </a:pPr>
            <a:r>
              <a:rPr lang="en-US" sz="2200">
                <a:latin typeface="Times New Roman"/>
                <a:ea typeface="Times New Roman"/>
                <a:cs typeface="Times New Roman"/>
                <a:sym typeface="Times New Roman"/>
              </a:rPr>
              <a:t>2015-2020 		Post-Doctoral Fellow at the National Institutes of Health (NIH), MD, USA</a:t>
            </a:r>
            <a:endParaRPr sz="2200">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ct val="100000"/>
              <a:buNone/>
            </a:pPr>
            <a:r>
              <a:rPr b="1" lang="en-US">
                <a:latin typeface="Times New Roman"/>
                <a:ea typeface="Times New Roman"/>
                <a:cs typeface="Times New Roman"/>
                <a:sym typeface="Times New Roman"/>
              </a:rPr>
              <a:t>Research Interests:</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SzPct val="109090"/>
              <a:buNone/>
            </a:pPr>
            <a:r>
              <a:rPr lang="en-US" sz="2200">
                <a:latin typeface="Times New Roman"/>
                <a:ea typeface="Times New Roman"/>
                <a:cs typeface="Times New Roman"/>
                <a:sym typeface="Times New Roman"/>
              </a:rPr>
              <a:t>Chromosome Dynamics, Gene Regulation, Single-Molecule Imaging, Genetic Disorders, Cancer</a:t>
            </a:r>
            <a:endParaRPr sz="2200">
              <a:latin typeface="Times New Roman"/>
              <a:ea typeface="Times New Roman"/>
              <a:cs typeface="Times New Roman"/>
              <a:sym typeface="Times New Roman"/>
            </a:endParaRPr>
          </a:p>
        </p:txBody>
      </p:sp>
      <p:sp>
        <p:nvSpPr>
          <p:cNvPr id="105" name="Google Shape;105;g133d96e77ca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Instructor’s Biodata</a:t>
            </a:r>
            <a:endParaRPr b="1" i="0" sz="2000" u="none" cap="none" strike="noStrike">
              <a:solidFill>
                <a:schemeClr val="lt1"/>
              </a:solidFill>
              <a:latin typeface="Times New Roman"/>
              <a:ea typeface="Times New Roman"/>
              <a:cs typeface="Times New Roman"/>
              <a:sym typeface="Times New Roman"/>
            </a:endParaRPr>
          </a:p>
        </p:txBody>
      </p:sp>
      <p:pic>
        <p:nvPicPr>
          <p:cNvPr id="106" name="Google Shape;106;g133d96e77ca_0_0"/>
          <p:cNvPicPr preferRelativeResize="0"/>
          <p:nvPr/>
        </p:nvPicPr>
        <p:blipFill>
          <a:blip r:embed="rId5">
            <a:alphaModFix/>
          </a:blip>
          <a:stretch>
            <a:fillRect/>
          </a:stretch>
        </p:blipFill>
        <p:spPr>
          <a:xfrm>
            <a:off x="5747825" y="536125"/>
            <a:ext cx="6281725" cy="2606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All images and videos shown during this course are copied from online resources and books for the educational purpose only.</a:t>
            </a:r>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Don’t circulate any course material outside (to any non-registered person).</a:t>
            </a:r>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112" name="Google Shape;112;p6"/>
          <p:cNvSpPr/>
          <p:nvPr/>
        </p:nvSpPr>
        <p:spPr>
          <a:xfrm>
            <a:off x="0" y="0"/>
            <a:ext cx="12192000" cy="365125"/>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Instructions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131888db829_0_65"/>
          <p:cNvSpPr txBox="1"/>
          <p:nvPr>
            <p:ph idx="1" type="body"/>
          </p:nvPr>
        </p:nvSpPr>
        <p:spPr>
          <a:xfrm>
            <a:off x="275950" y="73025"/>
            <a:ext cx="11671800" cy="4351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sz="5700">
                <a:latin typeface="Times New Roman"/>
                <a:ea typeface="Times New Roman"/>
                <a:cs typeface="Times New Roman"/>
                <a:sym typeface="Times New Roman"/>
              </a:rPr>
              <a:t>Introduction to Life Sciences (Biology)</a:t>
            </a:r>
            <a:endParaRPr sz="5700">
              <a:latin typeface="Times New Roman"/>
              <a:ea typeface="Times New Roman"/>
              <a:cs typeface="Times New Roman"/>
              <a:sym typeface="Times New Roman"/>
            </a:endParaRPr>
          </a:p>
          <a:p>
            <a:pPr indent="0" lvl="0" marL="0" rtl="0" algn="ctr">
              <a:lnSpc>
                <a:spcPct val="90000"/>
              </a:lnSpc>
              <a:spcBef>
                <a:spcPts val="1000"/>
              </a:spcBef>
              <a:spcAft>
                <a:spcPts val="0"/>
              </a:spcAft>
              <a:buSzPts val="1800"/>
              <a:buNone/>
            </a:pPr>
            <a:r>
              <a:rPr lang="en-US" sz="2000">
                <a:latin typeface="Times New Roman"/>
                <a:ea typeface="Times New Roman"/>
                <a:cs typeface="Times New Roman"/>
                <a:sym typeface="Times New Roman"/>
              </a:rPr>
              <a:t>(zoology, botany, biochemistry, microbiology, biotechnology, molecular biology, genetic engineering, genetics etc.)</a:t>
            </a:r>
            <a:endParaRPr sz="2000">
              <a:latin typeface="Times New Roman"/>
              <a:ea typeface="Times New Roman"/>
              <a:cs typeface="Times New Roman"/>
              <a:sym typeface="Times New Roman"/>
            </a:endParaRPr>
          </a:p>
        </p:txBody>
      </p:sp>
      <p:pic>
        <p:nvPicPr>
          <p:cNvPr id="119" name="Google Shape;119;g131888db829_0_65"/>
          <p:cNvPicPr preferRelativeResize="0"/>
          <p:nvPr/>
        </p:nvPicPr>
        <p:blipFill rotWithShape="1">
          <a:blip r:embed="rId3">
            <a:alphaModFix/>
          </a:blip>
          <a:srcRect b="0" l="0" r="0" t="0"/>
          <a:stretch/>
        </p:blipFill>
        <p:spPr>
          <a:xfrm>
            <a:off x="5080825" y="2009025"/>
            <a:ext cx="7111175" cy="4740776"/>
          </a:xfrm>
          <a:prstGeom prst="rect">
            <a:avLst/>
          </a:prstGeom>
          <a:noFill/>
          <a:ln>
            <a:noFill/>
          </a:ln>
        </p:spPr>
      </p:pic>
      <p:sp>
        <p:nvSpPr>
          <p:cNvPr id="120" name="Google Shape;120;g131888db829_0_65"/>
          <p:cNvSpPr txBox="1"/>
          <p:nvPr/>
        </p:nvSpPr>
        <p:spPr>
          <a:xfrm>
            <a:off x="664300" y="2022250"/>
            <a:ext cx="4572900" cy="48999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Life science studies life in all its forms, past and present. </a:t>
            </a:r>
            <a:endParaRPr b="0" i="0" sz="18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This can include plants, animals, viruses and bacteria, single-cell organisms, and even cells. </a:t>
            </a:r>
            <a:endParaRPr b="0" i="0" sz="18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Life sciences study the biology of how these organisms live, which is why you may hear this group of specialties referred to as biology.</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342900" lvl="0" marL="457200" marR="0" rtl="0" algn="l">
              <a:lnSpc>
                <a:spcPct val="100000"/>
              </a:lnSpc>
              <a:spcBef>
                <a:spcPts val="18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simplest way to define life sciences is the study of living organisms and life processes.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131888db829_0_1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Why engineers need to study Biology/Life Sciences?</a:t>
            </a:r>
            <a:endParaRPr b="1" i="0" sz="2000" u="none" cap="none" strike="noStrike">
              <a:solidFill>
                <a:schemeClr val="lt1"/>
              </a:solidFill>
              <a:latin typeface="Times New Roman"/>
              <a:ea typeface="Times New Roman"/>
              <a:cs typeface="Times New Roman"/>
              <a:sym typeface="Times New Roman"/>
            </a:endParaRPr>
          </a:p>
        </p:txBody>
      </p:sp>
      <p:pic>
        <p:nvPicPr>
          <p:cNvPr id="127" name="Google Shape;127;g131888db829_0_15"/>
          <p:cNvPicPr preferRelativeResize="0"/>
          <p:nvPr/>
        </p:nvPicPr>
        <p:blipFill rotWithShape="1">
          <a:blip r:embed="rId3">
            <a:alphaModFix/>
          </a:blip>
          <a:srcRect b="0" l="0" r="0" t="0"/>
          <a:stretch/>
        </p:blipFill>
        <p:spPr>
          <a:xfrm>
            <a:off x="152400" y="666750"/>
            <a:ext cx="6483675" cy="5801172"/>
          </a:xfrm>
          <a:prstGeom prst="rect">
            <a:avLst/>
          </a:prstGeom>
          <a:noFill/>
          <a:ln>
            <a:noFill/>
          </a:ln>
        </p:spPr>
      </p:pic>
      <p:pic>
        <p:nvPicPr>
          <p:cNvPr id="128" name="Google Shape;128;g131888db829_0_15"/>
          <p:cNvPicPr preferRelativeResize="0"/>
          <p:nvPr/>
        </p:nvPicPr>
        <p:blipFill rotWithShape="1">
          <a:blip r:embed="rId4">
            <a:alphaModFix/>
          </a:blip>
          <a:srcRect b="0" l="0" r="0" t="0"/>
          <a:stretch/>
        </p:blipFill>
        <p:spPr>
          <a:xfrm>
            <a:off x="6868175" y="1792175"/>
            <a:ext cx="5247625" cy="3783567"/>
          </a:xfrm>
          <a:prstGeom prst="rect">
            <a:avLst/>
          </a:prstGeom>
          <a:noFill/>
          <a:ln>
            <a:noFill/>
          </a:ln>
        </p:spPr>
      </p:pic>
      <p:sp>
        <p:nvSpPr>
          <p:cNvPr id="129" name="Google Shape;129;g131888db829_0_15"/>
          <p:cNvSpPr txBox="1"/>
          <p:nvPr/>
        </p:nvSpPr>
        <p:spPr>
          <a:xfrm>
            <a:off x="6800200" y="6440350"/>
            <a:ext cx="543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https://bioe.uw.edu/academic-programs/about-bioengineering/</a:t>
            </a:r>
            <a:endParaRPr b="0" i="0" sz="1400" u="none" cap="none" strike="noStrike">
              <a:solidFill>
                <a:srgbClr val="000000"/>
              </a:solidFill>
              <a:latin typeface="Arial"/>
              <a:ea typeface="Arial"/>
              <a:cs typeface="Arial"/>
              <a:sym typeface="Arial"/>
            </a:endParaRPr>
          </a:p>
        </p:txBody>
      </p:sp>
      <p:sp>
        <p:nvSpPr>
          <p:cNvPr id="130" name="Google Shape;130;g131888db829_0_15"/>
          <p:cNvSpPr txBox="1"/>
          <p:nvPr/>
        </p:nvSpPr>
        <p:spPr>
          <a:xfrm>
            <a:off x="8113175" y="1360375"/>
            <a:ext cx="3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Engineering and Technology Majors</a:t>
            </a:r>
            <a:endParaRPr b="0" i="0" sz="1400" u="none" cap="none" strike="noStrike">
              <a:solidFill>
                <a:srgbClr val="000000"/>
              </a:solidFill>
              <a:latin typeface="Times New Roman"/>
              <a:ea typeface="Times New Roman"/>
              <a:cs typeface="Times New Roman"/>
              <a:sym typeface="Times New Roman"/>
            </a:endParaRPr>
          </a:p>
        </p:txBody>
      </p:sp>
      <p:sp>
        <p:nvSpPr>
          <p:cNvPr id="131" name="Google Shape;131;g131888db829_0_15"/>
          <p:cNvSpPr txBox="1"/>
          <p:nvPr/>
        </p:nvSpPr>
        <p:spPr>
          <a:xfrm>
            <a:off x="10483200" y="5607350"/>
            <a:ext cx="1708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Physical Science and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Mathematics Majors</a:t>
            </a:r>
            <a:endParaRPr b="0" i="0" sz="1400" u="none" cap="none" strike="noStrike">
              <a:solidFill>
                <a:srgbClr val="000000"/>
              </a:solidFill>
              <a:latin typeface="Times New Roman"/>
              <a:ea typeface="Times New Roman"/>
              <a:cs typeface="Times New Roman"/>
              <a:sym typeface="Times New Roman"/>
            </a:endParaRPr>
          </a:p>
        </p:txBody>
      </p:sp>
      <p:sp>
        <p:nvSpPr>
          <p:cNvPr id="132" name="Google Shape;132;g131888db829_0_15"/>
          <p:cNvSpPr txBox="1"/>
          <p:nvPr/>
        </p:nvSpPr>
        <p:spPr>
          <a:xfrm>
            <a:off x="6868175" y="5607350"/>
            <a:ext cx="3263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Life Science and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Biology Majors</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31888db829_0_3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How Biology/Biomedical Engineering is linked to other disciplines of Engineering? </a:t>
            </a:r>
            <a:endParaRPr b="1" i="0" sz="2000" u="none" cap="none" strike="noStrike">
              <a:solidFill>
                <a:schemeClr val="lt1"/>
              </a:solidFill>
              <a:latin typeface="Times New Roman"/>
              <a:ea typeface="Times New Roman"/>
              <a:cs typeface="Times New Roman"/>
              <a:sym typeface="Times New Roman"/>
            </a:endParaRPr>
          </a:p>
        </p:txBody>
      </p:sp>
      <p:pic>
        <p:nvPicPr>
          <p:cNvPr id="139" name="Google Shape;139;g131888db829_0_33"/>
          <p:cNvPicPr preferRelativeResize="0"/>
          <p:nvPr/>
        </p:nvPicPr>
        <p:blipFill rotWithShape="1">
          <a:blip r:embed="rId3">
            <a:alphaModFix/>
          </a:blip>
          <a:srcRect b="0" l="0" r="0" t="0"/>
          <a:stretch/>
        </p:blipFill>
        <p:spPr>
          <a:xfrm>
            <a:off x="190600" y="1467250"/>
            <a:ext cx="8690450" cy="4587575"/>
          </a:xfrm>
          <a:prstGeom prst="rect">
            <a:avLst/>
          </a:prstGeom>
          <a:noFill/>
          <a:ln>
            <a:noFill/>
          </a:ln>
        </p:spPr>
      </p:pic>
      <p:pic>
        <p:nvPicPr>
          <p:cNvPr id="140" name="Google Shape;140;g131888db829_0_33"/>
          <p:cNvPicPr preferRelativeResize="0"/>
          <p:nvPr/>
        </p:nvPicPr>
        <p:blipFill rotWithShape="1">
          <a:blip r:embed="rId4">
            <a:alphaModFix/>
          </a:blip>
          <a:srcRect b="0" l="0" r="0" t="0"/>
          <a:stretch/>
        </p:blipFill>
        <p:spPr>
          <a:xfrm>
            <a:off x="9033450" y="2727300"/>
            <a:ext cx="3006150" cy="2645412"/>
          </a:xfrm>
          <a:prstGeom prst="rect">
            <a:avLst/>
          </a:prstGeom>
          <a:noFill/>
          <a:ln>
            <a:noFill/>
          </a:ln>
        </p:spPr>
      </p:pic>
      <p:sp>
        <p:nvSpPr>
          <p:cNvPr id="141" name="Google Shape;141;g131888db829_0_33"/>
          <p:cNvSpPr txBox="1"/>
          <p:nvPr/>
        </p:nvSpPr>
        <p:spPr>
          <a:xfrm>
            <a:off x="10604275" y="5242225"/>
            <a:ext cx="13389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physics</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astronomy</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chemistry</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earth sciences</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131888db829_0_54"/>
          <p:cNvSpPr txBox="1"/>
          <p:nvPr>
            <p:ph idx="1" type="body"/>
          </p:nvPr>
        </p:nvSpPr>
        <p:spPr>
          <a:xfrm>
            <a:off x="838200" y="4540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Times New Roman"/>
              <a:buChar char="•"/>
            </a:pPr>
            <a:r>
              <a:rPr lang="en-US">
                <a:latin typeface="Times New Roman"/>
                <a:ea typeface="Times New Roman"/>
                <a:cs typeface="Times New Roman"/>
                <a:sym typeface="Times New Roman"/>
              </a:rPr>
              <a:t>So, having fundamental understanding of life sciences/Biology is important for better job prospects!</a:t>
            </a:r>
            <a:endParaRPr>
              <a:latin typeface="Times New Roman"/>
              <a:ea typeface="Times New Roman"/>
              <a:cs typeface="Times New Roman"/>
              <a:sym typeface="Times New Roman"/>
            </a:endParaRPr>
          </a:p>
          <a:p>
            <a:pPr indent="0" lvl="0" marL="457200" rtl="0" algn="l">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342900" lvl="0" marL="457200" rtl="0" algn="l">
              <a:lnSpc>
                <a:spcPct val="90000"/>
              </a:lnSpc>
              <a:spcBef>
                <a:spcPts val="1000"/>
              </a:spcBef>
              <a:spcAft>
                <a:spcPts val="0"/>
              </a:spcAft>
              <a:buSzPts val="1800"/>
              <a:buFont typeface="Times New Roman"/>
              <a:buChar char="•"/>
            </a:pPr>
            <a:r>
              <a:rPr lang="en-US">
                <a:latin typeface="Times New Roman"/>
                <a:ea typeface="Times New Roman"/>
                <a:cs typeface="Times New Roman"/>
                <a:sym typeface="Times New Roman"/>
              </a:rPr>
              <a:t>So many books on “Biology for Engineers”</a:t>
            </a:r>
            <a:endParaRPr>
              <a:latin typeface="Times New Roman"/>
              <a:ea typeface="Times New Roman"/>
              <a:cs typeface="Times New Roman"/>
              <a:sym typeface="Times New Roman"/>
            </a:endParaRPr>
          </a:p>
        </p:txBody>
      </p:sp>
      <p:pic>
        <p:nvPicPr>
          <p:cNvPr id="148" name="Google Shape;148;g131888db829_0_54"/>
          <p:cNvPicPr preferRelativeResize="0"/>
          <p:nvPr/>
        </p:nvPicPr>
        <p:blipFill rotWithShape="1">
          <a:blip r:embed="rId3">
            <a:alphaModFix/>
          </a:blip>
          <a:srcRect b="0" l="18770" r="19197" t="0"/>
          <a:stretch/>
        </p:blipFill>
        <p:spPr>
          <a:xfrm>
            <a:off x="149300" y="3371200"/>
            <a:ext cx="2426375" cy="3129225"/>
          </a:xfrm>
          <a:prstGeom prst="rect">
            <a:avLst/>
          </a:prstGeom>
          <a:noFill/>
          <a:ln>
            <a:noFill/>
          </a:ln>
        </p:spPr>
      </p:pic>
      <p:pic>
        <p:nvPicPr>
          <p:cNvPr id="149" name="Google Shape;149;g131888db829_0_54"/>
          <p:cNvPicPr preferRelativeResize="0"/>
          <p:nvPr/>
        </p:nvPicPr>
        <p:blipFill rotWithShape="1">
          <a:blip r:embed="rId4">
            <a:alphaModFix/>
          </a:blip>
          <a:srcRect b="0" l="0" r="0" t="0"/>
          <a:stretch/>
        </p:blipFill>
        <p:spPr>
          <a:xfrm>
            <a:off x="2703375" y="3347775"/>
            <a:ext cx="2277633" cy="3129224"/>
          </a:xfrm>
          <a:prstGeom prst="rect">
            <a:avLst/>
          </a:prstGeom>
          <a:noFill/>
          <a:ln>
            <a:noFill/>
          </a:ln>
        </p:spPr>
      </p:pic>
      <p:pic>
        <p:nvPicPr>
          <p:cNvPr id="150" name="Google Shape;150;g131888db829_0_54"/>
          <p:cNvPicPr preferRelativeResize="0"/>
          <p:nvPr/>
        </p:nvPicPr>
        <p:blipFill rotWithShape="1">
          <a:blip r:embed="rId5">
            <a:alphaModFix/>
          </a:blip>
          <a:srcRect b="0" l="0" r="0" t="0"/>
          <a:stretch/>
        </p:blipFill>
        <p:spPr>
          <a:xfrm>
            <a:off x="5148875" y="3347775"/>
            <a:ext cx="2438351" cy="3129225"/>
          </a:xfrm>
          <a:prstGeom prst="rect">
            <a:avLst/>
          </a:prstGeom>
          <a:noFill/>
          <a:ln>
            <a:noFill/>
          </a:ln>
        </p:spPr>
      </p:pic>
      <p:pic>
        <p:nvPicPr>
          <p:cNvPr id="151" name="Google Shape;151;g131888db829_0_54"/>
          <p:cNvPicPr preferRelativeResize="0"/>
          <p:nvPr/>
        </p:nvPicPr>
        <p:blipFill rotWithShape="1">
          <a:blip r:embed="rId6">
            <a:alphaModFix/>
          </a:blip>
          <a:srcRect b="0" l="0" r="0" t="0"/>
          <a:stretch/>
        </p:blipFill>
        <p:spPr>
          <a:xfrm>
            <a:off x="7755100" y="3371200"/>
            <a:ext cx="2055309" cy="3105800"/>
          </a:xfrm>
          <a:prstGeom prst="rect">
            <a:avLst/>
          </a:prstGeom>
          <a:noFill/>
          <a:ln>
            <a:noFill/>
          </a:ln>
        </p:spPr>
      </p:pic>
      <p:pic>
        <p:nvPicPr>
          <p:cNvPr id="152" name="Google Shape;152;g131888db829_0_54"/>
          <p:cNvPicPr preferRelativeResize="0"/>
          <p:nvPr/>
        </p:nvPicPr>
        <p:blipFill rotWithShape="1">
          <a:blip r:embed="rId7">
            <a:alphaModFix/>
          </a:blip>
          <a:srcRect b="2536" l="12916" r="13687" t="2451"/>
          <a:stretch/>
        </p:blipFill>
        <p:spPr>
          <a:xfrm>
            <a:off x="9959550" y="3361356"/>
            <a:ext cx="2055300" cy="31156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133d96e77ca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59" name="Google Shape;159;g133d96e77ca_0_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160" name="Google Shape;160;g133d96e77ca_0_7"/>
          <p:cNvPicPr preferRelativeResize="0"/>
          <p:nvPr/>
        </p:nvPicPr>
        <p:blipFill rotWithShape="1">
          <a:blip r:embed="rId3">
            <a:alphaModFix/>
          </a:blip>
          <a:srcRect b="10881" l="0" r="0" t="0"/>
          <a:stretch/>
        </p:blipFill>
        <p:spPr>
          <a:xfrm>
            <a:off x="258100" y="533400"/>
            <a:ext cx="11675851" cy="6111899"/>
          </a:xfrm>
          <a:prstGeom prst="rect">
            <a:avLst/>
          </a:prstGeom>
          <a:noFill/>
          <a:ln>
            <a:noFill/>
          </a:ln>
        </p:spPr>
      </p:pic>
      <p:sp>
        <p:nvSpPr>
          <p:cNvPr id="161" name="Google Shape;161;g133d96e77ca_0_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Organization level of the body</a:t>
            </a:r>
            <a:endParaRPr b="1" i="0" sz="2000" u="none" cap="none" strike="noStrike">
              <a:solidFill>
                <a:schemeClr val="lt1"/>
              </a:solidFill>
              <a:latin typeface="Times New Roman"/>
              <a:ea typeface="Times New Roman"/>
              <a:cs typeface="Times New Roman"/>
              <a:sym typeface="Times New Roman"/>
            </a:endParaRPr>
          </a:p>
        </p:txBody>
      </p:sp>
      <p:sp>
        <p:nvSpPr>
          <p:cNvPr id="162" name="Google Shape;162;g133d96e77ca_0_7"/>
          <p:cNvSpPr/>
          <p:nvPr/>
        </p:nvSpPr>
        <p:spPr>
          <a:xfrm>
            <a:off x="3679400" y="766550"/>
            <a:ext cx="1318500" cy="3015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33d96e77ca_0_7"/>
          <p:cNvSpPr txBox="1"/>
          <p:nvPr/>
        </p:nvSpPr>
        <p:spPr>
          <a:xfrm>
            <a:off x="3576350" y="365100"/>
            <a:ext cx="1829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Basic unit of life</a:t>
            </a:r>
            <a:endParaRPr b="1" i="0" sz="1600" u="none" cap="none" strike="noStrike">
              <a:solidFill>
                <a:srgbClr val="000000"/>
              </a:solidFill>
              <a:latin typeface="Times New Roman"/>
              <a:ea typeface="Times New Roman"/>
              <a:cs typeface="Times New Roman"/>
              <a:sym typeface="Times New Roman"/>
            </a:endParaRPr>
          </a:p>
        </p:txBody>
      </p:sp>
      <p:sp>
        <p:nvSpPr>
          <p:cNvPr id="164" name="Google Shape;164;g133d96e77ca_0_7"/>
          <p:cNvSpPr txBox="1"/>
          <p:nvPr/>
        </p:nvSpPr>
        <p:spPr>
          <a:xfrm>
            <a:off x="3137750" y="4313050"/>
            <a:ext cx="43131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imes New Roman"/>
                <a:ea typeface="Times New Roman"/>
                <a:cs typeface="Times New Roman"/>
                <a:sym typeface="Times New Roman"/>
              </a:rPr>
              <a:t>Carbohydrates: chain of sugars</a:t>
            </a:r>
            <a:endParaRPr b="1"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1" lang="en-US">
                <a:latin typeface="Times New Roman"/>
                <a:ea typeface="Times New Roman"/>
                <a:cs typeface="Times New Roman"/>
                <a:sym typeface="Times New Roman"/>
              </a:rPr>
              <a:t>P</a:t>
            </a:r>
            <a:r>
              <a:rPr b="1" i="0" lang="en-US" sz="1400" u="none" cap="none" strike="noStrike">
                <a:solidFill>
                  <a:srgbClr val="000000"/>
                </a:solidFill>
                <a:latin typeface="Times New Roman"/>
                <a:ea typeface="Times New Roman"/>
                <a:cs typeface="Times New Roman"/>
                <a:sym typeface="Times New Roman"/>
              </a:rPr>
              <a:t>roteins: chain of amino acids</a:t>
            </a:r>
            <a:endParaRPr b="1"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1" lang="en-US">
                <a:latin typeface="Times New Roman"/>
                <a:ea typeface="Times New Roman"/>
                <a:cs typeface="Times New Roman"/>
                <a:sym typeface="Times New Roman"/>
              </a:rPr>
              <a:t>L</a:t>
            </a:r>
            <a:r>
              <a:rPr b="1" i="0" lang="en-US" sz="1400" u="none" cap="none" strike="noStrike">
                <a:solidFill>
                  <a:srgbClr val="000000"/>
                </a:solidFill>
                <a:latin typeface="Times New Roman"/>
                <a:ea typeface="Times New Roman"/>
                <a:cs typeface="Times New Roman"/>
                <a:sym typeface="Times New Roman"/>
              </a:rPr>
              <a:t>ipids: chain of hydrocarbons</a:t>
            </a:r>
            <a:endParaRPr b="1">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1" lang="en-US">
                <a:latin typeface="Times New Roman"/>
                <a:ea typeface="Times New Roman"/>
                <a:cs typeface="Times New Roman"/>
                <a:sym typeface="Times New Roman"/>
              </a:rPr>
              <a:t>N</a:t>
            </a:r>
            <a:r>
              <a:rPr b="1" i="0" lang="en-US" sz="1400" u="none" cap="none" strike="noStrike">
                <a:solidFill>
                  <a:srgbClr val="000000"/>
                </a:solidFill>
                <a:latin typeface="Times New Roman"/>
                <a:ea typeface="Times New Roman"/>
                <a:cs typeface="Times New Roman"/>
                <a:sym typeface="Times New Roman"/>
              </a:rPr>
              <a:t>ucleic acids</a:t>
            </a:r>
            <a:r>
              <a:rPr b="1" lang="en-US">
                <a:latin typeface="Times New Roman"/>
                <a:ea typeface="Times New Roman"/>
                <a:cs typeface="Times New Roman"/>
                <a:sym typeface="Times New Roman"/>
              </a:rPr>
              <a:t>: chain of nucleotides</a:t>
            </a:r>
            <a:endParaRPr b="1"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fc5fde276a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1" name="Google Shape;171;g1fc5fde276a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72" name="Google Shape;172;g1fc5fde276a_0_0"/>
          <p:cNvPicPr preferRelativeResize="0"/>
          <p:nvPr/>
        </p:nvPicPr>
        <p:blipFill>
          <a:blip r:embed="rId3">
            <a:alphaModFix/>
          </a:blip>
          <a:stretch>
            <a:fillRect/>
          </a:stretch>
        </p:blipFill>
        <p:spPr>
          <a:xfrm>
            <a:off x="105100" y="487375"/>
            <a:ext cx="11912902" cy="6492575"/>
          </a:xfrm>
          <a:prstGeom prst="rect">
            <a:avLst/>
          </a:prstGeom>
          <a:noFill/>
          <a:ln>
            <a:noFill/>
          </a:ln>
        </p:spPr>
      </p:pic>
      <p:sp>
        <p:nvSpPr>
          <p:cNvPr id="173" name="Google Shape;173;g1fc5fde276a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Building blocks of the macromolecules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113a4eff4dd_0_37"/>
          <p:cNvPicPr preferRelativeResize="0"/>
          <p:nvPr/>
        </p:nvPicPr>
        <p:blipFill rotWithShape="1">
          <a:blip r:embed="rId3">
            <a:alphaModFix/>
          </a:blip>
          <a:srcRect b="0" l="0" r="0" t="0"/>
          <a:stretch/>
        </p:blipFill>
        <p:spPr>
          <a:xfrm>
            <a:off x="685800" y="0"/>
            <a:ext cx="10842292" cy="6705600"/>
          </a:xfrm>
          <a:prstGeom prst="rect">
            <a:avLst/>
          </a:prstGeom>
          <a:noFill/>
          <a:ln>
            <a:noFill/>
          </a:ln>
        </p:spPr>
      </p:pic>
      <p:sp>
        <p:nvSpPr>
          <p:cNvPr id="180" name="Google Shape;180;g113a4eff4dd_0_37"/>
          <p:cNvSpPr txBox="1"/>
          <p:nvPr>
            <p:ph idx="1" type="body"/>
          </p:nvPr>
        </p:nvSpPr>
        <p:spPr>
          <a:xfrm>
            <a:off x="4648200" y="-3175"/>
            <a:ext cx="6879900" cy="1419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SzPts val="1800"/>
              <a:buNone/>
            </a:pPr>
            <a:r>
              <a:rPr b="1" lang="en-US" sz="7500">
                <a:solidFill>
                  <a:schemeClr val="lt1"/>
                </a:solidFill>
                <a:latin typeface="Times New Roman"/>
                <a:ea typeface="Times New Roman"/>
                <a:cs typeface="Times New Roman"/>
                <a:sym typeface="Times New Roman"/>
              </a:rPr>
              <a:t>Carbohydrates</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p:nvPr/>
        </p:nvSpPr>
        <p:spPr>
          <a:xfrm>
            <a:off x="0" y="0"/>
            <a:ext cx="12192000" cy="365125"/>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What are carbohydrates?</a:t>
            </a:r>
            <a:endParaRPr b="1" i="0" sz="2200" u="none" cap="none" strike="noStrike">
              <a:solidFill>
                <a:schemeClr val="lt1"/>
              </a:solidFill>
              <a:latin typeface="Times New Roman"/>
              <a:ea typeface="Times New Roman"/>
              <a:cs typeface="Times New Roman"/>
              <a:sym typeface="Times New Roman"/>
            </a:endParaRPr>
          </a:p>
        </p:txBody>
      </p:sp>
      <p:pic>
        <p:nvPicPr>
          <p:cNvPr id="186" name="Google Shape;186;p7"/>
          <p:cNvPicPr preferRelativeResize="0"/>
          <p:nvPr/>
        </p:nvPicPr>
        <p:blipFill rotWithShape="1">
          <a:blip r:embed="rId3">
            <a:alphaModFix/>
          </a:blip>
          <a:srcRect b="20271" l="0" r="0" t="20644"/>
          <a:stretch/>
        </p:blipFill>
        <p:spPr>
          <a:xfrm>
            <a:off x="2007400" y="1344150"/>
            <a:ext cx="3665124" cy="2165474"/>
          </a:xfrm>
          <a:prstGeom prst="rect">
            <a:avLst/>
          </a:prstGeom>
          <a:noFill/>
          <a:ln>
            <a:noFill/>
          </a:ln>
        </p:spPr>
      </p:pic>
      <p:pic>
        <p:nvPicPr>
          <p:cNvPr id="187" name="Google Shape;187;p7"/>
          <p:cNvPicPr preferRelativeResize="0"/>
          <p:nvPr/>
        </p:nvPicPr>
        <p:blipFill rotWithShape="1">
          <a:blip r:embed="rId4">
            <a:alphaModFix/>
          </a:blip>
          <a:srcRect b="0" l="24152" r="43964" t="0"/>
          <a:stretch/>
        </p:blipFill>
        <p:spPr>
          <a:xfrm>
            <a:off x="64625" y="495375"/>
            <a:ext cx="2028510" cy="6362625"/>
          </a:xfrm>
          <a:prstGeom prst="rect">
            <a:avLst/>
          </a:prstGeom>
          <a:noFill/>
          <a:ln>
            <a:noFill/>
          </a:ln>
        </p:spPr>
      </p:pic>
      <p:sp>
        <p:nvSpPr>
          <p:cNvPr id="188" name="Google Shape;188;p7"/>
          <p:cNvSpPr txBox="1"/>
          <p:nvPr/>
        </p:nvSpPr>
        <p:spPr>
          <a:xfrm>
            <a:off x="2007400" y="4828800"/>
            <a:ext cx="8630700" cy="193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1 gm of carbohydrates provide 4 calories.</a:t>
            </a:r>
            <a:endParaRPr b="0" i="0" sz="19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1 gm of proteins provide 4 calories</a:t>
            </a:r>
            <a:endParaRPr b="0" i="0" sz="19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1 gm of fats/lipids provide 9 calories</a:t>
            </a:r>
            <a:endParaRPr b="0" i="0" sz="19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Note: Nutritional calorie is the equivalent of the kilocalorie used by chemists and biochemists. So, 65 calorie diet is the equivalent of a 65 kcal diet.</a:t>
            </a:r>
            <a:endParaRPr b="0" i="0" sz="1900" u="none" cap="none" strike="noStrike">
              <a:solidFill>
                <a:srgbClr val="000000"/>
              </a:solidFill>
              <a:latin typeface="Times New Roman"/>
              <a:ea typeface="Times New Roman"/>
              <a:cs typeface="Times New Roman"/>
              <a:sym typeface="Times New Roman"/>
            </a:endParaRPr>
          </a:p>
        </p:txBody>
      </p:sp>
      <p:pic>
        <p:nvPicPr>
          <p:cNvPr id="189" name="Google Shape;189;p7"/>
          <p:cNvPicPr preferRelativeResize="0"/>
          <p:nvPr/>
        </p:nvPicPr>
        <p:blipFill rotWithShape="1">
          <a:blip r:embed="rId5">
            <a:alphaModFix/>
          </a:blip>
          <a:srcRect b="0" l="0" r="0" t="0"/>
          <a:stretch/>
        </p:blipFill>
        <p:spPr>
          <a:xfrm>
            <a:off x="8532300" y="517525"/>
            <a:ext cx="3603925" cy="3603925"/>
          </a:xfrm>
          <a:prstGeom prst="rect">
            <a:avLst/>
          </a:prstGeom>
          <a:noFill/>
          <a:ln>
            <a:noFill/>
          </a:ln>
        </p:spPr>
      </p:pic>
      <p:pic>
        <p:nvPicPr>
          <p:cNvPr id="190" name="Google Shape;190;p7"/>
          <p:cNvPicPr preferRelativeResize="0"/>
          <p:nvPr/>
        </p:nvPicPr>
        <p:blipFill rotWithShape="1">
          <a:blip r:embed="rId6">
            <a:alphaModFix/>
          </a:blip>
          <a:srcRect b="0" l="0" r="0" t="0"/>
          <a:stretch/>
        </p:blipFill>
        <p:spPr>
          <a:xfrm>
            <a:off x="5672525" y="517525"/>
            <a:ext cx="2859775" cy="2859775"/>
          </a:xfrm>
          <a:prstGeom prst="rect">
            <a:avLst/>
          </a:prstGeom>
          <a:noFill/>
          <a:ln>
            <a:noFill/>
          </a:ln>
        </p:spPr>
      </p:pic>
      <p:sp>
        <p:nvSpPr>
          <p:cNvPr id="191" name="Google Shape;191;p7"/>
          <p:cNvSpPr txBox="1"/>
          <p:nvPr/>
        </p:nvSpPr>
        <p:spPr>
          <a:xfrm>
            <a:off x="2411175" y="3509625"/>
            <a:ext cx="3000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16.2 gm x 4 = 65 cal</a:t>
            </a:r>
            <a:endParaRPr b="0" i="0" sz="1900" u="none" cap="none" strike="noStrike">
              <a:solidFill>
                <a:schemeClr val="dk1"/>
              </a:solidFill>
              <a:latin typeface="Times New Roman"/>
              <a:ea typeface="Times New Roman"/>
              <a:cs typeface="Times New Roman"/>
              <a:sym typeface="Times New Roman"/>
            </a:endParaRPr>
          </a:p>
        </p:txBody>
      </p:sp>
      <p:sp>
        <p:nvSpPr>
          <p:cNvPr id="192" name="Google Shape;192;p7"/>
          <p:cNvSpPr txBox="1"/>
          <p:nvPr/>
        </p:nvSpPr>
        <p:spPr>
          <a:xfrm>
            <a:off x="8734675" y="4071950"/>
            <a:ext cx="3000000" cy="1354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46.10 gm x 4 = 184.4 cal </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8.68 gm x 4 = 34.72 cal</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38.12 gm x 9 = 343.08 cal</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Total = 562 cal</a:t>
            </a:r>
            <a:endParaRPr b="0" i="0" sz="1900" u="none" cap="none" strike="noStrike">
              <a:solidFill>
                <a:schemeClr val="dk1"/>
              </a:solidFill>
              <a:latin typeface="Times New Roman"/>
              <a:ea typeface="Times New Roman"/>
              <a:cs typeface="Times New Roman"/>
              <a:sym typeface="Times New Roman"/>
            </a:endParaRPr>
          </a:p>
        </p:txBody>
      </p:sp>
      <p:sp>
        <p:nvSpPr>
          <p:cNvPr id="193" name="Google Shape;193;p7"/>
          <p:cNvSpPr/>
          <p:nvPr/>
        </p:nvSpPr>
        <p:spPr>
          <a:xfrm>
            <a:off x="11178875" y="808775"/>
            <a:ext cx="864300" cy="310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7"/>
          <p:cNvSpPr/>
          <p:nvPr/>
        </p:nvSpPr>
        <p:spPr>
          <a:xfrm>
            <a:off x="2944350" y="2164388"/>
            <a:ext cx="864300" cy="310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11ba87e56a_0_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Carbohydrates, or carbs, are sugar molecules. Along with proteins and fats, carbohydrates are one of three main nutrients found in foods and drinks.</a:t>
            </a:r>
            <a:endParaRPr sz="2000">
              <a:latin typeface="Times New Roman"/>
              <a:ea typeface="Times New Roman"/>
              <a:cs typeface="Times New Roman"/>
              <a:sym typeface="Times New Roman"/>
            </a:endParaRPr>
          </a:p>
          <a:p>
            <a:pPr indent="0" lvl="0" marL="4572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Carbohydrates are an essential macronutrient the body requires in large amounts to run smoothly.</a:t>
            </a:r>
            <a:endParaRPr sz="2000">
              <a:latin typeface="Times New Roman"/>
              <a:ea typeface="Times New Roman"/>
              <a:cs typeface="Times New Roman"/>
              <a:sym typeface="Times New Roman"/>
            </a:endParaRPr>
          </a:p>
          <a:p>
            <a:pPr indent="0" lvl="0" marL="4572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Our digestive system breaks down carbohydrates into glucose. Glucose, or </a:t>
            </a:r>
            <a:r>
              <a:rPr lang="en-US" sz="2000">
                <a:solidFill>
                  <a:srgbClr val="0000FF"/>
                </a:solidFill>
                <a:latin typeface="Times New Roman"/>
                <a:ea typeface="Times New Roman"/>
                <a:cs typeface="Times New Roman"/>
                <a:sym typeface="Times New Roman"/>
              </a:rPr>
              <a:t>blood sugar</a:t>
            </a:r>
            <a:r>
              <a:rPr lang="en-US" sz="2000">
                <a:latin typeface="Times New Roman"/>
                <a:ea typeface="Times New Roman"/>
                <a:cs typeface="Times New Roman"/>
                <a:sym typeface="Times New Roman"/>
              </a:rPr>
              <a:t>, is the main source of energy for your body's cells, tissues, and organs. Glucose can be used immediately or stored in the liver and muscles for later use.</a:t>
            </a:r>
            <a:endParaRPr sz="2000">
              <a:latin typeface="Times New Roman"/>
              <a:ea typeface="Times New Roman"/>
              <a:cs typeface="Times New Roman"/>
              <a:sym typeface="Times New Roman"/>
            </a:endParaRPr>
          </a:p>
          <a:p>
            <a:pPr indent="0" lvl="0" marL="4572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p:txBody>
      </p:sp>
      <p:sp>
        <p:nvSpPr>
          <p:cNvPr id="201" name="Google Shape;201;g111ba87e56a_0_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What are carbohydrates?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111ba87e56a_0_26"/>
          <p:cNvSpPr txBox="1"/>
          <p:nvPr>
            <p:ph idx="1" type="body"/>
          </p:nvPr>
        </p:nvSpPr>
        <p:spPr>
          <a:xfrm>
            <a:off x="838200" y="709075"/>
            <a:ext cx="10515600" cy="54678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Grains, such as bread, noodles, pasta, crackers, cereals, and rice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Fruits, such as apples, bananas, berries, mangoes, melons, and oranges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Dairy products, such as milk and yogurt</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Legumes, including dried beans, lentils, and peas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Snack foods and sweets, such as cakes, cookies, candy, and other desserts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Juices, regular sodas, fruit drinks, sports drinks, and energy drinks that contain sugar</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Starchy vegetables, such as potatoes, corn, and peas</a:t>
            </a:r>
            <a:endParaRPr sz="24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rPr lang="en-US" sz="2400">
                <a:latin typeface="Times New Roman"/>
                <a:ea typeface="Times New Roman"/>
                <a:cs typeface="Times New Roman"/>
                <a:sym typeface="Times New Roman"/>
              </a:rPr>
              <a:t>Some foods don't have a lot of carbohydrates, such as meat, fish, poultry, some types of cheese, nuts, and oils.</a:t>
            </a:r>
            <a:endParaRPr sz="2400">
              <a:latin typeface="Times New Roman"/>
              <a:ea typeface="Times New Roman"/>
              <a:cs typeface="Times New Roman"/>
              <a:sym typeface="Times New Roman"/>
            </a:endParaRPr>
          </a:p>
        </p:txBody>
      </p:sp>
      <p:sp>
        <p:nvSpPr>
          <p:cNvPr id="208" name="Google Shape;208;g111ba87e56a_0_2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Which foods have carbohydrates?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111ba87e56a_0_19"/>
          <p:cNvSpPr txBox="1"/>
          <p:nvPr>
            <p:ph idx="1" type="body"/>
          </p:nvPr>
        </p:nvSpPr>
        <p:spPr>
          <a:xfrm>
            <a:off x="554175" y="606425"/>
            <a:ext cx="113367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Carbohydrates were named from their chemical composition: </a:t>
            </a:r>
            <a:r>
              <a:rPr b="1" lang="en-US" sz="2400">
                <a:latin typeface="Times New Roman"/>
                <a:ea typeface="Times New Roman"/>
                <a:cs typeface="Times New Roman"/>
                <a:sym typeface="Times New Roman"/>
              </a:rPr>
              <a:t>carbo</a:t>
            </a:r>
            <a:r>
              <a:rPr lang="en-US" sz="2400">
                <a:latin typeface="Times New Roman"/>
                <a:ea typeface="Times New Roman"/>
                <a:cs typeface="Times New Roman"/>
                <a:sym typeface="Times New Roman"/>
              </a:rPr>
              <a:t>n, </a:t>
            </a:r>
            <a:r>
              <a:rPr b="1" lang="en-US" sz="2400">
                <a:latin typeface="Times New Roman"/>
                <a:ea typeface="Times New Roman"/>
                <a:cs typeface="Times New Roman"/>
                <a:sym typeface="Times New Roman"/>
              </a:rPr>
              <a:t>hydr</a:t>
            </a:r>
            <a:r>
              <a:rPr lang="en-US" sz="2400">
                <a:latin typeface="Times New Roman"/>
                <a:ea typeface="Times New Roman"/>
                <a:cs typeface="Times New Roman"/>
                <a:sym typeface="Times New Roman"/>
              </a:rPr>
              <a:t>ogen, and oxygen.</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15" name="Google Shape;215;g111ba87e56a_0_1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Classification of carbohydrates (Types of carbohydrates)</a:t>
            </a:r>
            <a:endParaRPr b="1" i="0" sz="2200" u="none" cap="none" strike="noStrike">
              <a:solidFill>
                <a:schemeClr val="lt1"/>
              </a:solidFill>
              <a:latin typeface="Times New Roman"/>
              <a:ea typeface="Times New Roman"/>
              <a:cs typeface="Times New Roman"/>
              <a:sym typeface="Times New Roman"/>
            </a:endParaRPr>
          </a:p>
        </p:txBody>
      </p:sp>
      <p:pic>
        <p:nvPicPr>
          <p:cNvPr id="216" name="Google Shape;216;g111ba87e56a_0_19"/>
          <p:cNvPicPr preferRelativeResize="0"/>
          <p:nvPr/>
        </p:nvPicPr>
        <p:blipFill rotWithShape="1">
          <a:blip r:embed="rId3">
            <a:alphaModFix/>
          </a:blip>
          <a:srcRect b="0" l="0" r="0" t="0"/>
          <a:stretch/>
        </p:blipFill>
        <p:spPr>
          <a:xfrm>
            <a:off x="1295400" y="1447050"/>
            <a:ext cx="9801551" cy="5026800"/>
          </a:xfrm>
          <a:prstGeom prst="rect">
            <a:avLst/>
          </a:prstGeom>
          <a:noFill/>
          <a:ln>
            <a:noFill/>
          </a:ln>
        </p:spPr>
      </p:pic>
      <p:sp>
        <p:nvSpPr>
          <p:cNvPr id="217" name="Google Shape;217;g111ba87e56a_0_19"/>
          <p:cNvSpPr/>
          <p:nvPr/>
        </p:nvSpPr>
        <p:spPr>
          <a:xfrm>
            <a:off x="9414800" y="1297300"/>
            <a:ext cx="2115900" cy="925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8" name="Google Shape;218;g111ba87e56a_0_19"/>
          <p:cNvSpPr/>
          <p:nvPr/>
        </p:nvSpPr>
        <p:spPr>
          <a:xfrm>
            <a:off x="9775025" y="5851675"/>
            <a:ext cx="2115900" cy="925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111ba87e56a_0_61"/>
          <p:cNvPicPr preferRelativeResize="0"/>
          <p:nvPr/>
        </p:nvPicPr>
        <p:blipFill rotWithShape="1">
          <a:blip r:embed="rId3">
            <a:alphaModFix/>
          </a:blip>
          <a:srcRect b="0" l="0" r="0" t="0"/>
          <a:stretch/>
        </p:blipFill>
        <p:spPr>
          <a:xfrm>
            <a:off x="696625" y="531800"/>
            <a:ext cx="10862951" cy="6326200"/>
          </a:xfrm>
          <a:prstGeom prst="rect">
            <a:avLst/>
          </a:prstGeom>
          <a:noFill/>
          <a:ln>
            <a:noFill/>
          </a:ln>
        </p:spPr>
      </p:pic>
      <p:sp>
        <p:nvSpPr>
          <p:cNvPr id="225" name="Google Shape;225;g111ba87e56a_0_6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Structures of carbohydrates_Aldoses</a:t>
            </a:r>
            <a:endParaRPr b="1" i="0" sz="2200" u="none" cap="none" strike="noStrike">
              <a:solidFill>
                <a:schemeClr val="lt1"/>
              </a:solidFill>
              <a:latin typeface="Times New Roman"/>
              <a:ea typeface="Times New Roman"/>
              <a:cs typeface="Times New Roman"/>
              <a:sym typeface="Times New Roman"/>
            </a:endParaRPr>
          </a:p>
        </p:txBody>
      </p:sp>
      <p:sp>
        <p:nvSpPr>
          <p:cNvPr id="226" name="Google Shape;226;g111ba87e56a_0_61"/>
          <p:cNvSpPr txBox="1"/>
          <p:nvPr/>
        </p:nvSpPr>
        <p:spPr>
          <a:xfrm>
            <a:off x="3872850" y="3494800"/>
            <a:ext cx="420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Chiral carbon atoms are shown in pink.</a:t>
            </a:r>
            <a:endParaRPr b="0" i="0" sz="1400" u="none" cap="none" strike="noStrike">
              <a:solidFill>
                <a:srgbClr val="000000"/>
              </a:solidFill>
              <a:latin typeface="Times New Roman"/>
              <a:ea typeface="Times New Roman"/>
              <a:cs typeface="Times New Roman"/>
              <a:sym typeface="Times New Roman"/>
            </a:endParaRPr>
          </a:p>
        </p:txBody>
      </p:sp>
      <p:pic>
        <p:nvPicPr>
          <p:cNvPr id="227" name="Google Shape;227;g111ba87e56a_0_61"/>
          <p:cNvPicPr preferRelativeResize="0"/>
          <p:nvPr/>
        </p:nvPicPr>
        <p:blipFill rotWithShape="1">
          <a:blip r:embed="rId4">
            <a:alphaModFix/>
          </a:blip>
          <a:srcRect b="0" l="0" r="0" t="0"/>
          <a:stretch/>
        </p:blipFill>
        <p:spPr>
          <a:xfrm>
            <a:off x="12191988" y="5181600"/>
            <a:ext cx="4791075" cy="1676400"/>
          </a:xfrm>
          <a:prstGeom prst="rect">
            <a:avLst/>
          </a:prstGeom>
          <a:noFill/>
          <a:ln>
            <a:noFill/>
          </a:ln>
        </p:spPr>
      </p:pic>
      <p:sp>
        <p:nvSpPr>
          <p:cNvPr id="228" name="Google Shape;228;g111ba87e56a_0_61"/>
          <p:cNvSpPr/>
          <p:nvPr/>
        </p:nvSpPr>
        <p:spPr>
          <a:xfrm>
            <a:off x="3545325" y="4010650"/>
            <a:ext cx="1218600" cy="2736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g111ba87e56a_0_68"/>
          <p:cNvPicPr preferRelativeResize="0"/>
          <p:nvPr/>
        </p:nvPicPr>
        <p:blipFill rotWithShape="1">
          <a:blip r:embed="rId3">
            <a:alphaModFix/>
          </a:blip>
          <a:srcRect b="0" l="0" r="0" t="0"/>
          <a:stretch/>
        </p:blipFill>
        <p:spPr>
          <a:xfrm>
            <a:off x="4045326" y="409725"/>
            <a:ext cx="4379625" cy="6448275"/>
          </a:xfrm>
          <a:prstGeom prst="rect">
            <a:avLst/>
          </a:prstGeom>
          <a:noFill/>
          <a:ln>
            <a:noFill/>
          </a:ln>
        </p:spPr>
      </p:pic>
      <p:pic>
        <p:nvPicPr>
          <p:cNvPr id="235" name="Google Shape;235;g111ba87e56a_0_68"/>
          <p:cNvPicPr preferRelativeResize="0"/>
          <p:nvPr/>
        </p:nvPicPr>
        <p:blipFill rotWithShape="1">
          <a:blip r:embed="rId4">
            <a:alphaModFix/>
          </a:blip>
          <a:srcRect b="0" l="0" r="0" t="0"/>
          <a:stretch/>
        </p:blipFill>
        <p:spPr>
          <a:xfrm>
            <a:off x="12191988" y="5276850"/>
            <a:ext cx="4676775" cy="1581150"/>
          </a:xfrm>
          <a:prstGeom prst="rect">
            <a:avLst/>
          </a:prstGeom>
          <a:noFill/>
          <a:ln>
            <a:noFill/>
          </a:ln>
        </p:spPr>
      </p:pic>
      <p:sp>
        <p:nvSpPr>
          <p:cNvPr id="236" name="Google Shape;236;g111ba87e56a_0_68"/>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Structures of carbohydrates_Ketoses</a:t>
            </a:r>
            <a:endParaRPr b="1" i="0" sz="2200" u="none" cap="none" strike="noStrike">
              <a:solidFill>
                <a:schemeClr val="lt1"/>
              </a:solidFill>
              <a:latin typeface="Times New Roman"/>
              <a:ea typeface="Times New Roman"/>
              <a:cs typeface="Times New Roman"/>
              <a:sym typeface="Times New Roman"/>
            </a:endParaRPr>
          </a:p>
        </p:txBody>
      </p:sp>
      <p:sp>
        <p:nvSpPr>
          <p:cNvPr id="237" name="Google Shape;237;g111ba87e56a_0_68"/>
          <p:cNvSpPr/>
          <p:nvPr/>
        </p:nvSpPr>
        <p:spPr>
          <a:xfrm>
            <a:off x="7190375" y="2924900"/>
            <a:ext cx="996900" cy="1894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g112e0ec3e38_0_16"/>
          <p:cNvPicPr preferRelativeResize="0"/>
          <p:nvPr/>
        </p:nvPicPr>
        <p:blipFill rotWithShape="1">
          <a:blip r:embed="rId3">
            <a:alphaModFix/>
          </a:blip>
          <a:srcRect b="20911" l="0" r="0" t="0"/>
          <a:stretch/>
        </p:blipFill>
        <p:spPr>
          <a:xfrm>
            <a:off x="497525" y="425975"/>
            <a:ext cx="4663050" cy="6275524"/>
          </a:xfrm>
          <a:prstGeom prst="rect">
            <a:avLst/>
          </a:prstGeom>
          <a:noFill/>
          <a:ln>
            <a:noFill/>
          </a:ln>
        </p:spPr>
      </p:pic>
      <p:pic>
        <p:nvPicPr>
          <p:cNvPr id="244" name="Google Shape;244;g112e0ec3e38_0_16"/>
          <p:cNvPicPr preferRelativeResize="0"/>
          <p:nvPr/>
        </p:nvPicPr>
        <p:blipFill rotWithShape="1">
          <a:blip r:embed="rId3">
            <a:alphaModFix/>
          </a:blip>
          <a:srcRect b="-574" l="0" r="0" t="82991"/>
          <a:stretch/>
        </p:blipFill>
        <p:spPr>
          <a:xfrm>
            <a:off x="5823375" y="4884363"/>
            <a:ext cx="5464800" cy="1635250"/>
          </a:xfrm>
          <a:prstGeom prst="rect">
            <a:avLst/>
          </a:prstGeom>
          <a:noFill/>
          <a:ln>
            <a:noFill/>
          </a:ln>
        </p:spPr>
      </p:pic>
      <p:sp>
        <p:nvSpPr>
          <p:cNvPr id="245" name="Google Shape;245;g112e0ec3e38_0_1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Stereoisomers of monosaccharides</a:t>
            </a:r>
            <a:endParaRPr b="1" i="0" sz="2200" u="none" cap="none" strike="noStrike">
              <a:solidFill>
                <a:schemeClr val="lt1"/>
              </a:solidFill>
              <a:latin typeface="Times New Roman"/>
              <a:ea typeface="Times New Roman"/>
              <a:cs typeface="Times New Roman"/>
              <a:sym typeface="Times New Roman"/>
            </a:endParaRPr>
          </a:p>
        </p:txBody>
      </p:sp>
      <p:sp>
        <p:nvSpPr>
          <p:cNvPr id="246" name="Google Shape;246;g112e0ec3e38_0_16"/>
          <p:cNvSpPr txBox="1"/>
          <p:nvPr/>
        </p:nvSpPr>
        <p:spPr>
          <a:xfrm>
            <a:off x="5726375" y="1683200"/>
            <a:ext cx="42045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Enantiomers of Glyceraldehyde</a:t>
            </a:r>
            <a:endParaRPr b="0" i="0" sz="1400" u="none" cap="none" strike="noStrike">
              <a:solidFill>
                <a:schemeClr val="dk1"/>
              </a:solidFill>
              <a:latin typeface="Arial"/>
              <a:ea typeface="Arial"/>
              <a:cs typeface="Arial"/>
              <a:sym typeface="Arial"/>
            </a:endParaRPr>
          </a:p>
        </p:txBody>
      </p:sp>
      <p:sp>
        <p:nvSpPr>
          <p:cNvPr id="247" name="Google Shape;247;g112e0ec3e38_0_16"/>
          <p:cNvSpPr txBox="1"/>
          <p:nvPr/>
        </p:nvSpPr>
        <p:spPr>
          <a:xfrm>
            <a:off x="5823375" y="2303850"/>
            <a:ext cx="5552700" cy="203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 molecule with n chiral centers can have 2</a:t>
            </a:r>
            <a:r>
              <a:rPr b="0" baseline="30000" i="0" lang="en-US" sz="2000" u="none" cap="none" strike="noStrike">
                <a:solidFill>
                  <a:schemeClr val="dk1"/>
                </a:solidFill>
                <a:latin typeface="Times New Roman"/>
                <a:ea typeface="Times New Roman"/>
                <a:cs typeface="Times New Roman"/>
                <a:sym typeface="Times New Roman"/>
              </a:rPr>
              <a:t>n</a:t>
            </a:r>
            <a:r>
              <a:rPr b="0" i="0" lang="en-US" sz="2000" u="none" cap="none" strike="noStrike">
                <a:solidFill>
                  <a:schemeClr val="dk1"/>
                </a:solidFill>
                <a:latin typeface="Times New Roman"/>
                <a:ea typeface="Times New Roman"/>
                <a:cs typeface="Times New Roman"/>
                <a:sym typeface="Times New Roman"/>
              </a:rPr>
              <a:t> stereoisomers.</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Glyceraldehyde has 2</a:t>
            </a:r>
            <a:r>
              <a:rPr b="0" baseline="30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=2,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Aldohexoses with 4 chiral carbons have 2</a:t>
            </a:r>
            <a:r>
              <a:rPr b="0" baseline="30000" i="0" lang="en-US" sz="2000" u="none" cap="none" strike="noStrike">
                <a:solidFill>
                  <a:schemeClr val="dk1"/>
                </a:solidFill>
                <a:latin typeface="Times New Roman"/>
                <a:ea typeface="Times New Roman"/>
                <a:cs typeface="Times New Roman"/>
                <a:sym typeface="Times New Roman"/>
              </a:rPr>
              <a:t>4</a:t>
            </a:r>
            <a:r>
              <a:rPr b="0" i="0" lang="en-US" sz="2000" u="none" cap="none" strike="noStrike">
                <a:solidFill>
                  <a:schemeClr val="dk1"/>
                </a:solidFill>
                <a:latin typeface="Times New Roman"/>
                <a:ea typeface="Times New Roman"/>
                <a:cs typeface="Times New Roman"/>
                <a:sym typeface="Times New Roman"/>
              </a:rPr>
              <a:t>=16.</a:t>
            </a:r>
            <a:endParaRPr b="0" i="0" sz="2000" u="none" cap="none" strike="noStrike">
              <a:solidFill>
                <a:schemeClr val="dk1"/>
              </a:solidFill>
              <a:latin typeface="Times New Roman"/>
              <a:ea typeface="Times New Roman"/>
              <a:cs typeface="Times New Roman"/>
              <a:sym typeface="Times New Roman"/>
            </a:endParaRPr>
          </a:p>
        </p:txBody>
      </p:sp>
      <p:sp>
        <p:nvSpPr>
          <p:cNvPr id="248" name="Google Shape;248;g112e0ec3e38_0_16"/>
          <p:cNvSpPr txBox="1"/>
          <p:nvPr/>
        </p:nvSpPr>
        <p:spPr>
          <a:xfrm>
            <a:off x="5594775" y="713900"/>
            <a:ext cx="60756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Enantiomers are the mirror images of each other.</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g112e0ec3e38_0_3"/>
          <p:cNvPicPr preferRelativeResize="0"/>
          <p:nvPr/>
        </p:nvPicPr>
        <p:blipFill rotWithShape="1">
          <a:blip r:embed="rId3">
            <a:alphaModFix/>
          </a:blip>
          <a:srcRect b="0" l="0" r="0" t="0"/>
          <a:stretch/>
        </p:blipFill>
        <p:spPr>
          <a:xfrm>
            <a:off x="2709950" y="1356949"/>
            <a:ext cx="7416400" cy="4672325"/>
          </a:xfrm>
          <a:prstGeom prst="rect">
            <a:avLst/>
          </a:prstGeom>
          <a:noFill/>
          <a:ln>
            <a:noFill/>
          </a:ln>
        </p:spPr>
      </p:pic>
      <p:sp>
        <p:nvSpPr>
          <p:cNvPr id="255" name="Google Shape;255;g112e0ec3e38_0_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Epimers of glucose</a:t>
            </a:r>
            <a:endParaRPr b="1" i="0" sz="2200" u="none" cap="none" strike="noStrike">
              <a:solidFill>
                <a:schemeClr val="lt1"/>
              </a:solidFill>
              <a:latin typeface="Times New Roman"/>
              <a:ea typeface="Times New Roman"/>
              <a:cs typeface="Times New Roman"/>
              <a:sym typeface="Times New Roman"/>
            </a:endParaRPr>
          </a:p>
        </p:txBody>
      </p:sp>
      <p:sp>
        <p:nvSpPr>
          <p:cNvPr id="256" name="Google Shape;256;g112e0ec3e38_0_3"/>
          <p:cNvSpPr txBox="1"/>
          <p:nvPr/>
        </p:nvSpPr>
        <p:spPr>
          <a:xfrm>
            <a:off x="478000" y="877975"/>
            <a:ext cx="11354700" cy="492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Monosaccharides generally contain several chiral carbons and exist in a variety of stereochemical forms.</a:t>
            </a:r>
            <a:endParaRPr b="0" i="0" sz="2000" u="none" cap="none" strike="noStrike">
              <a:solidFill>
                <a:srgbClr val="000000"/>
              </a:solidFill>
              <a:latin typeface="Times New Roman"/>
              <a:ea typeface="Times New Roman"/>
              <a:cs typeface="Times New Roman"/>
              <a:sym typeface="Times New Roman"/>
            </a:endParaRPr>
          </a:p>
        </p:txBody>
      </p:sp>
      <p:sp>
        <p:nvSpPr>
          <p:cNvPr id="257" name="Google Shape;257;g112e0ec3e38_0_3"/>
          <p:cNvSpPr txBox="1"/>
          <p:nvPr/>
        </p:nvSpPr>
        <p:spPr>
          <a:xfrm>
            <a:off x="1436575" y="6294975"/>
            <a:ext cx="9316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Chiral carbon atoms are the carbon atoms that are attached to four substituents/groups.</a:t>
            </a:r>
            <a:endParaRPr b="0" i="0" sz="2000" u="none" cap="none" strike="noStrike">
              <a:solidFill>
                <a:srgbClr val="000000"/>
              </a:solidFill>
              <a:latin typeface="Times New Roman"/>
              <a:ea typeface="Times New Roman"/>
              <a:cs typeface="Times New Roman"/>
              <a:sym typeface="Times New Roman"/>
            </a:endParaRPr>
          </a:p>
        </p:txBody>
      </p:sp>
      <p:sp>
        <p:nvSpPr>
          <p:cNvPr id="258" name="Google Shape;258;g112e0ec3e38_0_3"/>
          <p:cNvSpPr txBox="1"/>
          <p:nvPr/>
        </p:nvSpPr>
        <p:spPr>
          <a:xfrm>
            <a:off x="1032300" y="2728900"/>
            <a:ext cx="1788600" cy="101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imes New Roman"/>
                <a:ea typeface="Times New Roman"/>
                <a:cs typeface="Times New Roman"/>
                <a:sym typeface="Times New Roman"/>
              </a:rPr>
              <a:t>Glucose</a:t>
            </a:r>
            <a:endParaRPr b="0" i="0" sz="27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imes New Roman"/>
                <a:ea typeface="Times New Roman"/>
                <a:cs typeface="Times New Roman"/>
                <a:sym typeface="Times New Roman"/>
              </a:rPr>
              <a:t>C</a:t>
            </a:r>
            <a:r>
              <a:rPr b="0" baseline="-25000" i="0" lang="en-US" sz="2700" u="none" cap="none" strike="noStrike">
                <a:solidFill>
                  <a:srgbClr val="000000"/>
                </a:solidFill>
                <a:latin typeface="Times New Roman"/>
                <a:ea typeface="Times New Roman"/>
                <a:cs typeface="Times New Roman"/>
                <a:sym typeface="Times New Roman"/>
              </a:rPr>
              <a:t>6</a:t>
            </a:r>
            <a:r>
              <a:rPr b="0" i="0" lang="en-US" sz="2700" u="none" cap="none" strike="noStrike">
                <a:solidFill>
                  <a:srgbClr val="000000"/>
                </a:solidFill>
                <a:latin typeface="Times New Roman"/>
                <a:ea typeface="Times New Roman"/>
                <a:cs typeface="Times New Roman"/>
                <a:sym typeface="Times New Roman"/>
              </a:rPr>
              <a:t>H</a:t>
            </a:r>
            <a:r>
              <a:rPr b="0" baseline="-25000" i="0" lang="en-US" sz="2700" u="none" cap="none" strike="noStrike">
                <a:solidFill>
                  <a:srgbClr val="000000"/>
                </a:solidFill>
                <a:latin typeface="Times New Roman"/>
                <a:ea typeface="Times New Roman"/>
                <a:cs typeface="Times New Roman"/>
                <a:sym typeface="Times New Roman"/>
              </a:rPr>
              <a:t>12</a:t>
            </a:r>
            <a:r>
              <a:rPr b="0" i="0" lang="en-US" sz="2700" u="none" cap="none" strike="noStrike">
                <a:solidFill>
                  <a:srgbClr val="000000"/>
                </a:solidFill>
                <a:latin typeface="Times New Roman"/>
                <a:ea typeface="Times New Roman"/>
                <a:cs typeface="Times New Roman"/>
                <a:sym typeface="Times New Roman"/>
              </a:rPr>
              <a:t>O</a:t>
            </a:r>
            <a:r>
              <a:rPr b="0" baseline="-25000" i="0" lang="en-US" sz="2700" u="none" cap="none" strike="noStrike">
                <a:solidFill>
                  <a:srgbClr val="000000"/>
                </a:solidFill>
                <a:latin typeface="Times New Roman"/>
                <a:ea typeface="Times New Roman"/>
                <a:cs typeface="Times New Roman"/>
                <a:sym typeface="Times New Roman"/>
              </a:rPr>
              <a:t>6</a:t>
            </a:r>
            <a:endParaRPr b="0" baseline="-25000" i="0" sz="2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g112e0ec3e38_0_29"/>
          <p:cNvPicPr preferRelativeResize="0"/>
          <p:nvPr/>
        </p:nvPicPr>
        <p:blipFill rotWithShape="1">
          <a:blip r:embed="rId3">
            <a:alphaModFix/>
          </a:blip>
          <a:srcRect b="0" l="0" r="0" t="0"/>
          <a:stretch/>
        </p:blipFill>
        <p:spPr>
          <a:xfrm>
            <a:off x="3243075" y="251875"/>
            <a:ext cx="5932025" cy="6606125"/>
          </a:xfrm>
          <a:prstGeom prst="rect">
            <a:avLst/>
          </a:prstGeom>
          <a:noFill/>
          <a:ln>
            <a:noFill/>
          </a:ln>
        </p:spPr>
      </p:pic>
      <p:sp>
        <p:nvSpPr>
          <p:cNvPr id="265" name="Google Shape;265;g112e0ec3e38_0_2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Enantiomer and Epimer of D-glucose</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112e0ec3e38_0_3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Cyclic (ring) structures of monosaccharides</a:t>
            </a:r>
            <a:endParaRPr b="1" i="0" sz="2200" u="none" cap="none" strike="noStrike">
              <a:solidFill>
                <a:schemeClr val="lt1"/>
              </a:solidFill>
              <a:latin typeface="Times New Roman"/>
              <a:ea typeface="Times New Roman"/>
              <a:cs typeface="Times New Roman"/>
              <a:sym typeface="Times New Roman"/>
            </a:endParaRPr>
          </a:p>
        </p:txBody>
      </p:sp>
      <p:pic>
        <p:nvPicPr>
          <p:cNvPr id="272" name="Google Shape;272;g112e0ec3e38_0_37"/>
          <p:cNvPicPr preferRelativeResize="0"/>
          <p:nvPr/>
        </p:nvPicPr>
        <p:blipFill rotWithShape="1">
          <a:blip r:embed="rId3">
            <a:alphaModFix/>
          </a:blip>
          <a:srcRect b="0" l="0" r="0" t="0"/>
          <a:stretch/>
        </p:blipFill>
        <p:spPr>
          <a:xfrm>
            <a:off x="7103450" y="530213"/>
            <a:ext cx="4400550" cy="6257925"/>
          </a:xfrm>
          <a:prstGeom prst="rect">
            <a:avLst/>
          </a:prstGeom>
          <a:noFill/>
          <a:ln>
            <a:noFill/>
          </a:ln>
        </p:spPr>
      </p:pic>
      <p:pic>
        <p:nvPicPr>
          <p:cNvPr id="273" name="Google Shape;273;g112e0ec3e38_0_37"/>
          <p:cNvPicPr preferRelativeResize="0"/>
          <p:nvPr/>
        </p:nvPicPr>
        <p:blipFill rotWithShape="1">
          <a:blip r:embed="rId4">
            <a:alphaModFix/>
          </a:blip>
          <a:srcRect b="0" l="0" r="0" t="0"/>
          <a:stretch/>
        </p:blipFill>
        <p:spPr>
          <a:xfrm>
            <a:off x="12192000" y="5553075"/>
            <a:ext cx="4724400" cy="1304925"/>
          </a:xfrm>
          <a:prstGeom prst="rect">
            <a:avLst/>
          </a:prstGeom>
          <a:noFill/>
          <a:ln>
            <a:noFill/>
          </a:ln>
        </p:spPr>
      </p:pic>
      <p:sp>
        <p:nvSpPr>
          <p:cNvPr id="274" name="Google Shape;274;g112e0ec3e38_0_37"/>
          <p:cNvSpPr txBox="1"/>
          <p:nvPr/>
        </p:nvSpPr>
        <p:spPr>
          <a:xfrm>
            <a:off x="8695050" y="4565225"/>
            <a:ext cx="98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Times New Roman"/>
                <a:ea typeface="Times New Roman"/>
                <a:cs typeface="Times New Roman"/>
                <a:sym typeface="Times New Roman"/>
              </a:rPr>
              <a:t>Anomers</a:t>
            </a:r>
            <a:endParaRPr b="1" i="0" sz="1600" u="none" cap="none" strike="noStrike">
              <a:solidFill>
                <a:srgbClr val="0000FF"/>
              </a:solidFill>
              <a:latin typeface="Times New Roman"/>
              <a:ea typeface="Times New Roman"/>
              <a:cs typeface="Times New Roman"/>
              <a:sym typeface="Times New Roman"/>
            </a:endParaRPr>
          </a:p>
        </p:txBody>
      </p:sp>
      <p:pic>
        <p:nvPicPr>
          <p:cNvPr id="275" name="Google Shape;275;g112e0ec3e38_0_37"/>
          <p:cNvPicPr preferRelativeResize="0"/>
          <p:nvPr/>
        </p:nvPicPr>
        <p:blipFill rotWithShape="1">
          <a:blip r:embed="rId5">
            <a:alphaModFix/>
          </a:blip>
          <a:srcRect b="0" l="0" r="0" t="0"/>
          <a:stretch/>
        </p:blipFill>
        <p:spPr>
          <a:xfrm>
            <a:off x="5162924" y="4996324"/>
            <a:ext cx="1521643" cy="1861675"/>
          </a:xfrm>
          <a:prstGeom prst="rect">
            <a:avLst/>
          </a:prstGeom>
          <a:noFill/>
          <a:ln>
            <a:noFill/>
          </a:ln>
        </p:spPr>
      </p:pic>
      <p:sp>
        <p:nvSpPr>
          <p:cNvPr id="276" name="Google Shape;276;g112e0ec3e38_0_37"/>
          <p:cNvSpPr/>
          <p:nvPr/>
        </p:nvSpPr>
        <p:spPr>
          <a:xfrm>
            <a:off x="6749000" y="5783700"/>
            <a:ext cx="362700" cy="175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112e0ec3e38_0_37"/>
          <p:cNvSpPr txBox="1"/>
          <p:nvPr>
            <p:ph idx="1" type="body"/>
          </p:nvPr>
        </p:nvSpPr>
        <p:spPr>
          <a:xfrm>
            <a:off x="454250" y="530225"/>
            <a:ext cx="7589400" cy="4351200"/>
          </a:xfrm>
          <a:prstGeom prst="rect">
            <a:avLst/>
          </a:prstGeom>
          <a:noFill/>
          <a:ln>
            <a:noFill/>
          </a:ln>
        </p:spPr>
        <p:txBody>
          <a:bodyPr anchorCtr="0" anchor="t" bIns="45700" lIns="91425" spcFirstLastPara="1" rIns="91425" wrap="square" tIns="45700">
            <a:normAutofit fontScale="77500" lnSpcReduction="20000"/>
          </a:bodyPr>
          <a:lstStyle/>
          <a:p>
            <a:pPr indent="-317182"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In aqueous solution, monosaccharides with 5 or more carbons occur predominantly as cyclic (ring) structures.</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82949"/>
              <a:buNone/>
            </a:pPr>
            <a:r>
              <a:t/>
            </a:r>
            <a:endParaRPr>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Carbonyl group forms a covalent bond with the oxygen of a hydroxyl group along the chain.</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ct val="82949"/>
              <a:buNone/>
            </a:pPr>
            <a:r>
              <a:t/>
            </a:r>
            <a:endParaRPr>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Isomeric forms of monosaccharides that differ only in their configuration about the hemiacetal or hemiketal carbon atom are called </a:t>
            </a:r>
            <a:r>
              <a:rPr lang="en-US">
                <a:solidFill>
                  <a:srgbClr val="0000FF"/>
                </a:solidFill>
                <a:latin typeface="Times New Roman"/>
                <a:ea typeface="Times New Roman"/>
                <a:cs typeface="Times New Roman"/>
                <a:sym typeface="Times New Roman"/>
              </a:rPr>
              <a:t>anomers</a:t>
            </a:r>
            <a:r>
              <a:rPr lang="en-US">
                <a:latin typeface="Times New Roman"/>
                <a:ea typeface="Times New Roman"/>
                <a:cs typeface="Times New Roman"/>
                <a:sym typeface="Times New Roman"/>
              </a:rPr>
              <a:t>, and the carbonyl carbon is called the </a:t>
            </a:r>
            <a:r>
              <a:rPr lang="en-US">
                <a:solidFill>
                  <a:srgbClr val="0000FF"/>
                </a:solidFill>
                <a:latin typeface="Times New Roman"/>
                <a:ea typeface="Times New Roman"/>
                <a:cs typeface="Times New Roman"/>
                <a:sym typeface="Times New Roman"/>
              </a:rPr>
              <a:t>anomeric carbon</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ct val="82949"/>
              <a:buNone/>
            </a:pPr>
            <a:r>
              <a:t/>
            </a:r>
            <a:endParaRPr>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64285"/>
              <a:buFont typeface="Times New Roman"/>
              <a:buChar char="•"/>
            </a:pPr>
            <a:r>
              <a:rPr lang="en-US">
                <a:solidFill>
                  <a:srgbClr val="0000FF"/>
                </a:solidFill>
                <a:latin typeface="Times New Roman"/>
                <a:ea typeface="Times New Roman"/>
                <a:cs typeface="Times New Roman"/>
                <a:sym typeface="Times New Roman"/>
              </a:rPr>
              <a:t>Mutarotation:</a:t>
            </a:r>
            <a:r>
              <a:rPr lang="en-US">
                <a:latin typeface="Times New Roman"/>
                <a:ea typeface="Times New Roman"/>
                <a:cs typeface="Times New Roman"/>
                <a:sym typeface="Times New Roman"/>
              </a:rPr>
              <a:t> The interconversion of ⍺- and β- anomers is called mutarotation. This is a spontaneous process.</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12e0ec3e38_0_57"/>
          <p:cNvSpPr txBox="1"/>
          <p:nvPr>
            <p:ph idx="1" type="body"/>
          </p:nvPr>
        </p:nvSpPr>
        <p:spPr>
          <a:xfrm>
            <a:off x="542875" y="454025"/>
            <a:ext cx="11211900" cy="4351200"/>
          </a:xfrm>
          <a:prstGeom prst="rect">
            <a:avLst/>
          </a:prstGeom>
          <a:noFill/>
          <a:ln>
            <a:noFill/>
          </a:ln>
        </p:spPr>
        <p:txBody>
          <a:bodyPr anchorCtr="0" anchor="t" bIns="45700" lIns="91425" spcFirstLastPara="1" rIns="91425" wrap="square" tIns="45700">
            <a:normAutofit/>
          </a:bodyPr>
          <a:lstStyle/>
          <a:p>
            <a:pPr indent="-298450" lvl="0" marL="457200" rtl="0" algn="l">
              <a:lnSpc>
                <a:spcPct val="115000"/>
              </a:lnSpc>
              <a:spcBef>
                <a:spcPts val="0"/>
              </a:spcBef>
              <a:spcAft>
                <a:spcPts val="0"/>
              </a:spcAft>
              <a:buSzPts val="1100"/>
              <a:buFont typeface="Times New Roman"/>
              <a:buChar char="•"/>
            </a:pPr>
            <a:r>
              <a:rPr lang="en-US" sz="2100">
                <a:solidFill>
                  <a:srgbClr val="0000FF"/>
                </a:solidFill>
                <a:latin typeface="Times New Roman"/>
                <a:ea typeface="Times New Roman"/>
                <a:cs typeface="Times New Roman"/>
                <a:sym typeface="Times New Roman"/>
              </a:rPr>
              <a:t>Disaccharides </a:t>
            </a:r>
            <a:r>
              <a:rPr lang="en-US" sz="2100">
                <a:latin typeface="Times New Roman"/>
                <a:ea typeface="Times New Roman"/>
                <a:cs typeface="Times New Roman"/>
                <a:sym typeface="Times New Roman"/>
              </a:rPr>
              <a:t>(such as maltose, lactose and sucrose) consist of two monosaccharides joined covalently by an </a:t>
            </a:r>
            <a:r>
              <a:rPr lang="en-US" sz="2100">
                <a:solidFill>
                  <a:srgbClr val="0000FF"/>
                </a:solidFill>
                <a:latin typeface="Times New Roman"/>
                <a:ea typeface="Times New Roman"/>
                <a:cs typeface="Times New Roman"/>
                <a:sym typeface="Times New Roman"/>
              </a:rPr>
              <a:t>O-glycosidic bond</a:t>
            </a:r>
            <a:r>
              <a:rPr lang="en-US" sz="2100">
                <a:latin typeface="Times New Roman"/>
                <a:ea typeface="Times New Roman"/>
                <a:cs typeface="Times New Roman"/>
                <a:sym typeface="Times New Roman"/>
              </a:rPr>
              <a:t>, which is formed when a hydroxyl group of one sugar reacts with the anomeric carbon of the other.</a:t>
            </a:r>
            <a:endParaRPr sz="21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2100">
              <a:latin typeface="Times New Roman"/>
              <a:ea typeface="Times New Roman"/>
              <a:cs typeface="Times New Roman"/>
              <a:sym typeface="Times New Roman"/>
            </a:endParaRPr>
          </a:p>
          <a:p>
            <a:pPr indent="-361950" lvl="0" marL="457200" rtl="0" algn="l">
              <a:lnSpc>
                <a:spcPct val="115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Anomeric carbon is involved in a glycosidic bond, hence the easy interconversion of linear and cyclic forms is prevented. </a:t>
            </a:r>
            <a:endParaRPr sz="2100">
              <a:latin typeface="Times New Roman"/>
              <a:ea typeface="Times New Roman"/>
              <a:cs typeface="Times New Roman"/>
              <a:sym typeface="Times New Roman"/>
            </a:endParaRPr>
          </a:p>
        </p:txBody>
      </p:sp>
      <p:sp>
        <p:nvSpPr>
          <p:cNvPr id="284" name="Google Shape;284;g112e0ec3e38_0_5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Disaccharides contain a glycosidic bond</a:t>
            </a:r>
            <a:endParaRPr b="1" i="0" sz="2200" u="none" cap="none" strike="noStrike">
              <a:solidFill>
                <a:schemeClr val="lt1"/>
              </a:solidFill>
              <a:latin typeface="Times New Roman"/>
              <a:ea typeface="Times New Roman"/>
              <a:cs typeface="Times New Roman"/>
              <a:sym typeface="Times New Roman"/>
            </a:endParaRPr>
          </a:p>
        </p:txBody>
      </p:sp>
      <p:pic>
        <p:nvPicPr>
          <p:cNvPr id="285" name="Google Shape;285;g112e0ec3e38_0_57"/>
          <p:cNvPicPr preferRelativeResize="0"/>
          <p:nvPr/>
        </p:nvPicPr>
        <p:blipFill rotWithShape="1">
          <a:blip r:embed="rId3">
            <a:alphaModFix/>
          </a:blip>
          <a:srcRect b="0" l="0" r="0" t="0"/>
          <a:stretch/>
        </p:blipFill>
        <p:spPr>
          <a:xfrm>
            <a:off x="4154425" y="2354350"/>
            <a:ext cx="4724050" cy="4503650"/>
          </a:xfrm>
          <a:prstGeom prst="rect">
            <a:avLst/>
          </a:prstGeom>
          <a:noFill/>
          <a:ln>
            <a:noFill/>
          </a:ln>
        </p:spPr>
      </p:pic>
      <p:pic>
        <p:nvPicPr>
          <p:cNvPr id="286" name="Google Shape;286;g112e0ec3e38_0_57"/>
          <p:cNvPicPr preferRelativeResize="0"/>
          <p:nvPr/>
        </p:nvPicPr>
        <p:blipFill rotWithShape="1">
          <a:blip r:embed="rId4">
            <a:alphaModFix/>
          </a:blip>
          <a:srcRect b="0" l="0" r="0" t="0"/>
          <a:stretch/>
        </p:blipFill>
        <p:spPr>
          <a:xfrm>
            <a:off x="12192000" y="5110025"/>
            <a:ext cx="3723947" cy="1747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112e0ec3e38_0_6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Disaccharides and their structures</a:t>
            </a:r>
            <a:endParaRPr b="1" i="0" sz="2200" u="none" cap="none" strike="noStrike">
              <a:solidFill>
                <a:schemeClr val="lt1"/>
              </a:solidFill>
              <a:latin typeface="Times New Roman"/>
              <a:ea typeface="Times New Roman"/>
              <a:cs typeface="Times New Roman"/>
              <a:sym typeface="Times New Roman"/>
            </a:endParaRPr>
          </a:p>
        </p:txBody>
      </p:sp>
      <p:pic>
        <p:nvPicPr>
          <p:cNvPr id="293" name="Google Shape;293;g112e0ec3e38_0_67"/>
          <p:cNvPicPr preferRelativeResize="0"/>
          <p:nvPr/>
        </p:nvPicPr>
        <p:blipFill rotWithShape="1">
          <a:blip r:embed="rId3">
            <a:alphaModFix/>
          </a:blip>
          <a:srcRect b="0" l="0" r="0" t="0"/>
          <a:stretch/>
        </p:blipFill>
        <p:spPr>
          <a:xfrm>
            <a:off x="4191000" y="431450"/>
            <a:ext cx="3752475" cy="6397975"/>
          </a:xfrm>
          <a:prstGeom prst="rect">
            <a:avLst/>
          </a:prstGeom>
          <a:noFill/>
          <a:ln>
            <a:noFill/>
          </a:ln>
        </p:spPr>
      </p:pic>
      <p:pic>
        <p:nvPicPr>
          <p:cNvPr id="294" name="Google Shape;294;g112e0ec3e38_0_67"/>
          <p:cNvPicPr preferRelativeResize="0"/>
          <p:nvPr/>
        </p:nvPicPr>
        <p:blipFill rotWithShape="1">
          <a:blip r:embed="rId4">
            <a:alphaModFix/>
          </a:blip>
          <a:srcRect b="0" l="0" r="0" t="0"/>
          <a:stretch/>
        </p:blipFill>
        <p:spPr>
          <a:xfrm>
            <a:off x="12268200" y="5374438"/>
            <a:ext cx="4743450" cy="1400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112e0ec3e38_0_73"/>
          <p:cNvSpPr txBox="1"/>
          <p:nvPr>
            <p:ph idx="1" type="body"/>
          </p:nvPr>
        </p:nvSpPr>
        <p:spPr>
          <a:xfrm>
            <a:off x="838200" y="1292225"/>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Most carbohydrates found in nature occur as polysaccharides, polymer of medium to high molecular weight. </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Polysaccharides are also known as glycans.</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They serve as stored fuel (e.g. starch, glycogen) and as structural components of cell walls (cellulose, chitin, dextran) and extracellular matrix.</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Homopolysaccharides contain only a single monomeric species. e.g. starch, glycogen, cellulose, chitin, dextran.</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Heteropolysaccharides contain two or more different kinds. e.g. peptidoglycan, </a:t>
            </a:r>
            <a:endParaRPr>
              <a:latin typeface="Times New Roman"/>
              <a:ea typeface="Times New Roman"/>
              <a:cs typeface="Times New Roman"/>
              <a:sym typeface="Times New Roman"/>
            </a:endParaRPr>
          </a:p>
        </p:txBody>
      </p:sp>
      <p:sp>
        <p:nvSpPr>
          <p:cNvPr id="301" name="Google Shape;301;g112e0ec3e38_0_7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Polysaccharides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g113a4eff4dd_0_2"/>
          <p:cNvPicPr preferRelativeResize="0"/>
          <p:nvPr/>
        </p:nvPicPr>
        <p:blipFill rotWithShape="1">
          <a:blip r:embed="rId3">
            <a:alphaModFix/>
          </a:blip>
          <a:srcRect b="0" l="0" r="0" t="0"/>
          <a:stretch/>
        </p:blipFill>
        <p:spPr>
          <a:xfrm>
            <a:off x="2645375" y="422475"/>
            <a:ext cx="6819425" cy="6198225"/>
          </a:xfrm>
          <a:prstGeom prst="rect">
            <a:avLst/>
          </a:prstGeom>
          <a:noFill/>
          <a:ln>
            <a:noFill/>
          </a:ln>
        </p:spPr>
      </p:pic>
      <p:pic>
        <p:nvPicPr>
          <p:cNvPr id="308" name="Google Shape;308;g113a4eff4dd_0_2"/>
          <p:cNvPicPr preferRelativeResize="0"/>
          <p:nvPr/>
        </p:nvPicPr>
        <p:blipFill rotWithShape="1">
          <a:blip r:embed="rId4">
            <a:alphaModFix/>
          </a:blip>
          <a:srcRect b="0" l="0" r="0" t="0"/>
          <a:stretch/>
        </p:blipFill>
        <p:spPr>
          <a:xfrm>
            <a:off x="12192000" y="6229350"/>
            <a:ext cx="4667250" cy="628650"/>
          </a:xfrm>
          <a:prstGeom prst="rect">
            <a:avLst/>
          </a:prstGeom>
          <a:noFill/>
          <a:ln>
            <a:noFill/>
          </a:ln>
        </p:spPr>
      </p:pic>
      <p:sp>
        <p:nvSpPr>
          <p:cNvPr id="309" name="Google Shape;309;g113a4eff4dd_0_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Homo- and Hetero- polysaccharides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g113a4eff4dd_0_10"/>
          <p:cNvPicPr preferRelativeResize="0"/>
          <p:nvPr/>
        </p:nvPicPr>
        <p:blipFill rotWithShape="1">
          <a:blip r:embed="rId3">
            <a:alphaModFix/>
          </a:blip>
          <a:srcRect b="0" l="0" r="0" t="0"/>
          <a:stretch/>
        </p:blipFill>
        <p:spPr>
          <a:xfrm>
            <a:off x="1390650" y="1204913"/>
            <a:ext cx="9410700" cy="5514975"/>
          </a:xfrm>
          <a:prstGeom prst="rect">
            <a:avLst/>
          </a:prstGeom>
          <a:noFill/>
          <a:ln>
            <a:noFill/>
          </a:ln>
        </p:spPr>
      </p:pic>
      <p:pic>
        <p:nvPicPr>
          <p:cNvPr id="316" name="Google Shape;316;g113a4eff4dd_0_10"/>
          <p:cNvPicPr preferRelativeResize="0"/>
          <p:nvPr/>
        </p:nvPicPr>
        <p:blipFill rotWithShape="1">
          <a:blip r:embed="rId4">
            <a:alphaModFix/>
          </a:blip>
          <a:srcRect b="0" l="0" r="0" t="0"/>
          <a:stretch/>
        </p:blipFill>
        <p:spPr>
          <a:xfrm>
            <a:off x="12191988" y="5267313"/>
            <a:ext cx="9667875" cy="1590675"/>
          </a:xfrm>
          <a:prstGeom prst="rect">
            <a:avLst/>
          </a:prstGeom>
          <a:noFill/>
          <a:ln>
            <a:noFill/>
          </a:ln>
        </p:spPr>
      </p:pic>
      <p:sp>
        <p:nvSpPr>
          <p:cNvPr id="317" name="Google Shape;317;g113a4eff4dd_0_1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Homo- and Hetero- polysaccharides</a:t>
            </a:r>
            <a:endParaRPr b="1" i="0" sz="2200" u="none" cap="none" strike="noStrike">
              <a:solidFill>
                <a:schemeClr val="lt1"/>
              </a:solidFill>
              <a:latin typeface="Times New Roman"/>
              <a:ea typeface="Times New Roman"/>
              <a:cs typeface="Times New Roman"/>
              <a:sym typeface="Times New Roman"/>
            </a:endParaRPr>
          </a:p>
        </p:txBody>
      </p:sp>
      <p:sp>
        <p:nvSpPr>
          <p:cNvPr id="318" name="Google Shape;318;g113a4eff4dd_0_10"/>
          <p:cNvSpPr txBox="1"/>
          <p:nvPr/>
        </p:nvSpPr>
        <p:spPr>
          <a:xfrm>
            <a:off x="1580425" y="967300"/>
            <a:ext cx="922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FF"/>
                </a:solidFill>
                <a:latin typeface="Times New Roman"/>
                <a:ea typeface="Times New Roman"/>
                <a:cs typeface="Times New Roman"/>
                <a:sym typeface="Times New Roman"/>
              </a:rPr>
              <a:t>A short segment of Amylose, a linear polymer of D-glucose residues in α1→4 linkage.</a:t>
            </a:r>
            <a:endParaRPr b="0" i="0" sz="1400" u="none" cap="none" strike="noStrike">
              <a:solidFill>
                <a:srgbClr val="0000FF"/>
              </a:solidFill>
              <a:latin typeface="Times New Roman"/>
              <a:ea typeface="Times New Roman"/>
              <a:cs typeface="Times New Roman"/>
              <a:sym typeface="Times New Roman"/>
            </a:endParaRPr>
          </a:p>
        </p:txBody>
      </p:sp>
      <p:sp>
        <p:nvSpPr>
          <p:cNvPr id="319" name="Google Shape;319;g113a4eff4dd_0_10"/>
          <p:cNvSpPr txBox="1"/>
          <p:nvPr/>
        </p:nvSpPr>
        <p:spPr>
          <a:xfrm>
            <a:off x="1483800" y="2817300"/>
            <a:ext cx="413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FF"/>
                </a:solidFill>
                <a:latin typeface="Times New Roman"/>
                <a:ea typeface="Times New Roman"/>
                <a:cs typeface="Times New Roman"/>
                <a:sym typeface="Times New Roman"/>
              </a:rPr>
              <a:t>An α1→6 branch point of glycogen or amylopectin.</a:t>
            </a:r>
            <a:endParaRPr b="0" i="0" sz="1400" u="none" cap="none" strike="noStrike">
              <a:solidFill>
                <a:srgbClr val="0000FF"/>
              </a:solidFill>
              <a:latin typeface="Times New Roman"/>
              <a:ea typeface="Times New Roman"/>
              <a:cs typeface="Times New Roman"/>
              <a:sym typeface="Times New Roman"/>
            </a:endParaRPr>
          </a:p>
        </p:txBody>
      </p:sp>
      <p:sp>
        <p:nvSpPr>
          <p:cNvPr id="320" name="Google Shape;320;g113a4eff4dd_0_10"/>
          <p:cNvSpPr txBox="1"/>
          <p:nvPr/>
        </p:nvSpPr>
        <p:spPr>
          <a:xfrm>
            <a:off x="6412700" y="3900900"/>
            <a:ext cx="4532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FF"/>
                </a:solidFill>
                <a:latin typeface="Times New Roman"/>
                <a:ea typeface="Times New Roman"/>
                <a:cs typeface="Times New Roman"/>
                <a:sym typeface="Times New Roman"/>
              </a:rPr>
              <a:t>A cluster of amylose and amylopectin in starch granules.</a:t>
            </a:r>
            <a:endParaRPr b="0" i="0" sz="14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g113a4eff4dd_0_23"/>
          <p:cNvPicPr preferRelativeResize="0"/>
          <p:nvPr/>
        </p:nvPicPr>
        <p:blipFill rotWithShape="1">
          <a:blip r:embed="rId3">
            <a:alphaModFix/>
          </a:blip>
          <a:srcRect b="0" l="0" r="0" t="0"/>
          <a:stretch/>
        </p:blipFill>
        <p:spPr>
          <a:xfrm>
            <a:off x="1736088" y="0"/>
            <a:ext cx="8719822" cy="6857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g113a4eff4dd_0_30"/>
          <p:cNvPicPr preferRelativeResize="0"/>
          <p:nvPr/>
        </p:nvPicPr>
        <p:blipFill rotWithShape="1">
          <a:blip r:embed="rId3">
            <a:alphaModFix/>
          </a:blip>
          <a:srcRect b="0" l="0" r="0" t="0"/>
          <a:stretch/>
        </p:blipFill>
        <p:spPr>
          <a:xfrm>
            <a:off x="35855" y="0"/>
            <a:ext cx="12079945" cy="6784875"/>
          </a:xfrm>
          <a:prstGeom prst="rect">
            <a:avLst/>
          </a:prstGeom>
          <a:noFill/>
          <a:ln>
            <a:noFill/>
          </a:ln>
        </p:spPr>
      </p:pic>
      <p:sp>
        <p:nvSpPr>
          <p:cNvPr id="333" name="Google Shape;333;g113a4eff4dd_0_30"/>
          <p:cNvSpPr txBox="1"/>
          <p:nvPr>
            <p:ph idx="1" type="body"/>
          </p:nvPr>
        </p:nvSpPr>
        <p:spPr>
          <a:xfrm>
            <a:off x="838200" y="-3175"/>
            <a:ext cx="10515600" cy="4351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SzPts val="1800"/>
              <a:buNone/>
            </a:pPr>
            <a:r>
              <a:rPr b="1" lang="en-US" sz="7500">
                <a:latin typeface="Times New Roman"/>
                <a:ea typeface="Times New Roman"/>
                <a:cs typeface="Times New Roman"/>
                <a:sym typeface="Times New Roman"/>
              </a:rPr>
              <a:t>Lipids</a:t>
            </a:r>
            <a:endParaRPr b="1" sz="75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13a4eff4dd_0_45"/>
          <p:cNvSpPr txBox="1"/>
          <p:nvPr>
            <p:ph idx="1" type="body"/>
          </p:nvPr>
        </p:nvSpPr>
        <p:spPr>
          <a:xfrm>
            <a:off x="838200" y="911225"/>
            <a:ext cx="10515600" cy="43512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Biological lipids are chemically diverse group of compounds, which are insoluble in water.</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Fats and oils are the stored form of energy.</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Phospholipids and sterols are major structural elements of biological membranes.</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Other lipids are hormones, enzyme cofactors, light absorbing pigments, electron carriers, intracellular messengers.</a:t>
            </a:r>
            <a:endParaRPr>
              <a:latin typeface="Times New Roman"/>
              <a:ea typeface="Times New Roman"/>
              <a:cs typeface="Times New Roman"/>
              <a:sym typeface="Times New Roman"/>
            </a:endParaRPr>
          </a:p>
        </p:txBody>
      </p:sp>
      <p:sp>
        <p:nvSpPr>
          <p:cNvPr id="340" name="Google Shape;340;g113a4eff4dd_0_4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What are Lipids?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113a4eff4dd_0_59"/>
          <p:cNvSpPr txBox="1"/>
          <p:nvPr>
            <p:ph idx="1" type="body"/>
          </p:nvPr>
        </p:nvSpPr>
        <p:spPr>
          <a:xfrm>
            <a:off x="838200" y="377825"/>
            <a:ext cx="10515600" cy="43512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fats and oils used as stored forms of energy are derivatives of fatty acids.</a:t>
            </a:r>
            <a:endParaRPr sz="20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Fatty acids are hydrocarbon derivatives. They are carboxylic acids with hydrocarbon chains ranging from 4 to 36 carbons long (C4 to C36).</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 some fatty acids, this chain is unbranched and fully saturated (no double bonds).</a:t>
            </a:r>
            <a:endParaRPr sz="2000">
              <a:latin typeface="Times New Roman"/>
              <a:ea typeface="Times New Roman"/>
              <a:cs typeface="Times New Roman"/>
              <a:sym typeface="Times New Roman"/>
            </a:endParaRPr>
          </a:p>
        </p:txBody>
      </p:sp>
      <p:sp>
        <p:nvSpPr>
          <p:cNvPr id="347" name="Google Shape;347;g113a4eff4dd_0_5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200">
                <a:solidFill>
                  <a:schemeClr val="lt1"/>
                </a:solidFill>
                <a:latin typeface="Times New Roman"/>
                <a:ea typeface="Times New Roman"/>
                <a:cs typeface="Times New Roman"/>
                <a:sym typeface="Times New Roman"/>
              </a:rPr>
              <a:t>Fatty Acids</a:t>
            </a:r>
            <a:endParaRPr b="1" i="0" sz="2200" u="none" cap="none" strike="noStrike">
              <a:solidFill>
                <a:schemeClr val="lt1"/>
              </a:solidFill>
              <a:latin typeface="Times New Roman"/>
              <a:ea typeface="Times New Roman"/>
              <a:cs typeface="Times New Roman"/>
              <a:sym typeface="Times New Roman"/>
            </a:endParaRPr>
          </a:p>
        </p:txBody>
      </p:sp>
      <p:pic>
        <p:nvPicPr>
          <p:cNvPr id="348" name="Google Shape;348;g113a4eff4dd_0_59"/>
          <p:cNvPicPr preferRelativeResize="0"/>
          <p:nvPr/>
        </p:nvPicPr>
        <p:blipFill rotWithShape="1">
          <a:blip r:embed="rId3">
            <a:alphaModFix/>
          </a:blip>
          <a:srcRect b="0" l="0" r="0" t="0"/>
          <a:stretch/>
        </p:blipFill>
        <p:spPr>
          <a:xfrm>
            <a:off x="1243175" y="3387925"/>
            <a:ext cx="7148350" cy="3393875"/>
          </a:xfrm>
          <a:prstGeom prst="rect">
            <a:avLst/>
          </a:prstGeom>
          <a:noFill/>
          <a:ln>
            <a:noFill/>
          </a:ln>
        </p:spPr>
      </p:pic>
      <p:pic>
        <p:nvPicPr>
          <p:cNvPr id="349" name="Google Shape;349;g113a4eff4dd_0_59"/>
          <p:cNvPicPr preferRelativeResize="0"/>
          <p:nvPr/>
        </p:nvPicPr>
        <p:blipFill rotWithShape="1">
          <a:blip r:embed="rId4">
            <a:alphaModFix/>
          </a:blip>
          <a:srcRect b="0" l="0" r="0" t="0"/>
          <a:stretch/>
        </p:blipFill>
        <p:spPr>
          <a:xfrm>
            <a:off x="12191988" y="3629013"/>
            <a:ext cx="6200775" cy="3228975"/>
          </a:xfrm>
          <a:prstGeom prst="rect">
            <a:avLst/>
          </a:prstGeom>
          <a:noFill/>
          <a:ln>
            <a:noFill/>
          </a:ln>
        </p:spPr>
      </p:pic>
      <p:sp>
        <p:nvSpPr>
          <p:cNvPr id="350" name="Google Shape;350;g113a4eff4dd_0_59"/>
          <p:cNvSpPr txBox="1"/>
          <p:nvPr/>
        </p:nvSpPr>
        <p:spPr>
          <a:xfrm>
            <a:off x="6157025" y="6291050"/>
            <a:ext cx="261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FF"/>
                </a:solidFill>
                <a:latin typeface="Times New Roman"/>
                <a:ea typeface="Times New Roman"/>
                <a:cs typeface="Times New Roman"/>
                <a:sym typeface="Times New Roman"/>
              </a:rPr>
              <a:t>PUFA: Polyunsaturated fatty acid</a:t>
            </a:r>
            <a:endParaRPr b="0" i="0" sz="1400" u="none" cap="none" strike="noStrike">
              <a:solidFill>
                <a:srgbClr val="0000FF"/>
              </a:solidFill>
              <a:latin typeface="Times New Roman"/>
              <a:ea typeface="Times New Roman"/>
              <a:cs typeface="Times New Roman"/>
              <a:sym typeface="Times New Roman"/>
            </a:endParaRPr>
          </a:p>
        </p:txBody>
      </p:sp>
      <p:sp>
        <p:nvSpPr>
          <p:cNvPr id="351" name="Google Shape;351;g113a4eff4dd_0_59"/>
          <p:cNvSpPr txBox="1"/>
          <p:nvPr/>
        </p:nvSpPr>
        <p:spPr>
          <a:xfrm>
            <a:off x="1279025" y="2699200"/>
            <a:ext cx="70989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16-carbon saturated palmitic acid is abbreviated 16:0</a:t>
            </a:r>
            <a:endParaRPr b="0" i="0" sz="1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18-carbon oleic acid, with one double bond is abbreviated 18:1.</a:t>
            </a:r>
            <a:endParaRPr b="0" i="0" sz="1700" u="none" cap="none" strike="noStrike">
              <a:solidFill>
                <a:srgbClr val="000000"/>
              </a:solidFill>
              <a:latin typeface="Times New Roman"/>
              <a:ea typeface="Times New Roman"/>
              <a:cs typeface="Times New Roman"/>
              <a:sym typeface="Times New Roman"/>
            </a:endParaRPr>
          </a:p>
        </p:txBody>
      </p:sp>
      <p:pic>
        <p:nvPicPr>
          <p:cNvPr id="352" name="Google Shape;352;g113a4eff4dd_0_59"/>
          <p:cNvPicPr preferRelativeResize="0"/>
          <p:nvPr/>
        </p:nvPicPr>
        <p:blipFill rotWithShape="1">
          <a:blip r:embed="rId5">
            <a:alphaModFix/>
          </a:blip>
          <a:srcRect b="0" l="0" r="0" t="0"/>
          <a:stretch/>
        </p:blipFill>
        <p:spPr>
          <a:xfrm>
            <a:off x="8687475" y="4193350"/>
            <a:ext cx="3504525" cy="2588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113a4eff4dd_0_86"/>
          <p:cNvSpPr txBox="1"/>
          <p:nvPr>
            <p:ph idx="1" type="body"/>
          </p:nvPr>
        </p:nvSpPr>
        <p:spPr>
          <a:xfrm>
            <a:off x="504850" y="454025"/>
            <a:ext cx="11426400" cy="4351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physical properties of the fatty acids are determined by the length and degree of unsaturation of the hydrocarbon chain.</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nonpolar hydrocarbon chain accounts for the poor solubility of fatty acids in water.</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b="1" lang="en-US" sz="2000">
                <a:latin typeface="Times New Roman"/>
                <a:ea typeface="Times New Roman"/>
                <a:cs typeface="Times New Roman"/>
                <a:sym typeface="Times New Roman"/>
              </a:rPr>
              <a:t>The longer the fatty acyl chain and the fewer the double bonds, the lower is the solubility in water.</a:t>
            </a:r>
            <a:endParaRPr b="1"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carboxylic acid group is polar and accounts for the slight solubility of short-chain fatty acids in water.</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Melting points are also influenced by the length and degree of unsaturation of hydrocarbon chain.</a:t>
            </a:r>
            <a:endParaRPr sz="2000">
              <a:latin typeface="Times New Roman"/>
              <a:ea typeface="Times New Roman"/>
              <a:cs typeface="Times New Roman"/>
              <a:sym typeface="Times New Roman"/>
            </a:endParaRPr>
          </a:p>
          <a:p>
            <a:pPr indent="-355600" lvl="0" marL="457200" rtl="0" algn="just">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At room temperature, the saturated fatty acids from 12:0 to 24:0 have a waxy consistency, whereas unsaturated fatty acids are oily liquids.</a:t>
            </a:r>
            <a:endParaRPr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 unsaturated fatty acids, the double bond forces a kink in the hydrocarbon chain, hence they cannot pack together as tightly as fully saturated fatty acids.</a:t>
            </a:r>
            <a:endParaRPr sz="2000">
              <a:latin typeface="Times New Roman"/>
              <a:ea typeface="Times New Roman"/>
              <a:cs typeface="Times New Roman"/>
              <a:sym typeface="Times New Roman"/>
            </a:endParaRPr>
          </a:p>
        </p:txBody>
      </p:sp>
      <p:sp>
        <p:nvSpPr>
          <p:cNvPr id="359" name="Google Shape;359;g113a4eff4dd_0_8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Physical properties of the fatty acids</a:t>
            </a:r>
            <a:endParaRPr b="1" i="0" sz="2200" u="none" cap="none" strike="noStrike">
              <a:solidFill>
                <a:schemeClr val="lt1"/>
              </a:solidFill>
              <a:latin typeface="Times New Roman"/>
              <a:ea typeface="Times New Roman"/>
              <a:cs typeface="Times New Roman"/>
              <a:sym typeface="Times New Roman"/>
            </a:endParaRPr>
          </a:p>
        </p:txBody>
      </p:sp>
      <p:pic>
        <p:nvPicPr>
          <p:cNvPr id="360" name="Google Shape;360;g113a4eff4dd_0_86"/>
          <p:cNvPicPr preferRelativeResize="0"/>
          <p:nvPr/>
        </p:nvPicPr>
        <p:blipFill rotWithShape="1">
          <a:blip r:embed="rId3">
            <a:alphaModFix/>
          </a:blip>
          <a:srcRect b="0" l="0" r="0" t="0"/>
          <a:stretch/>
        </p:blipFill>
        <p:spPr>
          <a:xfrm>
            <a:off x="914400" y="4089050"/>
            <a:ext cx="5001375" cy="2616550"/>
          </a:xfrm>
          <a:prstGeom prst="rect">
            <a:avLst/>
          </a:prstGeom>
          <a:noFill/>
          <a:ln>
            <a:noFill/>
          </a:ln>
        </p:spPr>
      </p:pic>
      <p:pic>
        <p:nvPicPr>
          <p:cNvPr id="361" name="Google Shape;361;g113a4eff4dd_0_86"/>
          <p:cNvPicPr preferRelativeResize="0"/>
          <p:nvPr/>
        </p:nvPicPr>
        <p:blipFill rotWithShape="1">
          <a:blip r:embed="rId4">
            <a:alphaModFix/>
          </a:blip>
          <a:srcRect b="0" l="0" r="0" t="0"/>
          <a:stretch/>
        </p:blipFill>
        <p:spPr>
          <a:xfrm>
            <a:off x="6677775" y="4176700"/>
            <a:ext cx="4939250" cy="2528900"/>
          </a:xfrm>
          <a:prstGeom prst="rect">
            <a:avLst/>
          </a:prstGeom>
          <a:noFill/>
          <a:ln>
            <a:noFill/>
          </a:ln>
        </p:spPr>
      </p:pic>
      <p:pic>
        <p:nvPicPr>
          <p:cNvPr id="362" name="Google Shape;362;g113a4eff4dd_0_86"/>
          <p:cNvPicPr preferRelativeResize="0"/>
          <p:nvPr/>
        </p:nvPicPr>
        <p:blipFill rotWithShape="1">
          <a:blip r:embed="rId5">
            <a:alphaModFix/>
          </a:blip>
          <a:srcRect b="0" l="0" r="0" t="0"/>
          <a:stretch/>
        </p:blipFill>
        <p:spPr>
          <a:xfrm>
            <a:off x="12191988" y="4657713"/>
            <a:ext cx="4676775" cy="2200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g113a4eff4dd_0_133"/>
          <p:cNvPicPr preferRelativeResize="0"/>
          <p:nvPr/>
        </p:nvPicPr>
        <p:blipFill rotWithShape="1">
          <a:blip r:embed="rId3">
            <a:alphaModFix/>
          </a:blip>
          <a:srcRect b="0" l="0" r="0" t="0"/>
          <a:stretch/>
        </p:blipFill>
        <p:spPr>
          <a:xfrm>
            <a:off x="0" y="500075"/>
            <a:ext cx="12191999" cy="3344713"/>
          </a:xfrm>
          <a:prstGeom prst="rect">
            <a:avLst/>
          </a:prstGeom>
          <a:noFill/>
          <a:ln>
            <a:noFill/>
          </a:ln>
        </p:spPr>
      </p:pic>
      <p:pic>
        <p:nvPicPr>
          <p:cNvPr id="369" name="Google Shape;369;g113a4eff4dd_0_133"/>
          <p:cNvPicPr preferRelativeResize="0"/>
          <p:nvPr/>
        </p:nvPicPr>
        <p:blipFill rotWithShape="1">
          <a:blip r:embed="rId4">
            <a:alphaModFix/>
          </a:blip>
          <a:srcRect b="0" l="0" r="0" t="0"/>
          <a:stretch/>
        </p:blipFill>
        <p:spPr>
          <a:xfrm>
            <a:off x="12191988" y="1933563"/>
            <a:ext cx="9725025" cy="1343025"/>
          </a:xfrm>
          <a:prstGeom prst="rect">
            <a:avLst/>
          </a:prstGeom>
          <a:noFill/>
          <a:ln>
            <a:noFill/>
          </a:ln>
        </p:spPr>
      </p:pic>
      <p:sp>
        <p:nvSpPr>
          <p:cNvPr id="370" name="Google Shape;370;g113a4eff4dd_0_13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Common types of storage and membrane lipids</a:t>
            </a:r>
            <a:endParaRPr b="1" i="0" sz="2200" u="none" cap="none" strike="noStrike">
              <a:solidFill>
                <a:schemeClr val="lt1"/>
              </a:solidFill>
              <a:latin typeface="Times New Roman"/>
              <a:ea typeface="Times New Roman"/>
              <a:cs typeface="Times New Roman"/>
              <a:sym typeface="Times New Roman"/>
            </a:endParaRPr>
          </a:p>
        </p:txBody>
      </p:sp>
      <p:pic>
        <p:nvPicPr>
          <p:cNvPr id="371" name="Google Shape;371;g113a4eff4dd_0_133"/>
          <p:cNvPicPr preferRelativeResize="0"/>
          <p:nvPr/>
        </p:nvPicPr>
        <p:blipFill rotWithShape="1">
          <a:blip r:embed="rId5">
            <a:alphaModFix/>
          </a:blip>
          <a:srcRect b="0" l="0" r="0" t="0"/>
          <a:stretch/>
        </p:blipFill>
        <p:spPr>
          <a:xfrm>
            <a:off x="1752600" y="3979775"/>
            <a:ext cx="8785092" cy="2930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113a4eff4dd_0_96"/>
          <p:cNvSpPr txBox="1"/>
          <p:nvPr>
            <p:ph idx="1" type="body"/>
          </p:nvPr>
        </p:nvSpPr>
        <p:spPr>
          <a:xfrm>
            <a:off x="417225" y="627200"/>
            <a:ext cx="8879400" cy="5952300"/>
          </a:xfrm>
          <a:prstGeom prst="rect">
            <a:avLst/>
          </a:prstGeom>
          <a:noFill/>
          <a:ln>
            <a:noFill/>
          </a:ln>
        </p:spPr>
        <p:txBody>
          <a:bodyPr anchorCtr="0" anchor="t" bIns="45700" lIns="91425" spcFirstLastPara="1" rIns="91425" wrap="square" tIns="45700">
            <a:normAutofit fontScale="70000" lnSpcReduction="20000"/>
          </a:bodyPr>
          <a:lstStyle/>
          <a:p>
            <a:pPr indent="-314992" lvl="0" marL="457200" rtl="0" algn="just">
              <a:lnSpc>
                <a:spcPct val="115000"/>
              </a:lnSpc>
              <a:spcBef>
                <a:spcPts val="0"/>
              </a:spcBef>
              <a:spcAft>
                <a:spcPts val="0"/>
              </a:spcAft>
              <a:buSzPct val="66019"/>
              <a:buFont typeface="Times New Roman"/>
              <a:buChar char="•"/>
            </a:pPr>
            <a:r>
              <a:rPr lang="en-US" sz="2942">
                <a:latin typeface="Times New Roman"/>
                <a:ea typeface="Times New Roman"/>
                <a:cs typeface="Times New Roman"/>
                <a:sym typeface="Times New Roman"/>
              </a:rPr>
              <a:t>The simplest lipids constructed from fatty acids are the triacylglycerols, also referred to as triglycerides, fats or neutral fats.</a:t>
            </a:r>
            <a:endParaRPr sz="2942">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87404"/>
              <a:buNone/>
            </a:pPr>
            <a:r>
              <a:t/>
            </a:r>
            <a:endParaRPr sz="2942">
              <a:latin typeface="Times New Roman"/>
              <a:ea typeface="Times New Roman"/>
              <a:cs typeface="Times New Roman"/>
              <a:sym typeface="Times New Roman"/>
            </a:endParaRPr>
          </a:p>
          <a:p>
            <a:pPr indent="-314992" lvl="0" marL="457200" rtl="0" algn="just">
              <a:lnSpc>
                <a:spcPct val="115000"/>
              </a:lnSpc>
              <a:spcBef>
                <a:spcPts val="0"/>
              </a:spcBef>
              <a:spcAft>
                <a:spcPts val="0"/>
              </a:spcAft>
              <a:buSzPct val="66019"/>
              <a:buFont typeface="Times New Roman"/>
              <a:buChar char="•"/>
            </a:pPr>
            <a:r>
              <a:rPr lang="en-US" sz="2942">
                <a:latin typeface="Times New Roman"/>
                <a:ea typeface="Times New Roman"/>
                <a:cs typeface="Times New Roman"/>
                <a:sym typeface="Times New Roman"/>
              </a:rPr>
              <a:t>Triacylglycerols are composed of three fatty acids each in ester linkage with a single glycerol.</a:t>
            </a:r>
            <a:endParaRPr sz="2942">
              <a:latin typeface="Times New Roman"/>
              <a:ea typeface="Times New Roman"/>
              <a:cs typeface="Times New Roman"/>
              <a:sym typeface="Times New Roman"/>
            </a:endParaRPr>
          </a:p>
          <a:p>
            <a:pPr indent="0" lvl="0" marL="0" rtl="0" algn="just">
              <a:lnSpc>
                <a:spcPct val="115000"/>
              </a:lnSpc>
              <a:spcBef>
                <a:spcPts val="0"/>
              </a:spcBef>
              <a:spcAft>
                <a:spcPts val="0"/>
              </a:spcAft>
              <a:buSzPct val="87404"/>
              <a:buNone/>
            </a:pPr>
            <a:r>
              <a:t/>
            </a:r>
            <a:endParaRPr sz="2942">
              <a:latin typeface="Times New Roman"/>
              <a:ea typeface="Times New Roman"/>
              <a:cs typeface="Times New Roman"/>
              <a:sym typeface="Times New Roman"/>
            </a:endParaRPr>
          </a:p>
          <a:p>
            <a:pPr indent="-314992" lvl="0" marL="457200" rtl="0" algn="just">
              <a:lnSpc>
                <a:spcPct val="115000"/>
              </a:lnSpc>
              <a:spcBef>
                <a:spcPts val="0"/>
              </a:spcBef>
              <a:spcAft>
                <a:spcPts val="0"/>
              </a:spcAft>
              <a:buSzPct val="66019"/>
              <a:buFont typeface="Times New Roman"/>
              <a:buChar char="•"/>
            </a:pPr>
            <a:r>
              <a:rPr lang="en-US" sz="2942">
                <a:latin typeface="Times New Roman"/>
                <a:ea typeface="Times New Roman"/>
                <a:cs typeface="Times New Roman"/>
                <a:sym typeface="Times New Roman"/>
              </a:rPr>
              <a:t>Those containing same fatty acids in all three positions are called simple triacylglycerols.</a:t>
            </a:r>
            <a:endParaRPr sz="2942">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87404"/>
              <a:buNone/>
            </a:pPr>
            <a:r>
              <a:rPr lang="en-US" sz="2942">
                <a:latin typeface="Times New Roman"/>
                <a:ea typeface="Times New Roman"/>
                <a:cs typeface="Times New Roman"/>
                <a:sym typeface="Times New Roman"/>
              </a:rPr>
              <a:t>16:0, 18:0 and 18:1 are tripalmitin, tristearin and triolein. </a:t>
            </a:r>
            <a:endParaRPr sz="2942">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87404"/>
              <a:buNone/>
            </a:pPr>
            <a:r>
              <a:t/>
            </a:r>
            <a:endParaRPr sz="2942">
              <a:latin typeface="Times New Roman"/>
              <a:ea typeface="Times New Roman"/>
              <a:cs typeface="Times New Roman"/>
              <a:sym typeface="Times New Roman"/>
            </a:endParaRPr>
          </a:p>
          <a:p>
            <a:pPr indent="-314992" lvl="0" marL="457200" rtl="0" algn="just">
              <a:lnSpc>
                <a:spcPct val="115000"/>
              </a:lnSpc>
              <a:spcBef>
                <a:spcPts val="0"/>
              </a:spcBef>
              <a:spcAft>
                <a:spcPts val="0"/>
              </a:spcAft>
              <a:buSzPct val="66019"/>
              <a:buFont typeface="Times New Roman"/>
              <a:buChar char="•"/>
            </a:pPr>
            <a:r>
              <a:rPr lang="en-US" sz="2942">
                <a:latin typeface="Times New Roman"/>
                <a:ea typeface="Times New Roman"/>
                <a:cs typeface="Times New Roman"/>
                <a:sym typeface="Times New Roman"/>
              </a:rPr>
              <a:t>Triacylglycerols provide stored energy and they are stored in adipocytes (fat cells).  They are also stored as oils in the seed of many plants, provides energy during seed germination.</a:t>
            </a:r>
            <a:endParaRPr sz="2942">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87404"/>
              <a:buNone/>
            </a:pPr>
            <a:r>
              <a:t/>
            </a:r>
            <a:endParaRPr sz="2942">
              <a:latin typeface="Times New Roman"/>
              <a:ea typeface="Times New Roman"/>
              <a:cs typeface="Times New Roman"/>
              <a:sym typeface="Times New Roman"/>
            </a:endParaRPr>
          </a:p>
          <a:p>
            <a:pPr indent="-314992" lvl="0" marL="457200" rtl="0" algn="just">
              <a:lnSpc>
                <a:spcPct val="115000"/>
              </a:lnSpc>
              <a:spcBef>
                <a:spcPts val="0"/>
              </a:spcBef>
              <a:spcAft>
                <a:spcPts val="0"/>
              </a:spcAft>
              <a:buSzPct val="66019"/>
              <a:buFont typeface="Times New Roman"/>
              <a:buChar char="•"/>
            </a:pPr>
            <a:r>
              <a:rPr lang="en-US" sz="2942">
                <a:latin typeface="Times New Roman"/>
                <a:ea typeface="Times New Roman"/>
                <a:cs typeface="Times New Roman"/>
                <a:sym typeface="Times New Roman"/>
              </a:rPr>
              <a:t>Humans have fat tissue (adipocytes) under the skin, in the abdominal cavity and in the mammary glands. Moderately obese people with 15-20 kg of triacylglycerols deposited in their adipocytes could meet their energy needs for months. In contrast, the human body can store less than a day’s energy supply in the form of glycogen.</a:t>
            </a:r>
            <a:endParaRPr sz="2942">
              <a:latin typeface="Times New Roman"/>
              <a:ea typeface="Times New Roman"/>
              <a:cs typeface="Times New Roman"/>
              <a:sym typeface="Times New Roman"/>
            </a:endParaRPr>
          </a:p>
        </p:txBody>
      </p:sp>
      <p:sp>
        <p:nvSpPr>
          <p:cNvPr id="378" name="Google Shape;378;g113a4eff4dd_0_9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Triacylglycerols are fatty acid esters of glycerol and they serve as stored energy</a:t>
            </a:r>
            <a:endParaRPr b="1" i="0" sz="2200" u="none" cap="none" strike="noStrike">
              <a:solidFill>
                <a:schemeClr val="lt1"/>
              </a:solidFill>
              <a:latin typeface="Times New Roman"/>
              <a:ea typeface="Times New Roman"/>
              <a:cs typeface="Times New Roman"/>
              <a:sym typeface="Times New Roman"/>
            </a:endParaRPr>
          </a:p>
        </p:txBody>
      </p:sp>
      <p:pic>
        <p:nvPicPr>
          <p:cNvPr id="379" name="Google Shape;379;g113a4eff4dd_0_96"/>
          <p:cNvPicPr preferRelativeResize="0"/>
          <p:nvPr/>
        </p:nvPicPr>
        <p:blipFill rotWithShape="1">
          <a:blip r:embed="rId3">
            <a:alphaModFix/>
          </a:blip>
          <a:srcRect b="0" l="0" r="0" t="0"/>
          <a:stretch/>
        </p:blipFill>
        <p:spPr>
          <a:xfrm>
            <a:off x="9296750" y="813223"/>
            <a:ext cx="2895250" cy="5766401"/>
          </a:xfrm>
          <a:prstGeom prst="rect">
            <a:avLst/>
          </a:prstGeom>
          <a:noFill/>
          <a:ln>
            <a:noFill/>
          </a:ln>
        </p:spPr>
      </p:pic>
      <p:pic>
        <p:nvPicPr>
          <p:cNvPr id="380" name="Google Shape;380;g113a4eff4dd_0_96"/>
          <p:cNvPicPr preferRelativeResize="0"/>
          <p:nvPr/>
        </p:nvPicPr>
        <p:blipFill rotWithShape="1">
          <a:blip r:embed="rId4">
            <a:alphaModFix/>
          </a:blip>
          <a:srcRect b="0" l="0" r="0" t="0"/>
          <a:stretch/>
        </p:blipFill>
        <p:spPr>
          <a:xfrm>
            <a:off x="12247025" y="5867400"/>
            <a:ext cx="4724400" cy="990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13a4eff4dd_0_10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914400" rtl="0" algn="l">
              <a:lnSpc>
                <a:spcPct val="115000"/>
              </a:lnSpc>
              <a:spcBef>
                <a:spcPts val="0"/>
              </a:spcBef>
              <a:spcAft>
                <a:spcPts val="0"/>
              </a:spcAft>
              <a:buSzPts val="2400"/>
              <a:buFont typeface="Times New Roman"/>
              <a:buAutoNum type="arabicParenR"/>
            </a:pPr>
            <a:r>
              <a:rPr lang="en-US" sz="2400">
                <a:latin typeface="Times New Roman"/>
                <a:ea typeface="Times New Roman"/>
                <a:cs typeface="Times New Roman"/>
                <a:sym typeface="Times New Roman"/>
              </a:rPr>
              <a:t>Oxidation of triacylglycerols provides more than twice the energy compared to glycogen:</a:t>
            </a:r>
            <a:endParaRPr sz="2400">
              <a:latin typeface="Times New Roman"/>
              <a:ea typeface="Times New Roman"/>
              <a:cs typeface="Times New Roman"/>
              <a:sym typeface="Times New Roman"/>
            </a:endParaRPr>
          </a:p>
          <a:p>
            <a:pPr indent="457200" lvl="0" marL="457200" rtl="0" algn="l">
              <a:lnSpc>
                <a:spcPct val="115000"/>
              </a:lnSpc>
              <a:spcBef>
                <a:spcPts val="0"/>
              </a:spcBef>
              <a:spcAft>
                <a:spcPts val="0"/>
              </a:spcAft>
              <a:buSzPts val="1800"/>
              <a:buNone/>
            </a:pPr>
            <a:r>
              <a:rPr lang="en-US" sz="2400">
                <a:latin typeface="Times New Roman"/>
                <a:ea typeface="Times New Roman"/>
                <a:cs typeface="Times New Roman"/>
                <a:sym typeface="Times New Roman"/>
              </a:rPr>
              <a:t>1 gm of carbohydrates provides 4 calories.</a:t>
            </a:r>
            <a:endParaRPr sz="2400">
              <a:latin typeface="Times New Roman"/>
              <a:ea typeface="Times New Roman"/>
              <a:cs typeface="Times New Roman"/>
              <a:sym typeface="Times New Roman"/>
            </a:endParaRPr>
          </a:p>
          <a:p>
            <a:pPr indent="457200" lvl="0" marL="457200" rtl="0" algn="l">
              <a:lnSpc>
                <a:spcPct val="115000"/>
              </a:lnSpc>
              <a:spcBef>
                <a:spcPts val="0"/>
              </a:spcBef>
              <a:spcAft>
                <a:spcPts val="0"/>
              </a:spcAft>
              <a:buSzPts val="1800"/>
              <a:buNone/>
            </a:pPr>
            <a:r>
              <a:rPr lang="en-US" sz="2400">
                <a:latin typeface="Times New Roman"/>
                <a:ea typeface="Times New Roman"/>
                <a:cs typeface="Times New Roman"/>
                <a:sym typeface="Times New Roman"/>
              </a:rPr>
              <a:t>1 gm of triacylglycerols provides 9 calories. </a:t>
            </a:r>
            <a:endParaRPr sz="24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24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rPr lang="en-US" sz="2400">
                <a:latin typeface="Times New Roman"/>
                <a:ea typeface="Times New Roman"/>
                <a:cs typeface="Times New Roman"/>
                <a:sym typeface="Times New Roman"/>
              </a:rPr>
              <a:t>2)	As triacylglycerols are hydrophobic (unhydrated), the organism that carries fat as fuel doesn’t have to carry the extra weight of water of hydration that is associated with stored polysaccharides (2 g per gram of polysaccharide).</a:t>
            </a:r>
            <a:endParaRPr sz="2400">
              <a:latin typeface="Times New Roman"/>
              <a:ea typeface="Times New Roman"/>
              <a:cs typeface="Times New Roman"/>
              <a:sym typeface="Times New Roman"/>
            </a:endParaRPr>
          </a:p>
        </p:txBody>
      </p:sp>
      <p:sp>
        <p:nvSpPr>
          <p:cNvPr id="387" name="Google Shape;387;g113a4eff4dd_0_10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Advantages of storing energy as triacylglycerols compared to polysaccharides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g113a4eff4dd_0_69"/>
          <p:cNvPicPr preferRelativeResize="0"/>
          <p:nvPr/>
        </p:nvPicPr>
        <p:blipFill rotWithShape="1">
          <a:blip r:embed="rId3">
            <a:alphaModFix/>
          </a:blip>
          <a:srcRect b="0" l="0" r="0" t="0"/>
          <a:stretch/>
        </p:blipFill>
        <p:spPr>
          <a:xfrm>
            <a:off x="2833688" y="42863"/>
            <a:ext cx="6524625" cy="67722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113a4eff4dd_0_126"/>
          <p:cNvSpPr txBox="1"/>
          <p:nvPr>
            <p:ph idx="1" type="body"/>
          </p:nvPr>
        </p:nvSpPr>
        <p:spPr>
          <a:xfrm>
            <a:off x="838200" y="4540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SzPts val="852"/>
              <a:buNone/>
            </a:pPr>
            <a:r>
              <a:rPr lang="en-US" sz="2070">
                <a:latin typeface="Times New Roman"/>
                <a:ea typeface="Times New Roman"/>
                <a:cs typeface="Times New Roman"/>
                <a:sym typeface="Times New Roman"/>
              </a:rPr>
              <a:t>Biological membranes (cell membrane, nuclear membrane) are made up of lipid bilayers.</a:t>
            </a:r>
            <a:endParaRPr sz="2070">
              <a:latin typeface="Times New Roman"/>
              <a:ea typeface="Times New Roman"/>
              <a:cs typeface="Times New Roman"/>
              <a:sym typeface="Times New Roman"/>
            </a:endParaRPr>
          </a:p>
          <a:p>
            <a:pPr indent="0" lvl="0" marL="0" rtl="0" algn="l">
              <a:lnSpc>
                <a:spcPct val="115000"/>
              </a:lnSpc>
              <a:spcBef>
                <a:spcPts val="0"/>
              </a:spcBef>
              <a:spcAft>
                <a:spcPts val="0"/>
              </a:spcAft>
              <a:buSzPts val="852"/>
              <a:buNone/>
            </a:pPr>
            <a:r>
              <a:t/>
            </a:r>
            <a:endParaRPr sz="2070">
              <a:latin typeface="Times New Roman"/>
              <a:ea typeface="Times New Roman"/>
              <a:cs typeface="Times New Roman"/>
              <a:sym typeface="Times New Roman"/>
            </a:endParaRPr>
          </a:p>
          <a:p>
            <a:pPr indent="0" lvl="0" marL="0" rtl="0" algn="l">
              <a:lnSpc>
                <a:spcPct val="115000"/>
              </a:lnSpc>
              <a:spcBef>
                <a:spcPts val="0"/>
              </a:spcBef>
              <a:spcAft>
                <a:spcPts val="0"/>
              </a:spcAft>
              <a:buSzPts val="852"/>
              <a:buNone/>
            </a:pPr>
            <a:r>
              <a:rPr lang="en-US" sz="2070">
                <a:latin typeface="Times New Roman"/>
                <a:ea typeface="Times New Roman"/>
                <a:cs typeface="Times New Roman"/>
                <a:sym typeface="Times New Roman"/>
              </a:rPr>
              <a:t>Membrane lipids are amphipathic: one end is hydrophobic and the other end is hydrophilic.</a:t>
            </a:r>
            <a:endParaRPr sz="2070">
              <a:latin typeface="Times New Roman"/>
              <a:ea typeface="Times New Roman"/>
              <a:cs typeface="Times New Roman"/>
              <a:sym typeface="Times New Roman"/>
            </a:endParaRPr>
          </a:p>
          <a:p>
            <a:pPr indent="0" lvl="0" marL="0" rtl="0" algn="l">
              <a:lnSpc>
                <a:spcPct val="115000"/>
              </a:lnSpc>
              <a:spcBef>
                <a:spcPts val="0"/>
              </a:spcBef>
              <a:spcAft>
                <a:spcPts val="0"/>
              </a:spcAft>
              <a:buSzPts val="852"/>
              <a:buNone/>
            </a:pPr>
            <a:r>
              <a:t/>
            </a:r>
            <a:endParaRPr sz="2070">
              <a:latin typeface="Times New Roman"/>
              <a:ea typeface="Times New Roman"/>
              <a:cs typeface="Times New Roman"/>
              <a:sym typeface="Times New Roman"/>
            </a:endParaRPr>
          </a:p>
          <a:p>
            <a:pPr indent="0" lvl="0" marL="0" rtl="0" algn="l">
              <a:lnSpc>
                <a:spcPct val="115000"/>
              </a:lnSpc>
              <a:spcBef>
                <a:spcPts val="0"/>
              </a:spcBef>
              <a:spcAft>
                <a:spcPts val="0"/>
              </a:spcAft>
              <a:buSzPts val="852"/>
              <a:buNone/>
            </a:pPr>
            <a:r>
              <a:rPr lang="en-US" sz="2070">
                <a:latin typeface="Times New Roman"/>
                <a:ea typeface="Times New Roman"/>
                <a:cs typeface="Times New Roman"/>
                <a:sym typeface="Times New Roman"/>
              </a:rPr>
              <a:t>Five types of membrane lipids: </a:t>
            </a:r>
            <a:endParaRPr sz="2070">
              <a:latin typeface="Times New Roman"/>
              <a:ea typeface="Times New Roman"/>
              <a:cs typeface="Times New Roman"/>
              <a:sym typeface="Times New Roman"/>
            </a:endParaRPr>
          </a:p>
          <a:p>
            <a:pPr indent="-310832" lvl="0" marL="457200" rtl="0" algn="l">
              <a:lnSpc>
                <a:spcPct val="115000"/>
              </a:lnSpc>
              <a:spcBef>
                <a:spcPts val="0"/>
              </a:spcBef>
              <a:spcAft>
                <a:spcPts val="0"/>
              </a:spcAft>
              <a:buSzPts val="1295"/>
              <a:buFont typeface="Times New Roman"/>
              <a:buAutoNum type="arabicParenR"/>
            </a:pPr>
            <a:r>
              <a:rPr lang="en-US" sz="2070">
                <a:latin typeface="Times New Roman"/>
                <a:ea typeface="Times New Roman"/>
                <a:cs typeface="Times New Roman"/>
                <a:sym typeface="Times New Roman"/>
              </a:rPr>
              <a:t>glycerophospholipids: two fatty acids joined to glycerol.</a:t>
            </a:r>
            <a:endParaRPr sz="2070">
              <a:latin typeface="Times New Roman"/>
              <a:ea typeface="Times New Roman"/>
              <a:cs typeface="Times New Roman"/>
              <a:sym typeface="Times New Roman"/>
            </a:endParaRPr>
          </a:p>
          <a:p>
            <a:pPr indent="-310832" lvl="0" marL="457200" rtl="0" algn="l">
              <a:lnSpc>
                <a:spcPct val="115000"/>
              </a:lnSpc>
              <a:spcBef>
                <a:spcPts val="0"/>
              </a:spcBef>
              <a:spcAft>
                <a:spcPts val="0"/>
              </a:spcAft>
              <a:buSzPts val="1295"/>
              <a:buFont typeface="Times New Roman"/>
              <a:buAutoNum type="arabicParenR"/>
            </a:pPr>
            <a:r>
              <a:rPr lang="en-US" sz="2070">
                <a:latin typeface="Times New Roman"/>
                <a:ea typeface="Times New Roman"/>
                <a:cs typeface="Times New Roman"/>
                <a:sym typeface="Times New Roman"/>
              </a:rPr>
              <a:t>galactolipids and sulfolipids: two fatty acids esterified to glycerol, but lack the phosphate of phospholipids.</a:t>
            </a:r>
            <a:endParaRPr sz="2070">
              <a:latin typeface="Times New Roman"/>
              <a:ea typeface="Times New Roman"/>
              <a:cs typeface="Times New Roman"/>
              <a:sym typeface="Times New Roman"/>
            </a:endParaRPr>
          </a:p>
          <a:p>
            <a:pPr indent="-310832" lvl="0" marL="457200" rtl="0" algn="l">
              <a:lnSpc>
                <a:spcPct val="115000"/>
              </a:lnSpc>
              <a:spcBef>
                <a:spcPts val="0"/>
              </a:spcBef>
              <a:spcAft>
                <a:spcPts val="0"/>
              </a:spcAft>
              <a:buSzPts val="1295"/>
              <a:buFont typeface="Times New Roman"/>
              <a:buAutoNum type="arabicParenR"/>
            </a:pPr>
            <a:r>
              <a:rPr lang="en-US" sz="2070">
                <a:latin typeface="Times New Roman"/>
                <a:ea typeface="Times New Roman"/>
                <a:cs typeface="Times New Roman"/>
                <a:sym typeface="Times New Roman"/>
              </a:rPr>
              <a:t>tetraether lipids: two very long alkyl chains are ether-linked to glycerols at both ends</a:t>
            </a:r>
            <a:endParaRPr sz="2070">
              <a:latin typeface="Times New Roman"/>
              <a:ea typeface="Times New Roman"/>
              <a:cs typeface="Times New Roman"/>
              <a:sym typeface="Times New Roman"/>
            </a:endParaRPr>
          </a:p>
          <a:p>
            <a:pPr indent="-310832" lvl="0" marL="457200" rtl="0" algn="l">
              <a:lnSpc>
                <a:spcPct val="115000"/>
              </a:lnSpc>
              <a:spcBef>
                <a:spcPts val="0"/>
              </a:spcBef>
              <a:spcAft>
                <a:spcPts val="0"/>
              </a:spcAft>
              <a:buSzPts val="1295"/>
              <a:buFont typeface="Times New Roman"/>
              <a:buAutoNum type="arabicParenR"/>
            </a:pPr>
            <a:r>
              <a:rPr lang="en-US" sz="2070">
                <a:latin typeface="Times New Roman"/>
                <a:ea typeface="Times New Roman"/>
                <a:cs typeface="Times New Roman"/>
                <a:sym typeface="Times New Roman"/>
              </a:rPr>
              <a:t>sphingolipids: a single fatty acid is joined to fatty amine, sphingosine</a:t>
            </a:r>
            <a:endParaRPr sz="2070">
              <a:latin typeface="Times New Roman"/>
              <a:ea typeface="Times New Roman"/>
              <a:cs typeface="Times New Roman"/>
              <a:sym typeface="Times New Roman"/>
            </a:endParaRPr>
          </a:p>
          <a:p>
            <a:pPr indent="-310832" lvl="0" marL="457200" rtl="0" algn="l">
              <a:lnSpc>
                <a:spcPct val="115000"/>
              </a:lnSpc>
              <a:spcBef>
                <a:spcPts val="0"/>
              </a:spcBef>
              <a:spcAft>
                <a:spcPts val="0"/>
              </a:spcAft>
              <a:buSzPts val="1295"/>
              <a:buFont typeface="Times New Roman"/>
              <a:buAutoNum type="arabicParenR"/>
            </a:pPr>
            <a:r>
              <a:rPr lang="en-US" sz="2070">
                <a:latin typeface="Times New Roman"/>
                <a:ea typeface="Times New Roman"/>
                <a:cs typeface="Times New Roman"/>
                <a:sym typeface="Times New Roman"/>
              </a:rPr>
              <a:t>sterols: rigid system of four fused hydrocarbon rings.</a:t>
            </a:r>
            <a:endParaRPr sz="2070">
              <a:latin typeface="Times New Roman"/>
              <a:ea typeface="Times New Roman"/>
              <a:cs typeface="Times New Roman"/>
              <a:sym typeface="Times New Roman"/>
            </a:endParaRPr>
          </a:p>
          <a:p>
            <a:pPr indent="0" lvl="0" marL="0" rtl="0" algn="l">
              <a:lnSpc>
                <a:spcPct val="115000"/>
              </a:lnSpc>
              <a:spcBef>
                <a:spcPts val="0"/>
              </a:spcBef>
              <a:spcAft>
                <a:spcPts val="0"/>
              </a:spcAft>
              <a:buSzPts val="852"/>
              <a:buNone/>
            </a:pPr>
            <a:r>
              <a:t/>
            </a:r>
            <a:endParaRPr sz="2070">
              <a:latin typeface="Times New Roman"/>
              <a:ea typeface="Times New Roman"/>
              <a:cs typeface="Times New Roman"/>
              <a:sym typeface="Times New Roman"/>
            </a:endParaRPr>
          </a:p>
        </p:txBody>
      </p:sp>
      <p:sp>
        <p:nvSpPr>
          <p:cNvPr id="400" name="Google Shape;400;g113a4eff4dd_0_12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Structural Lipids in Membranes</a:t>
            </a:r>
            <a:endParaRPr b="1" i="0" sz="2200" u="none" cap="none" strike="noStrike">
              <a:solidFill>
                <a:schemeClr val="lt1"/>
              </a:solidFill>
              <a:latin typeface="Times New Roman"/>
              <a:ea typeface="Times New Roman"/>
              <a:cs typeface="Times New Roman"/>
              <a:sym typeface="Times New Roman"/>
            </a:endParaRPr>
          </a:p>
        </p:txBody>
      </p:sp>
      <p:pic>
        <p:nvPicPr>
          <p:cNvPr id="401" name="Google Shape;401;g113a4eff4dd_0_126"/>
          <p:cNvPicPr preferRelativeResize="0"/>
          <p:nvPr/>
        </p:nvPicPr>
        <p:blipFill rotWithShape="1">
          <a:blip r:embed="rId3">
            <a:alphaModFix/>
          </a:blip>
          <a:srcRect b="0" l="0" r="0" t="0"/>
          <a:stretch/>
        </p:blipFill>
        <p:spPr>
          <a:xfrm>
            <a:off x="1600200" y="4277850"/>
            <a:ext cx="8825302" cy="2427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114f82da21e_0_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08" name="Google Shape;408;g114f82da21e_0_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09" name="Google Shape;409;g114f82da21e_0_19"/>
          <p:cNvPicPr preferRelativeResize="0"/>
          <p:nvPr/>
        </p:nvPicPr>
        <p:blipFill rotWithShape="1">
          <a:blip r:embed="rId3">
            <a:alphaModFix/>
          </a:blip>
          <a:srcRect b="0" l="0" r="0" t="0"/>
          <a:stretch/>
        </p:blipFill>
        <p:spPr>
          <a:xfrm>
            <a:off x="62778" y="0"/>
            <a:ext cx="12066442" cy="6857999"/>
          </a:xfrm>
          <a:prstGeom prst="rect">
            <a:avLst/>
          </a:prstGeom>
          <a:noFill/>
          <a:ln>
            <a:noFill/>
          </a:ln>
        </p:spPr>
      </p:pic>
      <p:sp>
        <p:nvSpPr>
          <p:cNvPr id="410" name="Google Shape;410;g114f82da21e_0_19"/>
          <p:cNvSpPr txBox="1"/>
          <p:nvPr/>
        </p:nvSpPr>
        <p:spPr>
          <a:xfrm>
            <a:off x="7744350" y="5984100"/>
            <a:ext cx="3334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FF0000"/>
                </a:solidFill>
                <a:latin typeface="Times New Roman"/>
                <a:ea typeface="Times New Roman"/>
                <a:cs typeface="Times New Roman"/>
                <a:sym typeface="Times New Roman"/>
              </a:rPr>
              <a:t>Cell interior</a:t>
            </a:r>
            <a:endParaRPr b="0" i="0" sz="2800" u="none" cap="none" strike="noStrike">
              <a:solidFill>
                <a:srgbClr val="FF0000"/>
              </a:solidFill>
              <a:latin typeface="Times New Roman"/>
              <a:ea typeface="Times New Roman"/>
              <a:cs typeface="Times New Roman"/>
              <a:sym typeface="Times New Roman"/>
            </a:endParaRPr>
          </a:p>
        </p:txBody>
      </p:sp>
      <p:sp>
        <p:nvSpPr>
          <p:cNvPr id="411" name="Google Shape;411;g114f82da21e_0_19"/>
          <p:cNvSpPr txBox="1"/>
          <p:nvPr/>
        </p:nvSpPr>
        <p:spPr>
          <a:xfrm>
            <a:off x="7744350" y="269100"/>
            <a:ext cx="3334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FF0000"/>
                </a:solidFill>
                <a:latin typeface="Times New Roman"/>
                <a:ea typeface="Times New Roman"/>
                <a:cs typeface="Times New Roman"/>
                <a:sym typeface="Times New Roman"/>
              </a:rPr>
              <a:t>Cell Exterior</a:t>
            </a:r>
            <a:endParaRPr b="0" i="0" sz="28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113a4eff4dd_0_7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Why omega-3 PUFA are required in your diet?</a:t>
            </a:r>
            <a:endParaRPr b="1" i="0" sz="2200" u="none" cap="none" strike="noStrike">
              <a:solidFill>
                <a:schemeClr val="lt1"/>
              </a:solidFill>
              <a:latin typeface="Times New Roman"/>
              <a:ea typeface="Times New Roman"/>
              <a:cs typeface="Times New Roman"/>
              <a:sym typeface="Times New Roman"/>
            </a:endParaRPr>
          </a:p>
        </p:txBody>
      </p:sp>
      <p:pic>
        <p:nvPicPr>
          <p:cNvPr id="418" name="Google Shape;418;g113a4eff4dd_0_77"/>
          <p:cNvPicPr preferRelativeResize="0"/>
          <p:nvPr/>
        </p:nvPicPr>
        <p:blipFill rotWithShape="1">
          <a:blip r:embed="rId3">
            <a:alphaModFix/>
          </a:blip>
          <a:srcRect b="0" l="0" r="0" t="0"/>
          <a:stretch/>
        </p:blipFill>
        <p:spPr>
          <a:xfrm>
            <a:off x="2863050" y="430000"/>
            <a:ext cx="6637475" cy="6178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113a4eff4dd_0_112"/>
          <p:cNvSpPr txBox="1"/>
          <p:nvPr>
            <p:ph idx="1" type="body"/>
          </p:nvPr>
        </p:nvSpPr>
        <p:spPr>
          <a:xfrm>
            <a:off x="406250" y="530225"/>
            <a:ext cx="11382600" cy="5792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When oily foods are exposed too long to the oxygen in air, they may spoil and become </a:t>
            </a:r>
            <a:r>
              <a:rPr lang="en-US" sz="1900">
                <a:solidFill>
                  <a:srgbClr val="0000FF"/>
                </a:solidFill>
                <a:latin typeface="Times New Roman"/>
                <a:ea typeface="Times New Roman"/>
                <a:cs typeface="Times New Roman"/>
                <a:sym typeface="Times New Roman"/>
              </a:rPr>
              <a:t>rancid</a:t>
            </a: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The unpleasant smell and taste associated with rancidity result from the oxidative cleavage of double bonds in unsaturated fatty acids, which produces aldehydes and carboxylic acids of shorter chain length.</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To improve the shelflife of vegetable oils used in cooking, </a:t>
            </a:r>
            <a:r>
              <a:rPr lang="en-US" sz="1900">
                <a:solidFill>
                  <a:srgbClr val="0000FF"/>
                </a:solidFill>
                <a:latin typeface="Times New Roman"/>
                <a:ea typeface="Times New Roman"/>
                <a:cs typeface="Times New Roman"/>
                <a:sym typeface="Times New Roman"/>
              </a:rPr>
              <a:t>partial hydrogenation</a:t>
            </a:r>
            <a:r>
              <a:rPr lang="en-US" sz="1900">
                <a:latin typeface="Times New Roman"/>
                <a:ea typeface="Times New Roman"/>
                <a:cs typeface="Times New Roman"/>
                <a:sym typeface="Times New Roman"/>
              </a:rPr>
              <a:t> is used which </a:t>
            </a:r>
            <a:r>
              <a:rPr lang="en-US" sz="1900">
                <a:solidFill>
                  <a:srgbClr val="0000FF"/>
                </a:solidFill>
                <a:latin typeface="Times New Roman"/>
                <a:ea typeface="Times New Roman"/>
                <a:cs typeface="Times New Roman"/>
                <a:sym typeface="Times New Roman"/>
              </a:rPr>
              <a:t>converts cis double bonds of fatty acids to single bonds</a:t>
            </a:r>
            <a:r>
              <a:rPr lang="en-US" sz="1900">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Partial hydrogenation has another undesirable effect: some cis double bonds are converted to </a:t>
            </a:r>
            <a:r>
              <a:rPr lang="en-US" sz="1900">
                <a:solidFill>
                  <a:srgbClr val="0000FF"/>
                </a:solidFill>
                <a:latin typeface="Times New Roman"/>
                <a:ea typeface="Times New Roman"/>
                <a:cs typeface="Times New Roman"/>
                <a:sym typeface="Times New Roman"/>
              </a:rPr>
              <a:t>trans double bonds</a:t>
            </a:r>
            <a:r>
              <a:rPr lang="en-US" sz="1900">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Dietary intake of trans fats leads to higher incidences of cardiovascular disease.</a:t>
            </a:r>
            <a:endParaRPr sz="19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Dietary trans fats raise the level of triacylglycerols and of LDL (“bad”) cholesterol in the blood and lower the level of HDL (“good”) cholesterol.</a:t>
            </a:r>
            <a:endParaRPr sz="19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Many fast foods are deep-fried in partially hydrogenated vegetable oils and therefore contain high levels of trans fatty acids. Several countries have restricted the use of partially hydrogenated oils in restaurants.</a:t>
            </a:r>
            <a:endParaRPr sz="1900">
              <a:latin typeface="Times New Roman"/>
              <a:ea typeface="Times New Roman"/>
              <a:cs typeface="Times New Roman"/>
              <a:sym typeface="Times New Roman"/>
            </a:endParaRPr>
          </a:p>
        </p:txBody>
      </p:sp>
      <p:sp>
        <p:nvSpPr>
          <p:cNvPr id="425" name="Google Shape;425;g113a4eff4dd_0_11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Partial Hydrogenation of cooking oils produces trans fatty acids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g113a4eff4dd_0_119"/>
          <p:cNvPicPr preferRelativeResize="0"/>
          <p:nvPr/>
        </p:nvPicPr>
        <p:blipFill rotWithShape="1">
          <a:blip r:embed="rId3">
            <a:alphaModFix/>
          </a:blip>
          <a:srcRect b="0" l="0" r="0" t="0"/>
          <a:stretch/>
        </p:blipFill>
        <p:spPr>
          <a:xfrm>
            <a:off x="2432975" y="477275"/>
            <a:ext cx="6923750" cy="6267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g114f82da21e_0_1"/>
          <p:cNvPicPr preferRelativeResize="0"/>
          <p:nvPr/>
        </p:nvPicPr>
        <p:blipFill rotWithShape="1">
          <a:blip r:embed="rId3">
            <a:alphaModFix/>
          </a:blip>
          <a:srcRect b="0" l="0" r="0" t="0"/>
          <a:stretch/>
        </p:blipFill>
        <p:spPr>
          <a:xfrm>
            <a:off x="152400" y="474228"/>
            <a:ext cx="6004900" cy="6307575"/>
          </a:xfrm>
          <a:prstGeom prst="rect">
            <a:avLst/>
          </a:prstGeom>
          <a:noFill/>
          <a:ln>
            <a:noFill/>
          </a:ln>
        </p:spPr>
      </p:pic>
      <p:sp>
        <p:nvSpPr>
          <p:cNvPr id="438" name="Google Shape;438;g114f82da21e_0_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Glycosphingolipids as determinants of blood groups</a:t>
            </a:r>
            <a:endParaRPr b="1" i="0" sz="2200" u="none" cap="none" strike="noStrike">
              <a:solidFill>
                <a:schemeClr val="lt1"/>
              </a:solidFill>
              <a:latin typeface="Times New Roman"/>
              <a:ea typeface="Times New Roman"/>
              <a:cs typeface="Times New Roman"/>
              <a:sym typeface="Times New Roman"/>
            </a:endParaRPr>
          </a:p>
        </p:txBody>
      </p:sp>
      <p:pic>
        <p:nvPicPr>
          <p:cNvPr id="439" name="Google Shape;439;g114f82da21e_0_1"/>
          <p:cNvPicPr preferRelativeResize="0"/>
          <p:nvPr/>
        </p:nvPicPr>
        <p:blipFill rotWithShape="1">
          <a:blip r:embed="rId4">
            <a:alphaModFix/>
          </a:blip>
          <a:srcRect b="0" l="0" r="0" t="0"/>
          <a:stretch/>
        </p:blipFill>
        <p:spPr>
          <a:xfrm>
            <a:off x="6635288" y="2905113"/>
            <a:ext cx="4810125" cy="3876675"/>
          </a:xfrm>
          <a:prstGeom prst="rect">
            <a:avLst/>
          </a:prstGeom>
          <a:noFill/>
          <a:ln>
            <a:noFill/>
          </a:ln>
        </p:spPr>
      </p:pic>
      <p:sp>
        <p:nvSpPr>
          <p:cNvPr id="440" name="Google Shape;440;g114f82da21e_0_1"/>
          <p:cNvSpPr txBox="1"/>
          <p:nvPr/>
        </p:nvSpPr>
        <p:spPr>
          <a:xfrm>
            <a:off x="6011600" y="531800"/>
            <a:ext cx="5877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Glycosphingolipids are present on the outer surface of the red blood cells (RBCs)</a:t>
            </a:r>
            <a:endParaRPr b="0" i="0" sz="1800" u="none" cap="none" strike="noStrike">
              <a:solidFill>
                <a:srgbClr val="000000"/>
              </a:solidFill>
              <a:latin typeface="Times New Roman"/>
              <a:ea typeface="Times New Roman"/>
              <a:cs typeface="Times New Roman"/>
              <a:sym typeface="Times New Roman"/>
            </a:endParaRPr>
          </a:p>
        </p:txBody>
      </p:sp>
      <p:pic>
        <p:nvPicPr>
          <p:cNvPr id="441" name="Google Shape;441;g114f82da21e_0_1"/>
          <p:cNvPicPr preferRelativeResize="0"/>
          <p:nvPr/>
        </p:nvPicPr>
        <p:blipFill rotWithShape="1">
          <a:blip r:embed="rId5">
            <a:alphaModFix/>
          </a:blip>
          <a:srcRect b="0" l="44778" r="42130" t="55339"/>
          <a:stretch/>
        </p:blipFill>
        <p:spPr>
          <a:xfrm>
            <a:off x="8148525" y="877550"/>
            <a:ext cx="1890716" cy="1774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9"/>
          <p:cNvSpPr txBox="1"/>
          <p:nvPr>
            <p:ph idx="1" type="body"/>
          </p:nvPr>
        </p:nvSpPr>
        <p:spPr>
          <a:xfrm>
            <a:off x="546300" y="902825"/>
            <a:ext cx="11433300" cy="43512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rPr b="1" lang="en-US" sz="1600">
                <a:latin typeface="Times New Roman"/>
                <a:ea typeface="Times New Roman"/>
                <a:cs typeface="Times New Roman"/>
                <a:sym typeface="Times New Roman"/>
              </a:rPr>
              <a:t>Book: </a:t>
            </a:r>
            <a:r>
              <a:rPr lang="en-US" sz="1600">
                <a:latin typeface="Times New Roman"/>
                <a:ea typeface="Times New Roman"/>
                <a:cs typeface="Times New Roman"/>
                <a:sym typeface="Times New Roman"/>
              </a:rPr>
              <a:t>Lehninger: Principles of Biochemistry, 6th edition. ISBN: 1464109621.</a:t>
            </a:r>
            <a:endParaRPr sz="16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t/>
            </a:r>
            <a:endParaRPr sz="16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rPr lang="en-US" sz="1600">
                <a:latin typeface="Times New Roman"/>
                <a:ea typeface="Times New Roman"/>
                <a:cs typeface="Times New Roman"/>
                <a:sym typeface="Times New Roman"/>
              </a:rPr>
              <a:t>Chapter 7: Carbohydrates and Glycobiology, Page 243-280.</a:t>
            </a:r>
            <a:endParaRPr sz="16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t/>
            </a:r>
            <a:endParaRPr sz="16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rPr lang="en-US" sz="1600">
                <a:latin typeface="Times New Roman"/>
                <a:ea typeface="Times New Roman"/>
                <a:cs typeface="Times New Roman"/>
                <a:sym typeface="Times New Roman"/>
              </a:rPr>
              <a:t>Chapter 10: Lipids, Page 357-383.</a:t>
            </a:r>
            <a:endParaRPr sz="1600">
              <a:latin typeface="Times New Roman"/>
              <a:ea typeface="Times New Roman"/>
              <a:cs typeface="Times New Roman"/>
              <a:sym typeface="Times New Roman"/>
            </a:endParaRPr>
          </a:p>
          <a:p>
            <a:pPr indent="-342900" lvl="0" marL="457200" rtl="0" algn="l">
              <a:lnSpc>
                <a:spcPct val="70000"/>
              </a:lnSpc>
              <a:spcBef>
                <a:spcPts val="0"/>
              </a:spcBef>
              <a:spcAft>
                <a:spcPts val="0"/>
              </a:spcAft>
              <a:buSzPts val="1018"/>
              <a:buNone/>
            </a:pPr>
            <a:r>
              <a:t/>
            </a:r>
            <a:endParaRPr sz="1600">
              <a:latin typeface="Times New Roman"/>
              <a:ea typeface="Times New Roman"/>
              <a:cs typeface="Times New Roman"/>
              <a:sym typeface="Times New Roman"/>
            </a:endParaRPr>
          </a:p>
          <a:p>
            <a:pPr indent="-114300" lvl="0" marL="228600" rtl="0" algn="l">
              <a:lnSpc>
                <a:spcPct val="70000"/>
              </a:lnSpc>
              <a:spcBef>
                <a:spcPts val="1000"/>
              </a:spcBef>
              <a:spcAft>
                <a:spcPts val="0"/>
              </a:spcAft>
              <a:buClr>
                <a:schemeClr val="dk1"/>
              </a:buClr>
              <a:buSzPts val="1665"/>
              <a:buNone/>
            </a:pPr>
            <a:r>
              <a:t/>
            </a:r>
            <a:endParaRPr sz="1600">
              <a:latin typeface="Times New Roman"/>
              <a:ea typeface="Times New Roman"/>
              <a:cs typeface="Times New Roman"/>
              <a:sym typeface="Times New Roman"/>
            </a:endParaRPr>
          </a:p>
        </p:txBody>
      </p:sp>
      <p:sp>
        <p:nvSpPr>
          <p:cNvPr id="447" name="Google Shape;447;p19"/>
          <p:cNvSpPr/>
          <p:nvPr/>
        </p:nvSpPr>
        <p:spPr>
          <a:xfrm>
            <a:off x="0" y="0"/>
            <a:ext cx="12192000" cy="365125"/>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Further reading</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111ba87e56a_0_34"/>
          <p:cNvSpPr txBox="1"/>
          <p:nvPr>
            <p:ph idx="1" type="body"/>
          </p:nvPr>
        </p:nvSpPr>
        <p:spPr>
          <a:xfrm>
            <a:off x="760625" y="595825"/>
            <a:ext cx="10515600" cy="585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You do need to eat some carbohydrates to give your body energy. But it's important to eat the right kinds of carbohydrates for your health:</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When eating grains, choose mostly </a:t>
            </a:r>
            <a:r>
              <a:rPr b="1" lang="en-US" sz="2000">
                <a:latin typeface="Times New Roman"/>
                <a:ea typeface="Times New Roman"/>
                <a:cs typeface="Times New Roman"/>
                <a:sym typeface="Times New Roman"/>
              </a:rPr>
              <a:t>whole grains </a:t>
            </a:r>
            <a:r>
              <a:rPr lang="en-US" sz="2000">
                <a:latin typeface="Times New Roman"/>
                <a:ea typeface="Times New Roman"/>
                <a:cs typeface="Times New Roman"/>
                <a:sym typeface="Times New Roman"/>
              </a:rPr>
              <a:t>and </a:t>
            </a:r>
            <a:r>
              <a:rPr b="1" lang="en-US" sz="2000">
                <a:latin typeface="Times New Roman"/>
                <a:ea typeface="Times New Roman"/>
                <a:cs typeface="Times New Roman"/>
                <a:sym typeface="Times New Roman"/>
              </a:rPr>
              <a:t>not refined grains</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Whole grains are foods like whole wheat bread, brown rice, whole cornmeal, and oatmeal. They offer lots of nutrients that your body needs, like vitamins, minerals, and fiber. </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Refined grains are foods that have had some parts of the grains removed. This also removes some of the nutrients that are good for your health.</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Eat foods with </a:t>
            </a:r>
            <a:r>
              <a:rPr b="1" lang="en-US" sz="2000">
                <a:latin typeface="Times New Roman"/>
                <a:ea typeface="Times New Roman"/>
                <a:cs typeface="Times New Roman"/>
                <a:sym typeface="Times New Roman"/>
              </a:rPr>
              <a:t>lots of fiber</a:t>
            </a:r>
            <a:r>
              <a:rPr lang="en-US" sz="2000">
                <a:latin typeface="Times New Roman"/>
                <a:ea typeface="Times New Roman"/>
                <a:cs typeface="Times New Roman"/>
                <a:sym typeface="Times New Roman"/>
              </a:rPr>
              <a:t>. The Nutrition Facts labels on the back of food packages tells you how much fiber a product has.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Try to avoid foods that have a lot of </a:t>
            </a:r>
            <a:r>
              <a:rPr b="1" lang="en-US" sz="2000">
                <a:latin typeface="Times New Roman"/>
                <a:ea typeface="Times New Roman"/>
                <a:cs typeface="Times New Roman"/>
                <a:sym typeface="Times New Roman"/>
              </a:rPr>
              <a:t>added sugar</a:t>
            </a:r>
            <a:r>
              <a:rPr lang="en-US" sz="2000">
                <a:latin typeface="Times New Roman"/>
                <a:ea typeface="Times New Roman"/>
                <a:cs typeface="Times New Roman"/>
                <a:sym typeface="Times New Roman"/>
              </a:rPr>
              <a:t>. These foods can have many calories but not much nutrition. </a:t>
            </a:r>
            <a:r>
              <a:rPr b="1" lang="en-US" sz="2000">
                <a:latin typeface="Times New Roman"/>
                <a:ea typeface="Times New Roman"/>
                <a:cs typeface="Times New Roman"/>
                <a:sym typeface="Times New Roman"/>
              </a:rPr>
              <a:t>Eating too much added sugar raises your blood sugar and can make you gain weight.</a:t>
            </a:r>
            <a:r>
              <a:rPr lang="en-US" sz="2000">
                <a:latin typeface="Times New Roman"/>
                <a:ea typeface="Times New Roman"/>
                <a:cs typeface="Times New Roman"/>
                <a:sym typeface="Times New Roman"/>
              </a:rPr>
              <a:t> </a:t>
            </a:r>
            <a:endParaRPr sz="3700">
              <a:latin typeface="Times New Roman"/>
              <a:ea typeface="Times New Roman"/>
              <a:cs typeface="Times New Roman"/>
              <a:sym typeface="Times New Roman"/>
            </a:endParaRPr>
          </a:p>
        </p:txBody>
      </p:sp>
      <p:sp>
        <p:nvSpPr>
          <p:cNvPr id="454" name="Google Shape;454;g111ba87e56a_0_3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Which types of carbohydrates you should eat?</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111ba87e56a_0_11"/>
          <p:cNvSpPr txBox="1"/>
          <p:nvPr>
            <p:ph idx="1" type="body"/>
          </p:nvPr>
        </p:nvSpPr>
        <p:spPr>
          <a:xfrm>
            <a:off x="838200" y="682625"/>
            <a:ext cx="10515600" cy="54108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Char char="●"/>
            </a:pPr>
            <a:r>
              <a:rPr b="1" lang="en-US" sz="2000">
                <a:latin typeface="Times New Roman"/>
                <a:ea typeface="Times New Roman"/>
                <a:cs typeface="Times New Roman"/>
                <a:sym typeface="Times New Roman"/>
              </a:rPr>
              <a:t>Sugars:</a:t>
            </a:r>
            <a:r>
              <a:rPr lang="en-US" sz="2000">
                <a:latin typeface="Times New Roman"/>
                <a:ea typeface="Times New Roman"/>
                <a:cs typeface="Times New Roman"/>
                <a:sym typeface="Times New Roman"/>
              </a:rPr>
              <a:t> simple carbohydrates. They can be added to foods, such as the sugar in candy, desserts, processed foods, and regular soda. They also include the kinds of sugar that are found naturally in fruits, vegetables, and milk.</a:t>
            </a:r>
            <a:endParaRPr sz="2000">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b="1" lang="en-US" sz="2000">
                <a:latin typeface="Times New Roman"/>
                <a:ea typeface="Times New Roman"/>
                <a:cs typeface="Times New Roman"/>
                <a:sym typeface="Times New Roman"/>
              </a:rPr>
              <a:t>Starches:</a:t>
            </a:r>
            <a:r>
              <a:rPr lang="en-US" sz="2000">
                <a:latin typeface="Times New Roman"/>
                <a:ea typeface="Times New Roman"/>
                <a:cs typeface="Times New Roman"/>
                <a:sym typeface="Times New Roman"/>
              </a:rPr>
              <a:t> complex carbohydrates. Your body needs to break starches down into sugars to use them for energy. Starches include bread, cereal, and pasta. They also include certain vegetables, like potatoes, peas, and corn.</a:t>
            </a:r>
            <a:endParaRPr sz="2000">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b="1" lang="en-US" sz="2000">
                <a:latin typeface="Times New Roman"/>
                <a:ea typeface="Times New Roman"/>
                <a:cs typeface="Times New Roman"/>
                <a:sym typeface="Times New Roman"/>
              </a:rPr>
              <a:t>Fiber:</a:t>
            </a:r>
            <a:r>
              <a:rPr lang="en-US" sz="2000">
                <a:latin typeface="Times New Roman"/>
                <a:ea typeface="Times New Roman"/>
                <a:cs typeface="Times New Roman"/>
                <a:sym typeface="Times New Roman"/>
              </a:rPr>
              <a:t> complex carbohydrate. Your body cannot break down most fibers, so eating foods with fiber can help you feel full and make you less likely to overeat. Diets high in fiber have other health benefits. They may help prevent stomach or intestinal problems, such as constipation. They may also help lower cholesterol and blood sugar. Fiber is found in many foods that come from plants, including fruits, vegetables, nuts, seeds, beans, and whole grains.</a:t>
            </a:r>
            <a:endParaRPr sz="2000">
              <a:latin typeface="Times New Roman"/>
              <a:ea typeface="Times New Roman"/>
              <a:cs typeface="Times New Roman"/>
              <a:sym typeface="Times New Roman"/>
            </a:endParaRPr>
          </a:p>
          <a:p>
            <a:pPr indent="0" lvl="0" marL="0" rtl="0" algn="l">
              <a:lnSpc>
                <a:spcPct val="90000"/>
              </a:lnSpc>
              <a:spcBef>
                <a:spcPts val="1200"/>
              </a:spcBef>
              <a:spcAft>
                <a:spcPts val="0"/>
              </a:spcAft>
              <a:buSzPts val="1800"/>
              <a:buNone/>
            </a:pPr>
            <a:r>
              <a:t/>
            </a:r>
            <a:endParaRPr sz="3700">
              <a:latin typeface="Times New Roman"/>
              <a:ea typeface="Times New Roman"/>
              <a:cs typeface="Times New Roman"/>
              <a:sym typeface="Times New Roman"/>
            </a:endParaRPr>
          </a:p>
        </p:txBody>
      </p:sp>
      <p:sp>
        <p:nvSpPr>
          <p:cNvPr id="461" name="Google Shape;461;g111ba87e56a_0_1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200" u="none" cap="none" strike="noStrike">
                <a:solidFill>
                  <a:schemeClr val="lt1"/>
                </a:solidFill>
                <a:latin typeface="Times New Roman"/>
                <a:ea typeface="Times New Roman"/>
                <a:cs typeface="Times New Roman"/>
                <a:sym typeface="Times New Roman"/>
              </a:rPr>
              <a:t>What are different types of carbohydrates?</a:t>
            </a:r>
            <a:endParaRPr b="1" i="0" sz="22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2021-09-02T08:32:53Z</dcterms:created>
  <dc:creator>Gunjan Mehta</dc:creator>
</cp:coreProperties>
</file>