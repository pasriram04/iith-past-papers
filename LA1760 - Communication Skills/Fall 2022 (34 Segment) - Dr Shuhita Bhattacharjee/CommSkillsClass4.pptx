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7" r:id="rId2"/>
    <p:sldId id="259" r:id="rId3"/>
    <p:sldId id="263" r:id="rId4"/>
    <p:sldId id="260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52"/>
  </p:normalViewPr>
  <p:slideViewPr>
    <p:cSldViewPr snapToGrid="0" snapToObjects="1">
      <p:cViewPr varScale="1">
        <p:scale>
          <a:sx n="116" d="100"/>
          <a:sy n="116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64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0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7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0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2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5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2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8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71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81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0353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73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0115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12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13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8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0AFBD-BF60-DE40-A033-FF68DCD26FB0}" type="datetimeFigureOut">
              <a:rPr lang="en-US" smtClean="0"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C8F1129-C31A-9348-A66E-5BE6CB4BA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8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65018"/>
            <a:ext cx="9744075" cy="2295835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</a:rPr>
              <a:t>Interviews and Group Discussions: Class 4   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0" y="5428343"/>
            <a:ext cx="10572000" cy="110308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Shuhita </a:t>
            </a:r>
            <a:r>
              <a:rPr lang="en-US" sz="3200" b="1" dirty="0" err="1"/>
              <a:t>Bhattacharjee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5976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344" y="740230"/>
            <a:ext cx="10396882" cy="6241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/>
              <a:t>Group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43" y="2365828"/>
            <a:ext cx="12046857" cy="4956629"/>
          </a:xfrm>
        </p:spPr>
        <p:txBody>
          <a:bodyPr>
            <a:normAutofit/>
          </a:bodyPr>
          <a:lstStyle/>
          <a:p>
            <a:r>
              <a:rPr lang="en-US" sz="2400" cap="none" dirty="0">
                <a:latin typeface="Bahnschrift" panose="020B0502040204020203" pitchFamily="34" charset="0"/>
              </a:rPr>
              <a:t>Prepare substantive content (Subject Knowledge + Current Affairs), Read over a period of time</a:t>
            </a:r>
          </a:p>
          <a:p>
            <a:endParaRPr lang="en-US" sz="2400" cap="none" dirty="0">
              <a:latin typeface="Bahnschrift" panose="020B0502040204020203" pitchFamily="34" charset="0"/>
            </a:endParaRPr>
          </a:p>
          <a:p>
            <a:r>
              <a:rPr lang="en-US" sz="2400" cap="none" dirty="0">
                <a:latin typeface="Bahnschrift" panose="020B0502040204020203" pitchFamily="34" charset="0"/>
              </a:rPr>
              <a:t>List your points cogently, distinctly, methodically, logically</a:t>
            </a:r>
          </a:p>
          <a:p>
            <a:endParaRPr lang="en-US" sz="2400" cap="none" dirty="0">
              <a:latin typeface="Bahnschrift" panose="020B0502040204020203" pitchFamily="34" charset="0"/>
            </a:endParaRPr>
          </a:p>
          <a:p>
            <a:r>
              <a:rPr lang="en-US" sz="2400" cap="none" dirty="0">
                <a:latin typeface="Bahnschrift" panose="020B0502040204020203" pitchFamily="34" charset="0"/>
              </a:rPr>
              <a:t>Do not just repeat the views of others</a:t>
            </a:r>
          </a:p>
          <a:p>
            <a:endParaRPr lang="en-US" sz="2400" cap="none" dirty="0">
              <a:latin typeface="Bahnschrift" panose="020B0502040204020203" pitchFamily="34" charset="0"/>
            </a:endParaRPr>
          </a:p>
          <a:p>
            <a:r>
              <a:rPr lang="en-US" sz="2400" cap="none" dirty="0">
                <a:latin typeface="Bahnschrift" panose="020B0502040204020203" pitchFamily="34" charset="0"/>
              </a:rPr>
              <a:t>Do not speak with any ambiguity</a:t>
            </a:r>
          </a:p>
          <a:p>
            <a:endParaRPr lang="en-US" sz="2400" cap="none" dirty="0">
              <a:latin typeface="Bahnschrift" panose="020B0502040204020203" pitchFamily="34" charset="0"/>
            </a:endParaRPr>
          </a:p>
          <a:p>
            <a:endParaRPr lang="en-US" sz="2400" cap="none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439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Group Discussions </a:t>
            </a:r>
            <a:r>
              <a:rPr lang="en-US" sz="4400" dirty="0"/>
              <a:t>(</a:t>
            </a:r>
            <a:r>
              <a:rPr lang="en-US" dirty="0" err="1">
                <a:latin typeface="Bahnschrift" panose="020B0502040204020203" pitchFamily="34" charset="0"/>
              </a:rPr>
              <a:t>cotd</a:t>
            </a:r>
            <a:r>
              <a:rPr lang="en-US" dirty="0">
                <a:latin typeface="Bahnschrift" panose="020B0502040204020203" pitchFamily="34" charset="0"/>
              </a:rPr>
              <a:t> . . .</a:t>
            </a:r>
            <a:r>
              <a:rPr lang="en-US" sz="4400" dirty="0"/>
              <a:t>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743" y="2249715"/>
            <a:ext cx="11684000" cy="442685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Bahnschrift" panose="020B0502040204020203" pitchFamily="34" charset="0"/>
              </a:rPr>
              <a:t>Assume leadership while speaking (</a:t>
            </a:r>
            <a:r>
              <a:rPr lang="en-US" sz="2800" i="1" dirty="0">
                <a:latin typeface="Bahnschrift" panose="020B0502040204020203" pitchFamily="34" charset="0"/>
              </a:rPr>
              <a:t>You can start the discussion by making an impact OR you can join later by agreeing/disagreeing with others</a:t>
            </a:r>
            <a:r>
              <a:rPr lang="en-US" sz="2800" dirty="0">
                <a:latin typeface="Bahnschrift" panose="020B0502040204020203" pitchFamily="34" charset="0"/>
              </a:rPr>
              <a:t>)</a:t>
            </a:r>
          </a:p>
          <a:p>
            <a:pPr marL="0" indent="0">
              <a:buNone/>
            </a:pPr>
            <a:endParaRPr lang="en-US" sz="2800" dirty="0">
              <a:latin typeface="Bahnschrift" panose="020B0502040204020203" pitchFamily="34" charset="0"/>
            </a:endParaRPr>
          </a:p>
          <a:p>
            <a:r>
              <a:rPr lang="en-US" sz="2800" dirty="0">
                <a:latin typeface="Bahnschrift" panose="020B0502040204020203" pitchFamily="34" charset="0"/>
              </a:rPr>
              <a:t>Be a good listener and learn to respond (</a:t>
            </a:r>
            <a:r>
              <a:rPr lang="en-US" sz="2800" i="1" dirty="0">
                <a:latin typeface="Bahnschrift" panose="020B0502040204020203" pitchFamily="34" charset="0"/>
              </a:rPr>
              <a:t>refer to the speaker before you to whom you are referring as you build on their point</a:t>
            </a:r>
            <a:r>
              <a:rPr lang="en-US" sz="2800" dirty="0">
                <a:latin typeface="Bahnschrift" panose="020B0502040204020203" pitchFamily="34" charset="0"/>
              </a:rPr>
              <a:t>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0377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0"/>
            <a:ext cx="10396882" cy="1151965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Group Discussions (</a:t>
            </a:r>
            <a:r>
              <a:rPr lang="en-US" sz="4000" cap="none" dirty="0" err="1">
                <a:latin typeface="Bahnschrift" panose="020B0502040204020203" pitchFamily="34" charset="0"/>
              </a:rPr>
              <a:t>cotd</a:t>
            </a:r>
            <a:r>
              <a:rPr lang="en-US" sz="4000" cap="none" dirty="0">
                <a:latin typeface="Bahnschrift" panose="020B0502040204020203" pitchFamily="34" charset="0"/>
              </a:rPr>
              <a:t> . . .</a:t>
            </a:r>
            <a:r>
              <a:rPr lang="en-US" sz="44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399141"/>
            <a:ext cx="10396882" cy="4561639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Bahnschrift" panose="020B0502040204020203" pitchFamily="34" charset="0"/>
              </a:rPr>
              <a:t>Be relevant </a:t>
            </a:r>
          </a:p>
          <a:p>
            <a:r>
              <a:rPr lang="en-US" cap="none" dirty="0">
                <a:latin typeface="Bahnschrift" panose="020B0502040204020203" pitchFamily="34" charset="0"/>
              </a:rPr>
              <a:t>Body language: Consensus-building, Polite but firm, Clear departures, No aggressive moves</a:t>
            </a:r>
          </a:p>
          <a:p>
            <a:r>
              <a:rPr lang="en-US" cap="none" dirty="0">
                <a:latin typeface="Bahnschrift" panose="020B0502040204020203" pitchFamily="34" charset="0"/>
              </a:rPr>
              <a:t>Communication skills, Be audible, Sound confident</a:t>
            </a:r>
          </a:p>
          <a:p>
            <a:r>
              <a:rPr lang="en-US" cap="none" dirty="0">
                <a:latin typeface="Bahnschrift" panose="020B0502040204020203" pitchFamily="34" charset="0"/>
              </a:rPr>
              <a:t>Make multiple contributions</a:t>
            </a:r>
          </a:p>
          <a:p>
            <a:r>
              <a:rPr lang="en-US" cap="none" dirty="0">
                <a:latin typeface="Bahnschrift" panose="020B0502040204020203" pitchFamily="34" charset="0"/>
              </a:rPr>
              <a:t>Use facts and figures in support of your points</a:t>
            </a:r>
          </a:p>
          <a:p>
            <a:r>
              <a:rPr lang="en-US" cap="none" dirty="0">
                <a:latin typeface="Bahnschrift" panose="020B0502040204020203" pitchFamily="34" charset="0"/>
              </a:rPr>
              <a:t>Do not speak as a crowd</a:t>
            </a:r>
          </a:p>
        </p:txBody>
      </p:sp>
    </p:spTree>
    <p:extLst>
      <p:ext uri="{BB962C8B-B14F-4D97-AF65-F5344CB8AC3E}">
        <p14:creationId xmlns:p14="http://schemas.microsoft.com/office/powerpoint/2010/main" val="364028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Group Discussions (</a:t>
            </a:r>
            <a:r>
              <a:rPr lang="en-US" sz="4000" cap="none" dirty="0" err="1">
                <a:latin typeface="Bahnschrift" panose="020B0502040204020203" pitchFamily="34" charset="0"/>
              </a:rPr>
              <a:t>cotd</a:t>
            </a:r>
            <a:r>
              <a:rPr lang="en-US" sz="4000" cap="none" dirty="0">
                <a:latin typeface="Bahnschrift" panose="020B0502040204020203" pitchFamily="34" charset="0"/>
              </a:rPr>
              <a:t> . . .</a:t>
            </a:r>
            <a:r>
              <a:rPr lang="en-US" sz="44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cap="none" dirty="0">
                <a:latin typeface="Bahnschrift" panose="020B0502040204020203" pitchFamily="34" charset="0"/>
              </a:rPr>
              <a:t>Healthy debate </a:t>
            </a:r>
          </a:p>
          <a:p>
            <a:r>
              <a:rPr lang="en-US" sz="2800" cap="none" dirty="0">
                <a:latin typeface="Bahnschrift" panose="020B0502040204020203" pitchFamily="34" charset="0"/>
              </a:rPr>
              <a:t>Directed participation</a:t>
            </a:r>
          </a:p>
          <a:p>
            <a:r>
              <a:rPr lang="en-US" sz="2800" cap="none" dirty="0">
                <a:latin typeface="Bahnschrift" panose="020B0502040204020203" pitchFamily="34" charset="0"/>
              </a:rPr>
              <a:t>Being open-minded</a:t>
            </a:r>
          </a:p>
        </p:txBody>
      </p:sp>
    </p:spTree>
    <p:extLst>
      <p:ext uri="{BB962C8B-B14F-4D97-AF65-F5344CB8AC3E}">
        <p14:creationId xmlns:p14="http://schemas.microsoft.com/office/powerpoint/2010/main" val="4260745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0"/>
            <a:ext cx="10396882" cy="769257"/>
          </a:xfrm>
        </p:spPr>
        <p:txBody>
          <a:bodyPr>
            <a:normAutofit/>
          </a:bodyPr>
          <a:lstStyle/>
          <a:p>
            <a:pPr algn="ctr"/>
            <a:r>
              <a:rPr lang="en-US" cap="none" dirty="0">
                <a:latin typeface="Bahnschrift" panose="020B0502040204020203" pitchFamily="34" charset="0"/>
              </a:rPr>
              <a:t>Skills under Evaluation: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171" y="2278742"/>
            <a:ext cx="10396883" cy="4431157"/>
          </a:xfrm>
        </p:spPr>
        <p:txBody>
          <a:bodyPr>
            <a:normAutofit/>
          </a:bodyPr>
          <a:lstStyle/>
          <a:p>
            <a:r>
              <a:rPr lang="en-US" sz="2400" cap="none" dirty="0">
                <a:latin typeface="Bahnschrift" panose="020B0502040204020203" pitchFamily="34" charset="0"/>
              </a:rPr>
              <a:t>Ability to rally/motivate the group, lead the group towards concrete and meaningful resolutions/actions,</a:t>
            </a:r>
          </a:p>
          <a:p>
            <a:endParaRPr lang="en-US" sz="2400" cap="none" dirty="0">
              <a:latin typeface="Bahnschrift" panose="020B0502040204020203" pitchFamily="34" charset="0"/>
            </a:endParaRPr>
          </a:p>
          <a:p>
            <a:r>
              <a:rPr lang="en-US" sz="2400" cap="none" dirty="0">
                <a:latin typeface="Bahnschrift" panose="020B0502040204020203" pitchFamily="34" charset="0"/>
              </a:rPr>
              <a:t>Team player + Team leader</a:t>
            </a:r>
          </a:p>
          <a:p>
            <a:endParaRPr lang="en-US" sz="2400" cap="none" dirty="0">
              <a:latin typeface="Bahnschrift" panose="020B0502040204020203" pitchFamily="34" charset="0"/>
            </a:endParaRPr>
          </a:p>
          <a:p>
            <a:r>
              <a:rPr lang="en-US" sz="2400" cap="none" dirty="0">
                <a:latin typeface="Bahnschrift" panose="020B0502040204020203" pitchFamily="34" charset="0"/>
              </a:rPr>
              <a:t>Language: </a:t>
            </a:r>
          </a:p>
          <a:p>
            <a:pPr marL="0" indent="0">
              <a:buNone/>
            </a:pPr>
            <a:r>
              <a:rPr lang="en-US" sz="2400" cap="none" dirty="0">
                <a:latin typeface="Bahnschrift" panose="020B0502040204020203" pitchFamily="34" charset="0"/>
              </a:rPr>
              <a:t>         Respectful, Language of Consensus and not Confrontation,  				   Considered language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39933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{CE768A50-AE3B-CA42-AA91-F5455188A1D5}tf10001060_mac</Template>
  <TotalTime>2</TotalTime>
  <Words>223</Words>
  <Application>Microsoft Macintosh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Trebuchet MS</vt:lpstr>
      <vt:lpstr>Wingdings 3</vt:lpstr>
      <vt:lpstr>Facet</vt:lpstr>
      <vt:lpstr>Interviews and Group Discussions: Class 4      </vt:lpstr>
      <vt:lpstr>Group Discussions</vt:lpstr>
      <vt:lpstr>Group Discussions (cotd . . .) </vt:lpstr>
      <vt:lpstr>Group Discussions (cotd . . .)</vt:lpstr>
      <vt:lpstr>Group Discussions (cotd . . .)</vt:lpstr>
      <vt:lpstr>Skills under Evaluation: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Interviews and Group Discussions: Class 4      </dc:title>
  <dc:creator>Shuhita Bhattacharjee</dc:creator>
  <cp:lastModifiedBy>Shuhita Bhattacharjee</cp:lastModifiedBy>
  <cp:revision>2</cp:revision>
  <dcterms:created xsi:type="dcterms:W3CDTF">2022-01-24T06:18:57Z</dcterms:created>
  <dcterms:modified xsi:type="dcterms:W3CDTF">2022-01-24T06:21:14Z</dcterms:modified>
</cp:coreProperties>
</file>