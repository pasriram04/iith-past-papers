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sldIdLst>
    <p:sldId id="256" r:id="rId2"/>
    <p:sldId id="264" r:id="rId3"/>
    <p:sldId id="266" r:id="rId4"/>
    <p:sldId id="265" r:id="rId5"/>
    <p:sldId id="268" r:id="rId6"/>
    <p:sldId id="269" r:id="rId7"/>
    <p:sldId id="270" r:id="rId8"/>
    <p:sldId id="267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7"/>
    <p:restoredTop sz="94681"/>
  </p:normalViewPr>
  <p:slideViewPr>
    <p:cSldViewPr snapToGrid="0">
      <p:cViewPr varScale="1">
        <p:scale>
          <a:sx n="107" d="100"/>
          <a:sy n="107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6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1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5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071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4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8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95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4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8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9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06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40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34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9F92852-9A1B-4980-9657-E8B71508666B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21D58AFB-8755-46E2-946E-25F8B79EA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99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57768"/>
            <a:ext cx="12192000" cy="1103085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     </a:t>
            </a:r>
            <a:r>
              <a:rPr lang="en-US" sz="4000" dirty="0"/>
              <a:t>Workplace Language Discrimination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0" y="5428343"/>
            <a:ext cx="10572000" cy="110308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Shuhita </a:t>
            </a:r>
            <a:r>
              <a:rPr lang="en-US" sz="3200" b="1" dirty="0" err="1"/>
              <a:t>Bhattacharjee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5976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Biases/Prejudices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396" y="1654630"/>
            <a:ext cx="10554574" cy="5515428"/>
          </a:xfrm>
        </p:spPr>
        <p:txBody>
          <a:bodyPr/>
          <a:lstStyle/>
          <a:p>
            <a:r>
              <a:rPr lang="en-US" sz="2800" b="1" dirty="0"/>
              <a:t>Problem</a:t>
            </a:r>
            <a:r>
              <a:rPr lang="en-US" sz="2800" b="1" dirty="0">
                <a:sym typeface="Wingdings" panose="05000000000000000000" pitchFamily="2" charset="2"/>
              </a:rPr>
              <a:t></a:t>
            </a:r>
            <a:endParaRPr lang="en-US" sz="28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Biases are Personal Traits</a:t>
            </a:r>
          </a:p>
          <a:p>
            <a:pPr marL="0" indent="0">
              <a:buNone/>
            </a:pPr>
            <a:r>
              <a:rPr lang="en-US" dirty="0"/>
              <a:t>Affect workplace functioning </a:t>
            </a:r>
          </a:p>
          <a:p>
            <a:endParaRPr lang="en-US" dirty="0"/>
          </a:p>
          <a:p>
            <a:r>
              <a:rPr lang="en-US" sz="2800" b="1" dirty="0"/>
              <a:t>Solution</a:t>
            </a:r>
            <a:r>
              <a:rPr lang="en-US" sz="2800" b="1" dirty="0">
                <a:sym typeface="Wingdings" panose="05000000000000000000" pitchFamily="2" charset="2"/>
              </a:rPr>
              <a:t></a:t>
            </a:r>
            <a:endParaRPr lang="en-US" sz="2800" b="1" dirty="0"/>
          </a:p>
          <a:p>
            <a:pPr marL="0" indent="0">
              <a:buNone/>
            </a:pPr>
            <a:r>
              <a:rPr lang="en-US" dirty="0"/>
              <a:t>Avoid discriminatory language (methodological shift)</a:t>
            </a:r>
          </a:p>
          <a:p>
            <a:pPr marL="0" indent="0">
              <a:buNone/>
            </a:pPr>
            <a:r>
              <a:rPr lang="en-US" dirty="0"/>
              <a:t>Avoid discriminatory ways of thinking (personality shift)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7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Discrimination Based 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2222287"/>
            <a:ext cx="11843657" cy="4396227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Gender</a:t>
            </a:r>
          </a:p>
          <a:p>
            <a:r>
              <a:rPr lang="en-US" sz="2800" b="1" dirty="0"/>
              <a:t>Sexuality</a:t>
            </a:r>
          </a:p>
          <a:p>
            <a:r>
              <a:rPr lang="en-US" sz="2800" b="1" dirty="0"/>
              <a:t>Class (Language)</a:t>
            </a:r>
          </a:p>
          <a:p>
            <a:r>
              <a:rPr lang="en-US" sz="2800" b="1" dirty="0"/>
              <a:t>Caste</a:t>
            </a:r>
          </a:p>
          <a:p>
            <a:r>
              <a:rPr lang="en-US" sz="2800" b="1" dirty="0"/>
              <a:t>Race</a:t>
            </a:r>
          </a:p>
          <a:p>
            <a:r>
              <a:rPr lang="en-US" sz="2800" b="1" dirty="0"/>
              <a:t>Ethnicity</a:t>
            </a:r>
          </a:p>
          <a:p>
            <a:r>
              <a:rPr lang="en-US" sz="2800" b="1" dirty="0"/>
              <a:t>Religion</a:t>
            </a:r>
          </a:p>
          <a:p>
            <a:r>
              <a:rPr lang="en-US" sz="2800" b="1" dirty="0"/>
              <a:t>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9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551542"/>
            <a:ext cx="12192000" cy="2607809"/>
          </a:xfrm>
        </p:spPr>
        <p:txBody>
          <a:bodyPr/>
          <a:lstStyle/>
          <a:p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Examples of Consciously Framed Language that is gendered/sexist, racialized, </a:t>
            </a:r>
            <a:r>
              <a:rPr lang="en-US" sz="2800" dirty="0" err="1"/>
              <a:t>casteist</a:t>
            </a:r>
            <a:r>
              <a:rPr lang="en-US" sz="2800" dirty="0"/>
              <a:t>, classist, heteronormative, regionalist abound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6114" y="1937659"/>
            <a:ext cx="12308114" cy="4920341"/>
          </a:xfrm>
        </p:spPr>
        <p:txBody>
          <a:bodyPr>
            <a:normAutofit/>
          </a:bodyPr>
          <a:lstStyle/>
          <a:p>
            <a:r>
              <a:rPr lang="en-US" dirty="0"/>
              <a:t>Gendered: “Be a man”, “Don’t be such a little girl”, assumptions about productivity relating to pregnancy/marital engagements</a:t>
            </a:r>
          </a:p>
          <a:p>
            <a:endParaRPr lang="en-US" dirty="0"/>
          </a:p>
          <a:p>
            <a:r>
              <a:rPr lang="en-US" dirty="0"/>
              <a:t>Heteronormative: “Don’t be a sissy”</a:t>
            </a:r>
          </a:p>
          <a:p>
            <a:endParaRPr lang="en-US" dirty="0"/>
          </a:p>
          <a:p>
            <a:r>
              <a:rPr lang="en-US" dirty="0"/>
              <a:t>Racialized: “This looks shabby/dirty, spruce it up” (speaking of darker shades </a:t>
            </a:r>
            <a:r>
              <a:rPr lang="en-US" dirty="0" err="1"/>
              <a:t>etc</a:t>
            </a:r>
            <a:r>
              <a:rPr lang="en-US" dirty="0"/>
              <a:t>), “Her complexion is not glowing enough” (choosing someone for the front desk)</a:t>
            </a:r>
          </a:p>
          <a:p>
            <a:endParaRPr lang="en-US" dirty="0"/>
          </a:p>
          <a:p>
            <a:r>
              <a:rPr lang="en-US" dirty="0" err="1"/>
              <a:t>Casteist</a:t>
            </a:r>
            <a:r>
              <a:rPr lang="en-US" dirty="0"/>
              <a:t>: Having lunchroom policies that allow people to sit separately based on caste preferences, speaking of your ‘Brahmin’ norms of vegetarianism and purity, speaking of puja rituals that exclude certain castes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5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22287"/>
            <a:ext cx="12192000" cy="4635713"/>
          </a:xfrm>
        </p:spPr>
        <p:txBody>
          <a:bodyPr>
            <a:normAutofit/>
          </a:bodyPr>
          <a:lstStyle/>
          <a:p>
            <a:r>
              <a:rPr lang="en-US" dirty="0"/>
              <a:t>Regionalist: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US" dirty="0"/>
              <a:t>Discriminating based on language accents (hiring people for top posts if they demonstrate certain accents),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US" sz="1800" dirty="0"/>
              <a:t>Indicating preferences or personal stereotypes of region-based </a:t>
            </a:r>
            <a:r>
              <a:rPr lang="en-US" sz="1800" dirty="0" err="1"/>
              <a:t>behaviour</a:t>
            </a:r>
            <a:r>
              <a:rPr lang="en-US" sz="1800" dirty="0"/>
              <a:t> (“That’s typical of North India / of the South/ of Bihar/Bengal/</a:t>
            </a:r>
            <a:r>
              <a:rPr lang="en-US" sz="1800" dirty="0" err="1"/>
              <a:t>Ngaland</a:t>
            </a:r>
            <a:r>
              <a:rPr lang="en-US" sz="1800" dirty="0"/>
              <a:t>” </a:t>
            </a:r>
            <a:r>
              <a:rPr lang="en-US" sz="1800" dirty="0" err="1"/>
              <a:t>etc</a:t>
            </a:r>
            <a:r>
              <a:rPr lang="en-US" sz="1800" dirty="0"/>
              <a:t>, “Don’t be such a </a:t>
            </a:r>
            <a:r>
              <a:rPr lang="en-US" sz="1800" dirty="0" err="1"/>
              <a:t>Sardar</a:t>
            </a:r>
            <a:r>
              <a:rPr lang="en-US" sz="1800" dirty="0"/>
              <a:t>”), </a:t>
            </a:r>
          </a:p>
          <a:p>
            <a:pPr marL="685800" lvl="1">
              <a:buFont typeface="Wingdings" panose="05000000000000000000" pitchFamily="2" charset="2"/>
              <a:buChar char="v"/>
            </a:pPr>
            <a:r>
              <a:rPr lang="en-US" sz="1800" dirty="0"/>
              <a:t>Speaking by homogenizing regions (the ‘North-East’/’North India’/’South India’)</a:t>
            </a:r>
          </a:p>
          <a:p>
            <a:endParaRPr lang="en-US" dirty="0"/>
          </a:p>
          <a:p>
            <a:r>
              <a:rPr lang="en-US" dirty="0"/>
              <a:t>Classist (Speaking of Lack of privilege/exposure): “You either have it or you don’t” (referring to elite </a:t>
            </a:r>
            <a:r>
              <a:rPr lang="en-US" dirty="0" err="1"/>
              <a:t>behavioural</a:t>
            </a:r>
            <a:r>
              <a:rPr lang="en-US" dirty="0"/>
              <a:t> tropes / table manners </a:t>
            </a:r>
            <a:r>
              <a:rPr lang="en-US" dirty="0" err="1"/>
              <a:t>etc</a:t>
            </a:r>
            <a:r>
              <a:rPr lang="en-US" dirty="0"/>
              <a:t>), “The apple never falls far from the tree” / “He doesn’t </a:t>
            </a:r>
            <a:r>
              <a:rPr lang="en-US" i="1" dirty="0"/>
              <a:t>know</a:t>
            </a:r>
            <a:r>
              <a:rPr lang="en-US" dirty="0"/>
              <a:t> better / hasn’t seen the world” (speaking of unpresentable </a:t>
            </a:r>
            <a:r>
              <a:rPr lang="en-US" dirty="0" err="1"/>
              <a:t>behaviour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), </a:t>
            </a:r>
          </a:p>
          <a:p>
            <a:endParaRPr lang="en-US" dirty="0"/>
          </a:p>
          <a:p>
            <a:r>
              <a:rPr lang="en-US" dirty="0"/>
              <a:t>Religion-based discrimination (assumptions about eating habits, cultural preferences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082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Strategies: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gender-specific language, Use gender-neutral/inclusive language </a:t>
            </a:r>
          </a:p>
          <a:p>
            <a:pPr marL="0" indent="0">
              <a:buNone/>
            </a:pPr>
            <a:r>
              <a:rPr lang="en-US" dirty="0"/>
              <a:t>Use gender-inclusive pronouns: they/their instead of he/his or she/her; </a:t>
            </a:r>
          </a:p>
          <a:p>
            <a:pPr marL="0" indent="0">
              <a:buNone/>
            </a:pPr>
            <a:r>
              <a:rPr lang="en-US" dirty="0"/>
              <a:t>Be inclusive in your language: Instead of “Good morning, Ladies and Gentleman” start with “A very good morning everyone . . .”, “May the best person win” instead of “May the best man win”</a:t>
            </a:r>
          </a:p>
          <a:p>
            <a:pPr marL="0" indent="0">
              <a:buNone/>
            </a:pPr>
            <a:r>
              <a:rPr lang="en-US" dirty="0"/>
              <a:t>Say “Spouses/partners” instead of “Husbands/wives”, “Parenthood leave” instead of “Maternity/Paternity leave”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84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ageism (Do not indicate in your Job Advertisements or Office Memos that you are looking for a “digital native” “recent grad”, “youthful energy”)</a:t>
            </a:r>
          </a:p>
          <a:p>
            <a:endParaRPr lang="en-US" dirty="0"/>
          </a:p>
          <a:p>
            <a:r>
              <a:rPr lang="en-US" dirty="0"/>
              <a:t>Prepare a clear and detailed workplace policy, Circulate the written document, Have policies for </a:t>
            </a:r>
            <a:r>
              <a:rPr lang="en-US" dirty="0" err="1"/>
              <a:t>behaviour</a:t>
            </a:r>
            <a:r>
              <a:rPr lang="en-US" dirty="0"/>
              <a:t> and language usage, Cover/Anticipate a broad range of potential discriminatory acts, Provide training .sensitization programs for employees/students and for your team leaders (Second-level of administration should model appropriate </a:t>
            </a:r>
            <a:r>
              <a:rPr lang="en-US" dirty="0" err="1"/>
              <a:t>behaviour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Nothing is “just banter/good fun/in jest/ unintentional”</a:t>
            </a:r>
          </a:p>
        </p:txBody>
      </p:sp>
    </p:spTree>
    <p:extLst>
      <p:ext uri="{BB962C8B-B14F-4D97-AF65-F5344CB8AC3E}">
        <p14:creationId xmlns:p14="http://schemas.microsoft.com/office/powerpoint/2010/main" val="273732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Casteist</a:t>
            </a:r>
            <a:r>
              <a:rPr lang="en-US" dirty="0"/>
              <a:t>: Having lunchroom policies that allow people to sit separately based on caste preferences, speaking of your ‘Brahmin’ norms of vegetarianism and purity, speaking of puja rituals that exclude certain castes</a:t>
            </a:r>
          </a:p>
          <a:p>
            <a:r>
              <a:rPr lang="en-US" dirty="0"/>
              <a:t>Regionalist: Discriminating based on language accents (hiring people for top posts if they demonstrate certain accents), Indicating preferences or personal stereotypes of region-based </a:t>
            </a:r>
            <a:r>
              <a:rPr lang="en-US" dirty="0" err="1"/>
              <a:t>behaviour</a:t>
            </a:r>
            <a:r>
              <a:rPr lang="en-US" dirty="0"/>
              <a:t> (“That’s typical of North India / of the South/ of Bihar/Bengal/</a:t>
            </a:r>
            <a:r>
              <a:rPr lang="en-US" dirty="0" err="1"/>
              <a:t>Ngaland</a:t>
            </a:r>
            <a:r>
              <a:rPr lang="en-US" dirty="0"/>
              <a:t>” </a:t>
            </a:r>
            <a:r>
              <a:rPr lang="en-US" dirty="0" err="1"/>
              <a:t>etc</a:t>
            </a:r>
            <a:r>
              <a:rPr lang="en-US" dirty="0"/>
              <a:t>, “Don’t be such a </a:t>
            </a:r>
            <a:r>
              <a:rPr lang="en-US" dirty="0" err="1"/>
              <a:t>Sardar</a:t>
            </a:r>
            <a:r>
              <a:rPr lang="en-US" dirty="0"/>
              <a:t>”), Speaking by homogenizing regions (the ‘North-East’/’North India’/’South India’)</a:t>
            </a:r>
          </a:p>
        </p:txBody>
      </p:sp>
    </p:spTree>
    <p:extLst>
      <p:ext uri="{BB962C8B-B14F-4D97-AF65-F5344CB8AC3E}">
        <p14:creationId xmlns:p14="http://schemas.microsoft.com/office/powerpoint/2010/main" val="3842792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 result for loreal ad because you are worth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30887" cy="305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aybelline maybe she's born with i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4844"/>
            <a:ext cx="7140361" cy="199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fair and lovely ad racis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360" y="-1"/>
            <a:ext cx="5051637" cy="322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car elite 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510" y="3228264"/>
            <a:ext cx="5590487" cy="357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047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1665</TotalTime>
  <Words>624</Words>
  <Application>Microsoft Macintosh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Century Gothic</vt:lpstr>
      <vt:lpstr>Wingdings</vt:lpstr>
      <vt:lpstr>Wingdings 2</vt:lpstr>
      <vt:lpstr>Quotable</vt:lpstr>
      <vt:lpstr>       Workplace Language Discrimination</vt:lpstr>
      <vt:lpstr>Biases/Prejudices</vt:lpstr>
      <vt:lpstr>Discrimination Based On:</vt:lpstr>
      <vt:lpstr>   Examples of Consciously Framed Language that is gendered/sexist, racialized, casteist, classist, heteronormative, regionalist abound </vt:lpstr>
      <vt:lpstr>PowerPoint Presentation</vt:lpstr>
      <vt:lpstr>Some Strategies: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Shuhita B</dc:creator>
  <cp:lastModifiedBy>Shuhita Bhattacharjee</cp:lastModifiedBy>
  <cp:revision>77</cp:revision>
  <dcterms:created xsi:type="dcterms:W3CDTF">2021-02-09T03:40:24Z</dcterms:created>
  <dcterms:modified xsi:type="dcterms:W3CDTF">2022-12-28T03:16:38Z</dcterms:modified>
</cp:coreProperties>
</file>