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flipH="1" rot="-466317">
            <a:off x="977627" y="481134"/>
            <a:ext cx="9378187" cy="5238589"/>
          </a:xfrm>
          <a:custGeom>
            <a:rect b="b" l="l" r="r" t="t"/>
            <a:pathLst>
              <a:path extrusionOk="0" h="852489" w="1237972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 flipH="1" rot="-466317">
            <a:off x="1010574" y="456230"/>
            <a:ext cx="9378187" cy="5238589"/>
          </a:xfrm>
          <a:custGeom>
            <a:rect b="b" l="l" r="r" t="t"/>
            <a:pathLst>
              <a:path extrusionOk="0" h="852489" w="1237972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1956392" y="1398181"/>
            <a:ext cx="7134446" cy="28707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270835" y="5135527"/>
            <a:ext cx="4397164" cy="1057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36"/>
              <a:buFont typeface="Arial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1621971" y="1709738"/>
            <a:ext cx="9165772" cy="29632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621971" y="4875028"/>
            <a:ext cx="9165772" cy="1052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44"/>
              <a:buFont typeface="Arial"/>
              <a:buNone/>
              <a:defRPr sz="2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14"/>
              <a:buFont typeface="Arial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68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68"/>
              <a:buFont typeface="Arial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020722" y="2095500"/>
            <a:ext cx="4999077" cy="3973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281056" y="2095500"/>
            <a:ext cx="5072743" cy="3973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028700" y="702129"/>
            <a:ext cx="10326688" cy="112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028700" y="1827804"/>
            <a:ext cx="49688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2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028700" y="2642191"/>
            <a:ext cx="4968875" cy="3402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281054" y="1827804"/>
            <a:ext cx="5087034" cy="814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2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281054" y="2642191"/>
            <a:ext cx="5087034" cy="3402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7"/>
          <p:cNvSpPr/>
          <p:nvPr/>
        </p:nvSpPr>
        <p:spPr>
          <a:xfrm rot="492880">
            <a:off x="2401240" y="1130240"/>
            <a:ext cx="8982171" cy="5009917"/>
          </a:xfrm>
          <a:custGeom>
            <a:rect b="b" l="l" r="r" t="t"/>
            <a:pathLst>
              <a:path extrusionOk="0" h="722931" w="1041734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412671" y="1932214"/>
            <a:ext cx="6966858" cy="309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/>
          <p:nvPr/>
        </p:nvSpPr>
        <p:spPr>
          <a:xfrm rot="492880">
            <a:off x="2455668" y="1103025"/>
            <a:ext cx="8982171" cy="5009917"/>
          </a:xfrm>
          <a:custGeom>
            <a:rect b="b" l="l" r="r" t="t"/>
            <a:pathLst>
              <a:path extrusionOk="0" h="722931" w="1041734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553272"/>
            <a:ext cx="3932237" cy="1732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415642" y="987425"/>
            <a:ext cx="5939745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36"/>
              <a:buFont typeface="Arial"/>
              <a:buNone/>
              <a:defRPr sz="3200"/>
            </a:lvl1pPr>
            <a:lvl2pPr indent="-35306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60"/>
              <a:buChar char="•"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2"/>
              <a:buFont typeface="Arial"/>
              <a:buNone/>
              <a:defRPr sz="2400"/>
            </a:lvl3pPr>
            <a:lvl4pPr indent="-3213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0"/>
              <a:buChar char="•"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0"/>
              <a:buFont typeface="Arial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368550"/>
            <a:ext cx="3932237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Font typeface="Aria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8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6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3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615915"/>
            <a:ext cx="3932237" cy="16700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365744"/>
            <a:ext cx="3932237" cy="3503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Font typeface="Aria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8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6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3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4273402" y="-1163378"/>
            <a:ext cx="3827722" cy="10333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571710" y="2219990"/>
            <a:ext cx="5309930" cy="2254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2237710" y="-707360"/>
            <a:ext cx="5309930" cy="81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3pPr>
            <a:lvl4pPr indent="-312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14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72926" y="367993"/>
            <a:ext cx="11499601" cy="6203902"/>
          </a:xfrm>
          <a:custGeom>
            <a:rect b="b" l="l" r="r" t="t"/>
            <a:pathLst>
              <a:path extrusionOk="0" h="6250474" w="11499601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68807" y="-29564"/>
                  <a:pt x="11499601" y="84193"/>
                </a:cubicBezTo>
                <a:lnTo>
                  <a:pt x="11496115" y="333210"/>
                </a:lnTo>
                <a:cubicBezTo>
                  <a:pt x="11496285" y="48943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36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2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131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403284" y="389461"/>
            <a:ext cx="11499601" cy="6203902"/>
          </a:xfrm>
          <a:custGeom>
            <a:rect b="b" l="l" r="r" t="t"/>
            <a:pathLst>
              <a:path extrusionOk="0" h="6250474" w="11499601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83635" y="5293"/>
                  <a:pt x="11499601" y="39374"/>
                </a:cubicBezTo>
                <a:lnTo>
                  <a:pt x="11491172" y="313290"/>
                </a:lnTo>
                <a:cubicBezTo>
                  <a:pt x="11491342" y="46951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loured pencils inside a pencil holder which is on top of a wood table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15687"/>
          <a:stretch/>
        </p:blipFill>
        <p:spPr>
          <a:xfrm>
            <a:off x="20" y="1"/>
            <a:ext cx="12191980" cy="68614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346022" y="343112"/>
            <a:ext cx="5737538" cy="2989690"/>
          </a:xfrm>
          <a:custGeom>
            <a:rect b="b" l="l" r="r" t="t"/>
            <a:pathLst>
              <a:path extrusionOk="0" h="2313126" w="6605813">
                <a:moveTo>
                  <a:pt x="1506919" y="2029150"/>
                </a:moveTo>
                <a:cubicBezTo>
                  <a:pt x="1417504" y="1839150"/>
                  <a:pt x="585881" y="1896278"/>
                  <a:pt x="306723" y="1654147"/>
                </a:cubicBezTo>
                <a:cubicBezTo>
                  <a:pt x="27565" y="1412016"/>
                  <a:pt x="-94044" y="972113"/>
                  <a:pt x="82489" y="701450"/>
                </a:cubicBezTo>
                <a:cubicBezTo>
                  <a:pt x="259022" y="430788"/>
                  <a:pt x="463975" y="114002"/>
                  <a:pt x="1365922" y="30172"/>
                </a:cubicBezTo>
                <a:cubicBezTo>
                  <a:pt x="2267869" y="-53658"/>
                  <a:pt x="4620853" y="48409"/>
                  <a:pt x="5494168" y="198470"/>
                </a:cubicBezTo>
                <a:cubicBezTo>
                  <a:pt x="6367483" y="348531"/>
                  <a:pt x="6547059" y="600421"/>
                  <a:pt x="6605813" y="930536"/>
                </a:cubicBezTo>
                <a:cubicBezTo>
                  <a:pt x="6583958" y="1261451"/>
                  <a:pt x="6667921" y="1584477"/>
                  <a:pt x="6012092" y="1830532"/>
                </a:cubicBezTo>
                <a:cubicBezTo>
                  <a:pt x="5356263" y="2076587"/>
                  <a:pt x="2425296" y="2046334"/>
                  <a:pt x="2216950" y="2054326"/>
                </a:cubicBezTo>
                <a:cubicBezTo>
                  <a:pt x="1882633" y="2207554"/>
                  <a:pt x="1465597" y="2294989"/>
                  <a:pt x="1338369" y="2313126"/>
                </a:cubicBezTo>
                <a:cubicBezTo>
                  <a:pt x="1524676" y="2124221"/>
                  <a:pt x="1506919" y="2029150"/>
                  <a:pt x="1506919" y="20291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12079" y="312630"/>
            <a:ext cx="5737538" cy="2989690"/>
          </a:xfrm>
          <a:custGeom>
            <a:rect b="b" l="l" r="r" t="t"/>
            <a:pathLst>
              <a:path extrusionOk="0" h="2313126" w="6605813">
                <a:moveTo>
                  <a:pt x="1506919" y="2029150"/>
                </a:moveTo>
                <a:cubicBezTo>
                  <a:pt x="1417504" y="1839150"/>
                  <a:pt x="585881" y="1896278"/>
                  <a:pt x="306723" y="1654147"/>
                </a:cubicBezTo>
                <a:cubicBezTo>
                  <a:pt x="27565" y="1412016"/>
                  <a:pt x="-94044" y="972113"/>
                  <a:pt x="82489" y="701450"/>
                </a:cubicBezTo>
                <a:cubicBezTo>
                  <a:pt x="259022" y="430788"/>
                  <a:pt x="463975" y="114002"/>
                  <a:pt x="1365922" y="30172"/>
                </a:cubicBezTo>
                <a:cubicBezTo>
                  <a:pt x="2267869" y="-53658"/>
                  <a:pt x="4620853" y="48409"/>
                  <a:pt x="5494168" y="198470"/>
                </a:cubicBezTo>
                <a:cubicBezTo>
                  <a:pt x="6367483" y="348531"/>
                  <a:pt x="6547059" y="600421"/>
                  <a:pt x="6605813" y="930536"/>
                </a:cubicBezTo>
                <a:cubicBezTo>
                  <a:pt x="6583958" y="1261451"/>
                  <a:pt x="6667921" y="1584477"/>
                  <a:pt x="6012092" y="1830532"/>
                </a:cubicBezTo>
                <a:cubicBezTo>
                  <a:pt x="5356263" y="2076587"/>
                  <a:pt x="2425296" y="2046334"/>
                  <a:pt x="2216950" y="2054326"/>
                </a:cubicBezTo>
                <a:cubicBezTo>
                  <a:pt x="1882633" y="2207554"/>
                  <a:pt x="1465597" y="2294989"/>
                  <a:pt x="1338369" y="2313126"/>
                </a:cubicBezTo>
                <a:cubicBezTo>
                  <a:pt x="1524676" y="2124221"/>
                  <a:pt x="1506919" y="2029150"/>
                  <a:pt x="1506919" y="202915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>
            <p:ph type="ctrTitle"/>
          </p:nvPr>
        </p:nvSpPr>
        <p:spPr>
          <a:xfrm>
            <a:off x="909965" y="613455"/>
            <a:ext cx="4628759" cy="208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Reportage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 flipH="1" rot="304884">
            <a:off x="5645898" y="25325"/>
            <a:ext cx="3856838" cy="2114365"/>
          </a:xfrm>
          <a:custGeom>
            <a:rect b="b" l="l" r="r" t="t"/>
            <a:pathLst>
              <a:path extrusionOk="0" h="4138731" w="4324360">
                <a:moveTo>
                  <a:pt x="763710" y="0"/>
                </a:moveTo>
                <a:cubicBezTo>
                  <a:pt x="835632" y="58905"/>
                  <a:pt x="1258100" y="357725"/>
                  <a:pt x="1401677" y="574434"/>
                </a:cubicBezTo>
                <a:cubicBezTo>
                  <a:pt x="1557398" y="585526"/>
                  <a:pt x="3503671" y="584724"/>
                  <a:pt x="3962703" y="1032218"/>
                </a:cubicBezTo>
                <a:cubicBezTo>
                  <a:pt x="4421735" y="1479712"/>
                  <a:pt x="4393755" y="2068459"/>
                  <a:pt x="4155869" y="3259401"/>
                </a:cubicBezTo>
                <a:cubicBezTo>
                  <a:pt x="4006903" y="3825365"/>
                  <a:pt x="3642075" y="4044135"/>
                  <a:pt x="3100181" y="4124957"/>
                </a:cubicBezTo>
                <a:cubicBezTo>
                  <a:pt x="2558287" y="4205779"/>
                  <a:pt x="1639845" y="3911670"/>
                  <a:pt x="904506" y="3744330"/>
                </a:cubicBezTo>
                <a:cubicBezTo>
                  <a:pt x="600271" y="3642054"/>
                  <a:pt x="464613" y="3557214"/>
                  <a:pt x="239564" y="3163758"/>
                </a:cubicBezTo>
                <a:cubicBezTo>
                  <a:pt x="75461" y="2876879"/>
                  <a:pt x="40807" y="2193725"/>
                  <a:pt x="1008" y="1528534"/>
                </a:cubicBezTo>
                <a:cubicBezTo>
                  <a:pt x="-24451" y="805482"/>
                  <a:pt x="437089" y="647961"/>
                  <a:pt x="845640" y="606258"/>
                </a:cubicBezTo>
                <a:cubicBezTo>
                  <a:pt x="845640" y="606258"/>
                  <a:pt x="854014" y="343114"/>
                  <a:pt x="763710" y="0"/>
                </a:cubicBezTo>
                <a:close/>
              </a:path>
            </a:pathLst>
          </a:custGeom>
          <a:solidFill>
            <a:srgbClr val="DDD7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5876998" y="618510"/>
            <a:ext cx="3397611" cy="1256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36"/>
              <a:buFont typeface="Arial"/>
              <a:buNone/>
            </a:pPr>
            <a:r>
              <a:rPr lang="en-US"/>
              <a:t>Who reports and how? 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 flipH="1" rot="304884">
            <a:off x="5612130" y="-2961"/>
            <a:ext cx="3856838" cy="2114365"/>
          </a:xfrm>
          <a:custGeom>
            <a:rect b="b" l="l" r="r" t="t"/>
            <a:pathLst>
              <a:path extrusionOk="0" h="4138731" w="4324360">
                <a:moveTo>
                  <a:pt x="763710" y="0"/>
                </a:moveTo>
                <a:cubicBezTo>
                  <a:pt x="835632" y="58905"/>
                  <a:pt x="1258100" y="357725"/>
                  <a:pt x="1401677" y="574434"/>
                </a:cubicBezTo>
                <a:cubicBezTo>
                  <a:pt x="1557398" y="585526"/>
                  <a:pt x="3503671" y="584724"/>
                  <a:pt x="3962703" y="1032218"/>
                </a:cubicBezTo>
                <a:cubicBezTo>
                  <a:pt x="4421735" y="1479712"/>
                  <a:pt x="4393755" y="2068459"/>
                  <a:pt x="4155869" y="3259401"/>
                </a:cubicBezTo>
                <a:cubicBezTo>
                  <a:pt x="4006903" y="3825365"/>
                  <a:pt x="3642075" y="4044135"/>
                  <a:pt x="3100181" y="4124957"/>
                </a:cubicBezTo>
                <a:cubicBezTo>
                  <a:pt x="2558287" y="4205779"/>
                  <a:pt x="1639845" y="3911670"/>
                  <a:pt x="904506" y="3744330"/>
                </a:cubicBezTo>
                <a:cubicBezTo>
                  <a:pt x="600271" y="3642054"/>
                  <a:pt x="464613" y="3557214"/>
                  <a:pt x="239564" y="3163758"/>
                </a:cubicBezTo>
                <a:cubicBezTo>
                  <a:pt x="75461" y="2876879"/>
                  <a:pt x="40807" y="2193725"/>
                  <a:pt x="1008" y="1528534"/>
                </a:cubicBezTo>
                <a:cubicBezTo>
                  <a:pt x="-24451" y="805482"/>
                  <a:pt x="437089" y="647961"/>
                  <a:pt x="845640" y="606258"/>
                </a:cubicBezTo>
                <a:cubicBezTo>
                  <a:pt x="845640" y="606258"/>
                  <a:pt x="854014" y="343114"/>
                  <a:pt x="763710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Relevance</a:t>
            </a:r>
            <a:endParaRPr/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4"/>
              <a:buFont typeface="Arial"/>
              <a:buNone/>
            </a:pPr>
            <a:r>
              <a:rPr lang="en-US" sz="2800"/>
              <a:t>Powerpoint, written reports as a 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4"/>
              <a:buFont typeface="Arial"/>
              <a:buNone/>
            </a:pPr>
            <a:r>
              <a:rPr lang="en-US" sz="2800"/>
              <a:t>Presenting an issue to your boss, to your team members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4"/>
              <a:buFont typeface="Arial"/>
              <a:buNone/>
            </a:pPr>
            <a:r>
              <a:rPr lang="en-US" sz="2800"/>
              <a:t>Representing a situation to your professional community at large </a:t>
            </a:r>
            <a:r>
              <a:rPr lang="en-US" sz="2000"/>
              <a:t>(speaking about specific issues at specialized conferences)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4"/>
              <a:buFont typeface="Arial"/>
              <a:buNone/>
            </a:pPr>
            <a:r>
              <a:rPr lang="en-US" sz="2800"/>
              <a:t>Performing to an audience to communicate a set of goals</a:t>
            </a:r>
            <a:r>
              <a:rPr lang="en-US"/>
              <a:t> </a:t>
            </a:r>
            <a:r>
              <a:rPr lang="en-US" sz="2000"/>
              <a:t>(meeting with investors/ministries)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gnifying glass on clear background" id="109" name="Google Shape;109;p15"/>
          <p:cNvPicPr preferRelativeResize="0"/>
          <p:nvPr/>
        </p:nvPicPr>
        <p:blipFill rotWithShape="1">
          <a:blip r:embed="rId3">
            <a:alphaModFix/>
          </a:blip>
          <a:srcRect b="15730" l="0" r="0" t="0"/>
          <a:stretch/>
        </p:blipFill>
        <p:spPr>
          <a:xfrm>
            <a:off x="0" y="10"/>
            <a:ext cx="1219198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6051470" y="1689814"/>
            <a:ext cx="6140530" cy="4647338"/>
          </a:xfrm>
          <a:custGeom>
            <a:rect b="b" l="l" r="r" t="t"/>
            <a:pathLst>
              <a:path extrusionOk="0" h="4647338" w="6140530">
                <a:moveTo>
                  <a:pt x="3354001" y="1219"/>
                </a:moveTo>
                <a:cubicBezTo>
                  <a:pt x="4004435" y="-11736"/>
                  <a:pt x="4587960" y="81931"/>
                  <a:pt x="4854691" y="125683"/>
                </a:cubicBezTo>
                <a:cubicBezTo>
                  <a:pt x="5569674" y="248878"/>
                  <a:pt x="5884365" y="614355"/>
                  <a:pt x="6093602" y="1013600"/>
                </a:cubicBezTo>
                <a:lnTo>
                  <a:pt x="6140530" y="1110875"/>
                </a:lnTo>
                <a:lnTo>
                  <a:pt x="6140530" y="3914197"/>
                </a:lnTo>
                <a:lnTo>
                  <a:pt x="6123285" y="3940855"/>
                </a:lnTo>
                <a:cubicBezTo>
                  <a:pt x="6092119" y="3981849"/>
                  <a:pt x="6058441" y="4019304"/>
                  <a:pt x="6022119" y="4052713"/>
                </a:cubicBezTo>
                <a:cubicBezTo>
                  <a:pt x="5440967" y="4587251"/>
                  <a:pt x="4022382" y="4706012"/>
                  <a:pt x="2791676" y="4623624"/>
                </a:cubicBezTo>
                <a:cubicBezTo>
                  <a:pt x="1788243" y="4556450"/>
                  <a:pt x="990667" y="4345015"/>
                  <a:pt x="0" y="4180103"/>
                </a:cubicBezTo>
                <a:cubicBezTo>
                  <a:pt x="0" y="4180103"/>
                  <a:pt x="445100" y="4042167"/>
                  <a:pt x="486444" y="3598665"/>
                </a:cubicBezTo>
                <a:cubicBezTo>
                  <a:pt x="526106" y="3207312"/>
                  <a:pt x="513958" y="2340421"/>
                  <a:pt x="701119" y="1679227"/>
                </a:cubicBezTo>
                <a:cubicBezTo>
                  <a:pt x="1000026" y="340576"/>
                  <a:pt x="2269944" y="22811"/>
                  <a:pt x="3354001" y="12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 rot="347219">
            <a:off x="6227678" y="1604682"/>
            <a:ext cx="6095974" cy="4725794"/>
          </a:xfrm>
          <a:custGeom>
            <a:rect b="b" l="l" r="r" t="t"/>
            <a:pathLst>
              <a:path extrusionOk="0" h="760979" w="811137">
                <a:moveTo>
                  <a:pt x="775683" y="148140"/>
                </a:moveTo>
                <a:cubicBezTo>
                  <a:pt x="762064" y="122193"/>
                  <a:pt x="722979" y="17335"/>
                  <a:pt x="588282" y="5070"/>
                </a:cubicBezTo>
                <a:cubicBezTo>
                  <a:pt x="465944" y="-6070"/>
                  <a:pt x="93839" y="-29505"/>
                  <a:pt x="59263" y="321396"/>
                </a:cubicBezTo>
                <a:cubicBezTo>
                  <a:pt x="43357" y="430362"/>
                  <a:pt x="56596" y="569046"/>
                  <a:pt x="56596" y="632387"/>
                </a:cubicBezTo>
                <a:cubicBezTo>
                  <a:pt x="57073" y="704110"/>
                  <a:pt x="0" y="733435"/>
                  <a:pt x="0" y="733435"/>
                </a:cubicBezTo>
                <a:cubicBezTo>
                  <a:pt x="133360" y="743770"/>
                  <a:pt x="261604" y="767731"/>
                  <a:pt x="375521" y="759163"/>
                </a:cubicBezTo>
                <a:cubicBezTo>
                  <a:pt x="474122" y="751747"/>
                  <a:pt x="716355" y="732274"/>
                  <a:pt x="811137" y="59653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 flipH="1" rot="-218369">
            <a:off x="4128647" y="500208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solidFill>
            <a:srgbClr val="DDD7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 rot="-218369">
            <a:off x="4086067" y="493484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>
            <p:ph type="title"/>
          </p:nvPr>
        </p:nvSpPr>
        <p:spPr>
          <a:xfrm>
            <a:off x="4272282" y="860609"/>
            <a:ext cx="4621687" cy="125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Spin BIAS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6840746" y="2400412"/>
            <a:ext cx="5416072" cy="3675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999"/>
              <a:buFont typeface="Arial"/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Times"/>
              <a:buNone/>
            </a:pPr>
            <a:r>
              <a:rPr b="0" lang="en-US" sz="2900">
                <a:latin typeface="Times"/>
                <a:ea typeface="Times"/>
                <a:cs typeface="Times"/>
                <a:sym typeface="Times"/>
              </a:rPr>
              <a:t>Giving a positive or negative point of view of the subject in order to change the opinion of the audience.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Times"/>
              <a:buNone/>
            </a:pPr>
            <a:r>
              <a:rPr b="0" lang="en-US" sz="2900">
                <a:latin typeface="Times"/>
                <a:ea typeface="Times"/>
                <a:cs typeface="Times"/>
                <a:sym typeface="Times"/>
              </a:rPr>
              <a:t>Bias by spin occurs when the story has only one interpretation of an event or policy, to the exclusion of the other; spin involves tone – it’s a reporter’s subjective comments about objective facts; makes one side’s ideological perspective look better than another.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2999"/>
              <a:buFont typeface="Arial"/>
              <a:buChar char="•"/>
            </a:pPr>
            <a:r>
              <a:rPr lang="en-US" sz="2200">
                <a:latin typeface="Times"/>
                <a:ea typeface="Times"/>
                <a:cs typeface="Times"/>
                <a:sym typeface="Times"/>
              </a:rPr>
              <a:t>Presenting Experts </a:t>
            </a:r>
            <a:r>
              <a:rPr b="0" lang="en-US" sz="2000">
                <a:latin typeface="Times"/>
                <a:ea typeface="Times"/>
                <a:cs typeface="Times"/>
                <a:sym typeface="Times"/>
              </a:rPr>
              <a:t>[Egs: Salary of teachers/industry; Food deterioration across colleges]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2999"/>
              <a:buFont typeface="Arial"/>
              <a:buChar char="•"/>
            </a:pPr>
            <a:r>
              <a:rPr lang="en-US" sz="2200">
                <a:latin typeface="Times"/>
                <a:ea typeface="Times"/>
                <a:cs typeface="Times"/>
                <a:sym typeface="Times"/>
              </a:rPr>
              <a:t>Positive/Negative Connotations </a:t>
            </a:r>
            <a:r>
              <a:rPr b="0" lang="en-US" sz="2000">
                <a:latin typeface="Times"/>
                <a:ea typeface="Times"/>
                <a:cs typeface="Times"/>
                <a:sym typeface="Times"/>
              </a:rPr>
              <a:t>(associations of words)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Times"/>
              <a:buNone/>
            </a:pPr>
            <a:r>
              <a:rPr lang="en-US" sz="2000" u="sng">
                <a:latin typeface="Times"/>
                <a:ea typeface="Times"/>
                <a:cs typeface="Times"/>
                <a:sym typeface="Times"/>
              </a:rPr>
              <a:t>Denotation (dictionary meaning) vs Connotation </a:t>
            </a:r>
            <a:r>
              <a:rPr b="0" lang="en-US" sz="2000">
                <a:latin typeface="Times"/>
                <a:ea typeface="Times"/>
                <a:cs typeface="Times"/>
                <a:sym typeface="Times"/>
              </a:rPr>
              <a:t>(chain of associations—feelings we have about a word—usually positive or negative): Inexpensive vs Cheap, (cheap gift at a party), Gathering vs Mob</a:t>
            </a:r>
            <a:endParaRPr b="0" sz="2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Times"/>
              <a:buNone/>
            </a:pPr>
            <a:r>
              <a:rPr b="0" lang="en-US" sz="2000">
                <a:latin typeface="Times"/>
                <a:ea typeface="Times"/>
                <a:cs typeface="Times"/>
                <a:sym typeface="Times"/>
              </a:rPr>
              <a:t>[Egs: (a) ‘rowdy’ students/ ‘indignant’ or ‘disappointed’ students,                               (b) ‘students’/ ‘miscreants’,                                                                       (c)‘hammered’ on walls, ‘tarnished’ walls/’spray painted’ on walls, students are          demanding/struggling,                                                                                               (d) teachers are  ‘demanding fat’ pay increase/ ‘asking for a reasonable’ pay increase]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 on document with pen" id="121" name="Google Shape;121;p16"/>
          <p:cNvPicPr preferRelativeResize="0"/>
          <p:nvPr/>
        </p:nvPicPr>
        <p:blipFill rotWithShape="1">
          <a:blip r:embed="rId3">
            <a:alphaModFix/>
          </a:blip>
          <a:srcRect b="13823" l="0" r="0" t="1906"/>
          <a:stretch/>
        </p:blipFill>
        <p:spPr>
          <a:xfrm>
            <a:off x="20" y="10"/>
            <a:ext cx="1219198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6051470" y="1689814"/>
            <a:ext cx="6140530" cy="4647338"/>
          </a:xfrm>
          <a:custGeom>
            <a:rect b="b" l="l" r="r" t="t"/>
            <a:pathLst>
              <a:path extrusionOk="0" h="4647338" w="6140530">
                <a:moveTo>
                  <a:pt x="3354001" y="1219"/>
                </a:moveTo>
                <a:cubicBezTo>
                  <a:pt x="4004435" y="-11736"/>
                  <a:pt x="4587960" y="81931"/>
                  <a:pt x="4854691" y="125683"/>
                </a:cubicBezTo>
                <a:cubicBezTo>
                  <a:pt x="5569674" y="248878"/>
                  <a:pt x="5884365" y="614355"/>
                  <a:pt x="6093602" y="1013600"/>
                </a:cubicBezTo>
                <a:lnTo>
                  <a:pt x="6140530" y="1110875"/>
                </a:lnTo>
                <a:lnTo>
                  <a:pt x="6140530" y="3914197"/>
                </a:lnTo>
                <a:lnTo>
                  <a:pt x="6123285" y="3940855"/>
                </a:lnTo>
                <a:cubicBezTo>
                  <a:pt x="6092119" y="3981849"/>
                  <a:pt x="6058441" y="4019304"/>
                  <a:pt x="6022119" y="4052713"/>
                </a:cubicBezTo>
                <a:cubicBezTo>
                  <a:pt x="5440967" y="4587251"/>
                  <a:pt x="4022382" y="4706012"/>
                  <a:pt x="2791676" y="4623624"/>
                </a:cubicBezTo>
                <a:cubicBezTo>
                  <a:pt x="1788243" y="4556450"/>
                  <a:pt x="990667" y="4345015"/>
                  <a:pt x="0" y="4180103"/>
                </a:cubicBezTo>
                <a:cubicBezTo>
                  <a:pt x="0" y="4180103"/>
                  <a:pt x="445100" y="4042167"/>
                  <a:pt x="486444" y="3598665"/>
                </a:cubicBezTo>
                <a:cubicBezTo>
                  <a:pt x="526106" y="3207312"/>
                  <a:pt x="513958" y="2340421"/>
                  <a:pt x="701119" y="1679227"/>
                </a:cubicBezTo>
                <a:cubicBezTo>
                  <a:pt x="1000026" y="340576"/>
                  <a:pt x="2269944" y="22811"/>
                  <a:pt x="3354001" y="12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 rot="347219">
            <a:off x="6227678" y="1604682"/>
            <a:ext cx="6095974" cy="4725794"/>
          </a:xfrm>
          <a:custGeom>
            <a:rect b="b" l="l" r="r" t="t"/>
            <a:pathLst>
              <a:path extrusionOk="0" h="760979" w="811137">
                <a:moveTo>
                  <a:pt x="775683" y="148140"/>
                </a:moveTo>
                <a:cubicBezTo>
                  <a:pt x="762064" y="122193"/>
                  <a:pt x="722979" y="17335"/>
                  <a:pt x="588282" y="5070"/>
                </a:cubicBezTo>
                <a:cubicBezTo>
                  <a:pt x="465944" y="-6070"/>
                  <a:pt x="93839" y="-29505"/>
                  <a:pt x="59263" y="321396"/>
                </a:cubicBezTo>
                <a:cubicBezTo>
                  <a:pt x="43357" y="430362"/>
                  <a:pt x="56596" y="569046"/>
                  <a:pt x="56596" y="632387"/>
                </a:cubicBezTo>
                <a:cubicBezTo>
                  <a:pt x="57073" y="704110"/>
                  <a:pt x="0" y="733435"/>
                  <a:pt x="0" y="733435"/>
                </a:cubicBezTo>
                <a:cubicBezTo>
                  <a:pt x="133360" y="743770"/>
                  <a:pt x="261604" y="767731"/>
                  <a:pt x="375521" y="759163"/>
                </a:cubicBezTo>
                <a:cubicBezTo>
                  <a:pt x="474122" y="751747"/>
                  <a:pt x="716355" y="732274"/>
                  <a:pt x="811137" y="59653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 flipH="1" rot="-218369">
            <a:off x="4128647" y="500208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solidFill>
            <a:srgbClr val="DDD7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 flipH="1" rot="-218369">
            <a:off x="4086067" y="493484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4272282" y="860609"/>
            <a:ext cx="4621687" cy="125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 by omission 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457702" y="2265829"/>
            <a:ext cx="4236001" cy="3501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Avoiding Coverage of a Story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(Egs: Big factory—protests about pollution/land grabbing--no mainstream media covers it; farmer suicides)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Presenting a one-sided story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(Egs: Johnny Depp- Amber Heard, Manipur violence; The case of contractual workers in your company, or female students in your class, or the accounts of the counseling cell on a campus-only narratives of appreciative students, poor performance of certain departments in placements,               Conflict of interest 🡪 PR office/Employee controlled by admin, no possibility of dissent)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rdboard boxes on conveyor belt" id="133" name="Google Shape;133;p17"/>
          <p:cNvPicPr preferRelativeResize="0"/>
          <p:nvPr/>
        </p:nvPicPr>
        <p:blipFill rotWithShape="1">
          <a:blip r:embed="rId3">
            <a:alphaModFix/>
          </a:blip>
          <a:srcRect b="15730" l="0" r="0" t="0"/>
          <a:stretch/>
        </p:blipFill>
        <p:spPr>
          <a:xfrm>
            <a:off x="20" y="10"/>
            <a:ext cx="1219198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6051470" y="1689814"/>
            <a:ext cx="6140530" cy="4647338"/>
          </a:xfrm>
          <a:custGeom>
            <a:rect b="b" l="l" r="r" t="t"/>
            <a:pathLst>
              <a:path extrusionOk="0" h="4647338" w="6140530">
                <a:moveTo>
                  <a:pt x="3354001" y="1219"/>
                </a:moveTo>
                <a:cubicBezTo>
                  <a:pt x="4004435" y="-11736"/>
                  <a:pt x="4587960" y="81931"/>
                  <a:pt x="4854691" y="125683"/>
                </a:cubicBezTo>
                <a:cubicBezTo>
                  <a:pt x="5569674" y="248878"/>
                  <a:pt x="5884365" y="614355"/>
                  <a:pt x="6093602" y="1013600"/>
                </a:cubicBezTo>
                <a:lnTo>
                  <a:pt x="6140530" y="1110875"/>
                </a:lnTo>
                <a:lnTo>
                  <a:pt x="6140530" y="3914197"/>
                </a:lnTo>
                <a:lnTo>
                  <a:pt x="6123285" y="3940855"/>
                </a:lnTo>
                <a:cubicBezTo>
                  <a:pt x="6092119" y="3981849"/>
                  <a:pt x="6058441" y="4019304"/>
                  <a:pt x="6022119" y="4052713"/>
                </a:cubicBezTo>
                <a:cubicBezTo>
                  <a:pt x="5440967" y="4587251"/>
                  <a:pt x="4022382" y="4706012"/>
                  <a:pt x="2791676" y="4623624"/>
                </a:cubicBezTo>
                <a:cubicBezTo>
                  <a:pt x="1788243" y="4556450"/>
                  <a:pt x="990667" y="4345015"/>
                  <a:pt x="0" y="4180103"/>
                </a:cubicBezTo>
                <a:cubicBezTo>
                  <a:pt x="0" y="4180103"/>
                  <a:pt x="445100" y="4042167"/>
                  <a:pt x="486444" y="3598665"/>
                </a:cubicBezTo>
                <a:cubicBezTo>
                  <a:pt x="526106" y="3207312"/>
                  <a:pt x="513958" y="2340421"/>
                  <a:pt x="701119" y="1679227"/>
                </a:cubicBezTo>
                <a:cubicBezTo>
                  <a:pt x="1000026" y="340576"/>
                  <a:pt x="2269944" y="22811"/>
                  <a:pt x="3354001" y="12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 rot="347219">
            <a:off x="6227678" y="1604682"/>
            <a:ext cx="6095974" cy="4725794"/>
          </a:xfrm>
          <a:custGeom>
            <a:rect b="b" l="l" r="r" t="t"/>
            <a:pathLst>
              <a:path extrusionOk="0" h="760979" w="811137">
                <a:moveTo>
                  <a:pt x="775683" y="148140"/>
                </a:moveTo>
                <a:cubicBezTo>
                  <a:pt x="762064" y="122193"/>
                  <a:pt x="722979" y="17335"/>
                  <a:pt x="588282" y="5070"/>
                </a:cubicBezTo>
                <a:cubicBezTo>
                  <a:pt x="465944" y="-6070"/>
                  <a:pt x="93839" y="-29505"/>
                  <a:pt x="59263" y="321396"/>
                </a:cubicBezTo>
                <a:cubicBezTo>
                  <a:pt x="43357" y="430362"/>
                  <a:pt x="56596" y="569046"/>
                  <a:pt x="56596" y="632387"/>
                </a:cubicBezTo>
                <a:cubicBezTo>
                  <a:pt x="57073" y="704110"/>
                  <a:pt x="0" y="733435"/>
                  <a:pt x="0" y="733435"/>
                </a:cubicBezTo>
                <a:cubicBezTo>
                  <a:pt x="133360" y="743770"/>
                  <a:pt x="261604" y="767731"/>
                  <a:pt x="375521" y="759163"/>
                </a:cubicBezTo>
                <a:cubicBezTo>
                  <a:pt x="474122" y="751747"/>
                  <a:pt x="716355" y="732274"/>
                  <a:pt x="811137" y="59653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 flipH="1" rot="-218369">
            <a:off x="4128647" y="500208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solidFill>
            <a:srgbClr val="DDD7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 flipH="1" rot="-218369">
            <a:off x="4086067" y="493484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>
            <p:ph type="title"/>
          </p:nvPr>
        </p:nvSpPr>
        <p:spPr>
          <a:xfrm>
            <a:off x="4272282" y="860609"/>
            <a:ext cx="4621687" cy="125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Bias by Placement</a:t>
            </a:r>
            <a:endParaRPr/>
          </a:p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7457702" y="2265829"/>
            <a:ext cx="4236001" cy="3501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8"/>
              <a:buFont typeface="Arial"/>
              <a:buNone/>
            </a:pPr>
            <a:r>
              <a:rPr lang="en-US" sz="1492"/>
              <a:t>1.</a:t>
            </a:r>
            <a:r>
              <a:rPr lang="en-US" sz="1492" u="sng"/>
              <a:t>Role of editors</a:t>
            </a:r>
            <a:r>
              <a:rPr lang="en-US" sz="1492"/>
              <a:t>: person who makes changes to the content so it is appropriate for a target audience, orders messages by putting them at the beginning etc to emphasize importance of a story                    (Egs:Women Safety vs sales growth, Amazon growth vs labour practices, corporate announcements vs pharmaceutical cases on gas emissions)</a:t>
            </a:r>
            <a:endParaRPr sz="1879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28"/>
              <a:buFont typeface="Arial"/>
              <a:buNone/>
            </a:pPr>
            <a:r>
              <a:rPr lang="en-US" sz="1492"/>
              <a:t>2.</a:t>
            </a:r>
            <a:r>
              <a:rPr lang="en-US" sz="1492" u="sng"/>
              <a:t>Sensationalism</a:t>
            </a:r>
            <a:r>
              <a:rPr lang="en-US" sz="1492"/>
              <a:t>: news as entertainment (clickbait journalism)– using news to entertain than telling imp things (Egs:G20 mainstream coverage vs slum dwellers/ animals; campus propaganda despite campus issues)</a:t>
            </a:r>
            <a:endParaRPr sz="1879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28"/>
              <a:buFont typeface="Arial"/>
              <a:buNone/>
            </a:pPr>
            <a:r>
              <a:rPr lang="en-US" sz="1492"/>
              <a:t>Problem 🡪Scroll.in, Caravan prob-- alternate media has a niche audience, is already preaching to the choir</a:t>
            </a:r>
            <a:endParaRPr sz="149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gnifying glass and question mark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521" y="10"/>
            <a:ext cx="1219198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6051470" y="1689814"/>
            <a:ext cx="6140530" cy="4647338"/>
          </a:xfrm>
          <a:custGeom>
            <a:rect b="b" l="l" r="r" t="t"/>
            <a:pathLst>
              <a:path extrusionOk="0" h="4647338" w="6140530">
                <a:moveTo>
                  <a:pt x="3354001" y="1219"/>
                </a:moveTo>
                <a:cubicBezTo>
                  <a:pt x="4004435" y="-11736"/>
                  <a:pt x="4587960" y="81931"/>
                  <a:pt x="4854691" y="125683"/>
                </a:cubicBezTo>
                <a:cubicBezTo>
                  <a:pt x="5569674" y="248878"/>
                  <a:pt x="5884365" y="614355"/>
                  <a:pt x="6093602" y="1013600"/>
                </a:cubicBezTo>
                <a:lnTo>
                  <a:pt x="6140530" y="1110875"/>
                </a:lnTo>
                <a:lnTo>
                  <a:pt x="6140530" y="3914197"/>
                </a:lnTo>
                <a:lnTo>
                  <a:pt x="6123285" y="3940855"/>
                </a:lnTo>
                <a:cubicBezTo>
                  <a:pt x="6092119" y="3981849"/>
                  <a:pt x="6058441" y="4019304"/>
                  <a:pt x="6022119" y="4052713"/>
                </a:cubicBezTo>
                <a:cubicBezTo>
                  <a:pt x="5440967" y="4587251"/>
                  <a:pt x="4022382" y="4706012"/>
                  <a:pt x="2791676" y="4623624"/>
                </a:cubicBezTo>
                <a:cubicBezTo>
                  <a:pt x="1788243" y="4556450"/>
                  <a:pt x="990667" y="4345015"/>
                  <a:pt x="0" y="4180103"/>
                </a:cubicBezTo>
                <a:cubicBezTo>
                  <a:pt x="0" y="4180103"/>
                  <a:pt x="445100" y="4042167"/>
                  <a:pt x="486444" y="3598665"/>
                </a:cubicBezTo>
                <a:cubicBezTo>
                  <a:pt x="526106" y="3207312"/>
                  <a:pt x="513958" y="2340421"/>
                  <a:pt x="701119" y="1679227"/>
                </a:cubicBezTo>
                <a:cubicBezTo>
                  <a:pt x="1000026" y="340576"/>
                  <a:pt x="2269944" y="22811"/>
                  <a:pt x="3354001" y="12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 rot="347219">
            <a:off x="6227678" y="1604682"/>
            <a:ext cx="6095974" cy="4725794"/>
          </a:xfrm>
          <a:custGeom>
            <a:rect b="b" l="l" r="r" t="t"/>
            <a:pathLst>
              <a:path extrusionOk="0" h="760979" w="811137">
                <a:moveTo>
                  <a:pt x="775683" y="148140"/>
                </a:moveTo>
                <a:cubicBezTo>
                  <a:pt x="762064" y="122193"/>
                  <a:pt x="722979" y="17335"/>
                  <a:pt x="588282" y="5070"/>
                </a:cubicBezTo>
                <a:cubicBezTo>
                  <a:pt x="465944" y="-6070"/>
                  <a:pt x="93839" y="-29505"/>
                  <a:pt x="59263" y="321396"/>
                </a:cubicBezTo>
                <a:cubicBezTo>
                  <a:pt x="43357" y="430362"/>
                  <a:pt x="56596" y="569046"/>
                  <a:pt x="56596" y="632387"/>
                </a:cubicBezTo>
                <a:cubicBezTo>
                  <a:pt x="57073" y="704110"/>
                  <a:pt x="0" y="733435"/>
                  <a:pt x="0" y="733435"/>
                </a:cubicBezTo>
                <a:cubicBezTo>
                  <a:pt x="133360" y="743770"/>
                  <a:pt x="261604" y="767731"/>
                  <a:pt x="375521" y="759163"/>
                </a:cubicBezTo>
                <a:cubicBezTo>
                  <a:pt x="474122" y="751747"/>
                  <a:pt x="716355" y="732274"/>
                  <a:pt x="811137" y="59653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 flipH="1" rot="-218369">
            <a:off x="4128647" y="500208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solidFill>
            <a:srgbClr val="DDD7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 flipH="1" rot="-218369">
            <a:off x="4086067" y="493484"/>
            <a:ext cx="5016912" cy="2271814"/>
          </a:xfrm>
          <a:custGeom>
            <a:rect b="b" l="l" r="r" t="t"/>
            <a:pathLst>
              <a:path extrusionOk="0" h="799317" w="1339672">
                <a:moveTo>
                  <a:pt x="706273" y="799317"/>
                </a:moveTo>
                <a:cubicBezTo>
                  <a:pt x="789712" y="787887"/>
                  <a:pt x="857339" y="727879"/>
                  <a:pt x="898678" y="729403"/>
                </a:cubicBezTo>
                <a:cubicBezTo>
                  <a:pt x="967829" y="732070"/>
                  <a:pt x="1194947" y="660171"/>
                  <a:pt x="1257484" y="556620"/>
                </a:cubicBezTo>
                <a:cubicBezTo>
                  <a:pt x="1320021" y="453069"/>
                  <a:pt x="1397724" y="198737"/>
                  <a:pt x="1273899" y="108096"/>
                </a:cubicBezTo>
                <a:cubicBezTo>
                  <a:pt x="1150074" y="17455"/>
                  <a:pt x="717904" y="-22581"/>
                  <a:pt x="514531" y="12776"/>
                </a:cubicBezTo>
                <a:cubicBezTo>
                  <a:pt x="311158" y="48133"/>
                  <a:pt x="-91680" y="17349"/>
                  <a:pt x="18858" y="493826"/>
                </a:cubicBezTo>
                <a:cubicBezTo>
                  <a:pt x="48481" y="635749"/>
                  <a:pt x="581495" y="654822"/>
                  <a:pt x="623310" y="663490"/>
                </a:cubicBezTo>
                <a:cubicBezTo>
                  <a:pt x="804761" y="700161"/>
                  <a:pt x="706273" y="799317"/>
                  <a:pt x="706273" y="799317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>
            <p:ph type="title"/>
          </p:nvPr>
        </p:nvSpPr>
        <p:spPr>
          <a:xfrm>
            <a:off x="4272282" y="860609"/>
            <a:ext cx="4621687" cy="125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1800">
                <a:highlight>
                  <a:srgbClr val="C0C0C0"/>
                </a:highlight>
              </a:rPr>
              <a:t>But CONFLICTING STORIES will EACH have THEIR own perspective/rationale: HOW TO PICK ONE? </a:t>
            </a:r>
            <a:endParaRPr sz="3600"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7010969" y="2378774"/>
            <a:ext cx="4757644" cy="4236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</a:pPr>
            <a:r>
              <a:rPr lang="en-US" sz="1600"/>
              <a:t>(I) Difference between </a:t>
            </a:r>
            <a:r>
              <a:rPr lang="en-US" sz="1600" u="sng">
                <a:highlight>
                  <a:srgbClr val="C0C0C0"/>
                </a:highlight>
              </a:rPr>
              <a:t>propaganda</a:t>
            </a:r>
            <a:r>
              <a:rPr lang="en-US" sz="1600"/>
              <a:t> and </a:t>
            </a:r>
            <a:r>
              <a:rPr lang="en-US" sz="1600" u="sng">
                <a:highlight>
                  <a:srgbClr val="C0C0C0"/>
                </a:highlight>
              </a:rPr>
              <a:t>researched perspective</a:t>
            </a:r>
            <a:r>
              <a:rPr lang="en-US" sz="1600"/>
              <a:t>: </a:t>
            </a:r>
            <a:endParaRPr sz="1800"/>
          </a:p>
          <a:p>
            <a:pPr indent="-4572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Char char="•"/>
            </a:pPr>
            <a:r>
              <a:rPr lang="en-US" sz="1600"/>
              <a:t>one-sided representation, no representation of neutral research </a:t>
            </a:r>
            <a:endParaRPr sz="1800"/>
          </a:p>
          <a:p>
            <a:pPr indent="-4572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Char char="•"/>
            </a:pPr>
            <a:r>
              <a:rPr lang="en-US" sz="1600"/>
              <a:t>understanding what thorough international peer-reviewed research is and what comes out of it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</a:pPr>
            <a:r>
              <a:rPr lang="en-US" sz="1600"/>
              <a:t>(II) Question of recognizing the more necessary narrative: human rights, structural wrongs of our society/state, impact of a narrative in a current climate </a:t>
            </a:r>
            <a:r>
              <a:rPr lang="en-US" sz="1200"/>
              <a:t>(be on the right side of history)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68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itchatVTI">
  <a:themeElements>
    <a:clrScheme name="AnalogousFromRegularSeed_2SEEDS">
      <a:dk1>
        <a:srgbClr val="000000"/>
      </a:dk1>
      <a:lt1>
        <a:srgbClr val="FFFFFF"/>
      </a:lt1>
      <a:dk2>
        <a:srgbClr val="1B2F2E"/>
      </a:dk2>
      <a:lt2>
        <a:srgbClr val="F3F1F0"/>
      </a:lt2>
      <a:accent1>
        <a:srgbClr val="3B9EB1"/>
      </a:accent1>
      <a:accent2>
        <a:srgbClr val="46B196"/>
      </a:accent2>
      <a:accent3>
        <a:srgbClr val="4D7EC3"/>
      </a:accent3>
      <a:accent4>
        <a:srgbClr val="B13B3E"/>
      </a:accent4>
      <a:accent5>
        <a:srgbClr val="C37B4D"/>
      </a:accent5>
      <a:accent6>
        <a:srgbClr val="B19A3B"/>
      </a:accent6>
      <a:hlink>
        <a:srgbClr val="C0594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