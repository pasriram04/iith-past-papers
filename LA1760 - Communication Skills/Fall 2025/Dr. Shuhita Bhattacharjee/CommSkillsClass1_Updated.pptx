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Garamond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aramond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Garamond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slide" Target="slides/slide1.xml"/><Relationship Id="rId19" Type="http://schemas.openxmlformats.org/officeDocument/2006/relationships/font" Target="fonts/Garamond-bold.fntdata"/><Relationship Id="rId6" Type="http://schemas.openxmlformats.org/officeDocument/2006/relationships/slide" Target="slides/slide2.xml"/><Relationship Id="rId18" Type="http://schemas.openxmlformats.org/officeDocument/2006/relationships/font" Target="fonts/Garamond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6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6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9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9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0"/>
          <p:cNvSpPr txBox="1"/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8" name="Google Shape;78;p10"/>
          <p:cNvPicPr preferRelativeResize="0"/>
          <p:nvPr>
            <p:ph idx="2" type="pic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79" name="Google Shape;79;p10"/>
          <p:cNvSpPr txBox="1"/>
          <p:nvPr>
            <p:ph idx="1" type="body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0" name="Google Shape;80;p1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2"/>
          <p:cNvSpPr txBox="1"/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" type="body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youtube.com/watch?v=LatobRtLukM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/>
          <p:nvPr>
            <p:ph type="ctrTitle"/>
          </p:nvPr>
        </p:nvSpPr>
        <p:spPr>
          <a:xfrm>
            <a:off x="1078523" y="1098388"/>
            <a:ext cx="10318418" cy="3593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mpact"/>
              <a:buNone/>
            </a:pPr>
            <a:r>
              <a:rPr lang="en-US" sz="4800"/>
              <a:t>COMMUNICATION SKILLS</a:t>
            </a:r>
            <a:br>
              <a:rPr lang="en-US" sz="4800"/>
            </a:br>
            <a:r>
              <a:rPr lang="en-US" sz="3200"/>
              <a:t>CLASS-I</a:t>
            </a:r>
            <a:endParaRPr sz="3200"/>
          </a:p>
        </p:txBody>
      </p:sp>
      <p:sp>
        <p:nvSpPr>
          <p:cNvPr id="102" name="Google Shape;102;p13"/>
          <p:cNvSpPr txBox="1"/>
          <p:nvPr>
            <p:ph idx="1" type="subTitle"/>
          </p:nvPr>
        </p:nvSpPr>
        <p:spPr>
          <a:xfrm>
            <a:off x="2215045" y="4346040"/>
            <a:ext cx="8045373" cy="8840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1" lang="en-US" sz="3200">
                <a:latin typeface="Garamond"/>
                <a:ea typeface="Garamond"/>
                <a:cs typeface="Garamond"/>
                <a:sym typeface="Garamond"/>
              </a:rPr>
              <a:t>SHUHITA BHATTACHARJEE</a:t>
            </a:r>
            <a:endParaRPr b="1" i="1" sz="3200"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 txBox="1"/>
          <p:nvPr>
            <p:ph idx="1" type="body"/>
          </p:nvPr>
        </p:nvSpPr>
        <p:spPr>
          <a:xfrm>
            <a:off x="1251678" y="584791"/>
            <a:ext cx="10178322" cy="529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4572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Garamond"/>
              <a:ea typeface="Garamond"/>
              <a:cs typeface="Garamond"/>
              <a:sym typeface="Garamond"/>
            </a:endParaRPr>
          </a:p>
          <a:p>
            <a:pPr indent="0" lvl="1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u="sng">
              <a:latin typeface="Garamond"/>
              <a:ea typeface="Garamond"/>
              <a:cs typeface="Garamond"/>
              <a:sym typeface="Garamond"/>
            </a:endParaRPr>
          </a:p>
          <a:p>
            <a:pPr indent="0" lvl="1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u="sng">
              <a:latin typeface="Garamond"/>
              <a:ea typeface="Garamond"/>
              <a:cs typeface="Garamond"/>
              <a:sym typeface="Garamond"/>
            </a:endParaRPr>
          </a:p>
          <a:p>
            <a:pPr indent="0" lvl="1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 u="sng">
              <a:solidFill>
                <a:srgbClr val="0070C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1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 u="sng">
                <a:solidFill>
                  <a:srgbClr val="0070C0"/>
                </a:solidFill>
                <a:latin typeface="Garamond"/>
                <a:ea typeface="Garamond"/>
                <a:cs typeface="Garamond"/>
                <a:sym typeface="Garamond"/>
              </a:rPr>
              <a:t>Class Slots</a:t>
            </a:r>
            <a:endParaRPr>
              <a:highlight>
                <a:srgbClr val="FFFF00"/>
              </a:highlight>
              <a:latin typeface="Garamond"/>
              <a:ea typeface="Garamond"/>
              <a:cs typeface="Garamond"/>
              <a:sym typeface="Garamond"/>
            </a:endParaRPr>
          </a:p>
          <a:p>
            <a:pPr indent="0" lvl="2" marL="9144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1" lang="en-US" sz="1800">
                <a:latin typeface="Garamond"/>
                <a:ea typeface="Garamond"/>
                <a:cs typeface="Garamond"/>
                <a:sym typeface="Garamond"/>
              </a:rPr>
              <a:t>Tuesday: 12:00-1:30 pm [LHC13]</a:t>
            </a:r>
            <a:endParaRPr>
              <a:latin typeface="Garamond"/>
              <a:ea typeface="Garamond"/>
              <a:cs typeface="Garamond"/>
              <a:sym typeface="Garamond"/>
            </a:endParaRPr>
          </a:p>
          <a:p>
            <a:pPr indent="0" lvl="2" marL="9144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1" lang="en-US" sz="1800">
                <a:latin typeface="Garamond"/>
                <a:ea typeface="Garamond"/>
                <a:cs typeface="Garamond"/>
                <a:sym typeface="Garamond"/>
              </a:rPr>
              <a:t>Wednesday: 12-1:30 pm [LHC13]</a:t>
            </a:r>
            <a:endParaRPr>
              <a:latin typeface="Garamond"/>
              <a:ea typeface="Garamond"/>
              <a:cs typeface="Garamond"/>
              <a:sym typeface="Garamond"/>
            </a:endParaRPr>
          </a:p>
          <a:p>
            <a:pPr indent="0" lvl="2" marL="9144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 sz="2000">
              <a:latin typeface="Garamond"/>
              <a:ea typeface="Garamond"/>
              <a:cs typeface="Garamond"/>
              <a:sym typeface="Garamond"/>
            </a:endParaRPr>
          </a:p>
          <a:p>
            <a:pPr indent="0" lvl="2" marL="9144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</a:pPr>
            <a:r>
              <a:rPr b="1" lang="en-US" sz="2000">
                <a:latin typeface="Garamond"/>
                <a:ea typeface="Garamond"/>
                <a:cs typeface="Garamond"/>
                <a:sym typeface="Garamond"/>
              </a:rPr>
              <a:t>Friday: 12:00-1:30 </a:t>
            </a:r>
            <a:r>
              <a:rPr lang="en-US">
                <a:highlight>
                  <a:srgbClr val="FFFF00"/>
                </a:highlight>
                <a:latin typeface="Garamond"/>
                <a:ea typeface="Garamond"/>
                <a:cs typeface="Garamond"/>
                <a:sym typeface="Garamond"/>
              </a:rPr>
              <a:t>[OFFICE HOURS] </a:t>
            </a:r>
            <a:endParaRPr/>
          </a:p>
          <a:p>
            <a:pPr indent="0" lvl="2" marL="9144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</a:pPr>
            <a:r>
              <a:rPr lang="en-US">
                <a:highlight>
                  <a:srgbClr val="FFFF00"/>
                </a:highlight>
                <a:latin typeface="Garamond"/>
                <a:ea typeface="Garamond"/>
                <a:cs typeface="Garamond"/>
                <a:sym typeface="Garamond"/>
              </a:rPr>
              <a:t>Students are strongly advised to set up an appointment over email for one-on-one workshop/consultation during office hours. </a:t>
            </a:r>
            <a:endParaRPr>
              <a:latin typeface="Garamond"/>
              <a:ea typeface="Garamond"/>
              <a:cs typeface="Garamond"/>
              <a:sym typeface="Garamond"/>
            </a:endParaRPr>
          </a:p>
          <a:p>
            <a:pPr indent="0" lvl="1" marL="4572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/>
          <p:nvPr>
            <p:ph idx="1" type="body"/>
          </p:nvPr>
        </p:nvSpPr>
        <p:spPr>
          <a:xfrm>
            <a:off x="1023257" y="195944"/>
            <a:ext cx="10406743" cy="6423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4572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Garamond"/>
              <a:ea typeface="Garamond"/>
              <a:cs typeface="Garamond"/>
              <a:sym typeface="Garamond"/>
            </a:endParaRPr>
          </a:p>
          <a:p>
            <a:pPr indent="0" lvl="1" marL="4572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</a:pPr>
            <a:r>
              <a:rPr b="1" lang="en-US" sz="2800" u="sng">
                <a:solidFill>
                  <a:srgbClr val="0070C0"/>
                </a:solidFill>
                <a:latin typeface="Garamond"/>
                <a:ea typeface="Garamond"/>
                <a:cs typeface="Garamond"/>
                <a:sym typeface="Garamond"/>
              </a:rPr>
              <a:t>Dates for Classes</a:t>
            </a:r>
            <a:r>
              <a:rPr lang="en-US" sz="2800" u="sng">
                <a:solidFill>
                  <a:srgbClr val="0070C0"/>
                </a:solidFill>
                <a:latin typeface="Garamond"/>
                <a:ea typeface="Garamond"/>
                <a:cs typeface="Garamond"/>
                <a:sym typeface="Garamond"/>
              </a:rPr>
              <a:t>:</a:t>
            </a:r>
            <a:endParaRPr>
              <a:latin typeface="Garamond"/>
              <a:ea typeface="Garamond"/>
              <a:cs typeface="Garamond"/>
              <a:sym typeface="Garamond"/>
            </a:endParaRPr>
          </a:p>
          <a:p>
            <a:pPr indent="0" lvl="1" marL="4572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Garamond"/>
              <a:ea typeface="Garamond"/>
              <a:cs typeface="Garamond"/>
              <a:sym typeface="Garamond"/>
            </a:endParaRPr>
          </a:p>
          <a:p>
            <a:pPr indent="-228600" lvl="0" marL="4572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222222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42900" lvl="0" marL="4572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rgbClr val="222222"/>
                </a:solidFill>
                <a:latin typeface="Garamond"/>
                <a:ea typeface="Garamond"/>
                <a:cs typeface="Garamond"/>
                <a:sym typeface="Garamond"/>
              </a:rPr>
              <a:t>2 Sept</a:t>
            </a:r>
            <a:r>
              <a:rPr b="0" i="0" lang="en-US">
                <a:solidFill>
                  <a:srgbClr val="222222"/>
                </a:solidFill>
                <a:latin typeface="Garamond"/>
                <a:ea typeface="Garamond"/>
                <a:cs typeface="Garamond"/>
                <a:sym typeface="Garamond"/>
              </a:rPr>
              <a:t>, </a:t>
            </a:r>
            <a:r>
              <a:rPr lang="en-US">
                <a:solidFill>
                  <a:srgbClr val="222222"/>
                </a:solidFill>
                <a:latin typeface="Garamond"/>
                <a:ea typeface="Garamond"/>
                <a:cs typeface="Garamond"/>
                <a:sym typeface="Garamond"/>
              </a:rPr>
              <a:t>                                 3</a:t>
            </a:r>
            <a:r>
              <a:rPr b="0" i="0" lang="en-US">
                <a:solidFill>
                  <a:srgbClr val="222222"/>
                </a:solidFill>
                <a:latin typeface="Garamond"/>
                <a:ea typeface="Garamond"/>
                <a:cs typeface="Garamond"/>
                <a:sym typeface="Garamond"/>
              </a:rPr>
              <a:t> Sept,                                                5 Sept (</a:t>
            </a:r>
            <a:r>
              <a:rPr b="0" i="0" lang="en-US">
                <a:solidFill>
                  <a:srgbClr val="0070C0"/>
                </a:solidFill>
                <a:latin typeface="Garamond"/>
                <a:ea typeface="Garamond"/>
                <a:cs typeface="Garamond"/>
                <a:sym typeface="Garamond"/>
              </a:rPr>
              <a:t>Holiday</a:t>
            </a:r>
            <a:r>
              <a:rPr b="0" i="0" lang="en-US">
                <a:solidFill>
                  <a:srgbClr val="222222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>
              <a:latin typeface="Garamond"/>
              <a:ea typeface="Garamond"/>
              <a:cs typeface="Garamond"/>
              <a:sym typeface="Garamond"/>
            </a:endParaRPr>
          </a:p>
          <a:p>
            <a:pPr indent="-342900" lvl="0" marL="4572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</a:pPr>
            <a:r>
              <a:rPr b="0" i="0" lang="en-US">
                <a:solidFill>
                  <a:srgbClr val="222222"/>
                </a:solidFill>
                <a:latin typeface="Garamond"/>
                <a:ea typeface="Garamond"/>
                <a:cs typeface="Garamond"/>
                <a:sym typeface="Garamond"/>
              </a:rPr>
              <a:t>9 Sept,                                  10 Sept,                                            12 Sept (</a:t>
            </a:r>
            <a:r>
              <a:rPr b="0" i="0" lang="en-US">
                <a:solidFill>
                  <a:srgbClr val="0070C0"/>
                </a:solidFill>
                <a:latin typeface="Garamond"/>
                <a:ea typeface="Garamond"/>
                <a:cs typeface="Garamond"/>
                <a:sym typeface="Garamond"/>
              </a:rPr>
              <a:t>OfficeHrs: Consultation</a:t>
            </a:r>
            <a:r>
              <a:rPr b="0" i="0" lang="en-US">
                <a:solidFill>
                  <a:srgbClr val="222222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>
              <a:latin typeface="Garamond"/>
              <a:ea typeface="Garamond"/>
              <a:cs typeface="Garamond"/>
              <a:sym typeface="Garamond"/>
            </a:endParaRPr>
          </a:p>
          <a:p>
            <a:pPr indent="-342900" lvl="0" marL="4572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</a:pPr>
            <a:r>
              <a:rPr b="0" i="0" lang="en-US">
                <a:solidFill>
                  <a:srgbClr val="222222"/>
                </a:solidFill>
                <a:latin typeface="Garamond"/>
                <a:ea typeface="Garamond"/>
                <a:cs typeface="Garamond"/>
                <a:sym typeface="Garamond"/>
              </a:rPr>
              <a:t>16 Sept </a:t>
            </a:r>
            <a:r>
              <a:rPr b="0" i="1" lang="en-US">
                <a:solidFill>
                  <a:srgbClr val="FF0000"/>
                </a:solidFill>
                <a:latin typeface="Garamond"/>
                <a:ea typeface="Garamond"/>
                <a:cs typeface="Garamond"/>
                <a:sym typeface="Garamond"/>
              </a:rPr>
              <a:t>                                </a:t>
            </a:r>
            <a:r>
              <a:rPr b="0" i="0" lang="en-US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17 Sept</a:t>
            </a:r>
            <a:r>
              <a:rPr lang="en-US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b="1" i="1" lang="en-US">
                <a:solidFill>
                  <a:srgbClr val="FF0000"/>
                </a:solidFill>
                <a:latin typeface="Garamond"/>
                <a:ea typeface="Garamond"/>
                <a:cs typeface="Garamond"/>
                <a:sym typeface="Garamond"/>
              </a:rPr>
              <a:t>(Mid-Sem Exam, LHC13)</a:t>
            </a:r>
            <a:r>
              <a:rPr b="0" i="0" lang="en-US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  </a:t>
            </a:r>
            <a:r>
              <a:rPr i="0" lang="en-US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19 Sept (</a:t>
            </a:r>
            <a:r>
              <a:rPr i="0" lang="en-US">
                <a:solidFill>
                  <a:srgbClr val="0070C0"/>
                </a:solidFill>
                <a:latin typeface="Garamond"/>
                <a:ea typeface="Garamond"/>
                <a:cs typeface="Garamond"/>
                <a:sym typeface="Garamond"/>
              </a:rPr>
              <a:t>OfficeH</a:t>
            </a:r>
            <a:r>
              <a:rPr lang="en-US">
                <a:solidFill>
                  <a:srgbClr val="0070C0"/>
                </a:solidFill>
                <a:latin typeface="Garamond"/>
                <a:ea typeface="Garamond"/>
                <a:cs typeface="Garamond"/>
                <a:sym typeface="Garamond"/>
              </a:rPr>
              <a:t>rs:Consultation</a:t>
            </a:r>
            <a:r>
              <a:rPr i="0" lang="en-US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 i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42900" lvl="0" marL="4572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</a:pPr>
            <a:r>
              <a:rPr b="0" i="0" lang="en-US">
                <a:solidFill>
                  <a:srgbClr val="222222"/>
                </a:solidFill>
                <a:latin typeface="Garamond"/>
                <a:ea typeface="Garamond"/>
                <a:cs typeface="Garamond"/>
                <a:sym typeface="Garamond"/>
              </a:rPr>
              <a:t>23 Sept,                                 24 Sept</a:t>
            </a:r>
            <a:r>
              <a:rPr lang="en-US">
                <a:solidFill>
                  <a:srgbClr val="222222"/>
                </a:solidFill>
                <a:latin typeface="Garamond"/>
                <a:ea typeface="Garamond"/>
                <a:cs typeface="Garamond"/>
                <a:sym typeface="Garamond"/>
              </a:rPr>
              <a:t>                             </a:t>
            </a:r>
            <a:r>
              <a:rPr b="0" i="0" lang="en-US">
                <a:solidFill>
                  <a:srgbClr val="222222"/>
                </a:solidFill>
                <a:latin typeface="Garamond"/>
                <a:ea typeface="Garamond"/>
                <a:cs typeface="Garamond"/>
                <a:sym typeface="Garamond"/>
              </a:rPr>
              <a:t>                26 Sept (</a:t>
            </a:r>
            <a:r>
              <a:rPr b="0" i="0" lang="en-US">
                <a:solidFill>
                  <a:srgbClr val="0070C0"/>
                </a:solidFill>
                <a:latin typeface="Garamond"/>
                <a:ea typeface="Garamond"/>
                <a:cs typeface="Garamond"/>
                <a:sym typeface="Garamond"/>
              </a:rPr>
              <a:t>No Class: OfficeHrs</a:t>
            </a:r>
            <a:r>
              <a:rPr b="0" i="0" lang="en-US">
                <a:solidFill>
                  <a:srgbClr val="222222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>
              <a:latin typeface="Garamond"/>
              <a:ea typeface="Garamond"/>
              <a:cs typeface="Garamond"/>
              <a:sym typeface="Garamond"/>
            </a:endParaRPr>
          </a:p>
          <a:p>
            <a:pPr indent="-342900" lvl="0" marL="4572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</a:pPr>
            <a:r>
              <a:rPr b="0" i="0" lang="en-US">
                <a:solidFill>
                  <a:srgbClr val="222222"/>
                </a:solidFill>
                <a:latin typeface="Garamond"/>
                <a:ea typeface="Garamond"/>
                <a:cs typeface="Garamond"/>
                <a:sym typeface="Garamond"/>
              </a:rPr>
              <a:t>14 Oct </a:t>
            </a:r>
            <a:r>
              <a:rPr b="1" i="1" lang="en-US">
                <a:solidFill>
                  <a:srgbClr val="FF0000"/>
                </a:solidFill>
                <a:latin typeface="Garamond"/>
                <a:ea typeface="Garamond"/>
                <a:cs typeface="Garamond"/>
                <a:sym typeface="Garamond"/>
              </a:rPr>
              <a:t>(End-Sem Exam, LHC13)</a:t>
            </a:r>
            <a:endParaRPr b="1" i="1">
              <a:solidFill>
                <a:srgbClr val="FF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1" marL="4572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Garamond"/>
              <a:ea typeface="Garamond"/>
              <a:cs typeface="Garamond"/>
              <a:sym typeface="Garamond"/>
            </a:endParaRPr>
          </a:p>
          <a:p>
            <a:pPr indent="0" lvl="1" marL="4572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1" marL="384048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 u="sng">
                <a:solidFill>
                  <a:srgbClr val="0070C0"/>
                </a:solidFill>
                <a:latin typeface="Garamond"/>
                <a:ea typeface="Garamond"/>
                <a:cs typeface="Garamond"/>
                <a:sym typeface="Garamond"/>
              </a:rPr>
              <a:t>EVALUATION: </a:t>
            </a:r>
            <a:endParaRPr sz="2400">
              <a:latin typeface="Garamond"/>
              <a:ea typeface="Garamond"/>
              <a:cs typeface="Garamond"/>
              <a:sym typeface="Garamond"/>
            </a:endParaRPr>
          </a:p>
          <a:p>
            <a:pPr indent="0" lvl="2" marL="9144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b="1" lang="en-US" sz="3200">
                <a:solidFill>
                  <a:srgbClr val="0070C0"/>
                </a:solidFill>
                <a:latin typeface="Garamond"/>
                <a:ea typeface="Garamond"/>
                <a:cs typeface="Garamond"/>
                <a:sym typeface="Garamond"/>
              </a:rPr>
              <a:t>Mid-Term Exam </a:t>
            </a:r>
            <a:r>
              <a:rPr lang="en-US" sz="3200">
                <a:latin typeface="Garamond"/>
                <a:ea typeface="Garamond"/>
                <a:cs typeface="Garamond"/>
                <a:sym typeface="Garamond"/>
              </a:rPr>
              <a:t>(30% of the Final Grade)</a:t>
            </a:r>
            <a:endParaRPr sz="2000">
              <a:latin typeface="Garamond"/>
              <a:ea typeface="Garamond"/>
              <a:cs typeface="Garamond"/>
              <a:sym typeface="Garamond"/>
            </a:endParaRPr>
          </a:p>
          <a:p>
            <a:pPr indent="0" lvl="2" marL="9144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b="1" lang="en-US" sz="3200">
                <a:solidFill>
                  <a:srgbClr val="0070C0"/>
                </a:solidFill>
                <a:latin typeface="Garamond"/>
                <a:ea typeface="Garamond"/>
                <a:cs typeface="Garamond"/>
                <a:sym typeface="Garamond"/>
              </a:rPr>
              <a:t>Final Exam</a:t>
            </a:r>
            <a:r>
              <a:rPr lang="en-US" sz="3200">
                <a:latin typeface="Garamond"/>
                <a:ea typeface="Garamond"/>
                <a:cs typeface="Garamond"/>
                <a:sym typeface="Garamond"/>
              </a:rPr>
              <a:t> (70% of the Final Grade)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type="title"/>
          </p:nvPr>
        </p:nvSpPr>
        <p:spPr>
          <a:xfrm>
            <a:off x="446314" y="304800"/>
            <a:ext cx="11038114" cy="6901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aramond"/>
              <a:buNone/>
            </a:pPr>
            <a:r>
              <a:rPr b="1" lang="en-US" sz="4000">
                <a:latin typeface="Garamond"/>
                <a:ea typeface="Garamond"/>
                <a:cs typeface="Garamond"/>
                <a:sym typeface="Garamond"/>
              </a:rPr>
              <a:t>LA1760; LHC13 </a:t>
            </a:r>
            <a:br>
              <a:rPr b="1" lang="en-US" sz="800">
                <a:latin typeface="Garamond"/>
                <a:ea typeface="Garamond"/>
                <a:cs typeface="Garamond"/>
                <a:sym typeface="Garamond"/>
              </a:rPr>
            </a:br>
            <a:br>
              <a:rPr b="1" i="1" lang="en-US" sz="700">
                <a:latin typeface="Garamond"/>
                <a:ea typeface="Garamond"/>
                <a:cs typeface="Garamond"/>
                <a:sym typeface="Garamond"/>
              </a:rPr>
            </a:br>
            <a:endParaRPr sz="20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23" name="Google Shape;123;p17"/>
          <p:cNvSpPr txBox="1"/>
          <p:nvPr>
            <p:ph idx="1" type="body"/>
          </p:nvPr>
        </p:nvSpPr>
        <p:spPr>
          <a:xfrm>
            <a:off x="1066800" y="1513114"/>
            <a:ext cx="10058400" cy="45219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0070C0"/>
                </a:solidFill>
                <a:latin typeface="Garamond"/>
                <a:ea typeface="Garamond"/>
                <a:cs typeface="Garamond"/>
                <a:sym typeface="Garamond"/>
              </a:rPr>
              <a:t>Google Classroom</a:t>
            </a:r>
            <a:r>
              <a:rPr lang="en-US" sz="2400">
                <a:latin typeface="Garamond"/>
                <a:ea typeface="Garamond"/>
                <a:cs typeface="Garamond"/>
                <a:sym typeface="Garamond"/>
              </a:rPr>
              <a:t>: </a:t>
            </a:r>
            <a:r>
              <a:rPr b="1" i="1" lang="en-US" sz="2400">
                <a:latin typeface="Garamond"/>
                <a:ea typeface="Garamond"/>
                <a:cs typeface="Garamond"/>
                <a:sym typeface="Garamond"/>
              </a:rPr>
              <a:t>Register and Follow for Content / Exam Submission</a:t>
            </a:r>
            <a:endParaRPr sz="2400">
              <a:latin typeface="Garamond"/>
              <a:ea typeface="Garamond"/>
              <a:cs typeface="Garamond"/>
              <a:sym typeface="Garamond"/>
            </a:endParaRPr>
          </a:p>
          <a:p>
            <a:pPr indent="-228600" lvl="0" marL="4572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1143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b="1" lang="en-US" sz="2000">
                <a:latin typeface="Garamond"/>
                <a:ea typeface="Garamond"/>
                <a:cs typeface="Garamond"/>
                <a:sym typeface="Garamond"/>
              </a:rPr>
              <a:t>Class Code: </a:t>
            </a:r>
            <a:r>
              <a:rPr b="1" lang="en-US" sz="2000">
                <a:solidFill>
                  <a:srgbClr val="1A73E8"/>
                </a:solidFill>
                <a:latin typeface="Garamond"/>
                <a:ea typeface="Garamond"/>
                <a:cs typeface="Garamond"/>
                <a:sym typeface="Garamond"/>
              </a:rPr>
              <a:t>ahqonrwo</a:t>
            </a:r>
            <a:endParaRPr b="1" i="0" sz="2000">
              <a:solidFill>
                <a:srgbClr val="1A73E8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228600" lvl="0" marL="45720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i="0" sz="2000">
              <a:solidFill>
                <a:srgbClr val="1A73E8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1143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1"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Class Invite Link :</a:t>
            </a:r>
            <a:r>
              <a:rPr lang="en-US" sz="2000"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b="1" lang="en-US" sz="2000" u="sng">
                <a:solidFill>
                  <a:schemeClr val="hlink"/>
                </a:solidFill>
                <a:latin typeface="Garamond"/>
                <a:ea typeface="Garamond"/>
                <a:cs typeface="Garamond"/>
                <a:sym typeface="Garamond"/>
              </a:rPr>
              <a:t>https://classroom.google.com/c/Nzc1MjE1NTg1NTUz?cjc=ahqonrwo</a:t>
            </a:r>
            <a:endParaRPr sz="2000">
              <a:solidFill>
                <a:srgbClr val="1A73E8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228600" lvl="0" marL="4572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ahqonrwo</a:t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None/>
            </a:pPr>
            <a:br>
              <a:rPr b="0" i="0" lang="en-US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152400" y="1524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ahqonrwo</a:t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None/>
            </a:pPr>
            <a:br>
              <a:rPr b="0" i="0" lang="en-US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type="title"/>
          </p:nvPr>
        </p:nvSpPr>
        <p:spPr>
          <a:xfrm>
            <a:off x="1066800" y="239822"/>
            <a:ext cx="10058400" cy="80520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Topics</a:t>
            </a:r>
            <a:endParaRPr/>
          </a:p>
        </p:txBody>
      </p:sp>
      <p:sp>
        <p:nvSpPr>
          <p:cNvPr id="131" name="Google Shape;131;p18"/>
          <p:cNvSpPr txBox="1"/>
          <p:nvPr>
            <p:ph idx="1" type="body"/>
          </p:nvPr>
        </p:nvSpPr>
        <p:spPr>
          <a:xfrm>
            <a:off x="1186543" y="1502229"/>
            <a:ext cx="10515600" cy="4963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70000" lnSpcReduction="20000"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1" sz="2400">
              <a:latin typeface="Garamond"/>
              <a:ea typeface="Garamond"/>
              <a:cs typeface="Garamond"/>
              <a:sym typeface="Garamond"/>
            </a:endParaRPr>
          </a:p>
          <a:p>
            <a:pPr indent="-106679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b="1" lang="en-US" sz="2400">
                <a:latin typeface="Garamond"/>
                <a:ea typeface="Garamond"/>
                <a:cs typeface="Garamond"/>
                <a:sym typeface="Garamond"/>
              </a:rPr>
              <a:t>Creative Reading: Video Texts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1" sz="2400">
              <a:latin typeface="Garamond"/>
              <a:ea typeface="Garamond"/>
              <a:cs typeface="Garamond"/>
              <a:sym typeface="Garamond"/>
            </a:endParaRPr>
          </a:p>
          <a:p>
            <a:pPr indent="-106679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b="1" lang="en-US" sz="2400">
                <a:latin typeface="Garamond"/>
                <a:ea typeface="Garamond"/>
                <a:cs typeface="Garamond"/>
                <a:sym typeface="Garamond"/>
              </a:rPr>
              <a:t>Genres of Professional Writing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1" sz="2400">
              <a:latin typeface="Garamond"/>
              <a:ea typeface="Garamond"/>
              <a:cs typeface="Garamond"/>
              <a:sym typeface="Garamond"/>
            </a:endParaRPr>
          </a:p>
          <a:p>
            <a:pPr indent="-106679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b="1" lang="en-US" sz="2400">
                <a:latin typeface="Garamond"/>
                <a:ea typeface="Garamond"/>
                <a:cs typeface="Garamond"/>
                <a:sym typeface="Garamond"/>
              </a:rPr>
              <a:t>Creative Reading: Poetry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1" sz="2400">
              <a:latin typeface="Garamond"/>
              <a:ea typeface="Garamond"/>
              <a:cs typeface="Garamond"/>
              <a:sym typeface="Garamond"/>
            </a:endParaRPr>
          </a:p>
          <a:p>
            <a:pPr indent="-106679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b="1" lang="en-US" sz="2400">
                <a:latin typeface="Garamond"/>
                <a:ea typeface="Garamond"/>
                <a:cs typeface="Garamond"/>
                <a:sym typeface="Garamond"/>
              </a:rPr>
              <a:t>Prevention of Workplace Language Discrimination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1" sz="2400">
              <a:latin typeface="Garamond"/>
              <a:ea typeface="Garamond"/>
              <a:cs typeface="Garamond"/>
              <a:sym typeface="Garamond"/>
            </a:endParaRPr>
          </a:p>
          <a:p>
            <a:pPr indent="-106679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b="1" lang="en-US" sz="2400">
                <a:latin typeface="Garamond"/>
                <a:ea typeface="Garamond"/>
                <a:cs typeface="Garamond"/>
                <a:sym typeface="Garamond"/>
              </a:rPr>
              <a:t>Social Media, Law, and Professionalism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1" sz="2400">
              <a:latin typeface="Garamond"/>
              <a:ea typeface="Garamond"/>
              <a:cs typeface="Garamond"/>
              <a:sym typeface="Garamond"/>
            </a:endParaRPr>
          </a:p>
          <a:p>
            <a:pPr indent="-106679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b="1" lang="en-US" sz="2400">
                <a:latin typeface="Garamond"/>
                <a:ea typeface="Garamond"/>
                <a:cs typeface="Garamond"/>
                <a:sym typeface="Garamond"/>
              </a:rPr>
              <a:t>Reporting and its Biases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1" sz="2400">
              <a:latin typeface="Garamond"/>
              <a:ea typeface="Garamond"/>
              <a:cs typeface="Garamond"/>
              <a:sym typeface="Garamond"/>
            </a:endParaRPr>
          </a:p>
          <a:p>
            <a:pPr indent="-106679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b="1" lang="en-US" sz="2400">
                <a:latin typeface="Garamond"/>
                <a:ea typeface="Garamond"/>
                <a:cs typeface="Garamond"/>
                <a:sym typeface="Garamond"/>
              </a:rPr>
              <a:t>Graphic Novels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lang="en-US"/>
              <a:t>Reading and Telling Stories</a:t>
            </a:r>
            <a:endParaRPr/>
          </a:p>
        </p:txBody>
      </p:sp>
      <p:sp>
        <p:nvSpPr>
          <p:cNvPr id="137" name="Google Shape;137;p19"/>
          <p:cNvSpPr txBox="1"/>
          <p:nvPr>
            <p:ph idx="1" type="body"/>
          </p:nvPr>
        </p:nvSpPr>
        <p:spPr>
          <a:xfrm>
            <a:off x="1251678" y="1709057"/>
            <a:ext cx="10178322" cy="41705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https://www.youtube.com/watch?v=LatobRtLukM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</a:pPr>
            <a:r>
              <a:rPr lang="en-US"/>
              <a:t>The Printed Rainbow</a:t>
            </a:r>
            <a:endParaRPr/>
          </a:p>
        </p:txBody>
      </p:sp>
      <p:sp>
        <p:nvSpPr>
          <p:cNvPr id="143" name="Google Shape;143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GITANJALI RAO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idx="1" type="body"/>
          </p:nvPr>
        </p:nvSpPr>
        <p:spPr>
          <a:xfrm>
            <a:off x="8133805" y="874652"/>
            <a:ext cx="348082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Plot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Tonality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Symbolism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Colour, Texture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Characterization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Animals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Humour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Ending of the Film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Representation of Old Age</a:t>
            </a:r>
            <a:endParaRPr/>
          </a:p>
        </p:txBody>
      </p:sp>
      <p:pic>
        <p:nvPicPr>
          <p:cNvPr descr="Printed Rainbow – Kolkata People's Film ..."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118872"/>
            <a:ext cx="5554708" cy="37301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inted Rainbow - YouTube" id="150" name="Google Shape;15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23785" y="3575305"/>
            <a:ext cx="4313368" cy="3282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