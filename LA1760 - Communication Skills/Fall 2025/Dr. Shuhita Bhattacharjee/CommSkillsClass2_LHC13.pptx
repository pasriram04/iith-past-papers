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3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6858000" cx="12192000"/>
  <p:notesSz cx="12192000" cy="6858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16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1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2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2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3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3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4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4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5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5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6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6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7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7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8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8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9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9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0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10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7.jpg"/><Relationship Id="rId4" Type="http://schemas.openxmlformats.org/officeDocument/2006/relationships/image" Target="../media/image10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showMasterSp="0" type="obj">
  <p:cSld name="OBJECT">
    <p:bg>
      <p:bgPr>
        <a:solidFill>
          <a:schemeClr val="lt1"/>
        </a:solidFill>
      </p:bgPr>
    </p:bg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oogle Shape;14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41603" y="653238"/>
            <a:ext cx="10908757" cy="80682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3998" y="1054097"/>
            <a:ext cx="5461988" cy="4382666"/>
          </a:xfrm>
          <a:prstGeom prst="rect">
            <a:avLst/>
          </a:prstGeom>
          <a:noFill/>
          <a:ln>
            <a:noFill/>
          </a:ln>
        </p:spPr>
      </p:pic>
      <p:pic>
        <p:nvPicPr>
          <p:cNvPr id="16" name="Google Shape;16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00787" y="822323"/>
            <a:ext cx="5149579" cy="4846220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2"/>
          <p:cNvSpPr txBox="1"/>
          <p:nvPr>
            <p:ph type="title"/>
          </p:nvPr>
        </p:nvSpPr>
        <p:spPr>
          <a:xfrm>
            <a:off x="6786231" y="1816236"/>
            <a:ext cx="4342765" cy="2098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2"/>
          <p:cNvSpPr txBox="1"/>
          <p:nvPr>
            <p:ph idx="11" type="ft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"/>
          <p:cNvSpPr txBox="1"/>
          <p:nvPr>
            <p:ph idx="10" type="dt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"/>
          <p:cNvSpPr txBox="1"/>
          <p:nvPr>
            <p:ph idx="12" type="sldNum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/>
          <p:nvPr>
            <p:ph type="title"/>
          </p:nvPr>
        </p:nvSpPr>
        <p:spPr>
          <a:xfrm>
            <a:off x="6786231" y="1816236"/>
            <a:ext cx="4342765" cy="2098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1" type="body"/>
          </p:nvPr>
        </p:nvSpPr>
        <p:spPr>
          <a:xfrm>
            <a:off x="6251262" y="1706032"/>
            <a:ext cx="4996815" cy="24155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1" type="ft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idx="10" type="dt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idx="12" type="sldNum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 txBox="1"/>
          <p:nvPr>
            <p:ph idx="11" type="ft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10" type="dt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 txBox="1"/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1" type="subTitle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5"/>
          <p:cNvSpPr txBox="1"/>
          <p:nvPr>
            <p:ph idx="11" type="ft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0" type="dt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5"/>
          <p:cNvSpPr txBox="1"/>
          <p:nvPr>
            <p:ph idx="12" type="sldNum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6"/>
          <p:cNvSpPr txBox="1"/>
          <p:nvPr>
            <p:ph type="title"/>
          </p:nvPr>
        </p:nvSpPr>
        <p:spPr>
          <a:xfrm>
            <a:off x="6786231" y="1816236"/>
            <a:ext cx="4342765" cy="2098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" type="body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6"/>
          <p:cNvSpPr txBox="1"/>
          <p:nvPr>
            <p:ph idx="2" type="body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6"/>
          <p:cNvSpPr txBox="1"/>
          <p:nvPr>
            <p:ph idx="11" type="ft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6"/>
          <p:cNvSpPr txBox="1"/>
          <p:nvPr>
            <p:ph idx="10" type="dt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6"/>
          <p:cNvSpPr txBox="1"/>
          <p:nvPr>
            <p:ph idx="12" type="sldNum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6;p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11401702" y="6229662"/>
            <a:ext cx="457199" cy="457199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7;p1"/>
          <p:cNvSpPr/>
          <p:nvPr/>
        </p:nvSpPr>
        <p:spPr>
          <a:xfrm>
            <a:off x="11430902" y="6258862"/>
            <a:ext cx="399415" cy="399415"/>
          </a:xfrm>
          <a:custGeom>
            <a:rect b="b" l="l" r="r" t="t"/>
            <a:pathLst>
              <a:path extrusionOk="0" h="399415" w="399415">
                <a:moveTo>
                  <a:pt x="0" y="199399"/>
                </a:moveTo>
                <a:lnTo>
                  <a:pt x="5266" y="153679"/>
                </a:lnTo>
                <a:lnTo>
                  <a:pt x="20267" y="111708"/>
                </a:lnTo>
                <a:lnTo>
                  <a:pt x="43806" y="74685"/>
                </a:lnTo>
                <a:lnTo>
                  <a:pt x="74685" y="43806"/>
                </a:lnTo>
                <a:lnTo>
                  <a:pt x="111708" y="20267"/>
                </a:lnTo>
                <a:lnTo>
                  <a:pt x="153679" y="5266"/>
                </a:lnTo>
                <a:lnTo>
                  <a:pt x="199399" y="0"/>
                </a:lnTo>
                <a:lnTo>
                  <a:pt x="238478" y="3865"/>
                </a:lnTo>
                <a:lnTo>
                  <a:pt x="275702" y="15174"/>
                </a:lnTo>
                <a:lnTo>
                  <a:pt x="310025" y="33496"/>
                </a:lnTo>
                <a:lnTo>
                  <a:pt x="340399" y="58399"/>
                </a:lnTo>
                <a:lnTo>
                  <a:pt x="365302" y="88773"/>
                </a:lnTo>
                <a:lnTo>
                  <a:pt x="383624" y="123096"/>
                </a:lnTo>
                <a:lnTo>
                  <a:pt x="394933" y="160321"/>
                </a:lnTo>
                <a:lnTo>
                  <a:pt x="398799" y="199399"/>
                </a:lnTo>
                <a:lnTo>
                  <a:pt x="393532" y="245121"/>
                </a:lnTo>
                <a:lnTo>
                  <a:pt x="378531" y="287095"/>
                </a:lnTo>
                <a:lnTo>
                  <a:pt x="354993" y="324123"/>
                </a:lnTo>
                <a:lnTo>
                  <a:pt x="324113" y="355008"/>
                </a:lnTo>
                <a:lnTo>
                  <a:pt x="287090" y="378551"/>
                </a:lnTo>
                <a:lnTo>
                  <a:pt x="245119" y="393556"/>
                </a:lnTo>
                <a:lnTo>
                  <a:pt x="199399" y="398824"/>
                </a:lnTo>
                <a:lnTo>
                  <a:pt x="153679" y="393556"/>
                </a:lnTo>
                <a:lnTo>
                  <a:pt x="111708" y="378551"/>
                </a:lnTo>
                <a:lnTo>
                  <a:pt x="74685" y="355008"/>
                </a:lnTo>
                <a:lnTo>
                  <a:pt x="43806" y="324123"/>
                </a:lnTo>
                <a:lnTo>
                  <a:pt x="20267" y="287095"/>
                </a:lnTo>
                <a:lnTo>
                  <a:pt x="5266" y="245121"/>
                </a:lnTo>
                <a:lnTo>
                  <a:pt x="0" y="199399"/>
                </a:lnTo>
                <a:close/>
              </a:path>
            </a:pathLst>
          </a:custGeom>
          <a:noFill/>
          <a:ln cap="flat" cmpd="sng" w="126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8" name="Google Shape;8;p1"/>
          <p:cNvSpPr txBox="1"/>
          <p:nvPr>
            <p:ph type="title"/>
          </p:nvPr>
        </p:nvSpPr>
        <p:spPr>
          <a:xfrm>
            <a:off x="6786231" y="1816236"/>
            <a:ext cx="4342765" cy="2098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9" name="Google Shape;9;p1"/>
          <p:cNvSpPr txBox="1"/>
          <p:nvPr>
            <p:ph idx="1" type="body"/>
          </p:nvPr>
        </p:nvSpPr>
        <p:spPr>
          <a:xfrm>
            <a:off x="6251262" y="1706032"/>
            <a:ext cx="4996815" cy="24155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1" type="ft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0" type="dt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2" name="Google Shape;12;p1"/>
          <p:cNvSpPr txBox="1"/>
          <p:nvPr>
            <p:ph idx="12" type="sldNum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7.png"/><Relationship Id="rId4" Type="http://schemas.openxmlformats.org/officeDocument/2006/relationships/image" Target="../media/image8.jpg"/><Relationship Id="rId5" Type="http://schemas.openxmlformats.org/officeDocument/2006/relationships/image" Target="../media/image1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7.png"/><Relationship Id="rId4" Type="http://schemas.openxmlformats.org/officeDocument/2006/relationships/image" Target="../media/image5.jpg"/><Relationship Id="rId5" Type="http://schemas.openxmlformats.org/officeDocument/2006/relationships/image" Target="../media/image1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7.png"/><Relationship Id="rId4" Type="http://schemas.openxmlformats.org/officeDocument/2006/relationships/image" Target="../media/image14.jpg"/><Relationship Id="rId5" Type="http://schemas.openxmlformats.org/officeDocument/2006/relationships/image" Target="../media/image1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7.png"/><Relationship Id="rId4" Type="http://schemas.openxmlformats.org/officeDocument/2006/relationships/image" Target="../media/image14.jpg"/><Relationship Id="rId5" Type="http://schemas.openxmlformats.org/officeDocument/2006/relationships/image" Target="../media/image1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Relationship Id="rId4" Type="http://schemas.openxmlformats.org/officeDocument/2006/relationships/image" Target="../media/image2.png"/><Relationship Id="rId5" Type="http://schemas.openxmlformats.org/officeDocument/2006/relationships/image" Target="../media/image12.jpg"/><Relationship Id="rId6" Type="http://schemas.openxmlformats.org/officeDocument/2006/relationships/image" Target="../media/image1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1.png"/><Relationship Id="rId4" Type="http://schemas.openxmlformats.org/officeDocument/2006/relationships/image" Target="../media/image9.png"/><Relationship Id="rId5" Type="http://schemas.openxmlformats.org/officeDocument/2006/relationships/image" Target="../media/image1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 txBox="1"/>
          <p:nvPr>
            <p:ph type="title"/>
          </p:nvPr>
        </p:nvSpPr>
        <p:spPr>
          <a:xfrm>
            <a:off x="6786231" y="1816236"/>
            <a:ext cx="4342765" cy="2098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25300">
            <a:spAutoFit/>
          </a:bodyPr>
          <a:lstStyle/>
          <a:p>
            <a:pPr indent="0" lvl="0" marL="12700" marR="508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/>
              <a:t>GENRES OF WRITING</a:t>
            </a:r>
            <a:endParaRPr sz="4800"/>
          </a:p>
        </p:txBody>
      </p:sp>
      <p:grpSp>
        <p:nvGrpSpPr>
          <p:cNvPr id="49" name="Google Shape;49;p7"/>
          <p:cNvGrpSpPr/>
          <p:nvPr/>
        </p:nvGrpSpPr>
        <p:grpSpPr>
          <a:xfrm>
            <a:off x="641603" y="5257789"/>
            <a:ext cx="10908757" cy="1080900"/>
            <a:chOff x="641603" y="5257789"/>
            <a:chExt cx="10908757" cy="1080900"/>
          </a:xfrm>
        </p:grpSpPr>
        <p:pic>
          <p:nvPicPr>
            <p:cNvPr id="50" name="Google Shape;50;p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641603" y="5257789"/>
              <a:ext cx="10908757" cy="10809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" name="Google Shape;51;p7"/>
            <p:cNvSpPr/>
            <p:nvPr/>
          </p:nvSpPr>
          <p:spPr>
            <a:xfrm>
              <a:off x="9754980" y="5365889"/>
              <a:ext cx="864869" cy="864869"/>
            </a:xfrm>
            <a:custGeom>
              <a:rect b="b" l="l" r="r" t="t"/>
              <a:pathLst>
                <a:path extrusionOk="0" h="864870" w="864870">
                  <a:moveTo>
                    <a:pt x="0" y="432349"/>
                  </a:moveTo>
                  <a:lnTo>
                    <a:pt x="2537" y="385240"/>
                  </a:lnTo>
                  <a:lnTo>
                    <a:pt x="9972" y="339601"/>
                  </a:lnTo>
                  <a:lnTo>
                    <a:pt x="22042" y="295695"/>
                  </a:lnTo>
                  <a:lnTo>
                    <a:pt x="38482" y="253785"/>
                  </a:lnTo>
                  <a:lnTo>
                    <a:pt x="59030" y="214136"/>
                  </a:lnTo>
                  <a:lnTo>
                    <a:pt x="83421" y="177011"/>
                  </a:lnTo>
                  <a:lnTo>
                    <a:pt x="111392" y="142674"/>
                  </a:lnTo>
                  <a:lnTo>
                    <a:pt x="142678" y="111389"/>
                  </a:lnTo>
                  <a:lnTo>
                    <a:pt x="177017" y="83419"/>
                  </a:lnTo>
                  <a:lnTo>
                    <a:pt x="214144" y="59029"/>
                  </a:lnTo>
                  <a:lnTo>
                    <a:pt x="253795" y="38482"/>
                  </a:lnTo>
                  <a:lnTo>
                    <a:pt x="295708" y="22041"/>
                  </a:lnTo>
                  <a:lnTo>
                    <a:pt x="339617" y="9972"/>
                  </a:lnTo>
                  <a:lnTo>
                    <a:pt x="385261" y="2537"/>
                  </a:lnTo>
                  <a:lnTo>
                    <a:pt x="432374" y="0"/>
                  </a:lnTo>
                  <a:lnTo>
                    <a:pt x="481162" y="2759"/>
                  </a:lnTo>
                  <a:lnTo>
                    <a:pt x="528951" y="10921"/>
                  </a:lnTo>
                  <a:lnTo>
                    <a:pt x="575318" y="24309"/>
                  </a:lnTo>
                  <a:lnTo>
                    <a:pt x="619839" y="42749"/>
                  </a:lnTo>
                  <a:lnTo>
                    <a:pt x="662092" y="66065"/>
                  </a:lnTo>
                  <a:lnTo>
                    <a:pt x="701653" y="94082"/>
                  </a:lnTo>
                  <a:lnTo>
                    <a:pt x="738098" y="126624"/>
                  </a:lnTo>
                  <a:lnTo>
                    <a:pt x="770640" y="163069"/>
                  </a:lnTo>
                  <a:lnTo>
                    <a:pt x="798657" y="202630"/>
                  </a:lnTo>
                  <a:lnTo>
                    <a:pt x="821973" y="244883"/>
                  </a:lnTo>
                  <a:lnTo>
                    <a:pt x="840413" y="289404"/>
                  </a:lnTo>
                  <a:lnTo>
                    <a:pt x="853801" y="335771"/>
                  </a:lnTo>
                  <a:lnTo>
                    <a:pt x="861963" y="383561"/>
                  </a:lnTo>
                  <a:lnTo>
                    <a:pt x="864723" y="432349"/>
                  </a:lnTo>
                  <a:lnTo>
                    <a:pt x="862186" y="479457"/>
                  </a:lnTo>
                  <a:lnTo>
                    <a:pt x="854750" y="525096"/>
                  </a:lnTo>
                  <a:lnTo>
                    <a:pt x="842681" y="569002"/>
                  </a:lnTo>
                  <a:lnTo>
                    <a:pt x="826240" y="610912"/>
                  </a:lnTo>
                  <a:lnTo>
                    <a:pt x="805693" y="650561"/>
                  </a:lnTo>
                  <a:lnTo>
                    <a:pt x="781303" y="687686"/>
                  </a:lnTo>
                  <a:lnTo>
                    <a:pt x="753333" y="722023"/>
                  </a:lnTo>
                  <a:lnTo>
                    <a:pt x="722048" y="753308"/>
                  </a:lnTo>
                  <a:lnTo>
                    <a:pt x="687711" y="781278"/>
                  </a:lnTo>
                  <a:lnTo>
                    <a:pt x="650586" y="805668"/>
                  </a:lnTo>
                  <a:lnTo>
                    <a:pt x="610937" y="826215"/>
                  </a:lnTo>
                  <a:lnTo>
                    <a:pt x="569027" y="842656"/>
                  </a:lnTo>
                  <a:lnTo>
                    <a:pt x="525121" y="854725"/>
                  </a:lnTo>
                  <a:lnTo>
                    <a:pt x="479482" y="862161"/>
                  </a:lnTo>
                  <a:lnTo>
                    <a:pt x="432374" y="864698"/>
                  </a:lnTo>
                  <a:lnTo>
                    <a:pt x="385261" y="862161"/>
                  </a:lnTo>
                  <a:lnTo>
                    <a:pt x="339617" y="854725"/>
                  </a:lnTo>
                  <a:lnTo>
                    <a:pt x="295708" y="842656"/>
                  </a:lnTo>
                  <a:lnTo>
                    <a:pt x="253795" y="826215"/>
                  </a:lnTo>
                  <a:lnTo>
                    <a:pt x="214144" y="805668"/>
                  </a:lnTo>
                  <a:lnTo>
                    <a:pt x="177017" y="781278"/>
                  </a:lnTo>
                  <a:lnTo>
                    <a:pt x="142678" y="753308"/>
                  </a:lnTo>
                  <a:lnTo>
                    <a:pt x="111392" y="722023"/>
                  </a:lnTo>
                  <a:lnTo>
                    <a:pt x="83421" y="687686"/>
                  </a:lnTo>
                  <a:lnTo>
                    <a:pt x="59030" y="650561"/>
                  </a:lnTo>
                  <a:lnTo>
                    <a:pt x="38482" y="610912"/>
                  </a:lnTo>
                  <a:lnTo>
                    <a:pt x="22042" y="569002"/>
                  </a:lnTo>
                  <a:lnTo>
                    <a:pt x="9972" y="525096"/>
                  </a:lnTo>
                  <a:lnTo>
                    <a:pt x="2537" y="479457"/>
                  </a:lnTo>
                  <a:lnTo>
                    <a:pt x="0" y="432349"/>
                  </a:lnTo>
                  <a:close/>
                </a:path>
              </a:pathLst>
            </a:custGeom>
            <a:noFill/>
            <a:ln cap="flat" cmpd="sng" w="253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8"/>
          <p:cNvSpPr txBox="1"/>
          <p:nvPr>
            <p:ph type="title"/>
          </p:nvPr>
        </p:nvSpPr>
        <p:spPr>
          <a:xfrm>
            <a:off x="6786231" y="1816236"/>
            <a:ext cx="4342765" cy="2098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4600">
            <a:spAutoFit/>
          </a:bodyPr>
          <a:lstStyle/>
          <a:p>
            <a:pPr indent="0" lvl="0" marL="12700" marR="508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HOW TO WRITE A PROPER CURRICULUM VITAE / </a:t>
            </a:r>
            <a:r>
              <a:rPr b="1" lang="en-US">
                <a:latin typeface="Times New Roman"/>
                <a:ea typeface="Times New Roman"/>
                <a:cs typeface="Times New Roman"/>
                <a:sym typeface="Times New Roman"/>
              </a:rPr>
              <a:t>RÉSUMÉ</a:t>
            </a:r>
            <a:r>
              <a:rPr lang="en-US"/>
              <a:t>?</a:t>
            </a:r>
            <a:endParaRPr/>
          </a:p>
        </p:txBody>
      </p:sp>
      <p:grpSp>
        <p:nvGrpSpPr>
          <p:cNvPr id="57" name="Google Shape;57;p8"/>
          <p:cNvGrpSpPr/>
          <p:nvPr/>
        </p:nvGrpSpPr>
        <p:grpSpPr>
          <a:xfrm>
            <a:off x="641603" y="5257789"/>
            <a:ext cx="10908757" cy="1080900"/>
            <a:chOff x="641603" y="5257789"/>
            <a:chExt cx="10908757" cy="1080900"/>
          </a:xfrm>
        </p:grpSpPr>
        <p:pic>
          <p:nvPicPr>
            <p:cNvPr id="58" name="Google Shape;58;p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641603" y="5257789"/>
              <a:ext cx="10908757" cy="10809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" name="Google Shape;59;p8"/>
            <p:cNvSpPr/>
            <p:nvPr/>
          </p:nvSpPr>
          <p:spPr>
            <a:xfrm>
              <a:off x="9754980" y="5365889"/>
              <a:ext cx="864869" cy="864869"/>
            </a:xfrm>
            <a:custGeom>
              <a:rect b="b" l="l" r="r" t="t"/>
              <a:pathLst>
                <a:path extrusionOk="0" h="864870" w="864870">
                  <a:moveTo>
                    <a:pt x="0" y="432349"/>
                  </a:moveTo>
                  <a:lnTo>
                    <a:pt x="2537" y="385240"/>
                  </a:lnTo>
                  <a:lnTo>
                    <a:pt x="9972" y="339601"/>
                  </a:lnTo>
                  <a:lnTo>
                    <a:pt x="22042" y="295695"/>
                  </a:lnTo>
                  <a:lnTo>
                    <a:pt x="38482" y="253785"/>
                  </a:lnTo>
                  <a:lnTo>
                    <a:pt x="59030" y="214136"/>
                  </a:lnTo>
                  <a:lnTo>
                    <a:pt x="83421" y="177011"/>
                  </a:lnTo>
                  <a:lnTo>
                    <a:pt x="111392" y="142674"/>
                  </a:lnTo>
                  <a:lnTo>
                    <a:pt x="142678" y="111389"/>
                  </a:lnTo>
                  <a:lnTo>
                    <a:pt x="177017" y="83419"/>
                  </a:lnTo>
                  <a:lnTo>
                    <a:pt x="214144" y="59029"/>
                  </a:lnTo>
                  <a:lnTo>
                    <a:pt x="253795" y="38482"/>
                  </a:lnTo>
                  <a:lnTo>
                    <a:pt x="295708" y="22041"/>
                  </a:lnTo>
                  <a:lnTo>
                    <a:pt x="339617" y="9972"/>
                  </a:lnTo>
                  <a:lnTo>
                    <a:pt x="385261" y="2537"/>
                  </a:lnTo>
                  <a:lnTo>
                    <a:pt x="432374" y="0"/>
                  </a:lnTo>
                  <a:lnTo>
                    <a:pt x="481162" y="2759"/>
                  </a:lnTo>
                  <a:lnTo>
                    <a:pt x="528951" y="10921"/>
                  </a:lnTo>
                  <a:lnTo>
                    <a:pt x="575318" y="24309"/>
                  </a:lnTo>
                  <a:lnTo>
                    <a:pt x="619839" y="42749"/>
                  </a:lnTo>
                  <a:lnTo>
                    <a:pt x="662092" y="66065"/>
                  </a:lnTo>
                  <a:lnTo>
                    <a:pt x="701653" y="94082"/>
                  </a:lnTo>
                  <a:lnTo>
                    <a:pt x="738098" y="126624"/>
                  </a:lnTo>
                  <a:lnTo>
                    <a:pt x="770640" y="163069"/>
                  </a:lnTo>
                  <a:lnTo>
                    <a:pt x="798657" y="202630"/>
                  </a:lnTo>
                  <a:lnTo>
                    <a:pt x="821973" y="244883"/>
                  </a:lnTo>
                  <a:lnTo>
                    <a:pt x="840413" y="289404"/>
                  </a:lnTo>
                  <a:lnTo>
                    <a:pt x="853801" y="335771"/>
                  </a:lnTo>
                  <a:lnTo>
                    <a:pt x="861963" y="383561"/>
                  </a:lnTo>
                  <a:lnTo>
                    <a:pt x="864723" y="432349"/>
                  </a:lnTo>
                  <a:lnTo>
                    <a:pt x="862186" y="479457"/>
                  </a:lnTo>
                  <a:lnTo>
                    <a:pt x="854750" y="525096"/>
                  </a:lnTo>
                  <a:lnTo>
                    <a:pt x="842681" y="569002"/>
                  </a:lnTo>
                  <a:lnTo>
                    <a:pt x="826240" y="610912"/>
                  </a:lnTo>
                  <a:lnTo>
                    <a:pt x="805693" y="650561"/>
                  </a:lnTo>
                  <a:lnTo>
                    <a:pt x="781303" y="687686"/>
                  </a:lnTo>
                  <a:lnTo>
                    <a:pt x="753333" y="722023"/>
                  </a:lnTo>
                  <a:lnTo>
                    <a:pt x="722048" y="753308"/>
                  </a:lnTo>
                  <a:lnTo>
                    <a:pt x="687711" y="781278"/>
                  </a:lnTo>
                  <a:lnTo>
                    <a:pt x="650586" y="805668"/>
                  </a:lnTo>
                  <a:lnTo>
                    <a:pt x="610937" y="826215"/>
                  </a:lnTo>
                  <a:lnTo>
                    <a:pt x="569027" y="842656"/>
                  </a:lnTo>
                  <a:lnTo>
                    <a:pt x="525121" y="854725"/>
                  </a:lnTo>
                  <a:lnTo>
                    <a:pt x="479482" y="862161"/>
                  </a:lnTo>
                  <a:lnTo>
                    <a:pt x="432374" y="864698"/>
                  </a:lnTo>
                  <a:lnTo>
                    <a:pt x="385261" y="862161"/>
                  </a:lnTo>
                  <a:lnTo>
                    <a:pt x="339617" y="854725"/>
                  </a:lnTo>
                  <a:lnTo>
                    <a:pt x="295708" y="842656"/>
                  </a:lnTo>
                  <a:lnTo>
                    <a:pt x="253795" y="826215"/>
                  </a:lnTo>
                  <a:lnTo>
                    <a:pt x="214144" y="805668"/>
                  </a:lnTo>
                  <a:lnTo>
                    <a:pt x="177017" y="781278"/>
                  </a:lnTo>
                  <a:lnTo>
                    <a:pt x="142678" y="753308"/>
                  </a:lnTo>
                  <a:lnTo>
                    <a:pt x="111392" y="722023"/>
                  </a:lnTo>
                  <a:lnTo>
                    <a:pt x="83421" y="687686"/>
                  </a:lnTo>
                  <a:lnTo>
                    <a:pt x="59030" y="650561"/>
                  </a:lnTo>
                  <a:lnTo>
                    <a:pt x="38482" y="610912"/>
                  </a:lnTo>
                  <a:lnTo>
                    <a:pt x="22042" y="569002"/>
                  </a:lnTo>
                  <a:lnTo>
                    <a:pt x="9972" y="525096"/>
                  </a:lnTo>
                  <a:lnTo>
                    <a:pt x="2537" y="479457"/>
                  </a:lnTo>
                  <a:lnTo>
                    <a:pt x="0" y="432349"/>
                  </a:lnTo>
                  <a:close/>
                </a:path>
              </a:pathLst>
            </a:custGeom>
            <a:noFill/>
            <a:ln cap="flat" cmpd="sng" w="253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975" cy="6857986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9"/>
          <p:cNvSpPr txBox="1"/>
          <p:nvPr>
            <p:ph type="title"/>
          </p:nvPr>
        </p:nvSpPr>
        <p:spPr>
          <a:xfrm>
            <a:off x="455304" y="864512"/>
            <a:ext cx="5614670" cy="756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800">
                <a:latin typeface="Times New Roman"/>
                <a:ea typeface="Times New Roman"/>
                <a:cs typeface="Times New Roman"/>
                <a:sym typeface="Times New Roman"/>
              </a:rPr>
              <a:t>Tonality	and Content</a:t>
            </a:r>
            <a:endParaRPr sz="4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6" name="Google Shape;66;p9"/>
          <p:cNvSpPr txBox="1"/>
          <p:nvPr/>
        </p:nvSpPr>
        <p:spPr>
          <a:xfrm>
            <a:off x="483702" y="1990746"/>
            <a:ext cx="4985385" cy="20218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7150">
            <a:spAutoFit/>
          </a:bodyPr>
          <a:lstStyle/>
          <a:p>
            <a:pPr indent="-153035" lvl="0" marL="16573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E3611"/>
              </a:buClr>
              <a:buSzPts val="1500"/>
              <a:buFont typeface="Noto Sans Symbols"/>
              <a:buChar char="▪"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Be professional, not personal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53035" lvl="0" marL="165735" rtl="0" algn="l">
              <a:lnSpc>
                <a:spcPct val="100000"/>
              </a:lnSpc>
              <a:spcBef>
                <a:spcPts val="985"/>
              </a:spcBef>
              <a:spcAft>
                <a:spcPts val="0"/>
              </a:spcAft>
              <a:buClr>
                <a:srgbClr val="9E3611"/>
              </a:buClr>
              <a:buSzPts val="1500"/>
              <a:buFont typeface="Noto Sans Symbols"/>
              <a:buChar char="▪"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Accurate details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53035" lvl="0" marL="165735" rtl="0" algn="l">
              <a:lnSpc>
                <a:spcPct val="100000"/>
              </a:lnSpc>
              <a:spcBef>
                <a:spcPts val="985"/>
              </a:spcBef>
              <a:spcAft>
                <a:spcPts val="0"/>
              </a:spcAft>
              <a:buClr>
                <a:srgbClr val="9E3611"/>
              </a:buClr>
              <a:buSzPts val="1500"/>
              <a:buFont typeface="Noto Sans Symbols"/>
              <a:buChar char="▪"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Relevant details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53035" lvl="0" marL="165735" rtl="0" algn="l">
              <a:lnSpc>
                <a:spcPct val="100000"/>
              </a:lnSpc>
              <a:spcBef>
                <a:spcPts val="985"/>
              </a:spcBef>
              <a:spcAft>
                <a:spcPts val="0"/>
              </a:spcAft>
              <a:buClr>
                <a:srgbClr val="9E3611"/>
              </a:buClr>
              <a:buSzPts val="1500"/>
              <a:buFont typeface="Noto Sans Symbols"/>
              <a:buChar char="▪"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Customize your CV for the position/advertisement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53035" lvl="0" marL="165735" rtl="0" algn="l">
              <a:lnSpc>
                <a:spcPct val="100000"/>
              </a:lnSpc>
              <a:spcBef>
                <a:spcPts val="985"/>
              </a:spcBef>
              <a:spcAft>
                <a:spcPts val="0"/>
              </a:spcAft>
              <a:buClr>
                <a:srgbClr val="9E3611"/>
              </a:buClr>
              <a:buSzPts val="1500"/>
              <a:buFont typeface="Noto Sans Symbols"/>
              <a:buChar char="▪"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Moderate/specified length (two sides of an A4 page)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67" name="Google Shape;67;p9"/>
          <p:cNvGrpSpPr/>
          <p:nvPr/>
        </p:nvGrpSpPr>
        <p:grpSpPr>
          <a:xfrm>
            <a:off x="7545259" y="9"/>
            <a:ext cx="4646715" cy="6857901"/>
            <a:chOff x="7545259" y="9"/>
            <a:chExt cx="4646715" cy="6857901"/>
          </a:xfrm>
        </p:grpSpPr>
        <p:pic>
          <p:nvPicPr>
            <p:cNvPr id="68" name="Google Shape;68;p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545259" y="9"/>
              <a:ext cx="4646715" cy="68579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9" name="Google Shape;69;p9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1401702" y="6229662"/>
              <a:ext cx="457199" cy="45719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0" name="Google Shape;70;p9"/>
            <p:cNvSpPr/>
            <p:nvPr/>
          </p:nvSpPr>
          <p:spPr>
            <a:xfrm>
              <a:off x="11430901" y="6258862"/>
              <a:ext cx="399415" cy="399415"/>
            </a:xfrm>
            <a:custGeom>
              <a:rect b="b" l="l" r="r" t="t"/>
              <a:pathLst>
                <a:path extrusionOk="0" h="399415" w="399415">
                  <a:moveTo>
                    <a:pt x="0" y="199399"/>
                  </a:moveTo>
                  <a:lnTo>
                    <a:pt x="5266" y="153679"/>
                  </a:lnTo>
                  <a:lnTo>
                    <a:pt x="20267" y="111708"/>
                  </a:lnTo>
                  <a:lnTo>
                    <a:pt x="43806" y="74685"/>
                  </a:lnTo>
                  <a:lnTo>
                    <a:pt x="74685" y="43806"/>
                  </a:lnTo>
                  <a:lnTo>
                    <a:pt x="111708" y="20267"/>
                  </a:lnTo>
                  <a:lnTo>
                    <a:pt x="153679" y="5266"/>
                  </a:lnTo>
                  <a:lnTo>
                    <a:pt x="199399" y="0"/>
                  </a:lnTo>
                  <a:lnTo>
                    <a:pt x="238478" y="3865"/>
                  </a:lnTo>
                  <a:lnTo>
                    <a:pt x="275702" y="15174"/>
                  </a:lnTo>
                  <a:lnTo>
                    <a:pt x="310025" y="33496"/>
                  </a:lnTo>
                  <a:lnTo>
                    <a:pt x="340399" y="58399"/>
                  </a:lnTo>
                  <a:lnTo>
                    <a:pt x="365302" y="88773"/>
                  </a:lnTo>
                  <a:lnTo>
                    <a:pt x="383624" y="123096"/>
                  </a:lnTo>
                  <a:lnTo>
                    <a:pt x="394933" y="160321"/>
                  </a:lnTo>
                  <a:lnTo>
                    <a:pt x="398799" y="199399"/>
                  </a:lnTo>
                  <a:lnTo>
                    <a:pt x="393532" y="245121"/>
                  </a:lnTo>
                  <a:lnTo>
                    <a:pt x="378531" y="287095"/>
                  </a:lnTo>
                  <a:lnTo>
                    <a:pt x="354993" y="324123"/>
                  </a:lnTo>
                  <a:lnTo>
                    <a:pt x="324113" y="355008"/>
                  </a:lnTo>
                  <a:lnTo>
                    <a:pt x="287090" y="378551"/>
                  </a:lnTo>
                  <a:lnTo>
                    <a:pt x="245119" y="393556"/>
                  </a:lnTo>
                  <a:lnTo>
                    <a:pt x="199399" y="398824"/>
                  </a:lnTo>
                  <a:lnTo>
                    <a:pt x="153679" y="393556"/>
                  </a:lnTo>
                  <a:lnTo>
                    <a:pt x="111708" y="378551"/>
                  </a:lnTo>
                  <a:lnTo>
                    <a:pt x="74685" y="355008"/>
                  </a:lnTo>
                  <a:lnTo>
                    <a:pt x="43806" y="324123"/>
                  </a:lnTo>
                  <a:lnTo>
                    <a:pt x="20267" y="287095"/>
                  </a:lnTo>
                  <a:lnTo>
                    <a:pt x="5266" y="245121"/>
                  </a:lnTo>
                  <a:lnTo>
                    <a:pt x="0" y="199399"/>
                  </a:lnTo>
                  <a:close/>
                </a:path>
              </a:pathLst>
            </a:custGeom>
            <a:noFill/>
            <a:ln cap="flat" cmpd="sng" w="126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Google Shape;75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975" cy="6857986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0"/>
          <p:cNvSpPr txBox="1"/>
          <p:nvPr>
            <p:ph type="title"/>
          </p:nvPr>
        </p:nvSpPr>
        <p:spPr>
          <a:xfrm>
            <a:off x="455303" y="335412"/>
            <a:ext cx="963294" cy="3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Segments</a:t>
            </a:r>
            <a:endParaRPr sz="2000"/>
          </a:p>
        </p:txBody>
      </p:sp>
      <p:sp>
        <p:nvSpPr>
          <p:cNvPr id="77" name="Google Shape;77;p10"/>
          <p:cNvSpPr txBox="1"/>
          <p:nvPr/>
        </p:nvSpPr>
        <p:spPr>
          <a:xfrm>
            <a:off x="486858" y="1188850"/>
            <a:ext cx="5741035" cy="40182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6975">
            <a:spAutoFit/>
          </a:bodyPr>
          <a:lstStyle/>
          <a:p>
            <a:pPr indent="-149860" lvl="0" marL="161925" marR="125729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9E3611"/>
              </a:buClr>
              <a:buSzPts val="1700"/>
              <a:buFont typeface="Noto Sans Symbols"/>
              <a:buChar char="▪"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Top: Name, Contact Details, Website/LinkedIn Profile 	(updated), Current position, City and Country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49860" lvl="0" marL="162560" rtl="0" algn="l">
              <a:lnSpc>
                <a:spcPct val="100000"/>
              </a:lnSpc>
              <a:spcBef>
                <a:spcPts val="930"/>
              </a:spcBef>
              <a:spcAft>
                <a:spcPts val="0"/>
              </a:spcAft>
              <a:buClr>
                <a:srgbClr val="9E3611"/>
              </a:buClr>
              <a:buSzPts val="1700"/>
              <a:buFont typeface="Noto Sans Symbols"/>
              <a:buChar char="▪"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Profile/Bionote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49860" lvl="0" marL="162560" rtl="0" algn="l">
              <a:lnSpc>
                <a:spcPct val="100000"/>
              </a:lnSpc>
              <a:spcBef>
                <a:spcPts val="960"/>
              </a:spcBef>
              <a:spcAft>
                <a:spcPts val="0"/>
              </a:spcAft>
              <a:buClr>
                <a:srgbClr val="9E3611"/>
              </a:buClr>
              <a:buSzPts val="1700"/>
              <a:buFont typeface="Noto Sans Symbols"/>
              <a:buChar char="▪"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Publications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49860" lvl="0" marL="162560" rtl="0" algn="l">
              <a:lnSpc>
                <a:spcPct val="100000"/>
              </a:lnSpc>
              <a:spcBef>
                <a:spcPts val="960"/>
              </a:spcBef>
              <a:spcAft>
                <a:spcPts val="0"/>
              </a:spcAft>
              <a:buClr>
                <a:srgbClr val="9E3611"/>
              </a:buClr>
              <a:buSzPts val="1700"/>
              <a:buFont typeface="Noto Sans Symbols"/>
              <a:buChar char="▪"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Experience (Teaching Experience, Research Experience)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49860" lvl="0" marL="162560" rtl="0" algn="l">
              <a:lnSpc>
                <a:spcPct val="100000"/>
              </a:lnSpc>
              <a:spcBef>
                <a:spcPts val="960"/>
              </a:spcBef>
              <a:spcAft>
                <a:spcPts val="0"/>
              </a:spcAft>
              <a:buClr>
                <a:srgbClr val="9E3611"/>
              </a:buClr>
              <a:buSzPts val="1700"/>
              <a:buFont typeface="Noto Sans Symbols"/>
              <a:buChar char="▪"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Education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49860" lvl="0" marL="162560" rtl="0" algn="l">
              <a:lnSpc>
                <a:spcPct val="100000"/>
              </a:lnSpc>
              <a:spcBef>
                <a:spcPts val="960"/>
              </a:spcBef>
              <a:spcAft>
                <a:spcPts val="0"/>
              </a:spcAft>
              <a:buClr>
                <a:srgbClr val="9E3611"/>
              </a:buClr>
              <a:buSzPts val="1700"/>
              <a:buFont typeface="Noto Sans Symbols"/>
              <a:buChar char="▪"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Projects/Social Sector Experience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49860" lvl="0" marL="162560" rtl="0" algn="l">
              <a:lnSpc>
                <a:spcPct val="100000"/>
              </a:lnSpc>
              <a:spcBef>
                <a:spcPts val="960"/>
              </a:spcBef>
              <a:spcAft>
                <a:spcPts val="0"/>
              </a:spcAft>
              <a:buClr>
                <a:srgbClr val="9E3611"/>
              </a:buClr>
              <a:buSzPts val="1700"/>
              <a:buFont typeface="Noto Sans Symbols"/>
              <a:buChar char="▪"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Awards and Honours / Skills and Achievements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49860" lvl="0" marL="162560" rtl="0" algn="l">
              <a:lnSpc>
                <a:spcPct val="100000"/>
              </a:lnSpc>
              <a:spcBef>
                <a:spcPts val="960"/>
              </a:spcBef>
              <a:spcAft>
                <a:spcPts val="0"/>
              </a:spcAft>
              <a:buClr>
                <a:srgbClr val="9E3611"/>
              </a:buClr>
              <a:buSzPts val="1700"/>
              <a:buFont typeface="Noto Sans Symbols"/>
              <a:buChar char="▪"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Talks / Conferences / Presentations / Exhibitions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49860" lvl="0" marL="162560" rtl="0" algn="l">
              <a:lnSpc>
                <a:spcPct val="100000"/>
              </a:lnSpc>
              <a:spcBef>
                <a:spcPts val="960"/>
              </a:spcBef>
              <a:spcAft>
                <a:spcPts val="0"/>
              </a:spcAft>
              <a:buClr>
                <a:srgbClr val="9E3611"/>
              </a:buClr>
              <a:buSzPts val="1700"/>
              <a:buFont typeface="Noto Sans Symbols"/>
              <a:buChar char="▪"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Professional Licenses, Certifications, and Memberships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78" name="Google Shape;78;p10"/>
          <p:cNvGrpSpPr/>
          <p:nvPr/>
        </p:nvGrpSpPr>
        <p:grpSpPr>
          <a:xfrm>
            <a:off x="7545259" y="9"/>
            <a:ext cx="4646715" cy="6857901"/>
            <a:chOff x="7545259" y="9"/>
            <a:chExt cx="4646715" cy="6857901"/>
          </a:xfrm>
        </p:grpSpPr>
        <p:pic>
          <p:nvPicPr>
            <p:cNvPr id="79" name="Google Shape;79;p1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545259" y="9"/>
              <a:ext cx="4646715" cy="68579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0" name="Google Shape;80;p10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1401702" y="6229662"/>
              <a:ext cx="457199" cy="45719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1" name="Google Shape;81;p10"/>
            <p:cNvSpPr/>
            <p:nvPr/>
          </p:nvSpPr>
          <p:spPr>
            <a:xfrm>
              <a:off x="11430901" y="6258862"/>
              <a:ext cx="399415" cy="399415"/>
            </a:xfrm>
            <a:custGeom>
              <a:rect b="b" l="l" r="r" t="t"/>
              <a:pathLst>
                <a:path extrusionOk="0" h="399415" w="399415">
                  <a:moveTo>
                    <a:pt x="0" y="199399"/>
                  </a:moveTo>
                  <a:lnTo>
                    <a:pt x="5266" y="153679"/>
                  </a:lnTo>
                  <a:lnTo>
                    <a:pt x="20267" y="111708"/>
                  </a:lnTo>
                  <a:lnTo>
                    <a:pt x="43806" y="74685"/>
                  </a:lnTo>
                  <a:lnTo>
                    <a:pt x="74685" y="43806"/>
                  </a:lnTo>
                  <a:lnTo>
                    <a:pt x="111708" y="20267"/>
                  </a:lnTo>
                  <a:lnTo>
                    <a:pt x="153679" y="5266"/>
                  </a:lnTo>
                  <a:lnTo>
                    <a:pt x="199399" y="0"/>
                  </a:lnTo>
                  <a:lnTo>
                    <a:pt x="238478" y="3865"/>
                  </a:lnTo>
                  <a:lnTo>
                    <a:pt x="275702" y="15174"/>
                  </a:lnTo>
                  <a:lnTo>
                    <a:pt x="310025" y="33496"/>
                  </a:lnTo>
                  <a:lnTo>
                    <a:pt x="340399" y="58399"/>
                  </a:lnTo>
                  <a:lnTo>
                    <a:pt x="365302" y="88773"/>
                  </a:lnTo>
                  <a:lnTo>
                    <a:pt x="383624" y="123096"/>
                  </a:lnTo>
                  <a:lnTo>
                    <a:pt x="394933" y="160321"/>
                  </a:lnTo>
                  <a:lnTo>
                    <a:pt x="398799" y="199399"/>
                  </a:lnTo>
                  <a:lnTo>
                    <a:pt x="393532" y="245121"/>
                  </a:lnTo>
                  <a:lnTo>
                    <a:pt x="378531" y="287095"/>
                  </a:lnTo>
                  <a:lnTo>
                    <a:pt x="354993" y="324123"/>
                  </a:lnTo>
                  <a:lnTo>
                    <a:pt x="324113" y="355008"/>
                  </a:lnTo>
                  <a:lnTo>
                    <a:pt x="287090" y="378551"/>
                  </a:lnTo>
                  <a:lnTo>
                    <a:pt x="245119" y="393556"/>
                  </a:lnTo>
                  <a:lnTo>
                    <a:pt x="199399" y="398824"/>
                  </a:lnTo>
                  <a:lnTo>
                    <a:pt x="153679" y="393556"/>
                  </a:lnTo>
                  <a:lnTo>
                    <a:pt x="111708" y="378551"/>
                  </a:lnTo>
                  <a:lnTo>
                    <a:pt x="74685" y="355008"/>
                  </a:lnTo>
                  <a:lnTo>
                    <a:pt x="43806" y="324123"/>
                  </a:lnTo>
                  <a:lnTo>
                    <a:pt x="20267" y="287095"/>
                  </a:lnTo>
                  <a:lnTo>
                    <a:pt x="5266" y="245121"/>
                  </a:lnTo>
                  <a:lnTo>
                    <a:pt x="0" y="199399"/>
                  </a:lnTo>
                  <a:close/>
                </a:path>
              </a:pathLst>
            </a:custGeom>
            <a:noFill/>
            <a:ln cap="flat" cmpd="sng" w="126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" name="Google Shape;86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975" cy="6857986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1"/>
          <p:cNvSpPr txBox="1"/>
          <p:nvPr/>
        </p:nvSpPr>
        <p:spPr>
          <a:xfrm>
            <a:off x="482098" y="2117441"/>
            <a:ext cx="6512559" cy="36023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1275">
            <a:spAutoFit/>
          </a:bodyPr>
          <a:lstStyle/>
          <a:p>
            <a:pPr indent="-154940" lvl="0" marL="167005" marR="537210" rtl="0" algn="l">
              <a:lnSpc>
                <a:spcPct val="108176"/>
              </a:lnSpc>
              <a:spcBef>
                <a:spcPts val="0"/>
              </a:spcBef>
              <a:spcAft>
                <a:spcPts val="0"/>
              </a:spcAft>
              <a:buClr>
                <a:srgbClr val="9E3611"/>
              </a:buClr>
              <a:buSzPts val="1450"/>
              <a:buFont typeface="Noto Sans Symbols"/>
              <a:buChar char="▪"/>
            </a:pPr>
            <a:r>
              <a:rPr lang="en-US" sz="1700">
                <a:latin typeface="Times New Roman"/>
                <a:ea typeface="Times New Roman"/>
                <a:cs typeface="Times New Roman"/>
                <a:sym typeface="Times New Roman"/>
              </a:rPr>
              <a:t>If it is an academic CV, list the publications first (if you have a decent 	handful).</a:t>
            </a:r>
            <a:endParaRPr sz="1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E3611"/>
              </a:buClr>
              <a:buSzPts val="1700"/>
              <a:buFont typeface="Noto Sans Symbols"/>
              <a:buNone/>
            </a:pPr>
            <a:r>
              <a:t/>
            </a:r>
            <a:endParaRPr sz="1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90"/>
              </a:spcBef>
              <a:spcAft>
                <a:spcPts val="0"/>
              </a:spcAft>
              <a:buClr>
                <a:srgbClr val="9E3611"/>
              </a:buClr>
              <a:buSzPts val="1700"/>
              <a:buFont typeface="Noto Sans Symbols"/>
              <a:buNone/>
            </a:pPr>
            <a:r>
              <a:t/>
            </a:r>
            <a:endParaRPr sz="1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54940" lvl="0" marL="1676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E3611"/>
              </a:buClr>
              <a:buSzPts val="1450"/>
              <a:buFont typeface="Noto Sans Symbols"/>
              <a:buChar char="▪"/>
            </a:pPr>
            <a:r>
              <a:rPr lang="en-US" sz="1700">
                <a:latin typeface="Times New Roman"/>
                <a:ea typeface="Times New Roman"/>
                <a:cs typeface="Times New Roman"/>
                <a:sym typeface="Times New Roman"/>
              </a:rPr>
              <a:t>If you have enough Experience, then this section should precede Education</a:t>
            </a:r>
            <a:endParaRPr sz="1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E3611"/>
              </a:buClr>
              <a:buSzPts val="1700"/>
              <a:buFont typeface="Noto Sans Symbols"/>
              <a:buNone/>
            </a:pPr>
            <a:r>
              <a:t/>
            </a:r>
            <a:endParaRPr sz="1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25"/>
              </a:spcBef>
              <a:spcAft>
                <a:spcPts val="0"/>
              </a:spcAft>
              <a:buClr>
                <a:srgbClr val="9E3611"/>
              </a:buClr>
              <a:buSzPts val="1700"/>
              <a:buFont typeface="Noto Sans Symbols"/>
              <a:buNone/>
            </a:pPr>
            <a:r>
              <a:t/>
            </a:r>
            <a:endParaRPr sz="1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54940" lvl="0" marL="1676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E3611"/>
              </a:buClr>
              <a:buSzPts val="1450"/>
              <a:buFont typeface="Noto Sans Symbols"/>
              <a:buChar char="▪"/>
            </a:pPr>
            <a:r>
              <a:rPr lang="en-US" sz="1700">
                <a:latin typeface="Times New Roman"/>
                <a:ea typeface="Times New Roman"/>
                <a:cs typeface="Times New Roman"/>
                <a:sym typeface="Times New Roman"/>
              </a:rPr>
              <a:t>Skills and Achievements: Talk about professional skills relevant to the job</a:t>
            </a:r>
            <a:endParaRPr sz="1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E3611"/>
              </a:buClr>
              <a:buSzPts val="1700"/>
              <a:buFont typeface="Noto Sans Symbols"/>
              <a:buNone/>
            </a:pPr>
            <a:r>
              <a:t/>
            </a:r>
            <a:endParaRPr sz="1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20"/>
              </a:spcBef>
              <a:spcAft>
                <a:spcPts val="0"/>
              </a:spcAft>
              <a:buClr>
                <a:srgbClr val="9E3611"/>
              </a:buClr>
              <a:buSzPts val="1700"/>
              <a:buFont typeface="Noto Sans Symbols"/>
              <a:buNone/>
            </a:pPr>
            <a:r>
              <a:t/>
            </a:r>
            <a:endParaRPr sz="1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54940" lvl="0" marL="1676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E3611"/>
              </a:buClr>
              <a:buSzPts val="1450"/>
              <a:buFont typeface="Noto Sans Symbols"/>
              <a:buChar char="▪"/>
            </a:pPr>
            <a:r>
              <a:rPr lang="en-US" sz="1700">
                <a:latin typeface="Times New Roman"/>
                <a:ea typeface="Times New Roman"/>
                <a:cs typeface="Times New Roman"/>
                <a:sym typeface="Times New Roman"/>
              </a:rPr>
              <a:t>No need for Interests</a:t>
            </a:r>
            <a:endParaRPr sz="1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E3611"/>
              </a:buClr>
              <a:buSzPts val="1700"/>
              <a:buFont typeface="Noto Sans Symbols"/>
              <a:buNone/>
            </a:pPr>
            <a:r>
              <a:t/>
            </a:r>
            <a:endParaRPr sz="1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25"/>
              </a:spcBef>
              <a:spcAft>
                <a:spcPts val="0"/>
              </a:spcAft>
              <a:buClr>
                <a:srgbClr val="9E3611"/>
              </a:buClr>
              <a:buSzPts val="1700"/>
              <a:buFont typeface="Noto Sans Symbols"/>
              <a:buNone/>
            </a:pPr>
            <a:r>
              <a:t/>
            </a:r>
            <a:endParaRPr sz="1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54940" lvl="0" marL="1676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E3611"/>
              </a:buClr>
              <a:buSzPts val="1450"/>
              <a:buFont typeface="Noto Sans Symbols"/>
              <a:buChar char="▪"/>
            </a:pPr>
            <a:r>
              <a:rPr lang="en-US" sz="1700">
                <a:latin typeface="Times New Roman"/>
                <a:ea typeface="Times New Roman"/>
                <a:cs typeface="Times New Roman"/>
                <a:sym typeface="Times New Roman"/>
              </a:rPr>
              <a:t>No need for referees unless requisitioned</a:t>
            </a:r>
            <a:endParaRPr sz="17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88" name="Google Shape;88;p11"/>
          <p:cNvGrpSpPr/>
          <p:nvPr/>
        </p:nvGrpSpPr>
        <p:grpSpPr>
          <a:xfrm>
            <a:off x="7545259" y="9"/>
            <a:ext cx="4646715" cy="6857976"/>
            <a:chOff x="7545259" y="9"/>
            <a:chExt cx="4646715" cy="6857976"/>
          </a:xfrm>
        </p:grpSpPr>
        <p:pic>
          <p:nvPicPr>
            <p:cNvPr id="89" name="Google Shape;89;p1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545259" y="9"/>
              <a:ext cx="4646715" cy="685797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0" name="Google Shape;90;p11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1401702" y="6229662"/>
              <a:ext cx="457199" cy="45719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1" name="Google Shape;91;p11"/>
            <p:cNvSpPr/>
            <p:nvPr/>
          </p:nvSpPr>
          <p:spPr>
            <a:xfrm>
              <a:off x="11430901" y="6258862"/>
              <a:ext cx="399415" cy="399415"/>
            </a:xfrm>
            <a:custGeom>
              <a:rect b="b" l="l" r="r" t="t"/>
              <a:pathLst>
                <a:path extrusionOk="0" h="399415" w="399415">
                  <a:moveTo>
                    <a:pt x="0" y="199399"/>
                  </a:moveTo>
                  <a:lnTo>
                    <a:pt x="5266" y="153679"/>
                  </a:lnTo>
                  <a:lnTo>
                    <a:pt x="20267" y="111708"/>
                  </a:lnTo>
                  <a:lnTo>
                    <a:pt x="43806" y="74685"/>
                  </a:lnTo>
                  <a:lnTo>
                    <a:pt x="74685" y="43806"/>
                  </a:lnTo>
                  <a:lnTo>
                    <a:pt x="111708" y="20267"/>
                  </a:lnTo>
                  <a:lnTo>
                    <a:pt x="153679" y="5266"/>
                  </a:lnTo>
                  <a:lnTo>
                    <a:pt x="199399" y="0"/>
                  </a:lnTo>
                  <a:lnTo>
                    <a:pt x="238478" y="3865"/>
                  </a:lnTo>
                  <a:lnTo>
                    <a:pt x="275702" y="15174"/>
                  </a:lnTo>
                  <a:lnTo>
                    <a:pt x="310025" y="33496"/>
                  </a:lnTo>
                  <a:lnTo>
                    <a:pt x="340399" y="58399"/>
                  </a:lnTo>
                  <a:lnTo>
                    <a:pt x="365302" y="88773"/>
                  </a:lnTo>
                  <a:lnTo>
                    <a:pt x="383624" y="123096"/>
                  </a:lnTo>
                  <a:lnTo>
                    <a:pt x="394933" y="160321"/>
                  </a:lnTo>
                  <a:lnTo>
                    <a:pt x="398799" y="199399"/>
                  </a:lnTo>
                  <a:lnTo>
                    <a:pt x="393532" y="245121"/>
                  </a:lnTo>
                  <a:lnTo>
                    <a:pt x="378531" y="287095"/>
                  </a:lnTo>
                  <a:lnTo>
                    <a:pt x="354993" y="324123"/>
                  </a:lnTo>
                  <a:lnTo>
                    <a:pt x="324113" y="355008"/>
                  </a:lnTo>
                  <a:lnTo>
                    <a:pt x="287090" y="378551"/>
                  </a:lnTo>
                  <a:lnTo>
                    <a:pt x="245119" y="393556"/>
                  </a:lnTo>
                  <a:lnTo>
                    <a:pt x="199399" y="398824"/>
                  </a:lnTo>
                  <a:lnTo>
                    <a:pt x="153679" y="393556"/>
                  </a:lnTo>
                  <a:lnTo>
                    <a:pt x="111708" y="378551"/>
                  </a:lnTo>
                  <a:lnTo>
                    <a:pt x="74685" y="355008"/>
                  </a:lnTo>
                  <a:lnTo>
                    <a:pt x="43806" y="324123"/>
                  </a:lnTo>
                  <a:lnTo>
                    <a:pt x="20267" y="287095"/>
                  </a:lnTo>
                  <a:lnTo>
                    <a:pt x="5266" y="245121"/>
                  </a:lnTo>
                  <a:lnTo>
                    <a:pt x="0" y="199399"/>
                  </a:lnTo>
                  <a:close/>
                </a:path>
              </a:pathLst>
            </a:custGeom>
            <a:noFill/>
            <a:ln cap="flat" cmpd="sng" w="126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" name="Google Shape;96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975" cy="6857986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2"/>
          <p:cNvSpPr txBox="1"/>
          <p:nvPr/>
        </p:nvSpPr>
        <p:spPr>
          <a:xfrm>
            <a:off x="483702" y="2115713"/>
            <a:ext cx="6151245" cy="2695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153035" lvl="0" marL="16573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E3611"/>
              </a:buClr>
              <a:buSzPts val="1500"/>
              <a:buFont typeface="Noto Sans Symbols"/>
              <a:buChar char="▪"/>
            </a:pPr>
            <a:r>
              <a:rPr lang="en-US" sz="1800">
                <a:latin typeface="Georgia"/>
                <a:ea typeface="Georgia"/>
                <a:cs typeface="Georgia"/>
                <a:sym typeface="Georgia"/>
              </a:rPr>
              <a:t>Include a Cover Letter, Explain gaps in work history etc</a:t>
            </a:r>
            <a:endParaRPr sz="1800"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E3611"/>
              </a:buClr>
              <a:buSzPts val="1800"/>
              <a:buFont typeface="Noto Sans Symbols"/>
              <a:buNone/>
            </a:pPr>
            <a:r>
              <a:t/>
            </a:r>
            <a:endParaRPr sz="1800"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00000"/>
              </a:lnSpc>
              <a:spcBef>
                <a:spcPts val="35"/>
              </a:spcBef>
              <a:spcAft>
                <a:spcPts val="0"/>
              </a:spcAft>
              <a:buClr>
                <a:srgbClr val="9E3611"/>
              </a:buClr>
              <a:buSzPts val="1800"/>
              <a:buFont typeface="Noto Sans Symbols"/>
              <a:buNone/>
            </a:pPr>
            <a:r>
              <a:t/>
            </a:r>
            <a:endParaRPr sz="1800">
              <a:latin typeface="Georgia"/>
              <a:ea typeface="Georgia"/>
              <a:cs typeface="Georgia"/>
              <a:sym typeface="Georgia"/>
            </a:endParaRPr>
          </a:p>
          <a:p>
            <a:pPr indent="-153035" lvl="0" marL="16573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E3611"/>
              </a:buClr>
              <a:buSzPts val="1500"/>
              <a:buFont typeface="Noto Sans Symbols"/>
              <a:buChar char="▪"/>
            </a:pPr>
            <a:r>
              <a:rPr lang="en-US" sz="1800">
                <a:latin typeface="Georgia"/>
                <a:ea typeface="Georgia"/>
                <a:cs typeface="Georgia"/>
                <a:sym typeface="Georgia"/>
              </a:rPr>
              <a:t>Do not exaggerate on your CV</a:t>
            </a:r>
            <a:endParaRPr sz="1800"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E3611"/>
              </a:buClr>
              <a:buSzPts val="1800"/>
              <a:buFont typeface="Noto Sans Symbols"/>
              <a:buNone/>
            </a:pPr>
            <a:r>
              <a:t/>
            </a:r>
            <a:endParaRPr sz="1800"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00000"/>
              </a:lnSpc>
              <a:spcBef>
                <a:spcPts val="40"/>
              </a:spcBef>
              <a:spcAft>
                <a:spcPts val="0"/>
              </a:spcAft>
              <a:buClr>
                <a:srgbClr val="9E3611"/>
              </a:buClr>
              <a:buSzPts val="1800"/>
              <a:buFont typeface="Noto Sans Symbols"/>
              <a:buNone/>
            </a:pPr>
            <a:r>
              <a:t/>
            </a:r>
            <a:endParaRPr sz="1800">
              <a:latin typeface="Georgia"/>
              <a:ea typeface="Georgia"/>
              <a:cs typeface="Georgia"/>
              <a:sym typeface="Georgia"/>
            </a:endParaRPr>
          </a:p>
          <a:p>
            <a:pPr indent="-153035" lvl="0" marL="16573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E3611"/>
              </a:buClr>
              <a:buSzPts val="1500"/>
              <a:buFont typeface="Noto Sans Symbols"/>
              <a:buChar char="▪"/>
            </a:pPr>
            <a:r>
              <a:rPr lang="en-US" sz="1800">
                <a:latin typeface="Georgia"/>
                <a:ea typeface="Georgia"/>
                <a:cs typeface="Georgia"/>
                <a:sym typeface="Georgia"/>
              </a:rPr>
              <a:t>Keep it updated</a:t>
            </a:r>
            <a:endParaRPr sz="1800"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E3611"/>
              </a:buClr>
              <a:buSzPts val="1800"/>
              <a:buFont typeface="Noto Sans Symbols"/>
              <a:buNone/>
            </a:pPr>
            <a:r>
              <a:t/>
            </a:r>
            <a:endParaRPr sz="1800"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00000"/>
              </a:lnSpc>
              <a:spcBef>
                <a:spcPts val="35"/>
              </a:spcBef>
              <a:spcAft>
                <a:spcPts val="0"/>
              </a:spcAft>
              <a:buClr>
                <a:srgbClr val="9E3611"/>
              </a:buClr>
              <a:buSzPts val="1800"/>
              <a:buFont typeface="Noto Sans Symbols"/>
              <a:buNone/>
            </a:pPr>
            <a:r>
              <a:t/>
            </a:r>
            <a:endParaRPr sz="1800">
              <a:latin typeface="Georgia"/>
              <a:ea typeface="Georgia"/>
              <a:cs typeface="Georgia"/>
              <a:sym typeface="Georgia"/>
            </a:endParaRPr>
          </a:p>
          <a:p>
            <a:pPr indent="-153035" lvl="0" marL="16573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E3611"/>
              </a:buClr>
              <a:buSzPts val="1500"/>
              <a:buFont typeface="Noto Sans Symbols"/>
              <a:buChar char="▪"/>
            </a:pPr>
            <a:r>
              <a:rPr lang="en-US" sz="1800">
                <a:latin typeface="Georgia"/>
                <a:ea typeface="Georgia"/>
                <a:cs typeface="Georgia"/>
                <a:sym typeface="Georgia"/>
              </a:rPr>
              <a:t>Do not leave gaps</a:t>
            </a:r>
            <a:endParaRPr sz="1800">
              <a:latin typeface="Georgia"/>
              <a:ea typeface="Georgia"/>
              <a:cs typeface="Georgia"/>
              <a:sym typeface="Georgia"/>
            </a:endParaRPr>
          </a:p>
        </p:txBody>
      </p:sp>
      <p:grpSp>
        <p:nvGrpSpPr>
          <p:cNvPr id="98" name="Google Shape;98;p12"/>
          <p:cNvGrpSpPr/>
          <p:nvPr/>
        </p:nvGrpSpPr>
        <p:grpSpPr>
          <a:xfrm>
            <a:off x="7545259" y="9"/>
            <a:ext cx="4646715" cy="6857976"/>
            <a:chOff x="7545259" y="9"/>
            <a:chExt cx="4646715" cy="6857976"/>
          </a:xfrm>
        </p:grpSpPr>
        <p:pic>
          <p:nvPicPr>
            <p:cNvPr id="99" name="Google Shape;99;p1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545259" y="9"/>
              <a:ext cx="4646715" cy="685797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0" name="Google Shape;100;p12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1401702" y="6229662"/>
              <a:ext cx="457199" cy="45719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1" name="Google Shape;101;p12"/>
            <p:cNvSpPr/>
            <p:nvPr/>
          </p:nvSpPr>
          <p:spPr>
            <a:xfrm>
              <a:off x="11430901" y="6258862"/>
              <a:ext cx="399415" cy="399415"/>
            </a:xfrm>
            <a:custGeom>
              <a:rect b="b" l="l" r="r" t="t"/>
              <a:pathLst>
                <a:path extrusionOk="0" h="399415" w="399415">
                  <a:moveTo>
                    <a:pt x="0" y="199399"/>
                  </a:moveTo>
                  <a:lnTo>
                    <a:pt x="5266" y="153679"/>
                  </a:lnTo>
                  <a:lnTo>
                    <a:pt x="20267" y="111708"/>
                  </a:lnTo>
                  <a:lnTo>
                    <a:pt x="43806" y="74685"/>
                  </a:lnTo>
                  <a:lnTo>
                    <a:pt x="74685" y="43806"/>
                  </a:lnTo>
                  <a:lnTo>
                    <a:pt x="111708" y="20267"/>
                  </a:lnTo>
                  <a:lnTo>
                    <a:pt x="153679" y="5266"/>
                  </a:lnTo>
                  <a:lnTo>
                    <a:pt x="199399" y="0"/>
                  </a:lnTo>
                  <a:lnTo>
                    <a:pt x="238478" y="3865"/>
                  </a:lnTo>
                  <a:lnTo>
                    <a:pt x="275702" y="15174"/>
                  </a:lnTo>
                  <a:lnTo>
                    <a:pt x="310025" y="33496"/>
                  </a:lnTo>
                  <a:lnTo>
                    <a:pt x="340399" y="58399"/>
                  </a:lnTo>
                  <a:lnTo>
                    <a:pt x="365302" y="88773"/>
                  </a:lnTo>
                  <a:lnTo>
                    <a:pt x="383624" y="123096"/>
                  </a:lnTo>
                  <a:lnTo>
                    <a:pt x="394933" y="160321"/>
                  </a:lnTo>
                  <a:lnTo>
                    <a:pt x="398799" y="199399"/>
                  </a:lnTo>
                  <a:lnTo>
                    <a:pt x="393532" y="245121"/>
                  </a:lnTo>
                  <a:lnTo>
                    <a:pt x="378531" y="287095"/>
                  </a:lnTo>
                  <a:lnTo>
                    <a:pt x="354993" y="324123"/>
                  </a:lnTo>
                  <a:lnTo>
                    <a:pt x="324113" y="355008"/>
                  </a:lnTo>
                  <a:lnTo>
                    <a:pt x="287090" y="378551"/>
                  </a:lnTo>
                  <a:lnTo>
                    <a:pt x="245119" y="393556"/>
                  </a:lnTo>
                  <a:lnTo>
                    <a:pt x="199399" y="398824"/>
                  </a:lnTo>
                  <a:lnTo>
                    <a:pt x="153679" y="393556"/>
                  </a:lnTo>
                  <a:lnTo>
                    <a:pt x="111708" y="378551"/>
                  </a:lnTo>
                  <a:lnTo>
                    <a:pt x="74685" y="355008"/>
                  </a:lnTo>
                  <a:lnTo>
                    <a:pt x="43806" y="324123"/>
                  </a:lnTo>
                  <a:lnTo>
                    <a:pt x="20267" y="287095"/>
                  </a:lnTo>
                  <a:lnTo>
                    <a:pt x="5266" y="245121"/>
                  </a:lnTo>
                  <a:lnTo>
                    <a:pt x="0" y="199399"/>
                  </a:lnTo>
                  <a:close/>
                </a:path>
              </a:pathLst>
            </a:custGeom>
            <a:noFill/>
            <a:ln cap="flat" cmpd="sng" w="126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" name="Google Shape;106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84502" y="464119"/>
            <a:ext cx="10222959" cy="80682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84502" y="601951"/>
            <a:ext cx="10222959" cy="138587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84502" y="2038650"/>
            <a:ext cx="10222959" cy="80682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3"/>
          <p:cNvSpPr txBox="1"/>
          <p:nvPr>
            <p:ph type="title"/>
          </p:nvPr>
        </p:nvSpPr>
        <p:spPr>
          <a:xfrm>
            <a:off x="1142870" y="442670"/>
            <a:ext cx="5396865" cy="15894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06025">
            <a:spAutoFit/>
          </a:bodyPr>
          <a:lstStyle/>
          <a:p>
            <a:pPr indent="0" lvl="0" marL="12700" marR="5080" rtl="0" algn="l">
              <a:lnSpc>
                <a:spcPct val="10796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400">
                <a:latin typeface="Arial"/>
                <a:ea typeface="Arial"/>
                <a:cs typeface="Arial"/>
                <a:sym typeface="Arial"/>
              </a:rPr>
              <a:t>POWERPOINT PRESENTATION</a:t>
            </a:r>
            <a:endParaRPr sz="54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0" name="Google Shape;110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07192" y="2265032"/>
            <a:ext cx="5088794" cy="3907154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3"/>
          <p:cNvSpPr txBox="1"/>
          <p:nvPr/>
        </p:nvSpPr>
        <p:spPr>
          <a:xfrm>
            <a:off x="6586605" y="2093957"/>
            <a:ext cx="1807210" cy="193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167005" lvl="0" marL="17970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E3611"/>
              </a:buClr>
              <a:buSzPts val="900"/>
              <a:buFont typeface="Noto Sans Symbols"/>
              <a:buChar char="▪"/>
            </a:pPr>
            <a:r>
              <a:rPr lang="en-US" sz="1100">
                <a:latin typeface="Times New Roman"/>
                <a:ea typeface="Times New Roman"/>
                <a:cs typeface="Times New Roman"/>
                <a:sym typeface="Times New Roman"/>
              </a:rPr>
              <a:t>Maintain an overall structure</a:t>
            </a:r>
            <a:endParaRPr sz="1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2" name="Google Shape;112;p13"/>
          <p:cNvSpPr txBox="1"/>
          <p:nvPr/>
        </p:nvSpPr>
        <p:spPr>
          <a:xfrm>
            <a:off x="6586605" y="2700508"/>
            <a:ext cx="4430395" cy="3441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1100">
            <a:spAutoFit/>
          </a:bodyPr>
          <a:lstStyle/>
          <a:p>
            <a:pPr indent="-165735" lvl="0" marL="177800" marR="5080" rtl="0" algn="l">
              <a:lnSpc>
                <a:spcPct val="108181"/>
              </a:lnSpc>
              <a:spcBef>
                <a:spcPts val="0"/>
              </a:spcBef>
              <a:spcAft>
                <a:spcPts val="0"/>
              </a:spcAft>
              <a:buClr>
                <a:srgbClr val="9E3611"/>
              </a:buClr>
              <a:buSzPts val="900"/>
              <a:buFont typeface="Noto Sans Symbols"/>
              <a:buChar char="▪"/>
            </a:pPr>
            <a:r>
              <a:rPr lang="en-US" sz="1100">
                <a:solidFill>
                  <a:srgbClr val="9E361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lang="en-US" sz="1100">
                <a:latin typeface="Times New Roman"/>
                <a:ea typeface="Times New Roman"/>
                <a:cs typeface="Times New Roman"/>
                <a:sym typeface="Times New Roman"/>
              </a:rPr>
              <a:t>Avoid clutter on the slides (Simplify and limit the number of words on each slide)</a:t>
            </a:r>
            <a:endParaRPr sz="1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3" name="Google Shape;113;p13"/>
          <p:cNvSpPr txBox="1"/>
          <p:nvPr/>
        </p:nvSpPr>
        <p:spPr>
          <a:xfrm>
            <a:off x="6586605" y="3457939"/>
            <a:ext cx="3997960" cy="3441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1100">
            <a:spAutoFit/>
          </a:bodyPr>
          <a:lstStyle/>
          <a:p>
            <a:pPr indent="-165735" lvl="0" marL="177800" marR="5080" rtl="0" algn="l">
              <a:lnSpc>
                <a:spcPct val="108181"/>
              </a:lnSpc>
              <a:spcBef>
                <a:spcPts val="0"/>
              </a:spcBef>
              <a:spcAft>
                <a:spcPts val="0"/>
              </a:spcAft>
              <a:buClr>
                <a:srgbClr val="9E3611"/>
              </a:buClr>
              <a:buSzPts val="900"/>
              <a:buFont typeface="Noto Sans Symbols"/>
              <a:buChar char="▪"/>
            </a:pPr>
            <a:r>
              <a:rPr lang="en-US" sz="1100">
                <a:solidFill>
                  <a:srgbClr val="9E361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lang="en-US" sz="1100">
                <a:latin typeface="Times New Roman"/>
                <a:ea typeface="Times New Roman"/>
                <a:cs typeface="Times New Roman"/>
                <a:sym typeface="Times New Roman"/>
              </a:rPr>
              <a:t>Keep the audience engaged: Logical transition, Continuity, Fluidity, Relevance</a:t>
            </a:r>
            <a:endParaRPr sz="1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4" name="Google Shape;114;p13"/>
          <p:cNvSpPr txBox="1"/>
          <p:nvPr/>
        </p:nvSpPr>
        <p:spPr>
          <a:xfrm>
            <a:off x="6586605" y="4215365"/>
            <a:ext cx="4183379" cy="3441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1100">
            <a:spAutoFit/>
          </a:bodyPr>
          <a:lstStyle/>
          <a:p>
            <a:pPr indent="-165735" lvl="0" marL="177800" marR="5080" rtl="0" algn="l">
              <a:lnSpc>
                <a:spcPct val="108181"/>
              </a:lnSpc>
              <a:spcBef>
                <a:spcPts val="0"/>
              </a:spcBef>
              <a:spcAft>
                <a:spcPts val="0"/>
              </a:spcAft>
              <a:buClr>
                <a:srgbClr val="9E3611"/>
              </a:buClr>
              <a:buSzPts val="900"/>
              <a:buFont typeface="Noto Sans Symbols"/>
              <a:buChar char="▪"/>
            </a:pPr>
            <a:r>
              <a:rPr lang="en-US" sz="1100">
                <a:solidFill>
                  <a:srgbClr val="9E361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lang="en-US" sz="1100">
                <a:latin typeface="Times New Roman"/>
                <a:ea typeface="Times New Roman"/>
                <a:cs typeface="Times New Roman"/>
                <a:sym typeface="Times New Roman"/>
              </a:rPr>
              <a:t>Narration is important: Do not read from the slides, Explain the content (Keep a script, rehearse)</a:t>
            </a:r>
            <a:endParaRPr sz="1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5" name="Google Shape;115;p13"/>
          <p:cNvSpPr txBox="1"/>
          <p:nvPr/>
        </p:nvSpPr>
        <p:spPr>
          <a:xfrm>
            <a:off x="6586605" y="4972792"/>
            <a:ext cx="4438015" cy="7981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1100">
            <a:spAutoFit/>
          </a:bodyPr>
          <a:lstStyle/>
          <a:p>
            <a:pPr indent="-165735" lvl="0" marL="177800" marR="5080" rtl="0" algn="l">
              <a:lnSpc>
                <a:spcPct val="108181"/>
              </a:lnSpc>
              <a:spcBef>
                <a:spcPts val="0"/>
              </a:spcBef>
              <a:spcAft>
                <a:spcPts val="0"/>
              </a:spcAft>
              <a:buClr>
                <a:srgbClr val="9E3611"/>
              </a:buClr>
              <a:buSzPts val="900"/>
              <a:buFont typeface="Noto Sans Symbols"/>
              <a:buChar char="▪"/>
            </a:pPr>
            <a:r>
              <a:rPr lang="en-US" sz="1100">
                <a:solidFill>
                  <a:srgbClr val="9E361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lang="en-US" sz="1100">
                <a:latin typeface="Times New Roman"/>
                <a:ea typeface="Times New Roman"/>
                <a:cs typeface="Times New Roman"/>
                <a:sym typeface="Times New Roman"/>
              </a:rPr>
              <a:t>One important point per slide, Narrate only that point (Do not list more than you are covering)</a:t>
            </a:r>
            <a:endParaRPr sz="1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65735" lvl="0" marL="177800" marR="563880" rtl="0" algn="l">
              <a:lnSpc>
                <a:spcPct val="108181"/>
              </a:lnSpc>
              <a:spcBef>
                <a:spcPts val="1195"/>
              </a:spcBef>
              <a:spcAft>
                <a:spcPts val="0"/>
              </a:spcAft>
              <a:buClr>
                <a:srgbClr val="9E3611"/>
              </a:buClr>
              <a:buSzPts val="900"/>
              <a:buFont typeface="Noto Sans Symbols"/>
              <a:buChar char="▪"/>
            </a:pPr>
            <a:r>
              <a:rPr lang="en-US" sz="1100">
                <a:solidFill>
                  <a:srgbClr val="9E361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lang="en-US" sz="1100">
                <a:latin typeface="Times New Roman"/>
                <a:ea typeface="Times New Roman"/>
                <a:cs typeface="Times New Roman"/>
                <a:sym typeface="Times New Roman"/>
              </a:rPr>
              <a:t>Your slides are ILLUSTRATIONS of your presentation, NOT the Presentation (No paragraphs on the slides)</a:t>
            </a:r>
            <a:endParaRPr sz="1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116" name="Google Shape;116;p13"/>
          <p:cNvGrpSpPr/>
          <p:nvPr/>
        </p:nvGrpSpPr>
        <p:grpSpPr>
          <a:xfrm>
            <a:off x="11401702" y="6229662"/>
            <a:ext cx="457199" cy="457199"/>
            <a:chOff x="11401702" y="6229662"/>
            <a:chExt cx="457199" cy="457199"/>
          </a:xfrm>
        </p:grpSpPr>
        <p:pic>
          <p:nvPicPr>
            <p:cNvPr id="117" name="Google Shape;117;p13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1401702" y="6229662"/>
              <a:ext cx="457199" cy="45719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8" name="Google Shape;118;p13"/>
            <p:cNvSpPr/>
            <p:nvPr/>
          </p:nvSpPr>
          <p:spPr>
            <a:xfrm>
              <a:off x="11430902" y="6258862"/>
              <a:ext cx="399415" cy="399415"/>
            </a:xfrm>
            <a:custGeom>
              <a:rect b="b" l="l" r="r" t="t"/>
              <a:pathLst>
                <a:path extrusionOk="0" h="399415" w="399415">
                  <a:moveTo>
                    <a:pt x="0" y="199399"/>
                  </a:moveTo>
                  <a:lnTo>
                    <a:pt x="5266" y="153679"/>
                  </a:lnTo>
                  <a:lnTo>
                    <a:pt x="20267" y="111708"/>
                  </a:lnTo>
                  <a:lnTo>
                    <a:pt x="43806" y="74685"/>
                  </a:lnTo>
                  <a:lnTo>
                    <a:pt x="74685" y="43806"/>
                  </a:lnTo>
                  <a:lnTo>
                    <a:pt x="111708" y="20267"/>
                  </a:lnTo>
                  <a:lnTo>
                    <a:pt x="153679" y="5266"/>
                  </a:lnTo>
                  <a:lnTo>
                    <a:pt x="199399" y="0"/>
                  </a:lnTo>
                  <a:lnTo>
                    <a:pt x="238478" y="3865"/>
                  </a:lnTo>
                  <a:lnTo>
                    <a:pt x="275702" y="15174"/>
                  </a:lnTo>
                  <a:lnTo>
                    <a:pt x="310025" y="33496"/>
                  </a:lnTo>
                  <a:lnTo>
                    <a:pt x="340399" y="58399"/>
                  </a:lnTo>
                  <a:lnTo>
                    <a:pt x="365302" y="88773"/>
                  </a:lnTo>
                  <a:lnTo>
                    <a:pt x="383624" y="123096"/>
                  </a:lnTo>
                  <a:lnTo>
                    <a:pt x="394933" y="160321"/>
                  </a:lnTo>
                  <a:lnTo>
                    <a:pt x="398799" y="199399"/>
                  </a:lnTo>
                  <a:lnTo>
                    <a:pt x="393532" y="245121"/>
                  </a:lnTo>
                  <a:lnTo>
                    <a:pt x="378531" y="287095"/>
                  </a:lnTo>
                  <a:lnTo>
                    <a:pt x="354993" y="324123"/>
                  </a:lnTo>
                  <a:lnTo>
                    <a:pt x="324113" y="355008"/>
                  </a:lnTo>
                  <a:lnTo>
                    <a:pt x="287090" y="378551"/>
                  </a:lnTo>
                  <a:lnTo>
                    <a:pt x="245119" y="393556"/>
                  </a:lnTo>
                  <a:lnTo>
                    <a:pt x="199399" y="398824"/>
                  </a:lnTo>
                  <a:lnTo>
                    <a:pt x="153679" y="393556"/>
                  </a:lnTo>
                  <a:lnTo>
                    <a:pt x="111708" y="378551"/>
                  </a:lnTo>
                  <a:lnTo>
                    <a:pt x="74685" y="355008"/>
                  </a:lnTo>
                  <a:lnTo>
                    <a:pt x="43806" y="324123"/>
                  </a:lnTo>
                  <a:lnTo>
                    <a:pt x="20267" y="287095"/>
                  </a:lnTo>
                  <a:lnTo>
                    <a:pt x="5266" y="245121"/>
                  </a:lnTo>
                  <a:lnTo>
                    <a:pt x="0" y="199399"/>
                  </a:lnTo>
                  <a:close/>
                </a:path>
              </a:pathLst>
            </a:custGeom>
            <a:noFill/>
            <a:ln cap="flat" cmpd="sng" w="126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4"/>
          <p:cNvSpPr txBox="1"/>
          <p:nvPr>
            <p:ph type="title"/>
          </p:nvPr>
        </p:nvSpPr>
        <p:spPr>
          <a:xfrm>
            <a:off x="5559413" y="532566"/>
            <a:ext cx="4417060" cy="604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6975">
            <a:spAutoFit/>
          </a:bodyPr>
          <a:lstStyle/>
          <a:p>
            <a:pPr indent="0" lvl="0" marL="12700" marR="508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latin typeface="Times New Roman"/>
                <a:ea typeface="Times New Roman"/>
                <a:cs typeface="Times New Roman"/>
                <a:sym typeface="Times New Roman"/>
              </a:rPr>
              <a:t>HOW TO WRITE AN APPLICATION? (A GRANT APPLICATION?)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124" name="Google Shape;124;p14"/>
          <p:cNvGrpSpPr/>
          <p:nvPr/>
        </p:nvGrpSpPr>
        <p:grpSpPr>
          <a:xfrm>
            <a:off x="0" y="401978"/>
            <a:ext cx="6105862" cy="6456008"/>
            <a:chOff x="0" y="401978"/>
            <a:chExt cx="6105862" cy="6456008"/>
          </a:xfrm>
        </p:grpSpPr>
        <p:pic>
          <p:nvPicPr>
            <p:cNvPr id="125" name="Google Shape;125;p1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0" y="406386"/>
              <a:ext cx="6105862" cy="6451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6" name="Google Shape;126;p1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0" y="401978"/>
              <a:ext cx="6105851" cy="645159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27" name="Google Shape;127;p14"/>
          <p:cNvSpPr txBox="1"/>
          <p:nvPr>
            <p:ph idx="1" type="body"/>
          </p:nvPr>
        </p:nvSpPr>
        <p:spPr>
          <a:xfrm>
            <a:off x="6251262" y="1706032"/>
            <a:ext cx="4996815" cy="24155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245745" lvl="0" marL="25844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E3611"/>
              </a:buClr>
              <a:buSzPts val="1350"/>
              <a:buFont typeface="Noto Sans Symbols"/>
              <a:buChar char="❖"/>
            </a:pPr>
            <a:r>
              <a:rPr lang="en-US"/>
              <a:t>Research the Funder/Employer (Website/Current Affairs)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47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156845" lvl="0" marL="257809" marR="296545" rtl="0" algn="l">
              <a:lnSpc>
                <a:spcPct val="108124"/>
              </a:lnSpc>
              <a:spcBef>
                <a:spcPts val="0"/>
              </a:spcBef>
              <a:spcAft>
                <a:spcPts val="0"/>
              </a:spcAft>
              <a:buClr>
                <a:srgbClr val="9E3611"/>
              </a:buClr>
              <a:buSzPts val="1350"/>
              <a:buFont typeface="Noto Sans Symbols"/>
              <a:buChar char="▪"/>
            </a:pPr>
            <a:r>
              <a:rPr lang="en-US"/>
              <a:t>What is the funder/employer looking for exactly in the 	recipient’s project/recipient?</a:t>
            </a:r>
            <a:endParaRPr/>
          </a:p>
          <a:p>
            <a:pPr indent="-156845" lvl="0" marL="257809" rtl="0" algn="l">
              <a:lnSpc>
                <a:spcPct val="100000"/>
              </a:lnSpc>
              <a:spcBef>
                <a:spcPts val="980"/>
              </a:spcBef>
              <a:spcAft>
                <a:spcPts val="0"/>
              </a:spcAft>
              <a:buClr>
                <a:srgbClr val="9E3611"/>
              </a:buClr>
              <a:buSzPts val="1350"/>
              <a:buFont typeface="Noto Sans Symbols"/>
              <a:buChar char="▪"/>
            </a:pPr>
            <a:r>
              <a:rPr lang="en-US"/>
              <a:t>Who are in decision-making positions (reviewers/panel)?</a:t>
            </a:r>
            <a:endParaRPr/>
          </a:p>
          <a:p>
            <a:pPr indent="-156845" lvl="0" marL="257809" marR="5080" rtl="0" algn="l">
              <a:lnSpc>
                <a:spcPct val="108124"/>
              </a:lnSpc>
              <a:spcBef>
                <a:spcPts val="1225"/>
              </a:spcBef>
              <a:spcAft>
                <a:spcPts val="0"/>
              </a:spcAft>
              <a:buClr>
                <a:srgbClr val="9E3611"/>
              </a:buClr>
              <a:buSzPts val="1350"/>
              <a:buFont typeface="Noto Sans Symbols"/>
              <a:buChar char="▪"/>
            </a:pPr>
            <a:r>
              <a:rPr lang="en-US"/>
              <a:t>How does your project compare to the advertised research 	position? (How do your skills compare to the advertised 	position?)</a:t>
            </a:r>
            <a:endParaRPr/>
          </a:p>
        </p:txBody>
      </p:sp>
      <p:sp>
        <p:nvSpPr>
          <p:cNvPr id="128" name="Google Shape;128;p14"/>
          <p:cNvSpPr txBox="1"/>
          <p:nvPr/>
        </p:nvSpPr>
        <p:spPr>
          <a:xfrm>
            <a:off x="6251262" y="4967385"/>
            <a:ext cx="2821940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245745" lvl="0" marL="25844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E3611"/>
              </a:buClr>
              <a:buSzPts val="1350"/>
              <a:buFont typeface="Noto Sans Symbols"/>
              <a:buChar char="❖"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Follow the instructions closely.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129" name="Google Shape;129;p14"/>
          <p:cNvGrpSpPr/>
          <p:nvPr/>
        </p:nvGrpSpPr>
        <p:grpSpPr>
          <a:xfrm>
            <a:off x="11401702" y="6229662"/>
            <a:ext cx="457199" cy="457199"/>
            <a:chOff x="11401702" y="6229662"/>
            <a:chExt cx="457199" cy="457199"/>
          </a:xfrm>
        </p:grpSpPr>
        <p:pic>
          <p:nvPicPr>
            <p:cNvPr id="130" name="Google Shape;130;p14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1401702" y="6229662"/>
              <a:ext cx="457199" cy="45719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1" name="Google Shape;131;p14"/>
            <p:cNvSpPr/>
            <p:nvPr/>
          </p:nvSpPr>
          <p:spPr>
            <a:xfrm>
              <a:off x="11430902" y="6258862"/>
              <a:ext cx="399415" cy="399415"/>
            </a:xfrm>
            <a:custGeom>
              <a:rect b="b" l="l" r="r" t="t"/>
              <a:pathLst>
                <a:path extrusionOk="0" h="399415" w="399415">
                  <a:moveTo>
                    <a:pt x="0" y="199399"/>
                  </a:moveTo>
                  <a:lnTo>
                    <a:pt x="5266" y="153679"/>
                  </a:lnTo>
                  <a:lnTo>
                    <a:pt x="20267" y="111708"/>
                  </a:lnTo>
                  <a:lnTo>
                    <a:pt x="43806" y="74685"/>
                  </a:lnTo>
                  <a:lnTo>
                    <a:pt x="74685" y="43806"/>
                  </a:lnTo>
                  <a:lnTo>
                    <a:pt x="111708" y="20267"/>
                  </a:lnTo>
                  <a:lnTo>
                    <a:pt x="153679" y="5266"/>
                  </a:lnTo>
                  <a:lnTo>
                    <a:pt x="199399" y="0"/>
                  </a:lnTo>
                  <a:lnTo>
                    <a:pt x="238478" y="3865"/>
                  </a:lnTo>
                  <a:lnTo>
                    <a:pt x="275702" y="15174"/>
                  </a:lnTo>
                  <a:lnTo>
                    <a:pt x="310025" y="33496"/>
                  </a:lnTo>
                  <a:lnTo>
                    <a:pt x="340399" y="58399"/>
                  </a:lnTo>
                  <a:lnTo>
                    <a:pt x="365302" y="88773"/>
                  </a:lnTo>
                  <a:lnTo>
                    <a:pt x="383624" y="123096"/>
                  </a:lnTo>
                  <a:lnTo>
                    <a:pt x="394933" y="160321"/>
                  </a:lnTo>
                  <a:lnTo>
                    <a:pt x="398799" y="199399"/>
                  </a:lnTo>
                  <a:lnTo>
                    <a:pt x="393532" y="245121"/>
                  </a:lnTo>
                  <a:lnTo>
                    <a:pt x="378531" y="287095"/>
                  </a:lnTo>
                  <a:lnTo>
                    <a:pt x="354993" y="324123"/>
                  </a:lnTo>
                  <a:lnTo>
                    <a:pt x="324113" y="355008"/>
                  </a:lnTo>
                  <a:lnTo>
                    <a:pt x="287090" y="378551"/>
                  </a:lnTo>
                  <a:lnTo>
                    <a:pt x="245119" y="393556"/>
                  </a:lnTo>
                  <a:lnTo>
                    <a:pt x="199399" y="398824"/>
                  </a:lnTo>
                  <a:lnTo>
                    <a:pt x="153679" y="393556"/>
                  </a:lnTo>
                  <a:lnTo>
                    <a:pt x="111708" y="378551"/>
                  </a:lnTo>
                  <a:lnTo>
                    <a:pt x="74685" y="355008"/>
                  </a:lnTo>
                  <a:lnTo>
                    <a:pt x="43806" y="324123"/>
                  </a:lnTo>
                  <a:lnTo>
                    <a:pt x="20267" y="287095"/>
                  </a:lnTo>
                  <a:lnTo>
                    <a:pt x="5266" y="245121"/>
                  </a:lnTo>
                  <a:lnTo>
                    <a:pt x="0" y="199399"/>
                  </a:lnTo>
                  <a:close/>
                </a:path>
              </a:pathLst>
            </a:custGeom>
            <a:noFill/>
            <a:ln cap="flat" cmpd="sng" w="126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5"/>
          <p:cNvSpPr txBox="1"/>
          <p:nvPr/>
        </p:nvSpPr>
        <p:spPr>
          <a:xfrm>
            <a:off x="257751" y="2089250"/>
            <a:ext cx="3467735" cy="14624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81275">
            <a:spAutoFit/>
          </a:bodyPr>
          <a:lstStyle/>
          <a:p>
            <a:pPr indent="0" lvl="0" marL="12700" marR="508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>
                <a:latin typeface="Arial"/>
                <a:ea typeface="Arial"/>
                <a:cs typeface="Arial"/>
                <a:sym typeface="Arial"/>
              </a:rPr>
              <a:t>WRITING THE APPLICATION</a:t>
            </a:r>
            <a:endParaRPr sz="4000">
              <a:latin typeface="Arial"/>
              <a:ea typeface="Arial"/>
              <a:cs typeface="Arial"/>
              <a:sym typeface="Arial"/>
            </a:endParaRPr>
          </a:p>
          <a:p>
            <a:pPr indent="0" lvl="0" marL="12700" rtl="0" algn="l">
              <a:lnSpc>
                <a:spcPct val="106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latin typeface="Arial"/>
                <a:ea typeface="Arial"/>
                <a:cs typeface="Arial"/>
                <a:sym typeface="Arial"/>
              </a:rPr>
              <a:t>(COVER LETTER)</a:t>
            </a:r>
            <a:endParaRPr sz="2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15"/>
          <p:cNvSpPr txBox="1"/>
          <p:nvPr/>
        </p:nvSpPr>
        <p:spPr>
          <a:xfrm>
            <a:off x="4778173" y="101691"/>
            <a:ext cx="7134225" cy="878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6975">
            <a:spAutoFit/>
          </a:bodyPr>
          <a:lstStyle/>
          <a:p>
            <a:pPr indent="-149860" lvl="0" marL="161925" marR="508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9E3611"/>
              </a:buClr>
              <a:buSzPts val="1700"/>
              <a:buFont typeface="Noto Sans Symbols"/>
              <a:buChar char="▪"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Begin by referring to the position to which you are writing to apply 	(“I am writing to apply for the post of </a:t>
            </a:r>
            <a:r>
              <a:rPr lang="en-US" sz="2000" u="sng"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lang="en-US" sz="2000" u="none">
                <a:latin typeface="Times New Roman"/>
                <a:ea typeface="Times New Roman"/>
                <a:cs typeface="Times New Roman"/>
                <a:sym typeface="Times New Roman"/>
              </a:rPr>
              <a:t>in the Department of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63830" rtl="0" algn="l">
              <a:lnSpc>
                <a:spcPct val="106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u="sng"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lang="en-US" sz="2000" u="none">
                <a:latin typeface="Times New Roman"/>
                <a:ea typeface="Times New Roman"/>
                <a:cs typeface="Times New Roman"/>
                <a:sym typeface="Times New Roman"/>
              </a:rPr>
              <a:t>advertised in the Circular No. </a:t>
            </a:r>
            <a:r>
              <a:rPr lang="en-US" sz="2000" u="sng"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lang="en-US" sz="2000" u="none">
                <a:latin typeface="Times New Roman"/>
                <a:ea typeface="Times New Roman"/>
                <a:cs typeface="Times New Roman"/>
                <a:sym typeface="Times New Roman"/>
              </a:rPr>
              <a:t> dated </a:t>
            </a:r>
            <a:r>
              <a:rPr lang="en-US" sz="2000" u="sng"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lang="en-US" sz="2000" u="none"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8" name="Google Shape;138;p15"/>
          <p:cNvSpPr txBox="1"/>
          <p:nvPr/>
        </p:nvSpPr>
        <p:spPr>
          <a:xfrm>
            <a:off x="4778173" y="1503768"/>
            <a:ext cx="7092315" cy="878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6975">
            <a:spAutoFit/>
          </a:bodyPr>
          <a:lstStyle/>
          <a:p>
            <a:pPr indent="-149860" lvl="0" marL="161925" marR="5080" rtl="0" algn="just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9E3611"/>
              </a:buClr>
              <a:buSzPts val="1700"/>
              <a:buFont typeface="Noto Sans Symbols"/>
              <a:buChar char="▪"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Briefly introduce yourself, referring only to those skills/degrees that 	are relevant to the advertised position/grant. (I have worked for two 	years on a project that deals with </a:t>
            </a:r>
            <a:r>
              <a:rPr lang="en-US" sz="2000" u="sng"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lang="en-US" sz="2000" u="none">
                <a:latin typeface="Times New Roman"/>
                <a:ea typeface="Times New Roman"/>
                <a:cs typeface="Times New Roman"/>
                <a:sym typeface="Times New Roman"/>
              </a:rPr>
              <a:t>).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9" name="Google Shape;139;p15"/>
          <p:cNvSpPr txBox="1"/>
          <p:nvPr/>
        </p:nvSpPr>
        <p:spPr>
          <a:xfrm>
            <a:off x="4778173" y="2905845"/>
            <a:ext cx="6788150" cy="604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6975">
            <a:spAutoFit/>
          </a:bodyPr>
          <a:lstStyle/>
          <a:p>
            <a:pPr indent="-149860" lvl="0" marL="161925" marR="508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9E3611"/>
              </a:buClr>
              <a:buSzPts val="1700"/>
              <a:buFont typeface="Noto Sans Symbols"/>
              <a:buChar char="▪"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Demonstrate that you are a good fit through this overlap between 	the advertised requirements and your experience/skills.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0" name="Google Shape;140;p15"/>
          <p:cNvSpPr txBox="1"/>
          <p:nvPr/>
        </p:nvSpPr>
        <p:spPr>
          <a:xfrm>
            <a:off x="4778173" y="4033603"/>
            <a:ext cx="7064375" cy="1427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6975">
            <a:spAutoFit/>
          </a:bodyPr>
          <a:lstStyle/>
          <a:p>
            <a:pPr indent="-149860" lvl="0" marL="161925" marR="508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9E3611"/>
              </a:buClr>
              <a:buSzPts val="1700"/>
              <a:buFont typeface="Noto Sans Symbols"/>
              <a:buChar char="▪"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Demonstrate how the larger institution/organization is a good fit for 	you. (“Being housed in an IIT, this project will allow me the 	opportunity to explore the different aspects of </a:t>
            </a:r>
            <a:r>
              <a:rPr lang="en-US" sz="2000" u="sng">
                <a:latin typeface="Times New Roman"/>
                <a:ea typeface="Times New Roman"/>
                <a:cs typeface="Times New Roman"/>
                <a:sym typeface="Times New Roman"/>
              </a:rPr>
              <a:t>rural waste</a:t>
            </a:r>
            <a:r>
              <a:rPr lang="en-US" sz="2000" u="none">
                <a:latin typeface="Times New Roman"/>
                <a:ea typeface="Times New Roman"/>
                <a:cs typeface="Times New Roman"/>
                <a:sym typeface="Times New Roman"/>
              </a:rPr>
              <a:t> 	</a:t>
            </a:r>
            <a:r>
              <a:rPr lang="en-US" sz="2000" u="sng">
                <a:latin typeface="Times New Roman"/>
                <a:ea typeface="Times New Roman"/>
                <a:cs typeface="Times New Roman"/>
                <a:sym typeface="Times New Roman"/>
              </a:rPr>
              <a:t>management</a:t>
            </a:r>
            <a:r>
              <a:rPr lang="en-US" sz="2000" u="none">
                <a:latin typeface="Times New Roman"/>
                <a:ea typeface="Times New Roman"/>
                <a:cs typeface="Times New Roman"/>
                <a:sym typeface="Times New Roman"/>
              </a:rPr>
              <a:t> particularly in collaboration with the </a:t>
            </a:r>
            <a:r>
              <a:rPr lang="en-US" sz="2000" u="sng">
                <a:latin typeface="Times New Roman"/>
                <a:ea typeface="Times New Roman"/>
                <a:cs typeface="Times New Roman"/>
                <a:sym typeface="Times New Roman"/>
              </a:rPr>
              <a:t>Department of</a:t>
            </a:r>
            <a:r>
              <a:rPr lang="en-US" sz="2000" u="none">
                <a:latin typeface="Times New Roman"/>
                <a:ea typeface="Times New Roman"/>
                <a:cs typeface="Times New Roman"/>
                <a:sym typeface="Times New Roman"/>
              </a:rPr>
              <a:t> 	</a:t>
            </a:r>
            <a:r>
              <a:rPr lang="en-US" sz="2000" u="sng">
                <a:latin typeface="Times New Roman"/>
                <a:ea typeface="Times New Roman"/>
                <a:cs typeface="Times New Roman"/>
                <a:sym typeface="Times New Roman"/>
              </a:rPr>
              <a:t>Environmental Engineering</a:t>
            </a:r>
            <a:r>
              <a:rPr lang="en-US" sz="2000" u="none">
                <a:latin typeface="Times New Roman"/>
                <a:ea typeface="Times New Roman"/>
                <a:cs typeface="Times New Roman"/>
                <a:sym typeface="Times New Roman"/>
              </a:rPr>
              <a:t>.”)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6"/>
          <p:cNvSpPr txBox="1"/>
          <p:nvPr>
            <p:ph type="title"/>
          </p:nvPr>
        </p:nvSpPr>
        <p:spPr>
          <a:xfrm>
            <a:off x="1142870" y="377846"/>
            <a:ext cx="8597900" cy="1183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81275">
            <a:spAutoFit/>
          </a:bodyPr>
          <a:lstStyle/>
          <a:p>
            <a:pPr indent="0" lvl="0" marL="12700" marR="508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CRITICAL APECTS OF YOUR GRANT APPLICATION</a:t>
            </a:r>
            <a:endParaRPr/>
          </a:p>
        </p:txBody>
      </p:sp>
      <p:sp>
        <p:nvSpPr>
          <p:cNvPr id="146" name="Google Shape;146;p16"/>
          <p:cNvSpPr txBox="1"/>
          <p:nvPr/>
        </p:nvSpPr>
        <p:spPr>
          <a:xfrm>
            <a:off x="1172072" y="2069740"/>
            <a:ext cx="9594215" cy="36976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7150">
            <a:spAutoFit/>
          </a:bodyPr>
          <a:lstStyle/>
          <a:p>
            <a:pPr indent="-152400" lvl="0" marL="164465" marR="508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9E3611"/>
              </a:buClr>
              <a:buSzPts val="1550"/>
              <a:buFont typeface="Noto Sans Symbols"/>
              <a:buChar char="▪"/>
            </a:pPr>
            <a:r>
              <a:rPr lang="en-US" sz="1850">
                <a:latin typeface="Times New Roman"/>
                <a:ea typeface="Times New Roman"/>
                <a:cs typeface="Times New Roman"/>
                <a:sym typeface="Times New Roman"/>
              </a:rPr>
              <a:t>Explain the context of your project. Assume that your grant reviewers do not know the details. They 	are not specialists of your area.</a:t>
            </a:r>
            <a:endParaRPr sz="185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825"/>
              </a:spcBef>
              <a:spcAft>
                <a:spcPts val="0"/>
              </a:spcAft>
              <a:buClr>
                <a:srgbClr val="9E3611"/>
              </a:buClr>
              <a:buSzPts val="1850"/>
              <a:buFont typeface="Noto Sans Symbols"/>
              <a:buNone/>
            </a:pPr>
            <a:r>
              <a:t/>
            </a:r>
            <a:endParaRPr sz="185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52400" lvl="0" marL="164465" marR="67945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9E3611"/>
              </a:buClr>
              <a:buSzPts val="1550"/>
              <a:buFont typeface="Noto Sans Symbols"/>
              <a:buChar char="▪"/>
            </a:pPr>
            <a:r>
              <a:rPr lang="en-US" sz="1850">
                <a:latin typeface="Times New Roman"/>
                <a:ea typeface="Times New Roman"/>
                <a:cs typeface="Times New Roman"/>
                <a:sym typeface="Times New Roman"/>
              </a:rPr>
              <a:t>Explain the significance of your research: WHY it is important and the IMPACT it will have on the 	community(both academic and social).</a:t>
            </a:r>
            <a:endParaRPr sz="185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160"/>
              </a:spcBef>
              <a:spcAft>
                <a:spcPts val="0"/>
              </a:spcAft>
              <a:buClr>
                <a:srgbClr val="9E3611"/>
              </a:buClr>
              <a:buSzPts val="1850"/>
              <a:buFont typeface="Noto Sans Symbols"/>
              <a:buNone/>
            </a:pPr>
            <a:r>
              <a:t/>
            </a:r>
            <a:endParaRPr sz="185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52400" lvl="0" marL="165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E3611"/>
              </a:buClr>
              <a:buSzPts val="1550"/>
              <a:buFont typeface="Noto Sans Symbols"/>
              <a:buChar char="▪"/>
            </a:pPr>
            <a:r>
              <a:rPr lang="en-US" sz="1850">
                <a:latin typeface="Times New Roman"/>
                <a:ea typeface="Times New Roman"/>
                <a:cs typeface="Times New Roman"/>
                <a:sym typeface="Times New Roman"/>
              </a:rPr>
              <a:t>Involve the stakeholder in the design of the project.</a:t>
            </a:r>
            <a:endParaRPr sz="185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160"/>
              </a:spcBef>
              <a:spcAft>
                <a:spcPts val="0"/>
              </a:spcAft>
              <a:buClr>
                <a:srgbClr val="9E3611"/>
              </a:buClr>
              <a:buSzPts val="1850"/>
              <a:buFont typeface="Noto Sans Symbols"/>
              <a:buNone/>
            </a:pPr>
            <a:r>
              <a:t/>
            </a:r>
            <a:endParaRPr sz="185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52400" lvl="0" marL="165100" rtl="0" algn="l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>
                <a:srgbClr val="9E3611"/>
              </a:buClr>
              <a:buSzPts val="1550"/>
              <a:buFont typeface="Noto Sans Symbols"/>
              <a:buChar char="▪"/>
            </a:pPr>
            <a:r>
              <a:rPr lang="en-US" sz="1850">
                <a:latin typeface="Times New Roman"/>
                <a:ea typeface="Times New Roman"/>
                <a:cs typeface="Times New Roman"/>
                <a:sym typeface="Times New Roman"/>
              </a:rPr>
              <a:t>Provide a brief outline of the work done in this area on which you will be building.</a:t>
            </a:r>
            <a:endParaRPr sz="185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825"/>
              </a:spcBef>
              <a:spcAft>
                <a:spcPts val="0"/>
              </a:spcAft>
              <a:buClr>
                <a:srgbClr val="9E3611"/>
              </a:buClr>
              <a:buSzPts val="1850"/>
              <a:buFont typeface="Noto Sans Symbols"/>
              <a:buNone/>
            </a:pPr>
            <a:r>
              <a:t/>
            </a:r>
            <a:endParaRPr sz="185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52400" lvl="0" marL="164465" marR="314325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9E3611"/>
              </a:buClr>
              <a:buSzPts val="1550"/>
              <a:buFont typeface="Noto Sans Symbols"/>
              <a:buChar char="▪"/>
            </a:pPr>
            <a:r>
              <a:rPr lang="en-US" sz="1850">
                <a:latin typeface="Times New Roman"/>
                <a:ea typeface="Times New Roman"/>
                <a:cs typeface="Times New Roman"/>
                <a:sym typeface="Times New Roman"/>
              </a:rPr>
              <a:t>Show that you will be working with collaborators/partners—an enriched team with the ability to 	function collaboratively is welcomed.</a:t>
            </a:r>
            <a:endParaRPr sz="185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