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embeddedFontLst>
    <p:embeddedFont>
      <p:font typeface="Aharoni" panose="02000000000000000000" pitchFamily="2" charset="0"/>
      <p:bold r:id="rId15"/>
    </p:embeddedFont>
    <p:embeddedFont>
      <p:font typeface="Garamond" panose="02020404030301010803" pitchFamily="18" charset="0"/>
      <p:regular r:id="rId16"/>
      <p:bold r:id="rId17"/>
      <p:italic r:id="rId18"/>
      <p:boldItalic r:id="rId19"/>
    </p:embeddedFont>
    <p:embeddedFont>
      <p:font typeface="Oi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font" Target="fonts/font6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5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venir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517904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336792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 b="1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1517904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336792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 b="1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336792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330952" y="1517904"/>
            <a:ext cx="5330952" cy="4581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3200"/>
              <a:buChar char="+"/>
              <a:defRPr sz="3200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/>
            </a:lvl2pPr>
            <a:lvl3pPr marL="1371600" lvl="2" indent="-381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400"/>
              <a:buChar char="+"/>
              <a:defRPr sz="2400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venir"/>
              <a:buNone/>
              <a:defRPr sz="2000"/>
            </a:lvl4pPr>
            <a:lvl5pPr marL="2286000" lvl="4" indent="-355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000"/>
              <a:buChar char="+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349240" y="764032"/>
            <a:ext cx="6089904" cy="533095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marL="2286000" lvl="4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4526280" y="-36576"/>
            <a:ext cx="3127248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7287289" y="2680932"/>
            <a:ext cx="4546786" cy="2220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2525788" y="510021"/>
            <a:ext cx="4546786" cy="6562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marL="914400" lvl="1" indent="-2286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marL="1828800" lvl="3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  <a:defRPr sz="42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37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Pts val="2600"/>
              <a:buFont typeface="Avenir"/>
              <a:buChar char="+"/>
              <a:defRPr sz="26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Char char="+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venir"/>
              <a:buNone/>
              <a:defRPr sz="1800" b="0" i="1" u="none" strike="noStrike" cap="non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Char char="+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C4D087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5486400" y="1030407"/>
            <a:ext cx="6502400" cy="153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i"/>
              <a:buNone/>
            </a:pPr>
            <a:r>
              <a:rPr lang="en-US" sz="3200">
                <a:latin typeface="Oi"/>
                <a:ea typeface="Oi"/>
                <a:cs typeface="Oi"/>
                <a:sym typeface="Oi"/>
              </a:rPr>
              <a:t>Ambiguities and Safeguards of Language</a:t>
            </a:r>
            <a:endParaRPr/>
          </a:p>
        </p:txBody>
      </p:sp>
      <p:pic>
        <p:nvPicPr>
          <p:cNvPr id="87" name="Google Shape;87;p13" descr="Top view of wood desk with the plant, white keyboard, coffee in a white mug, notebook, and pen"/>
          <p:cNvPicPr preferRelativeResize="0"/>
          <p:nvPr/>
        </p:nvPicPr>
        <p:blipFill rotWithShape="1">
          <a:blip r:embed="rId3">
            <a:alphaModFix/>
          </a:blip>
          <a:srcRect l="23172" r="23437" b="-1"/>
          <a:stretch/>
        </p:blipFill>
        <p:spPr>
          <a:xfrm>
            <a:off x="20" y="10"/>
            <a:ext cx="5404493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6105524"/>
          </a:xfrm>
          <a:custGeom>
            <a:avLst/>
            <a:gdLst/>
            <a:ahLst/>
            <a:cxnLst/>
            <a:rect l="l" t="t" r="r" b="b"/>
            <a:pathLst>
              <a:path w="12192000" h="6105524" extrusionOk="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C4D087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4" name="Google Shape;94;p14" descr="A group of people sitting around a tabl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83798" y="758952"/>
            <a:ext cx="6824403" cy="5340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ctrTitle"/>
          </p:nvPr>
        </p:nvSpPr>
        <p:spPr>
          <a:xfrm>
            <a:off x="0" y="1857768"/>
            <a:ext cx="12192000" cy="110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aramond"/>
              <a:buNone/>
            </a:pPr>
            <a:br>
              <a:rPr lang="en-US">
                <a:latin typeface="Garamond"/>
                <a:ea typeface="Garamond"/>
                <a:cs typeface="Garamond"/>
                <a:sym typeface="Garamond"/>
              </a:rPr>
            </a:br>
            <a:r>
              <a:rPr lang="en-US">
                <a:latin typeface="Garamond"/>
                <a:ea typeface="Garamond"/>
                <a:cs typeface="Garamond"/>
                <a:sym typeface="Garamond"/>
              </a:rPr>
              <a:t>      </a:t>
            </a:r>
            <a:r>
              <a:rPr lang="en-US" sz="4000">
                <a:latin typeface="Garamond"/>
                <a:ea typeface="Garamond"/>
                <a:cs typeface="Garamond"/>
                <a:sym typeface="Garamond"/>
              </a:rPr>
              <a:t>Workplace Language Discrimination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1207909" y="1219144"/>
            <a:ext cx="8316259" cy="414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657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Char char="+"/>
            </a:pPr>
            <a:r>
              <a:rPr lang="en-US" sz="2800" b="1">
                <a:latin typeface="Garamond"/>
                <a:ea typeface="Garamond"/>
                <a:cs typeface="Garamond"/>
                <a:sym typeface="Garamond"/>
              </a:rPr>
              <a:t>Problem🡪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Biases/Prejudices: Personal Traits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Affect workplace functioning </a:t>
            </a:r>
            <a:endParaRPr/>
          </a:p>
          <a:p>
            <a:pPr marL="365760" lvl="0" indent="-200657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800"/>
              <a:buChar char="+"/>
            </a:pPr>
            <a:r>
              <a:rPr lang="en-US" sz="2800" b="1">
                <a:latin typeface="Garamond"/>
                <a:ea typeface="Garamond"/>
                <a:cs typeface="Garamond"/>
                <a:sym typeface="Garamond"/>
              </a:rPr>
              <a:t>Solution🡪</a:t>
            </a:r>
            <a:endParaRPr sz="2800" b="1"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Avoid discriminatory language (methodological shift)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Avoid discriminatory ways of thinking (personality shift)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1388533" y="964749"/>
            <a:ext cx="9144000" cy="58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Discrimination Based On:</a:t>
            </a:r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1659467" y="2189989"/>
            <a:ext cx="11432419" cy="360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65760" lvl="0" indent="-3657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Gender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Sexuality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Class (Language)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Region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Race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Ethnicity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Age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Others</a:t>
            </a:r>
            <a:endParaRPr/>
          </a:p>
          <a:p>
            <a:pPr marL="365760" lvl="0" indent="-248283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endParaRPr sz="20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1286932" y="90311"/>
            <a:ext cx="10905067" cy="184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br>
              <a:rPr lang="en-US" sz="2400">
                <a:latin typeface="Garamond"/>
                <a:ea typeface="Garamond"/>
                <a:cs typeface="Garamond"/>
                <a:sym typeface="Garamond"/>
              </a:rPr>
            </a:br>
            <a:br>
              <a:rPr lang="en-US" sz="2400">
                <a:latin typeface="Garamond"/>
                <a:ea typeface="Garamond"/>
                <a:cs typeface="Garamond"/>
                <a:sym typeface="Garamond"/>
              </a:rPr>
            </a:br>
            <a:br>
              <a:rPr lang="en-US" sz="2400">
                <a:latin typeface="Garamond"/>
                <a:ea typeface="Garamond"/>
                <a:cs typeface="Garamond"/>
                <a:sym typeface="Garamond"/>
              </a:rPr>
            </a:br>
            <a:r>
              <a:rPr lang="en-US" sz="2400" b="1">
                <a:latin typeface="Garamond"/>
                <a:ea typeface="Garamond"/>
                <a:cs typeface="Garamond"/>
                <a:sym typeface="Garamond"/>
              </a:rPr>
              <a:t>Examples of Consciously Framed Discriminatory Language:</a:t>
            </a:r>
            <a:br>
              <a:rPr lang="en-US" sz="2400">
                <a:latin typeface="Garamond"/>
                <a:ea typeface="Garamond"/>
                <a:cs typeface="Garamond"/>
                <a:sym typeface="Garamond"/>
              </a:rPr>
            </a:br>
            <a:endParaRPr sz="24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778933" y="1937659"/>
            <a:ext cx="10543824" cy="454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657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Char char="+"/>
            </a:pPr>
            <a:r>
              <a:rPr lang="en-US" sz="2400" dirty="0">
                <a:latin typeface="Garamond"/>
                <a:ea typeface="Garamond"/>
                <a:cs typeface="Garamond"/>
                <a:sym typeface="Garamond"/>
              </a:rPr>
              <a:t>Gendered language, assumptions about productivity relating to pregnancy/marital engagements</a:t>
            </a:r>
            <a:endParaRPr dirty="0"/>
          </a:p>
          <a:p>
            <a:pPr marL="365760" lvl="0" indent="-213358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Garamond"/>
              <a:ea typeface="Garamond"/>
              <a:cs typeface="Garamond"/>
              <a:sym typeface="Garamond"/>
            </a:endParaRPr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Char char="+"/>
            </a:pPr>
            <a:r>
              <a:rPr lang="en-US" sz="2400" dirty="0">
                <a:latin typeface="Garamond"/>
                <a:ea typeface="Garamond"/>
                <a:cs typeface="Garamond"/>
                <a:sym typeface="Garamond"/>
              </a:rPr>
              <a:t>Heteronormative language</a:t>
            </a:r>
            <a:endParaRPr dirty="0"/>
          </a:p>
          <a:p>
            <a:pPr marL="365760" lvl="0" indent="-213358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Garamond"/>
              <a:ea typeface="Garamond"/>
              <a:cs typeface="Garamond"/>
              <a:sym typeface="Garamond"/>
            </a:endParaRPr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Char char="+"/>
            </a:pPr>
            <a:r>
              <a:rPr lang="en-US" sz="2400" dirty="0">
                <a:latin typeface="Garamond"/>
                <a:ea typeface="Garamond"/>
                <a:cs typeface="Garamond"/>
                <a:sym typeface="Garamond"/>
              </a:rPr>
              <a:t>Racialized: “shabby/</a:t>
            </a:r>
            <a:r>
              <a:rPr lang="en-US" sz="2400" dirty="0" err="1">
                <a:latin typeface="Garamond"/>
                <a:ea typeface="Garamond"/>
                <a:cs typeface="Garamond"/>
                <a:sym typeface="Garamond"/>
              </a:rPr>
              <a:t>dirty”,“glowing</a:t>
            </a:r>
            <a:r>
              <a:rPr lang="en-US" sz="2400" dirty="0">
                <a:latin typeface="Garamond"/>
                <a:ea typeface="Garamond"/>
                <a:cs typeface="Garamond"/>
                <a:sym typeface="Garamond"/>
              </a:rPr>
              <a:t> complexion”, Professional choice of representatives/ front desk staff</a:t>
            </a:r>
            <a:endParaRPr dirty="0"/>
          </a:p>
          <a:p>
            <a:pPr marL="365760" lvl="0" indent="-213358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767644" y="754731"/>
            <a:ext cx="10577689" cy="4635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657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+"/>
            </a:pPr>
            <a:r>
              <a:rPr lang="en-US" sz="2000" dirty="0">
                <a:latin typeface="Garamond"/>
                <a:ea typeface="Garamond"/>
                <a:cs typeface="Garamond"/>
                <a:sym typeface="Garamond"/>
              </a:rPr>
              <a:t>Regionalist: </a:t>
            </a:r>
            <a:endParaRPr dirty="0"/>
          </a:p>
          <a:p>
            <a:pPr marL="685800" lvl="1" indent="-1143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Garamond"/>
                <a:ea typeface="Garamond"/>
                <a:cs typeface="Garamond"/>
                <a:sym typeface="Garamond"/>
              </a:rPr>
              <a:t>Discriminating based on language accents (hiring people for top posts if they demonstrate certain accents), </a:t>
            </a:r>
            <a:endParaRPr dirty="0"/>
          </a:p>
          <a:p>
            <a:pPr marL="685800" lvl="1" indent="-1143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Garamond"/>
                <a:ea typeface="Garamond"/>
                <a:cs typeface="Garamond"/>
                <a:sym typeface="Garamond"/>
              </a:rPr>
              <a:t>Indicating preferences or personal stereotypes of region-based </a:t>
            </a:r>
            <a:r>
              <a:rPr lang="en-US" sz="1800" dirty="0" err="1">
                <a:latin typeface="Garamond"/>
                <a:ea typeface="Garamond"/>
                <a:cs typeface="Garamond"/>
                <a:sym typeface="Garamond"/>
              </a:rPr>
              <a:t>behaviour</a:t>
            </a:r>
            <a:r>
              <a:rPr lang="en-US" sz="1800" dirty="0">
                <a:latin typeface="Garamond"/>
                <a:ea typeface="Garamond"/>
                <a:cs typeface="Garamond"/>
                <a:sym typeface="Garamond"/>
              </a:rPr>
              <a:t> (“That’s typical of North India / of the South)</a:t>
            </a:r>
            <a:endParaRPr dirty="0"/>
          </a:p>
          <a:p>
            <a:pPr marL="685800" lvl="1" indent="-1143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Garamond"/>
                <a:ea typeface="Garamond"/>
                <a:cs typeface="Garamond"/>
                <a:sym typeface="Garamond"/>
              </a:rPr>
              <a:t>Speaking by homogenizing regions (the ‘North-East’/’North India’/’South India’)</a:t>
            </a:r>
            <a:endParaRPr sz="2000" dirty="0">
              <a:latin typeface="Garamond"/>
              <a:ea typeface="Garamond"/>
              <a:cs typeface="Garamond"/>
              <a:sym typeface="Garamond"/>
            </a:endParaRPr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Char char="+"/>
            </a:pPr>
            <a:r>
              <a:rPr lang="en-US" sz="2000" dirty="0">
                <a:latin typeface="Garamond"/>
                <a:ea typeface="Garamond"/>
                <a:cs typeface="Garamond"/>
                <a:sym typeface="Garamond"/>
              </a:rPr>
              <a:t>Classist (Lack of privilege/exposure/access)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1427593" y="885162"/>
            <a:ext cx="9144000" cy="63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haroni"/>
              <a:buNone/>
            </a:pPr>
            <a:r>
              <a:rPr lang="en-US"/>
              <a:t>Some Strategies: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1427593" y="1783644"/>
            <a:ext cx="9144000" cy="3556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b="1">
                <a:latin typeface="Garamond"/>
                <a:ea typeface="Garamond"/>
                <a:cs typeface="Garamond"/>
                <a:sym typeface="Garamond"/>
              </a:rPr>
              <a:t>Avoid gender-specific language, Use gender-neutral/inclusive language 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Char char="+"/>
            </a:pP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Use gender-inclusive pronouns: they/their instead of he/his or she/her; 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Char char="+"/>
            </a:pP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Be inclusive in your language: Instead of “Good morning, Ladies and Gentleman” start with “A very good morning everyone . . .”, “May the best person win” instead of “May the best man win”</a:t>
            </a:r>
            <a:endParaRPr/>
          </a:p>
          <a:p>
            <a:pPr marL="365760" lvl="0" indent="-36576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Char char="+"/>
            </a:pP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Say “Spouses/partners” instead of “Husbands/wives”, “Parenthood leave” instead of “Maternity/Paternity leave”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body" idx="1"/>
          </p:nvPr>
        </p:nvSpPr>
        <p:spPr>
          <a:xfrm>
            <a:off x="1258259" y="1526822"/>
            <a:ext cx="9144000" cy="340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Garamond"/>
              <a:ea typeface="Garamond"/>
              <a:cs typeface="Garamond"/>
              <a:sym typeface="Garamond"/>
            </a:endParaRPr>
          </a:p>
          <a:p>
            <a:pPr marL="365760" lvl="0" indent="-375285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Prepare a clear and detailed workplace policy, Circulate the written document, Have policies for behaviour and language usage, Cover/Anticipate a broad range of potential discriminatory acts, Provide training sensitization programs for employees/students and for your team leaders (Second-level of administration should model appropriate behaviour)</a:t>
            </a:r>
            <a:endParaRPr/>
          </a:p>
          <a:p>
            <a:pPr marL="365760" lvl="0" indent="-257808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endParaRPr sz="2000">
              <a:latin typeface="Garamond"/>
              <a:ea typeface="Garamond"/>
              <a:cs typeface="Garamond"/>
              <a:sym typeface="Garamond"/>
            </a:endParaRPr>
          </a:p>
          <a:p>
            <a:pPr marL="365760" lvl="0" indent="-375285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Avoiding biases in workplace policies</a:t>
            </a:r>
            <a:endParaRPr sz="2000"/>
          </a:p>
          <a:p>
            <a:pPr marL="0" lvl="0" indent="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endParaRPr sz="2000">
              <a:latin typeface="Garamond"/>
              <a:ea typeface="Garamond"/>
              <a:cs typeface="Garamond"/>
              <a:sym typeface="Garamond"/>
            </a:endParaRPr>
          </a:p>
          <a:p>
            <a:pPr marL="365760" lvl="0" indent="-375285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Nothing is “just banter/good fun/in jest/ unintentional”</a:t>
            </a:r>
            <a:endParaRPr/>
          </a:p>
          <a:p>
            <a:pPr marL="365760" lvl="0" indent="-225425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1517904" y="1517903"/>
            <a:ext cx="9144000" cy="420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</a:pP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Companies-&gt; speak to a clientele in a marketplace (Advertising): Advertisers pitch to a certain section (a specific class, a specific body-type etc) [Examples on the following slide]</a:t>
            </a:r>
            <a:br>
              <a:rPr lang="en-US" sz="2800">
                <a:latin typeface="Garamond"/>
                <a:ea typeface="Garamond"/>
                <a:cs typeface="Garamond"/>
                <a:sym typeface="Garamond"/>
              </a:rPr>
            </a:br>
            <a:br>
              <a:rPr lang="en-US" sz="2800">
                <a:latin typeface="Garamond"/>
                <a:ea typeface="Garamond"/>
                <a:cs typeface="Garamond"/>
                <a:sym typeface="Garamond"/>
              </a:rPr>
            </a:br>
            <a:r>
              <a:rPr lang="en-US" sz="2800" b="1">
                <a:latin typeface="Garamond"/>
                <a:ea typeface="Garamond"/>
                <a:cs typeface="Garamond"/>
                <a:sym typeface="Garamond"/>
              </a:rPr>
              <a:t>As teachers/seniors/enterpreneurs/students/employees🡪 we speak to a professional audience</a:t>
            </a: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 (</a:t>
            </a:r>
            <a:r>
              <a:rPr lang="en-US" sz="2800" i="1">
                <a:latin typeface="Garamond"/>
                <a:ea typeface="Garamond"/>
                <a:cs typeface="Garamond"/>
                <a:sym typeface="Garamond"/>
              </a:rPr>
              <a:t>not</a:t>
            </a:r>
            <a:r>
              <a:rPr lang="en-US" sz="2800">
                <a:latin typeface="Garamond"/>
                <a:ea typeface="Garamond"/>
                <a:cs typeface="Garamond"/>
                <a:sym typeface="Garamond"/>
              </a:rPr>
              <a:t> a clientele/market): As professionals we do not pitch to specific sections (inclusivity is essential)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 descr="Best Equal Opportunity Royalty-Free Images, Stock Photos &amp; Pictures |  Shutter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0229" y="1"/>
            <a:ext cx="1078774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5" descr="This 'Equity' picture is actually White Supremacy at work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6078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 descr="PrimeGlobal | diversity, equity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7809" y="936172"/>
            <a:ext cx="4584191" cy="5921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412E24"/>
      </a:dk2>
      <a:lt2>
        <a:srgbClr val="E8E2E8"/>
      </a:lt2>
      <a:accent1>
        <a:srgbClr val="47B547"/>
      </a:accent1>
      <a:accent2>
        <a:srgbClr val="6CB13B"/>
      </a:accent2>
      <a:accent3>
        <a:srgbClr val="98A942"/>
      </a:accent3>
      <a:accent4>
        <a:srgbClr val="B1933B"/>
      </a:accent4>
      <a:accent5>
        <a:srgbClr val="C3744D"/>
      </a:accent5>
      <a:accent6>
        <a:srgbClr val="B13B45"/>
      </a:accent6>
      <a:hlink>
        <a:srgbClr val="AF743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Widescreen</PresentationFormat>
  <Paragraphs>41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PrismaticVTI</vt:lpstr>
      <vt:lpstr>Ambiguities and Safeguards of Language</vt:lpstr>
      <vt:lpstr>PowerPoint Presentation</vt:lpstr>
      <vt:lpstr>       Workplace Language Discrimination</vt:lpstr>
      <vt:lpstr>PowerPoint Presentation</vt:lpstr>
      <vt:lpstr>Discrimination Based On:</vt:lpstr>
      <vt:lpstr>   Examples of Consciously Framed Discriminatory Language: </vt:lpstr>
      <vt:lpstr>PowerPoint Presentation</vt:lpstr>
      <vt:lpstr>Some Strategies:</vt:lpstr>
      <vt:lpstr>PowerPoint Presentation</vt:lpstr>
      <vt:lpstr>Companies-&gt; speak to a clientele in a marketplace (Advertising): Advertisers pitch to a certain section (a specific class, a specific body-type etc) [Examples on the following slide]  As teachers/seniors/enterpreneurs/students/employees🡪 we speak to a professional audience (not a clientele/market): As professionals we do not pitch to specific sections (inclusivity is essential)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Ambiguities and Safeguards of Language</dc:title>
  <dc:creator>Shuhita Bhattacharjee</dc:creator>
  <cp:lastModifiedBy>Shuhita Bhattacharjee</cp:lastModifiedBy>
  <cp:revision>2</cp:revision>
  <dcterms:modified xsi:type="dcterms:W3CDTF">2025-10-06T17:44:52Z</dcterms:modified>
</cp:coreProperties>
</file>